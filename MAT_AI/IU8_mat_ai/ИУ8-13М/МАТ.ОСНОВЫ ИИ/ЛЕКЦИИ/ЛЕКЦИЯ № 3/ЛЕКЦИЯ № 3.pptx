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37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image" Target="../media/image7.wmf"/><Relationship Id="rId7" Type="http://schemas.openxmlformats.org/officeDocument/2006/relationships/image" Target="../media/image11.wmf"/><Relationship Id="rId2" Type="http://schemas.openxmlformats.org/officeDocument/2006/relationships/image" Target="../media/image6.wmf"/><Relationship Id="rId1" Type="http://schemas.openxmlformats.org/officeDocument/2006/relationships/image" Target="../media/image1.wmf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6" Type="http://schemas.openxmlformats.org/officeDocument/2006/relationships/image" Target="../media/image18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7" Type="http://schemas.openxmlformats.org/officeDocument/2006/relationships/image" Target="../media/image26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20.wmf"/><Relationship Id="rId5" Type="http://schemas.openxmlformats.org/officeDocument/2006/relationships/image" Target="../media/image36.wmf"/><Relationship Id="rId4" Type="http://schemas.openxmlformats.org/officeDocument/2006/relationships/image" Target="../media/image35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image" Target="../media/image38.wmf"/><Relationship Id="rId7" Type="http://schemas.openxmlformats.org/officeDocument/2006/relationships/image" Target="../media/image42.wmf"/><Relationship Id="rId2" Type="http://schemas.openxmlformats.org/officeDocument/2006/relationships/image" Target="../media/image37.wmf"/><Relationship Id="rId1" Type="http://schemas.openxmlformats.org/officeDocument/2006/relationships/image" Target="../media/image2.wmf"/><Relationship Id="rId6" Type="http://schemas.openxmlformats.org/officeDocument/2006/relationships/image" Target="../media/image41.wmf"/><Relationship Id="rId5" Type="http://schemas.openxmlformats.org/officeDocument/2006/relationships/image" Target="../media/image40.wmf"/><Relationship Id="rId10" Type="http://schemas.openxmlformats.org/officeDocument/2006/relationships/image" Target="../media/image45.wmf"/><Relationship Id="rId4" Type="http://schemas.openxmlformats.org/officeDocument/2006/relationships/image" Target="../media/image39.wmf"/><Relationship Id="rId9" Type="http://schemas.openxmlformats.org/officeDocument/2006/relationships/image" Target="../media/image44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3" Type="http://schemas.openxmlformats.org/officeDocument/2006/relationships/image" Target="../media/image47.wmf"/><Relationship Id="rId7" Type="http://schemas.openxmlformats.org/officeDocument/2006/relationships/image" Target="../media/image51.wmf"/><Relationship Id="rId2" Type="http://schemas.openxmlformats.org/officeDocument/2006/relationships/image" Target="../media/image46.wmf"/><Relationship Id="rId1" Type="http://schemas.openxmlformats.org/officeDocument/2006/relationships/image" Target="../media/image2.wmf"/><Relationship Id="rId6" Type="http://schemas.openxmlformats.org/officeDocument/2006/relationships/image" Target="../media/image50.wmf"/><Relationship Id="rId5" Type="http://schemas.openxmlformats.org/officeDocument/2006/relationships/image" Target="../media/image49.wmf"/><Relationship Id="rId4" Type="http://schemas.openxmlformats.org/officeDocument/2006/relationships/image" Target="../media/image48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2.wmf"/><Relationship Id="rId6" Type="http://schemas.openxmlformats.org/officeDocument/2006/relationships/image" Target="../media/image57.wmf"/><Relationship Id="rId5" Type="http://schemas.openxmlformats.org/officeDocument/2006/relationships/image" Target="../media/image56.wmf"/><Relationship Id="rId4" Type="http://schemas.openxmlformats.org/officeDocument/2006/relationships/image" Target="../media/image55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3" Type="http://schemas.openxmlformats.org/officeDocument/2006/relationships/image" Target="../media/image60.wmf"/><Relationship Id="rId7" Type="http://schemas.openxmlformats.org/officeDocument/2006/relationships/image" Target="../media/image64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Relationship Id="rId6" Type="http://schemas.openxmlformats.org/officeDocument/2006/relationships/image" Target="../media/image63.wmf"/><Relationship Id="rId5" Type="http://schemas.openxmlformats.org/officeDocument/2006/relationships/image" Target="../media/image62.wmf"/><Relationship Id="rId4" Type="http://schemas.openxmlformats.org/officeDocument/2006/relationships/image" Target="../media/image61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9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3" Type="http://schemas.openxmlformats.org/officeDocument/2006/relationships/image" Target="../media/image71.wmf"/><Relationship Id="rId7" Type="http://schemas.openxmlformats.org/officeDocument/2006/relationships/image" Target="../media/image75.wmf"/><Relationship Id="rId2" Type="http://schemas.openxmlformats.org/officeDocument/2006/relationships/image" Target="../media/image70.wmf"/><Relationship Id="rId1" Type="http://schemas.openxmlformats.org/officeDocument/2006/relationships/image" Target="../media/image1.wmf"/><Relationship Id="rId6" Type="http://schemas.openxmlformats.org/officeDocument/2006/relationships/image" Target="../media/image74.wmf"/><Relationship Id="rId5" Type="http://schemas.openxmlformats.org/officeDocument/2006/relationships/image" Target="../media/image73.wmf"/><Relationship Id="rId4" Type="http://schemas.openxmlformats.org/officeDocument/2006/relationships/image" Target="../media/image72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7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7" Type="http://schemas.openxmlformats.org/officeDocument/2006/relationships/image" Target="../media/image85.wmf"/><Relationship Id="rId2" Type="http://schemas.openxmlformats.org/officeDocument/2006/relationships/image" Target="../media/image80.wmf"/><Relationship Id="rId1" Type="http://schemas.openxmlformats.org/officeDocument/2006/relationships/image" Target="../media/image79.wmf"/><Relationship Id="rId6" Type="http://schemas.openxmlformats.org/officeDocument/2006/relationships/image" Target="../media/image84.wmf"/><Relationship Id="rId5" Type="http://schemas.openxmlformats.org/officeDocument/2006/relationships/image" Target="../media/image83.wmf"/><Relationship Id="rId4" Type="http://schemas.openxmlformats.org/officeDocument/2006/relationships/image" Target="../media/image82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9.wmf"/><Relationship Id="rId7" Type="http://schemas.openxmlformats.org/officeDocument/2006/relationships/image" Target="../media/image93.wmf"/><Relationship Id="rId2" Type="http://schemas.openxmlformats.org/officeDocument/2006/relationships/image" Target="../media/image88.wmf"/><Relationship Id="rId1" Type="http://schemas.openxmlformats.org/officeDocument/2006/relationships/image" Target="../media/image87.wmf"/><Relationship Id="rId6" Type="http://schemas.openxmlformats.org/officeDocument/2006/relationships/image" Target="../media/image92.wmf"/><Relationship Id="rId5" Type="http://schemas.openxmlformats.org/officeDocument/2006/relationships/image" Target="../media/image91.wmf"/><Relationship Id="rId4" Type="http://schemas.openxmlformats.org/officeDocument/2006/relationships/image" Target="../media/image90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96.wmf"/><Relationship Id="rId2" Type="http://schemas.openxmlformats.org/officeDocument/2006/relationships/image" Target="../media/image95.wmf"/><Relationship Id="rId1" Type="http://schemas.openxmlformats.org/officeDocument/2006/relationships/image" Target="../media/image94.wmf"/><Relationship Id="rId4" Type="http://schemas.openxmlformats.org/officeDocument/2006/relationships/image" Target="../media/image97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wmf"/><Relationship Id="rId3" Type="http://schemas.openxmlformats.org/officeDocument/2006/relationships/image" Target="../media/image101.wmf"/><Relationship Id="rId7" Type="http://schemas.openxmlformats.org/officeDocument/2006/relationships/image" Target="../media/image105.wmf"/><Relationship Id="rId2" Type="http://schemas.openxmlformats.org/officeDocument/2006/relationships/image" Target="../media/image100.wmf"/><Relationship Id="rId1" Type="http://schemas.openxmlformats.org/officeDocument/2006/relationships/image" Target="../media/image99.wmf"/><Relationship Id="rId6" Type="http://schemas.openxmlformats.org/officeDocument/2006/relationships/image" Target="../media/image104.wmf"/><Relationship Id="rId5" Type="http://schemas.openxmlformats.org/officeDocument/2006/relationships/image" Target="../media/image103.wmf"/><Relationship Id="rId4" Type="http://schemas.openxmlformats.org/officeDocument/2006/relationships/image" Target="../media/image102.wmf"/><Relationship Id="rId9" Type="http://schemas.openxmlformats.org/officeDocument/2006/relationships/image" Target="../media/image107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3" Type="http://schemas.openxmlformats.org/officeDocument/2006/relationships/image" Target="../media/image110.wmf"/><Relationship Id="rId7" Type="http://schemas.openxmlformats.org/officeDocument/2006/relationships/image" Target="../media/image114.wmf"/><Relationship Id="rId2" Type="http://schemas.openxmlformats.org/officeDocument/2006/relationships/image" Target="../media/image109.wmf"/><Relationship Id="rId1" Type="http://schemas.openxmlformats.org/officeDocument/2006/relationships/image" Target="../media/image108.wmf"/><Relationship Id="rId6" Type="http://schemas.openxmlformats.org/officeDocument/2006/relationships/image" Target="../media/image113.wmf"/><Relationship Id="rId5" Type="http://schemas.openxmlformats.org/officeDocument/2006/relationships/image" Target="../media/image112.wmf"/><Relationship Id="rId4" Type="http://schemas.openxmlformats.org/officeDocument/2006/relationships/image" Target="../media/image111.wmf"/><Relationship Id="rId9" Type="http://schemas.openxmlformats.org/officeDocument/2006/relationships/image" Target="../media/image116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wmf"/><Relationship Id="rId2" Type="http://schemas.openxmlformats.org/officeDocument/2006/relationships/image" Target="../media/image118.wmf"/><Relationship Id="rId1" Type="http://schemas.openxmlformats.org/officeDocument/2006/relationships/image" Target="../media/image117.wmf"/><Relationship Id="rId6" Type="http://schemas.openxmlformats.org/officeDocument/2006/relationships/image" Target="../media/image122.wmf"/><Relationship Id="rId5" Type="http://schemas.openxmlformats.org/officeDocument/2006/relationships/image" Target="../media/image121.wmf"/><Relationship Id="rId4" Type="http://schemas.openxmlformats.org/officeDocument/2006/relationships/image" Target="../media/image120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wmf"/><Relationship Id="rId2" Type="http://schemas.openxmlformats.org/officeDocument/2006/relationships/image" Target="../media/image125.wmf"/><Relationship Id="rId1" Type="http://schemas.openxmlformats.org/officeDocument/2006/relationships/image" Target="../media/image124.wmf"/><Relationship Id="rId6" Type="http://schemas.openxmlformats.org/officeDocument/2006/relationships/image" Target="../media/image129.wmf"/><Relationship Id="rId5" Type="http://schemas.openxmlformats.org/officeDocument/2006/relationships/image" Target="../media/image128.wmf"/><Relationship Id="rId4" Type="http://schemas.openxmlformats.org/officeDocument/2006/relationships/image" Target="../media/image127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wmf"/><Relationship Id="rId2" Type="http://schemas.openxmlformats.org/officeDocument/2006/relationships/image" Target="../media/image132.wmf"/><Relationship Id="rId1" Type="http://schemas.openxmlformats.org/officeDocument/2006/relationships/image" Target="../media/image131.wmf"/><Relationship Id="rId6" Type="http://schemas.openxmlformats.org/officeDocument/2006/relationships/image" Target="../media/image136.wmf"/><Relationship Id="rId5" Type="http://schemas.openxmlformats.org/officeDocument/2006/relationships/image" Target="../media/image135.wmf"/><Relationship Id="rId4" Type="http://schemas.openxmlformats.org/officeDocument/2006/relationships/image" Target="../media/image13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C4D725-04D8-497F-BE5A-33BB815C9A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AAD6CBC-A5CD-4C7D-9D3A-7A88DB52F3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A0C5B20-32D3-4153-A61A-F9095FA18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2AF43D-0605-4AAC-93C7-16F10B27F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BE7E396-3AF0-45B5-8E6E-EF0D85596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FFF3CD-C761-47C9-977D-6E5C272B577C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222948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8DE890-0EEA-4A06-9A42-FDC89B281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88494F-A600-4F5E-9B84-EA84C67879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6C3B4E2-B982-4B67-8BD8-3FA6E674C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BCF44C-2FC6-46D1-8FA2-03BD277AD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A0122E-E77D-4E0F-8196-2857B7C6F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823F95-43B0-4DD0-907F-54E571AC803B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435655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369159-D4C0-439B-8457-5CF7DDB7B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0936128-5869-4080-BEF6-7983D54D78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CA622E-8ACD-4866-83B5-9332ECC98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67273BD-F19A-48A0-86D0-8BD317678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7A9B68-B248-4467-9DC0-8E63D4F09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400765-8A44-4E08-A739-3C7C6A04A4DF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527547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92468E-A404-4206-8DBB-5F9CFA4F0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39F61B-B992-4D6E-A49F-00D683D271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74AB944-E8D0-4DEA-92ED-03C65B8210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8A843F9-0D7C-4DEB-89A4-D375A42B2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670E1DF-5226-4EDD-9BBE-C49EEC76A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C341FBB-8C67-4CE4-90BC-D24923008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D3D74-032D-41C7-A3D6-9BA2965F2254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273723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DCD922-EF8B-41B6-BFBE-A4D4F1C5B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E98F6CE-A719-4017-98AB-3AEAC90D7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67AB482-47B0-4206-B1E8-C3E83943F2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460DDAB-B0F3-4386-B17D-FBA77DA055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70BDACA-EEBE-4075-8AB7-CA52D45704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961F370-E436-4F07-8340-8A7E6CDE8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83FCAD0-538B-43B9-8AD9-CB5EAF16E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7B8606C-C386-46D2-8B09-B533FF159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F9E84F-A4D4-4B23-8CCA-DABF60A6782E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043601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FD82C3-C030-42C0-9C26-0A1B3CBC7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724624B-CB1C-4917-B57F-9CECAEE76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D50FD5E-A1C7-4F12-8584-8372CA0A2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8F9A599-D476-43BA-8901-6F504759D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4A3274-F9C1-4608-8D09-0EE3E681FD88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581602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E62BD45-3F15-4F1A-87E8-C8FCA150D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1C1B4AA-A68B-42AC-BF0C-167DC576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D237B8F-4946-47EC-841F-F36B5A34C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CDDD29-983E-4001-87D8-A12D5B1A4182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161271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5B2C36-78C0-473B-9D75-4164E61FF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488BF9-62EF-49B9-8EFB-677FD2AF6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165DCDF-22AB-4254-AFF7-3279A681A1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08D79B9-9179-46A5-8980-871C65BB5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5368356-A163-4EFB-B12A-E09AEA01C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CED7C46-251E-40F2-89B6-59C942CFE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293B7F-3F17-44F7-BC4C-195B1426CDDC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32231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BCF8BB-7CD4-43FE-BF37-DF6406989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1C5F9BB-ED9A-4AAB-94CF-987A2C491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F0AEEA0-A12A-4675-8F40-E14EE72AF3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FCEDDB5-A15E-4D4A-B643-41B972E90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22073BC-7857-46B2-8C06-2FA6F8B36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296849F-EDAF-4838-B720-18F9FCB4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92F4AF-F953-4A0C-8693-B54F633973FE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528259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D73843-291C-4CA3-B6F9-BD280E5CF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5E9E376-A9B4-45BC-80CF-3C52D65D38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A36C169-CD9B-4921-A1EC-694514B19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B9464BE-B5CD-49C3-8537-261B9BD47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BFF72D3-75AA-4CEA-84B7-6322D3A73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9DDEA8-45A9-45CF-A3EE-0453883C67CE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162475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B3DF1A1-7211-461F-B7E3-184AEA3F6C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DAE385B-647D-4A30-8648-B2E58F9D91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AEC98F-D59A-4F3D-9CC3-8FB1FD0B8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4EA663D-EE85-4BBE-B615-BC593AA66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509F1B-A19F-430F-B90C-D70ABA342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4CAA4D-2880-46AD-8DB5-FE3B2F2CB104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4762359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Заголовок, текст и 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8991BD-EC32-4F1B-AD58-0CFD2A823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FC9D365-3C2B-455C-B9B7-89D6C7E8B8AA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758236B-9F36-44D5-ACE9-84DB59FDB9D5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7F68AAA0-21BB-4A5B-85AA-339C85F2CA06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4944ABDD-F259-4621-B119-CA2A27BC75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0430BC31-C8C2-438C-9DDB-C6CA063AD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2A66B32C-7F44-4804-B4B5-DD08423FC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0D9DE1BC-39F8-4174-B27A-A8F6EFAE0EED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475649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61073E4-7487-46D0-8A66-FBDB949B7F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FF5EA90-B18F-47FB-8611-6491648237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3332E41-8B46-4A6B-AD39-118744AF4A7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ru-RU" altLang="ru-RU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2F12A3D-04F1-4224-B0BE-3C92A7B592D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ru-RU" altLang="ru-RU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8846EF8-62A2-4F73-A81E-E9EC961B9C7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3C2192E-B02F-4308-8304-FB54E84C6675}" type="slidenum">
              <a:rPr lang="ru-RU" altLang="ru-RU"/>
              <a:pPr/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oleObject" Target="../embeddings/oleObject1.bin"/><Relationship Id="rId7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10" Type="http://schemas.openxmlformats.org/officeDocument/2006/relationships/oleObject" Target="../embeddings/oleObject4.bin"/><Relationship Id="rId4" Type="http://schemas.openxmlformats.org/officeDocument/2006/relationships/image" Target="../media/image1.wmf"/><Relationship Id="rId9" Type="http://schemas.openxmlformats.org/officeDocument/2006/relationships/image" Target="../media/image3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13" Type="http://schemas.openxmlformats.org/officeDocument/2006/relationships/oleObject" Target="../embeddings/oleObject10.bin"/><Relationship Id="rId18" Type="http://schemas.openxmlformats.org/officeDocument/2006/relationships/image" Target="../media/image12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9.wmf"/><Relationship Id="rId17" Type="http://schemas.openxmlformats.org/officeDocument/2006/relationships/oleObject" Target="../embeddings/oleObject12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1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6.bin"/><Relationship Id="rId15" Type="http://schemas.openxmlformats.org/officeDocument/2006/relationships/oleObject" Target="../embeddings/oleObject11.bin"/><Relationship Id="rId10" Type="http://schemas.openxmlformats.org/officeDocument/2006/relationships/image" Target="../media/image8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8.bin"/><Relationship Id="rId14" Type="http://schemas.openxmlformats.org/officeDocument/2006/relationships/image" Target="../media/image10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oleObject" Target="../embeddings/oleObject18.bin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1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16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6.bin"/><Relationship Id="rId14" Type="http://schemas.openxmlformats.org/officeDocument/2006/relationships/image" Target="../media/image18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13" Type="http://schemas.openxmlformats.org/officeDocument/2006/relationships/oleObject" Target="../embeddings/oleObject24.bin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24.wmf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26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23.bin"/><Relationship Id="rId5" Type="http://schemas.openxmlformats.org/officeDocument/2006/relationships/oleObject" Target="../embeddings/oleObject20.bin"/><Relationship Id="rId15" Type="http://schemas.openxmlformats.org/officeDocument/2006/relationships/oleObject" Target="../embeddings/oleObject25.bin"/><Relationship Id="rId10" Type="http://schemas.openxmlformats.org/officeDocument/2006/relationships/image" Target="../media/image23.wmf"/><Relationship Id="rId4" Type="http://schemas.openxmlformats.org/officeDocument/2006/relationships/image" Target="../media/image20.wmf"/><Relationship Id="rId9" Type="http://schemas.openxmlformats.org/officeDocument/2006/relationships/oleObject" Target="../embeddings/oleObject22.bin"/><Relationship Id="rId14" Type="http://schemas.openxmlformats.org/officeDocument/2006/relationships/image" Target="../media/image25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13" Type="http://schemas.openxmlformats.org/officeDocument/2006/relationships/oleObject" Target="../embeddings/oleObject31.bin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12" Type="http://schemas.openxmlformats.org/officeDocument/2006/relationships/image" Target="../media/image31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8.wmf"/><Relationship Id="rId11" Type="http://schemas.openxmlformats.org/officeDocument/2006/relationships/oleObject" Target="../embeddings/oleObject30.bin"/><Relationship Id="rId5" Type="http://schemas.openxmlformats.org/officeDocument/2006/relationships/oleObject" Target="../embeddings/oleObject27.bin"/><Relationship Id="rId10" Type="http://schemas.openxmlformats.org/officeDocument/2006/relationships/image" Target="../media/image30.wmf"/><Relationship Id="rId4" Type="http://schemas.openxmlformats.org/officeDocument/2006/relationships/image" Target="../media/image27.wmf"/><Relationship Id="rId9" Type="http://schemas.openxmlformats.org/officeDocument/2006/relationships/oleObject" Target="../embeddings/oleObject29.bin"/><Relationship Id="rId14" Type="http://schemas.openxmlformats.org/officeDocument/2006/relationships/image" Target="../media/image32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12" Type="http://schemas.openxmlformats.org/officeDocument/2006/relationships/image" Target="../media/image36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3.wmf"/><Relationship Id="rId11" Type="http://schemas.openxmlformats.org/officeDocument/2006/relationships/oleObject" Target="../embeddings/oleObject36.bin"/><Relationship Id="rId5" Type="http://schemas.openxmlformats.org/officeDocument/2006/relationships/oleObject" Target="../embeddings/oleObject33.bin"/><Relationship Id="rId10" Type="http://schemas.openxmlformats.org/officeDocument/2006/relationships/image" Target="../media/image35.wmf"/><Relationship Id="rId4" Type="http://schemas.openxmlformats.org/officeDocument/2006/relationships/image" Target="../media/image20.wmf"/><Relationship Id="rId9" Type="http://schemas.openxmlformats.org/officeDocument/2006/relationships/oleObject" Target="../embeddings/oleObject35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13" Type="http://schemas.openxmlformats.org/officeDocument/2006/relationships/image" Target="../media/image40.wmf"/><Relationship Id="rId18" Type="http://schemas.openxmlformats.org/officeDocument/2006/relationships/oleObject" Target="../embeddings/oleObject45.bin"/><Relationship Id="rId3" Type="http://schemas.openxmlformats.org/officeDocument/2006/relationships/oleObject" Target="../embeddings/oleObject37.bin"/><Relationship Id="rId21" Type="http://schemas.openxmlformats.org/officeDocument/2006/relationships/image" Target="../media/image44.wmf"/><Relationship Id="rId7" Type="http://schemas.openxmlformats.org/officeDocument/2006/relationships/oleObject" Target="../embeddings/oleObject39.bin"/><Relationship Id="rId12" Type="http://schemas.openxmlformats.org/officeDocument/2006/relationships/oleObject" Target="../embeddings/oleObject42.bin"/><Relationship Id="rId17" Type="http://schemas.openxmlformats.org/officeDocument/2006/relationships/image" Target="../media/image42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44.bin"/><Relationship Id="rId20" Type="http://schemas.openxmlformats.org/officeDocument/2006/relationships/oleObject" Target="../embeddings/oleObject46.bin"/><Relationship Id="rId1" Type="http://schemas.openxmlformats.org/officeDocument/2006/relationships/vmlDrawing" Target="../drawings/vmlDrawing7.vml"/><Relationship Id="rId6" Type="http://schemas.openxmlformats.org/officeDocument/2006/relationships/image" Target="../media/image37.wmf"/><Relationship Id="rId11" Type="http://schemas.openxmlformats.org/officeDocument/2006/relationships/image" Target="../media/image39.wmf"/><Relationship Id="rId5" Type="http://schemas.openxmlformats.org/officeDocument/2006/relationships/oleObject" Target="../embeddings/oleObject38.bin"/><Relationship Id="rId15" Type="http://schemas.openxmlformats.org/officeDocument/2006/relationships/image" Target="../media/image41.wmf"/><Relationship Id="rId23" Type="http://schemas.openxmlformats.org/officeDocument/2006/relationships/image" Target="../media/image45.wmf"/><Relationship Id="rId10" Type="http://schemas.openxmlformats.org/officeDocument/2006/relationships/oleObject" Target="../embeddings/oleObject41.bin"/><Relationship Id="rId19" Type="http://schemas.openxmlformats.org/officeDocument/2006/relationships/image" Target="../media/image43.wmf"/><Relationship Id="rId4" Type="http://schemas.openxmlformats.org/officeDocument/2006/relationships/image" Target="../media/image2.wmf"/><Relationship Id="rId9" Type="http://schemas.openxmlformats.org/officeDocument/2006/relationships/image" Target="../media/image38.wmf"/><Relationship Id="rId14" Type="http://schemas.openxmlformats.org/officeDocument/2006/relationships/oleObject" Target="../embeddings/oleObject43.bin"/><Relationship Id="rId22" Type="http://schemas.openxmlformats.org/officeDocument/2006/relationships/oleObject" Target="../embeddings/oleObject47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13" Type="http://schemas.openxmlformats.org/officeDocument/2006/relationships/oleObject" Target="../embeddings/oleObject53.bin"/><Relationship Id="rId18" Type="http://schemas.openxmlformats.org/officeDocument/2006/relationships/image" Target="../media/image52.wmf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50.bin"/><Relationship Id="rId12" Type="http://schemas.openxmlformats.org/officeDocument/2006/relationships/image" Target="../media/image49.wmf"/><Relationship Id="rId17" Type="http://schemas.openxmlformats.org/officeDocument/2006/relationships/oleObject" Target="../embeddings/oleObject55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51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46.wmf"/><Relationship Id="rId11" Type="http://schemas.openxmlformats.org/officeDocument/2006/relationships/oleObject" Target="../embeddings/oleObject52.bin"/><Relationship Id="rId5" Type="http://schemas.openxmlformats.org/officeDocument/2006/relationships/oleObject" Target="../embeddings/oleObject49.bin"/><Relationship Id="rId15" Type="http://schemas.openxmlformats.org/officeDocument/2006/relationships/oleObject" Target="../embeddings/oleObject54.bin"/><Relationship Id="rId10" Type="http://schemas.openxmlformats.org/officeDocument/2006/relationships/image" Target="../media/image48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51.bin"/><Relationship Id="rId14" Type="http://schemas.openxmlformats.org/officeDocument/2006/relationships/image" Target="../media/image50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13" Type="http://schemas.openxmlformats.org/officeDocument/2006/relationships/oleObject" Target="../embeddings/oleObject61.bin"/><Relationship Id="rId3" Type="http://schemas.openxmlformats.org/officeDocument/2006/relationships/oleObject" Target="../embeddings/oleObject56.bin"/><Relationship Id="rId7" Type="http://schemas.openxmlformats.org/officeDocument/2006/relationships/oleObject" Target="../embeddings/oleObject58.bin"/><Relationship Id="rId12" Type="http://schemas.openxmlformats.org/officeDocument/2006/relationships/image" Target="../media/image56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53.wmf"/><Relationship Id="rId11" Type="http://schemas.openxmlformats.org/officeDocument/2006/relationships/oleObject" Target="../embeddings/oleObject60.bin"/><Relationship Id="rId5" Type="http://schemas.openxmlformats.org/officeDocument/2006/relationships/oleObject" Target="../embeddings/oleObject57.bin"/><Relationship Id="rId10" Type="http://schemas.openxmlformats.org/officeDocument/2006/relationships/image" Target="../media/image5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59.bin"/><Relationship Id="rId14" Type="http://schemas.openxmlformats.org/officeDocument/2006/relationships/image" Target="../media/image57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13" Type="http://schemas.openxmlformats.org/officeDocument/2006/relationships/oleObject" Target="../embeddings/oleObject67.bin"/><Relationship Id="rId18" Type="http://schemas.openxmlformats.org/officeDocument/2006/relationships/image" Target="../media/image65.wmf"/><Relationship Id="rId3" Type="http://schemas.openxmlformats.org/officeDocument/2006/relationships/oleObject" Target="../embeddings/oleObject62.bin"/><Relationship Id="rId7" Type="http://schemas.openxmlformats.org/officeDocument/2006/relationships/oleObject" Target="../embeddings/oleObject64.bin"/><Relationship Id="rId12" Type="http://schemas.openxmlformats.org/officeDocument/2006/relationships/image" Target="../media/image62.wmf"/><Relationship Id="rId17" Type="http://schemas.openxmlformats.org/officeDocument/2006/relationships/oleObject" Target="../embeddings/oleObject69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4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9.wmf"/><Relationship Id="rId11" Type="http://schemas.openxmlformats.org/officeDocument/2006/relationships/oleObject" Target="../embeddings/oleObject66.bin"/><Relationship Id="rId5" Type="http://schemas.openxmlformats.org/officeDocument/2006/relationships/oleObject" Target="../embeddings/oleObject63.bin"/><Relationship Id="rId15" Type="http://schemas.openxmlformats.org/officeDocument/2006/relationships/oleObject" Target="../embeddings/oleObject68.bin"/><Relationship Id="rId10" Type="http://schemas.openxmlformats.org/officeDocument/2006/relationships/image" Target="../media/image61.wmf"/><Relationship Id="rId4" Type="http://schemas.openxmlformats.org/officeDocument/2006/relationships/image" Target="../media/image58.wmf"/><Relationship Id="rId9" Type="http://schemas.openxmlformats.org/officeDocument/2006/relationships/oleObject" Target="../embeddings/oleObject65.bin"/><Relationship Id="rId14" Type="http://schemas.openxmlformats.org/officeDocument/2006/relationships/image" Target="../media/image63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3" Type="http://schemas.openxmlformats.org/officeDocument/2006/relationships/oleObject" Target="../embeddings/oleObject70.bin"/><Relationship Id="rId7" Type="http://schemas.openxmlformats.org/officeDocument/2006/relationships/oleObject" Target="../embeddings/oleObject7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67.wmf"/><Relationship Id="rId5" Type="http://schemas.openxmlformats.org/officeDocument/2006/relationships/oleObject" Target="../embeddings/oleObject71.bin"/><Relationship Id="rId4" Type="http://schemas.openxmlformats.org/officeDocument/2006/relationships/image" Target="../media/image66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69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13" Type="http://schemas.openxmlformats.org/officeDocument/2006/relationships/oleObject" Target="../embeddings/oleObject79.bin"/><Relationship Id="rId18" Type="http://schemas.openxmlformats.org/officeDocument/2006/relationships/image" Target="../media/image76.wmf"/><Relationship Id="rId3" Type="http://schemas.openxmlformats.org/officeDocument/2006/relationships/oleObject" Target="../embeddings/oleObject74.bin"/><Relationship Id="rId7" Type="http://schemas.openxmlformats.org/officeDocument/2006/relationships/oleObject" Target="../embeddings/oleObject76.bin"/><Relationship Id="rId12" Type="http://schemas.openxmlformats.org/officeDocument/2006/relationships/image" Target="../media/image73.wmf"/><Relationship Id="rId17" Type="http://schemas.openxmlformats.org/officeDocument/2006/relationships/oleObject" Target="../embeddings/oleObject81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75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70.wmf"/><Relationship Id="rId11" Type="http://schemas.openxmlformats.org/officeDocument/2006/relationships/oleObject" Target="../embeddings/oleObject78.bin"/><Relationship Id="rId5" Type="http://schemas.openxmlformats.org/officeDocument/2006/relationships/oleObject" Target="../embeddings/oleObject75.bin"/><Relationship Id="rId15" Type="http://schemas.openxmlformats.org/officeDocument/2006/relationships/oleObject" Target="../embeddings/oleObject80.bin"/><Relationship Id="rId10" Type="http://schemas.openxmlformats.org/officeDocument/2006/relationships/image" Target="../media/image72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77.bin"/><Relationship Id="rId14" Type="http://schemas.openxmlformats.org/officeDocument/2006/relationships/image" Target="../media/image74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77.wmf"/><Relationship Id="rId4" Type="http://schemas.openxmlformats.org/officeDocument/2006/relationships/oleObject" Target="../embeddings/oleObject82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13" Type="http://schemas.openxmlformats.org/officeDocument/2006/relationships/image" Target="../media/image83.wmf"/><Relationship Id="rId3" Type="http://schemas.openxmlformats.org/officeDocument/2006/relationships/oleObject" Target="../embeddings/oleObject83.bin"/><Relationship Id="rId7" Type="http://schemas.openxmlformats.org/officeDocument/2006/relationships/oleObject" Target="../embeddings/oleObject85.bin"/><Relationship Id="rId12" Type="http://schemas.openxmlformats.org/officeDocument/2006/relationships/oleObject" Target="../embeddings/oleObject87.bin"/><Relationship Id="rId17" Type="http://schemas.openxmlformats.org/officeDocument/2006/relationships/image" Target="../media/image85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89.bin"/><Relationship Id="rId1" Type="http://schemas.openxmlformats.org/officeDocument/2006/relationships/vmlDrawing" Target="../drawings/vmlDrawing15.vml"/><Relationship Id="rId6" Type="http://schemas.openxmlformats.org/officeDocument/2006/relationships/image" Target="../media/image80.wmf"/><Relationship Id="rId11" Type="http://schemas.openxmlformats.org/officeDocument/2006/relationships/image" Target="../media/image82.wmf"/><Relationship Id="rId5" Type="http://schemas.openxmlformats.org/officeDocument/2006/relationships/oleObject" Target="../embeddings/oleObject84.bin"/><Relationship Id="rId15" Type="http://schemas.openxmlformats.org/officeDocument/2006/relationships/image" Target="../media/image84.wmf"/><Relationship Id="rId10" Type="http://schemas.openxmlformats.org/officeDocument/2006/relationships/oleObject" Target="../embeddings/oleObject86.bin"/><Relationship Id="rId4" Type="http://schemas.openxmlformats.org/officeDocument/2006/relationships/image" Target="../media/image79.wmf"/><Relationship Id="rId9" Type="http://schemas.openxmlformats.org/officeDocument/2006/relationships/image" Target="../media/image86.jpeg"/><Relationship Id="rId14" Type="http://schemas.openxmlformats.org/officeDocument/2006/relationships/oleObject" Target="../embeddings/oleObject88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wmf"/><Relationship Id="rId13" Type="http://schemas.openxmlformats.org/officeDocument/2006/relationships/oleObject" Target="../embeddings/oleObject95.bin"/><Relationship Id="rId3" Type="http://schemas.openxmlformats.org/officeDocument/2006/relationships/oleObject" Target="../embeddings/oleObject90.bin"/><Relationship Id="rId7" Type="http://schemas.openxmlformats.org/officeDocument/2006/relationships/oleObject" Target="../embeddings/oleObject92.bin"/><Relationship Id="rId12" Type="http://schemas.openxmlformats.org/officeDocument/2006/relationships/image" Target="../media/image91.wmf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93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88.wmf"/><Relationship Id="rId11" Type="http://schemas.openxmlformats.org/officeDocument/2006/relationships/oleObject" Target="../embeddings/oleObject94.bin"/><Relationship Id="rId5" Type="http://schemas.openxmlformats.org/officeDocument/2006/relationships/oleObject" Target="../embeddings/oleObject91.bin"/><Relationship Id="rId15" Type="http://schemas.openxmlformats.org/officeDocument/2006/relationships/oleObject" Target="../embeddings/oleObject96.bin"/><Relationship Id="rId10" Type="http://schemas.openxmlformats.org/officeDocument/2006/relationships/image" Target="../media/image90.wmf"/><Relationship Id="rId4" Type="http://schemas.openxmlformats.org/officeDocument/2006/relationships/image" Target="../media/image87.wmf"/><Relationship Id="rId9" Type="http://schemas.openxmlformats.org/officeDocument/2006/relationships/oleObject" Target="../embeddings/oleObject93.bin"/><Relationship Id="rId14" Type="http://schemas.openxmlformats.org/officeDocument/2006/relationships/image" Target="../media/image92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wmf"/><Relationship Id="rId3" Type="http://schemas.openxmlformats.org/officeDocument/2006/relationships/oleObject" Target="../embeddings/oleObject97.bin"/><Relationship Id="rId7" Type="http://schemas.openxmlformats.org/officeDocument/2006/relationships/oleObject" Target="../embeddings/oleObject99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95.wmf"/><Relationship Id="rId11" Type="http://schemas.openxmlformats.org/officeDocument/2006/relationships/image" Target="../media/image97.wmf"/><Relationship Id="rId5" Type="http://schemas.openxmlformats.org/officeDocument/2006/relationships/oleObject" Target="../embeddings/oleObject98.bin"/><Relationship Id="rId10" Type="http://schemas.openxmlformats.org/officeDocument/2006/relationships/oleObject" Target="../embeddings/oleObject100.bin"/><Relationship Id="rId4" Type="http://schemas.openxmlformats.org/officeDocument/2006/relationships/image" Target="../media/image94.wmf"/><Relationship Id="rId9" Type="http://schemas.openxmlformats.org/officeDocument/2006/relationships/image" Target="../media/image98.jpe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wmf"/><Relationship Id="rId13" Type="http://schemas.openxmlformats.org/officeDocument/2006/relationships/oleObject" Target="../embeddings/oleObject106.bin"/><Relationship Id="rId18" Type="http://schemas.openxmlformats.org/officeDocument/2006/relationships/image" Target="../media/image106.wmf"/><Relationship Id="rId3" Type="http://schemas.openxmlformats.org/officeDocument/2006/relationships/oleObject" Target="../embeddings/oleObject101.bin"/><Relationship Id="rId7" Type="http://schemas.openxmlformats.org/officeDocument/2006/relationships/oleObject" Target="../embeddings/oleObject103.bin"/><Relationship Id="rId12" Type="http://schemas.openxmlformats.org/officeDocument/2006/relationships/image" Target="../media/image103.wmf"/><Relationship Id="rId17" Type="http://schemas.openxmlformats.org/officeDocument/2006/relationships/oleObject" Target="../embeddings/oleObject108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05.wmf"/><Relationship Id="rId20" Type="http://schemas.openxmlformats.org/officeDocument/2006/relationships/image" Target="../media/image107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00.wmf"/><Relationship Id="rId11" Type="http://schemas.openxmlformats.org/officeDocument/2006/relationships/oleObject" Target="../embeddings/oleObject105.bin"/><Relationship Id="rId5" Type="http://schemas.openxmlformats.org/officeDocument/2006/relationships/oleObject" Target="../embeddings/oleObject102.bin"/><Relationship Id="rId15" Type="http://schemas.openxmlformats.org/officeDocument/2006/relationships/oleObject" Target="../embeddings/oleObject107.bin"/><Relationship Id="rId10" Type="http://schemas.openxmlformats.org/officeDocument/2006/relationships/image" Target="../media/image102.wmf"/><Relationship Id="rId19" Type="http://schemas.openxmlformats.org/officeDocument/2006/relationships/oleObject" Target="../embeddings/oleObject109.bin"/><Relationship Id="rId4" Type="http://schemas.openxmlformats.org/officeDocument/2006/relationships/image" Target="../media/image99.wmf"/><Relationship Id="rId9" Type="http://schemas.openxmlformats.org/officeDocument/2006/relationships/oleObject" Target="../embeddings/oleObject104.bin"/><Relationship Id="rId14" Type="http://schemas.openxmlformats.org/officeDocument/2006/relationships/image" Target="../media/image104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wmf"/><Relationship Id="rId13" Type="http://schemas.openxmlformats.org/officeDocument/2006/relationships/oleObject" Target="../embeddings/oleObject115.bin"/><Relationship Id="rId18" Type="http://schemas.openxmlformats.org/officeDocument/2006/relationships/image" Target="../media/image115.wmf"/><Relationship Id="rId3" Type="http://schemas.openxmlformats.org/officeDocument/2006/relationships/oleObject" Target="../embeddings/oleObject110.bin"/><Relationship Id="rId7" Type="http://schemas.openxmlformats.org/officeDocument/2006/relationships/oleObject" Target="../embeddings/oleObject112.bin"/><Relationship Id="rId12" Type="http://schemas.openxmlformats.org/officeDocument/2006/relationships/image" Target="../media/image112.wmf"/><Relationship Id="rId17" Type="http://schemas.openxmlformats.org/officeDocument/2006/relationships/oleObject" Target="../embeddings/oleObject117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14.wmf"/><Relationship Id="rId20" Type="http://schemas.openxmlformats.org/officeDocument/2006/relationships/image" Target="../media/image116.w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09.wmf"/><Relationship Id="rId11" Type="http://schemas.openxmlformats.org/officeDocument/2006/relationships/oleObject" Target="../embeddings/oleObject114.bin"/><Relationship Id="rId5" Type="http://schemas.openxmlformats.org/officeDocument/2006/relationships/oleObject" Target="../embeddings/oleObject111.bin"/><Relationship Id="rId15" Type="http://schemas.openxmlformats.org/officeDocument/2006/relationships/oleObject" Target="../embeddings/oleObject116.bin"/><Relationship Id="rId10" Type="http://schemas.openxmlformats.org/officeDocument/2006/relationships/image" Target="../media/image111.wmf"/><Relationship Id="rId19" Type="http://schemas.openxmlformats.org/officeDocument/2006/relationships/oleObject" Target="../embeddings/oleObject118.bin"/><Relationship Id="rId4" Type="http://schemas.openxmlformats.org/officeDocument/2006/relationships/image" Target="../media/image108.wmf"/><Relationship Id="rId9" Type="http://schemas.openxmlformats.org/officeDocument/2006/relationships/oleObject" Target="../embeddings/oleObject113.bin"/><Relationship Id="rId14" Type="http://schemas.openxmlformats.org/officeDocument/2006/relationships/image" Target="../media/image113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1.bin"/><Relationship Id="rId13" Type="http://schemas.openxmlformats.org/officeDocument/2006/relationships/image" Target="../media/image121.wmf"/><Relationship Id="rId3" Type="http://schemas.openxmlformats.org/officeDocument/2006/relationships/image" Target="../media/image123.jpeg"/><Relationship Id="rId7" Type="http://schemas.openxmlformats.org/officeDocument/2006/relationships/image" Target="../media/image118.wmf"/><Relationship Id="rId12" Type="http://schemas.openxmlformats.org/officeDocument/2006/relationships/oleObject" Target="../embeddings/oleObject1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120.bin"/><Relationship Id="rId11" Type="http://schemas.openxmlformats.org/officeDocument/2006/relationships/image" Target="../media/image120.wmf"/><Relationship Id="rId5" Type="http://schemas.openxmlformats.org/officeDocument/2006/relationships/image" Target="../media/image117.wmf"/><Relationship Id="rId15" Type="http://schemas.openxmlformats.org/officeDocument/2006/relationships/image" Target="../media/image122.wmf"/><Relationship Id="rId10" Type="http://schemas.openxmlformats.org/officeDocument/2006/relationships/oleObject" Target="../embeddings/oleObject122.bin"/><Relationship Id="rId4" Type="http://schemas.openxmlformats.org/officeDocument/2006/relationships/oleObject" Target="../embeddings/oleObject119.bin"/><Relationship Id="rId9" Type="http://schemas.openxmlformats.org/officeDocument/2006/relationships/image" Target="../media/image119.wmf"/><Relationship Id="rId14" Type="http://schemas.openxmlformats.org/officeDocument/2006/relationships/oleObject" Target="../embeddings/oleObject124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7.bin"/><Relationship Id="rId13" Type="http://schemas.openxmlformats.org/officeDocument/2006/relationships/image" Target="../media/image128.wmf"/><Relationship Id="rId3" Type="http://schemas.openxmlformats.org/officeDocument/2006/relationships/oleObject" Target="../embeddings/oleObject125.bin"/><Relationship Id="rId7" Type="http://schemas.openxmlformats.org/officeDocument/2006/relationships/image" Target="../media/image130.jpeg"/><Relationship Id="rId12" Type="http://schemas.openxmlformats.org/officeDocument/2006/relationships/oleObject" Target="../embeddings/oleObject1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25.wmf"/><Relationship Id="rId11" Type="http://schemas.openxmlformats.org/officeDocument/2006/relationships/image" Target="../media/image127.wmf"/><Relationship Id="rId5" Type="http://schemas.openxmlformats.org/officeDocument/2006/relationships/oleObject" Target="../embeddings/oleObject126.bin"/><Relationship Id="rId15" Type="http://schemas.openxmlformats.org/officeDocument/2006/relationships/image" Target="../media/image129.wmf"/><Relationship Id="rId10" Type="http://schemas.openxmlformats.org/officeDocument/2006/relationships/oleObject" Target="../embeddings/oleObject128.bin"/><Relationship Id="rId4" Type="http://schemas.openxmlformats.org/officeDocument/2006/relationships/image" Target="../media/image124.wmf"/><Relationship Id="rId9" Type="http://schemas.openxmlformats.org/officeDocument/2006/relationships/image" Target="../media/image126.wmf"/><Relationship Id="rId14" Type="http://schemas.openxmlformats.org/officeDocument/2006/relationships/oleObject" Target="../embeddings/oleObject130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wmf"/><Relationship Id="rId13" Type="http://schemas.openxmlformats.org/officeDocument/2006/relationships/oleObject" Target="../embeddings/oleObject136.bin"/><Relationship Id="rId3" Type="http://schemas.openxmlformats.org/officeDocument/2006/relationships/oleObject" Target="../embeddings/oleObject131.bin"/><Relationship Id="rId7" Type="http://schemas.openxmlformats.org/officeDocument/2006/relationships/oleObject" Target="../embeddings/oleObject133.bin"/><Relationship Id="rId12" Type="http://schemas.openxmlformats.org/officeDocument/2006/relationships/image" Target="../media/image13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32.wmf"/><Relationship Id="rId11" Type="http://schemas.openxmlformats.org/officeDocument/2006/relationships/oleObject" Target="../embeddings/oleObject135.bin"/><Relationship Id="rId5" Type="http://schemas.openxmlformats.org/officeDocument/2006/relationships/oleObject" Target="../embeddings/oleObject132.bin"/><Relationship Id="rId10" Type="http://schemas.openxmlformats.org/officeDocument/2006/relationships/image" Target="../media/image134.wmf"/><Relationship Id="rId4" Type="http://schemas.openxmlformats.org/officeDocument/2006/relationships/image" Target="../media/image131.wmf"/><Relationship Id="rId9" Type="http://schemas.openxmlformats.org/officeDocument/2006/relationships/oleObject" Target="../embeddings/oleObject134.bin"/><Relationship Id="rId14" Type="http://schemas.openxmlformats.org/officeDocument/2006/relationships/image" Target="../media/image13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C9E1077-39CB-4060-89BA-DD2EFD2DF75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ru-RU" altLang="ru-RU" sz="4400" b="1" dirty="0"/>
              <a:t>ЛЕКЦИЯ № 3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035A48F4-9D72-4CDB-A51E-6277F391026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ru-RU" altLang="ru-RU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Математические основы оптимизации</a:t>
            </a:r>
            <a:endParaRPr lang="ru-RU" altLang="ru-RU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9CED389-675C-4420-A0B5-514CD18C29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274638"/>
            <a:ext cx="8291512" cy="1425575"/>
          </a:xfrm>
        </p:spPr>
        <p:txBody>
          <a:bodyPr/>
          <a:lstStyle/>
          <a:p>
            <a:pPr marL="838200" indent="-838200"/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Дифференцирование функций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3C692A84-E3D0-4622-A811-D9C139D466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844675"/>
            <a:ext cx="8229600" cy="4608513"/>
          </a:xfrm>
        </p:spPr>
        <p:txBody>
          <a:bodyPr/>
          <a:lstStyle/>
          <a:p>
            <a:pPr marL="609600" indent="-609600">
              <a:buFontTx/>
              <a:buNone/>
            </a:pPr>
            <a:r>
              <a:rPr lang="en-US" altLang="ru-RU" sz="2400" b="1" u="sng"/>
              <a:t>1.1. </a:t>
            </a:r>
            <a:r>
              <a:rPr lang="ru-RU" altLang="ru-RU" sz="2400" b="1" u="sng"/>
              <a:t>Градиент функции.</a:t>
            </a:r>
            <a:r>
              <a:rPr lang="ru-RU" altLang="ru-RU"/>
              <a:t> </a:t>
            </a:r>
          </a:p>
          <a:p>
            <a:pPr marL="609600" indent="-609600">
              <a:buFontTx/>
              <a:buNone/>
            </a:pPr>
            <a:endParaRPr lang="ru-RU" altLang="ru-RU" sz="1800"/>
          </a:p>
          <a:p>
            <a:pPr marL="609600" indent="-609600">
              <a:buFontTx/>
              <a:buNone/>
            </a:pPr>
            <a:endParaRPr lang="ru-RU" altLang="ru-RU" sz="1800"/>
          </a:p>
          <a:p>
            <a:pPr marL="609600" indent="-609600">
              <a:buFontTx/>
              <a:buNone/>
            </a:pPr>
            <a:r>
              <a:rPr lang="ru-RU" altLang="ru-RU" sz="1800"/>
              <a:t>Пусть </a:t>
            </a:r>
            <a:r>
              <a:rPr lang="en-US" altLang="ru-RU" sz="1800"/>
              <a:t>f</a:t>
            </a:r>
            <a:r>
              <a:rPr lang="ru-RU" altLang="ru-RU" sz="1800"/>
              <a:t>: </a:t>
            </a:r>
            <a:endParaRPr lang="en-US" altLang="ru-RU" sz="1800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0EFBAFFB-EB3A-4790-A838-5C5293758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3084" name="Object 12">
            <a:extLst>
              <a:ext uri="{FF2B5EF4-FFF2-40B4-BE49-F238E27FC236}">
                <a16:creationId xmlns:a16="http://schemas.microsoft.com/office/drawing/2014/main" id="{AC24AD47-DC3A-49CA-9B19-4BE434C60B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114300" y="2957513"/>
          <a:ext cx="114300" cy="21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7" name="Формула" r:id="rId3" imgW="114151" imgH="215619" progId="Equation.3">
                  <p:embed/>
                </p:oleObj>
              </mc:Choice>
              <mc:Fallback>
                <p:oleObj name="Формула" r:id="rId3" imgW="114151" imgH="215619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14300" y="2957513"/>
                        <a:ext cx="114300" cy="212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2" name="Rectangle 20">
            <a:extLst>
              <a:ext uri="{FF2B5EF4-FFF2-40B4-BE49-F238E27FC236}">
                <a16:creationId xmlns:a16="http://schemas.microsoft.com/office/drawing/2014/main" id="{D049C149-4FDD-436A-BF8C-1089FD6DC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24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96" name="Rectangle 24">
            <a:extLst>
              <a:ext uri="{FF2B5EF4-FFF2-40B4-BE49-F238E27FC236}">
                <a16:creationId xmlns:a16="http://schemas.microsoft.com/office/drawing/2014/main" id="{59478E2D-3E1E-49CE-9C6B-53A3F51D3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5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98" name="Rectangle 26">
            <a:extLst>
              <a:ext uri="{FF2B5EF4-FFF2-40B4-BE49-F238E27FC236}">
                <a16:creationId xmlns:a16="http://schemas.microsoft.com/office/drawing/2014/main" id="{7D1D45D1-7FB0-4695-BA5A-B23ECD6DEB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448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00" name="Rectangle 28">
            <a:extLst>
              <a:ext uri="{FF2B5EF4-FFF2-40B4-BE49-F238E27FC236}">
                <a16:creationId xmlns:a16="http://schemas.microsoft.com/office/drawing/2014/main" id="{8ED736F3-C9F6-4E63-8D21-29A74589C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83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05" name="Rectangle 33">
            <a:extLst>
              <a:ext uri="{FF2B5EF4-FFF2-40B4-BE49-F238E27FC236}">
                <a16:creationId xmlns:a16="http://schemas.microsoft.com/office/drawing/2014/main" id="{1A6D0F15-2BFB-4B94-A712-4EC5AB3F5A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9925" y="1844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07" name="Rectangle 35">
            <a:extLst>
              <a:ext uri="{FF2B5EF4-FFF2-40B4-BE49-F238E27FC236}">
                <a16:creationId xmlns:a16="http://schemas.microsoft.com/office/drawing/2014/main" id="{E3C15A65-E284-40C6-8708-375E226F3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57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10" name="Rectangle 38">
            <a:extLst>
              <a:ext uri="{FF2B5EF4-FFF2-40B4-BE49-F238E27FC236}">
                <a16:creationId xmlns:a16="http://schemas.microsoft.com/office/drawing/2014/main" id="{C18B1D68-3978-455A-93AE-078A4C96A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17" name="Rectangle 45">
            <a:extLst>
              <a:ext uri="{FF2B5EF4-FFF2-40B4-BE49-F238E27FC236}">
                <a16:creationId xmlns:a16="http://schemas.microsoft.com/office/drawing/2014/main" id="{54E9D626-C1FF-4CC8-B41F-ED3D579298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3116" name="Object 44">
            <a:extLst>
              <a:ext uri="{FF2B5EF4-FFF2-40B4-BE49-F238E27FC236}">
                <a16:creationId xmlns:a16="http://schemas.microsoft.com/office/drawing/2014/main" id="{01B56081-35B7-4094-819B-B66D24C496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3068638"/>
          <a:ext cx="2232025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" name="Формула" r:id="rId5" imgW="1498600" imgH="228600" progId="Equation.3">
                  <p:embed/>
                </p:oleObj>
              </mc:Choice>
              <mc:Fallback>
                <p:oleObj name="Формула" r:id="rId5" imgW="1498600" imgH="228600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3068638"/>
                        <a:ext cx="2232025" cy="341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18" name="Rectangle 46">
            <a:extLst>
              <a:ext uri="{FF2B5EF4-FFF2-40B4-BE49-F238E27FC236}">
                <a16:creationId xmlns:a16="http://schemas.microsoft.com/office/drawing/2014/main" id="{A4DFEFE9-9F19-4572-8F71-99DF9AC5D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20" name="Rectangle 48">
            <a:extLst>
              <a:ext uri="{FF2B5EF4-FFF2-40B4-BE49-F238E27FC236}">
                <a16:creationId xmlns:a16="http://schemas.microsoft.com/office/drawing/2014/main" id="{F474770A-D978-4204-A759-905B048105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3068638"/>
            <a:ext cx="3352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ru-RU"/>
              <a:t>f</a:t>
            </a:r>
            <a:r>
              <a:rPr lang="ru-RU" altLang="ru-RU"/>
              <a:t>(</a:t>
            </a:r>
            <a:r>
              <a:rPr lang="en-US" altLang="ru-RU"/>
              <a:t>x</a:t>
            </a:r>
            <a:r>
              <a:rPr lang="ru-RU" altLang="ru-RU"/>
              <a:t>) – всюду гладкая функция.</a:t>
            </a:r>
          </a:p>
        </p:txBody>
      </p:sp>
      <p:pic>
        <p:nvPicPr>
          <p:cNvPr id="3121" name="Picture 49">
            <a:extLst>
              <a:ext uri="{FF2B5EF4-FFF2-40B4-BE49-F238E27FC236}">
                <a16:creationId xmlns:a16="http://schemas.microsoft.com/office/drawing/2014/main" id="{5F6DDDED-B323-42A0-B734-594CDB86DF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3500438"/>
            <a:ext cx="2519362" cy="288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23" name="Rectangle 51">
            <a:extLst>
              <a:ext uri="{FF2B5EF4-FFF2-40B4-BE49-F238E27FC236}">
                <a16:creationId xmlns:a16="http://schemas.microsoft.com/office/drawing/2014/main" id="{43ADB4D0-DF43-4F20-A8E4-97662D4C74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623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3122" name="Object 50">
            <a:extLst>
              <a:ext uri="{FF2B5EF4-FFF2-40B4-BE49-F238E27FC236}">
                <a16:creationId xmlns:a16="http://schemas.microsoft.com/office/drawing/2014/main" id="{13218CBF-62B7-4883-9508-CFDC265D31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3500438"/>
          <a:ext cx="518477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" name="Формула" r:id="rId8" imgW="3467100" imgH="330200" progId="Equation.3">
                  <p:embed/>
                </p:oleObj>
              </mc:Choice>
              <mc:Fallback>
                <p:oleObj name="Формула" r:id="rId8" imgW="3467100" imgH="330200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500438"/>
                        <a:ext cx="5184775" cy="50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24" name="Rectangle 52">
            <a:extLst>
              <a:ext uri="{FF2B5EF4-FFF2-40B4-BE49-F238E27FC236}">
                <a16:creationId xmlns:a16="http://schemas.microsoft.com/office/drawing/2014/main" id="{0AEF0ADD-5234-4983-BFB6-12AC489BC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4005263"/>
            <a:ext cx="26908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для выпуклой функции:</a:t>
            </a:r>
          </a:p>
        </p:txBody>
      </p:sp>
      <p:sp>
        <p:nvSpPr>
          <p:cNvPr id="3126" name="Rectangle 54">
            <a:extLst>
              <a:ext uri="{FF2B5EF4-FFF2-40B4-BE49-F238E27FC236}">
                <a16:creationId xmlns:a16="http://schemas.microsoft.com/office/drawing/2014/main" id="{83068C7F-D4E2-4327-81BC-C41781794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15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3125" name="Object 53">
            <a:extLst>
              <a:ext uri="{FF2B5EF4-FFF2-40B4-BE49-F238E27FC236}">
                <a16:creationId xmlns:a16="http://schemas.microsoft.com/office/drawing/2014/main" id="{CDF2587F-956E-471C-BB02-DC3242F4C9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4437063"/>
          <a:ext cx="381635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" name="Формула" r:id="rId10" imgW="1968500" imgH="241300" progId="Equation.3">
                  <p:embed/>
                </p:oleObj>
              </mc:Choice>
              <mc:Fallback>
                <p:oleObj name="Формула" r:id="rId10" imgW="1968500" imgH="241300" progId="Equation.3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437063"/>
                        <a:ext cx="3816350" cy="52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27" name="Rectangle 55">
            <a:extLst>
              <a:ext uri="{FF2B5EF4-FFF2-40B4-BE49-F238E27FC236}">
                <a16:creationId xmlns:a16="http://schemas.microsoft.com/office/drawing/2014/main" id="{D30C220F-CDB1-4369-94C9-B0B75B8BE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4941888"/>
            <a:ext cx="57070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фундаментальное неравенство выпуклых функций.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37782184-563A-4D71-B023-DB4603F965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838200" indent="-838200"/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Дифференцирование функций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08DA96CA-E06F-4880-923F-FB1F366DA5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4106" name="Object 10">
            <a:extLst>
              <a:ext uri="{FF2B5EF4-FFF2-40B4-BE49-F238E27FC236}">
                <a16:creationId xmlns:a16="http://schemas.microsoft.com/office/drawing/2014/main" id="{A4F00ACF-6390-4A8E-A9B1-1C6EE0527F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114300" y="2957513"/>
          <a:ext cx="114300" cy="21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5" name="Формула" r:id="rId3" imgW="114151" imgH="215619" progId="Equation.3">
                  <p:embed/>
                </p:oleObj>
              </mc:Choice>
              <mc:Fallback>
                <p:oleObj name="Формула" r:id="rId3" imgW="114151" imgH="215619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14300" y="2957513"/>
                        <a:ext cx="114300" cy="212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20" name="Rectangle 24">
            <a:extLst>
              <a:ext uri="{FF2B5EF4-FFF2-40B4-BE49-F238E27FC236}">
                <a16:creationId xmlns:a16="http://schemas.microsoft.com/office/drawing/2014/main" id="{4DE9DE9F-C468-47B0-8963-0C46FE89E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22" name="Rectangle 26">
            <a:extLst>
              <a:ext uri="{FF2B5EF4-FFF2-40B4-BE49-F238E27FC236}">
                <a16:creationId xmlns:a16="http://schemas.microsoft.com/office/drawing/2014/main" id="{0669C41C-E5B4-455D-ACD9-A932FAE4D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9925" y="1844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34" name="Rectangle 38">
            <a:extLst>
              <a:ext uri="{FF2B5EF4-FFF2-40B4-BE49-F238E27FC236}">
                <a16:creationId xmlns:a16="http://schemas.microsoft.com/office/drawing/2014/main" id="{44BF97B6-BD96-492A-B0BB-5B6A351AA0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5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36" name="Rectangle 40">
            <a:extLst>
              <a:ext uri="{FF2B5EF4-FFF2-40B4-BE49-F238E27FC236}">
                <a16:creationId xmlns:a16="http://schemas.microsoft.com/office/drawing/2014/main" id="{91195223-AAD1-4F6E-9AB7-F514A644D7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5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59" name="Rectangle 63">
            <a:extLst>
              <a:ext uri="{FF2B5EF4-FFF2-40B4-BE49-F238E27FC236}">
                <a16:creationId xmlns:a16="http://schemas.microsoft.com/office/drawing/2014/main" id="{E34AFAD6-5716-4741-87C0-7445231B12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1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63" name="Rectangle 67">
            <a:extLst>
              <a:ext uri="{FF2B5EF4-FFF2-40B4-BE49-F238E27FC236}">
                <a16:creationId xmlns:a16="http://schemas.microsoft.com/office/drawing/2014/main" id="{03A33A50-4457-47D5-97D6-BA7D7B312C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57238" y="3357563"/>
            <a:ext cx="91440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64" name="Rectangle 68">
            <a:extLst>
              <a:ext uri="{FF2B5EF4-FFF2-40B4-BE49-F238E27FC236}">
                <a16:creationId xmlns:a16="http://schemas.microsoft.com/office/drawing/2014/main" id="{3078157B-BE34-4A12-A925-6ADB20556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57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68" name="Rectangle 72">
            <a:extLst>
              <a:ext uri="{FF2B5EF4-FFF2-40B4-BE49-F238E27FC236}">
                <a16:creationId xmlns:a16="http://schemas.microsoft.com/office/drawing/2014/main" id="{F0AD211A-D1A7-4597-8C08-7467AC99CD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1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71" name="Rectangle 75">
            <a:extLst>
              <a:ext uri="{FF2B5EF4-FFF2-40B4-BE49-F238E27FC236}">
                <a16:creationId xmlns:a16="http://schemas.microsoft.com/office/drawing/2014/main" id="{A46A68BD-0183-43F7-AD53-DED8F5AAA9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5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81" name="Rectangle 85">
            <a:extLst>
              <a:ext uri="{FF2B5EF4-FFF2-40B4-BE49-F238E27FC236}">
                <a16:creationId xmlns:a16="http://schemas.microsoft.com/office/drawing/2014/main" id="{64625654-910E-4A54-83FB-5FB05FF23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689100"/>
            <a:ext cx="6619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2400" b="1"/>
              <a:t>1.2. Субградиент и его субдифференциал.</a:t>
            </a:r>
          </a:p>
        </p:txBody>
      </p:sp>
      <p:sp>
        <p:nvSpPr>
          <p:cNvPr id="4182" name="Rectangle 86">
            <a:extLst>
              <a:ext uri="{FF2B5EF4-FFF2-40B4-BE49-F238E27FC236}">
                <a16:creationId xmlns:a16="http://schemas.microsoft.com/office/drawing/2014/main" id="{50BEF3DC-76F5-441D-9A8B-93FC74E430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205038"/>
            <a:ext cx="6756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b="1" u="sng"/>
              <a:t>Определение 1</a:t>
            </a:r>
            <a:r>
              <a:rPr lang="ru-RU" altLang="ru-RU" b="1"/>
              <a:t>.</a:t>
            </a:r>
            <a:r>
              <a:rPr lang="ru-RU" altLang="ru-RU"/>
              <a:t> Субградиентом выпуклой не всюду гладкой </a:t>
            </a:r>
          </a:p>
        </p:txBody>
      </p:sp>
      <p:sp>
        <p:nvSpPr>
          <p:cNvPr id="4183" name="Rectangle 87">
            <a:extLst>
              <a:ext uri="{FF2B5EF4-FFF2-40B4-BE49-F238E27FC236}">
                <a16:creationId xmlns:a16="http://schemas.microsoft.com/office/drawing/2014/main" id="{F2D08EE6-0D97-40DC-8415-4C1D59FA1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565400"/>
            <a:ext cx="45354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функции </a:t>
            </a:r>
            <a:r>
              <a:rPr lang="en-US" altLang="ru-RU"/>
              <a:t>f</a:t>
            </a:r>
            <a:r>
              <a:rPr lang="ru-RU" altLang="ru-RU"/>
              <a:t> в точке </a:t>
            </a:r>
            <a:r>
              <a:rPr lang="en-US" altLang="ru-RU"/>
              <a:t>Xo</a:t>
            </a:r>
            <a:r>
              <a:rPr lang="ru-RU" altLang="ru-RU"/>
              <a:t> называется вектор </a:t>
            </a:r>
          </a:p>
        </p:txBody>
      </p:sp>
      <p:sp>
        <p:nvSpPr>
          <p:cNvPr id="4185" name="Rectangle 89">
            <a:extLst>
              <a:ext uri="{FF2B5EF4-FFF2-40B4-BE49-F238E27FC236}">
                <a16:creationId xmlns:a16="http://schemas.microsoft.com/office/drawing/2014/main" id="{3B1B3A29-74B3-44CD-A87F-7D4441157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4184" name="Object 88">
            <a:extLst>
              <a:ext uri="{FF2B5EF4-FFF2-40B4-BE49-F238E27FC236}">
                <a16:creationId xmlns:a16="http://schemas.microsoft.com/office/drawing/2014/main" id="{1969F4DC-63E0-46CA-AC66-B919E6F654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59338" y="2492375"/>
          <a:ext cx="2305050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6" name="Формула" r:id="rId5" imgW="1155700" imgH="254000" progId="Equation.3">
                  <p:embed/>
                </p:oleObj>
              </mc:Choice>
              <mc:Fallback>
                <p:oleObj name="Формула" r:id="rId5" imgW="1155700" imgH="254000" progId="Equation.3">
                  <p:embed/>
                  <p:pic>
                    <p:nvPicPr>
                      <p:cNvPr id="0" name="Object 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2492375"/>
                        <a:ext cx="2305050" cy="436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86" name="Object 90">
            <a:extLst>
              <a:ext uri="{FF2B5EF4-FFF2-40B4-BE49-F238E27FC236}">
                <a16:creationId xmlns:a16="http://schemas.microsoft.com/office/drawing/2014/main" id="{2BB5CDBE-81ED-4BF0-9967-3E5453246E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2852738"/>
          <a:ext cx="273685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7" name="Формула" r:id="rId7" imgW="1600200" imgH="241300" progId="Equation.3">
                  <p:embed/>
                </p:oleObj>
              </mc:Choice>
              <mc:Fallback>
                <p:oleObj name="Формула" r:id="rId7" imgW="1600200" imgH="241300" progId="Equation.3">
                  <p:embed/>
                  <p:pic>
                    <p:nvPicPr>
                      <p:cNvPr id="0" name="Object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852738"/>
                        <a:ext cx="2736850" cy="403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88" name="Rectangle 92">
            <a:extLst>
              <a:ext uri="{FF2B5EF4-FFF2-40B4-BE49-F238E27FC236}">
                <a16:creationId xmlns:a16="http://schemas.microsoft.com/office/drawing/2014/main" id="{CFE9FA67-EDA8-4AEB-8342-A124CEB9B9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067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89" name="Rectangle 93">
            <a:extLst>
              <a:ext uri="{FF2B5EF4-FFF2-40B4-BE49-F238E27FC236}">
                <a16:creationId xmlns:a16="http://schemas.microsoft.com/office/drawing/2014/main" id="{6D8FB648-9C3D-4C5C-AA2B-23BC7C42B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878138"/>
            <a:ext cx="30241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>
                <a:cs typeface="Times New Roman" panose="02020603050405020304" pitchFamily="18" charset="0"/>
              </a:rPr>
              <a:t>удовлетворяющий условию</a:t>
            </a:r>
            <a:r>
              <a:rPr lang="ru-RU" altLang="ru-RU" sz="1200">
                <a:cs typeface="Times New Roman" panose="02020603050405020304" pitchFamily="18" charset="0"/>
              </a:rPr>
              <a:t>   </a:t>
            </a:r>
            <a:endParaRPr lang="ru-RU" altLang="ru-RU"/>
          </a:p>
        </p:txBody>
      </p:sp>
      <p:sp>
        <p:nvSpPr>
          <p:cNvPr id="4190" name="Rectangle 94">
            <a:extLst>
              <a:ext uri="{FF2B5EF4-FFF2-40B4-BE49-F238E27FC236}">
                <a16:creationId xmlns:a16="http://schemas.microsoft.com/office/drawing/2014/main" id="{BB58CADB-9D87-4B68-832A-072EE21A0C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76650"/>
            <a:ext cx="2270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1200">
                <a:cs typeface="Times New Roman" panose="02020603050405020304" pitchFamily="18" charset="0"/>
              </a:rPr>
              <a:t>.</a:t>
            </a:r>
            <a:endParaRPr lang="ru-RU" altLang="ru-RU"/>
          </a:p>
        </p:txBody>
      </p:sp>
      <p:sp>
        <p:nvSpPr>
          <p:cNvPr id="4191" name="Rectangle 95">
            <a:extLst>
              <a:ext uri="{FF2B5EF4-FFF2-40B4-BE49-F238E27FC236}">
                <a16:creationId xmlns:a16="http://schemas.microsoft.com/office/drawing/2014/main" id="{ACB440D3-736F-4895-BDC2-3803DE5FA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8488" y="2565400"/>
            <a:ext cx="4556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/>
              <a:t>, </a:t>
            </a:r>
          </a:p>
        </p:txBody>
      </p:sp>
      <p:sp>
        <p:nvSpPr>
          <p:cNvPr id="4192" name="Rectangle 96">
            <a:extLst>
              <a:ext uri="{FF2B5EF4-FFF2-40B4-BE49-F238E27FC236}">
                <a16:creationId xmlns:a16="http://schemas.microsoft.com/office/drawing/2014/main" id="{104A0475-A2B1-4584-8F51-7D7D0915F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2924175"/>
            <a:ext cx="5032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/>
              <a:t>. </a:t>
            </a:r>
          </a:p>
        </p:txBody>
      </p:sp>
      <p:graphicFrame>
        <p:nvGraphicFramePr>
          <p:cNvPr id="4194" name="Object 98">
            <a:extLst>
              <a:ext uri="{FF2B5EF4-FFF2-40B4-BE49-F238E27FC236}">
                <a16:creationId xmlns:a16="http://schemas.microsoft.com/office/drawing/2014/main" id="{059BA0A6-0E86-49DF-AA54-5DBCB2242C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56325" y="2924175"/>
          <a:ext cx="1511300" cy="3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8" name="Формула" r:id="rId9" imgW="1155700" imgH="228600" progId="Equation.3">
                  <p:embed/>
                </p:oleObj>
              </mc:Choice>
              <mc:Fallback>
                <p:oleObj name="Формула" r:id="rId9" imgW="1155700" imgH="228600" progId="Equation.3">
                  <p:embed/>
                  <p:pic>
                    <p:nvPicPr>
                      <p:cNvPr id="0" name="Object 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325" y="2924175"/>
                        <a:ext cx="1511300" cy="300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3" name="Object 97">
            <a:extLst>
              <a:ext uri="{FF2B5EF4-FFF2-40B4-BE49-F238E27FC236}">
                <a16:creationId xmlns:a16="http://schemas.microsoft.com/office/drawing/2014/main" id="{F7862F56-0A60-47BC-ABBC-12A5BD68EF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95513" y="3284538"/>
          <a:ext cx="1236662" cy="32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9" name="Формула" r:id="rId11" imgW="736600" imgH="190500" progId="Equation.3">
                  <p:embed/>
                </p:oleObj>
              </mc:Choice>
              <mc:Fallback>
                <p:oleObj name="Формула" r:id="rId11" imgW="736600" imgH="190500" progId="Equation.3">
                  <p:embed/>
                  <p:pic>
                    <p:nvPicPr>
                      <p:cNvPr id="0" name="Object 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3284538"/>
                        <a:ext cx="1236662" cy="322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5" name="Rectangle 99">
            <a:extLst>
              <a:ext uri="{FF2B5EF4-FFF2-40B4-BE49-F238E27FC236}">
                <a16:creationId xmlns:a16="http://schemas.microsoft.com/office/drawing/2014/main" id="{FAB8836D-EFE6-4A58-B8F8-023D533E3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44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97" name="Rectangle 101">
            <a:extLst>
              <a:ext uri="{FF2B5EF4-FFF2-40B4-BE49-F238E27FC236}">
                <a16:creationId xmlns:a16="http://schemas.microsoft.com/office/drawing/2014/main" id="{0475B6C3-3BC0-421B-BEA1-CB838FF56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3284538"/>
            <a:ext cx="1828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1200">
                <a:cs typeface="Times New Roman" panose="02020603050405020304" pitchFamily="18" charset="0"/>
              </a:rPr>
              <a:t> </a:t>
            </a:r>
            <a:r>
              <a:rPr lang="ru-RU" altLang="ru-RU">
                <a:cs typeface="Times New Roman" panose="02020603050405020304" pitchFamily="18" charset="0"/>
              </a:rPr>
              <a:t>гиперплоскость:</a:t>
            </a:r>
            <a:endParaRPr lang="ru-RU" altLang="ru-RU"/>
          </a:p>
        </p:txBody>
      </p:sp>
      <p:sp>
        <p:nvSpPr>
          <p:cNvPr id="4198" name="Rectangle 102">
            <a:extLst>
              <a:ext uri="{FF2B5EF4-FFF2-40B4-BE49-F238E27FC236}">
                <a16:creationId xmlns:a16="http://schemas.microsoft.com/office/drawing/2014/main" id="{21688F51-6A27-401C-A2CA-1BBCD41D41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246438"/>
            <a:ext cx="19097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>
                <a:latin typeface="Times New Roman" panose="02020603050405020304" pitchFamily="18" charset="0"/>
              </a:rPr>
              <a:t>В пространстве</a:t>
            </a:r>
            <a:r>
              <a:rPr lang="ru-RU" altLang="ru-RU"/>
              <a:t> </a:t>
            </a:r>
          </a:p>
        </p:txBody>
      </p:sp>
      <p:sp>
        <p:nvSpPr>
          <p:cNvPr id="4200" name="Rectangle 104">
            <a:extLst>
              <a:ext uri="{FF2B5EF4-FFF2-40B4-BE49-F238E27FC236}">
                <a16:creationId xmlns:a16="http://schemas.microsoft.com/office/drawing/2014/main" id="{A48064B2-AC77-4AE8-826A-BB89E487D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15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4199" name="Object 103">
            <a:extLst>
              <a:ext uri="{FF2B5EF4-FFF2-40B4-BE49-F238E27FC236}">
                <a16:creationId xmlns:a16="http://schemas.microsoft.com/office/drawing/2014/main" id="{087F5964-D841-49B3-BBEB-F98C37BB4F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2725" y="3284538"/>
          <a:ext cx="2592388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0" name="Формула" r:id="rId13" imgW="1384300" imgH="241300" progId="Equation.3">
                  <p:embed/>
                </p:oleObj>
              </mc:Choice>
              <mc:Fallback>
                <p:oleObj name="Формула" r:id="rId13" imgW="1384300" imgH="241300" progId="Equation.3">
                  <p:embed/>
                  <p:pic>
                    <p:nvPicPr>
                      <p:cNvPr id="0" name="Object 1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3284538"/>
                        <a:ext cx="2592388" cy="341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1" name="Rectangle 105">
            <a:extLst>
              <a:ext uri="{FF2B5EF4-FFF2-40B4-BE49-F238E27FC236}">
                <a16:creationId xmlns:a16="http://schemas.microsoft.com/office/drawing/2014/main" id="{752E1D43-0F45-4E08-80D8-BBA896033B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3573463"/>
            <a:ext cx="82661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касающаяся функции f(</a:t>
            </a:r>
            <a:r>
              <a:rPr lang="en-US" altLang="ru-RU"/>
              <a:t>x</a:t>
            </a:r>
            <a:r>
              <a:rPr lang="ru-RU" altLang="ru-RU"/>
              <a:t>) в т. </a:t>
            </a:r>
            <a:r>
              <a:rPr lang="en-US" altLang="ru-RU"/>
              <a:t>Xo</a:t>
            </a:r>
            <a:r>
              <a:rPr lang="ru-RU" altLang="ru-RU"/>
              <a:t> , и лежащая всюду не выше этой функции </a:t>
            </a:r>
          </a:p>
        </p:txBody>
      </p:sp>
      <p:sp>
        <p:nvSpPr>
          <p:cNvPr id="4203" name="Rectangle 107">
            <a:extLst>
              <a:ext uri="{FF2B5EF4-FFF2-40B4-BE49-F238E27FC236}">
                <a16:creationId xmlns:a16="http://schemas.microsoft.com/office/drawing/2014/main" id="{91111818-642B-4C6F-8E8D-20A6547961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6425" y="324643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>
                <a:cs typeface="Times New Roman" panose="02020603050405020304" pitchFamily="18" charset="0"/>
              </a:rPr>
              <a:t>,</a:t>
            </a:r>
            <a:r>
              <a:rPr lang="ru-RU" altLang="ru-RU"/>
              <a:t> </a:t>
            </a:r>
          </a:p>
        </p:txBody>
      </p:sp>
      <p:sp>
        <p:nvSpPr>
          <p:cNvPr id="4204" name="Rectangle 108">
            <a:extLst>
              <a:ext uri="{FF2B5EF4-FFF2-40B4-BE49-F238E27FC236}">
                <a16:creationId xmlns:a16="http://schemas.microsoft.com/office/drawing/2014/main" id="{FB8875BC-5350-4929-9DF1-4B252797CB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6425" y="324643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, </a:t>
            </a:r>
          </a:p>
        </p:txBody>
      </p:sp>
      <p:sp>
        <p:nvSpPr>
          <p:cNvPr id="4206" name="Rectangle 110">
            <a:extLst>
              <a:ext uri="{FF2B5EF4-FFF2-40B4-BE49-F238E27FC236}">
                <a16:creationId xmlns:a16="http://schemas.microsoft.com/office/drawing/2014/main" id="{4A7D0103-D89A-4BB3-8EC7-98B0C8D1DA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6425" y="324643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>
                <a:cs typeface="Times New Roman" panose="02020603050405020304" pitchFamily="18" charset="0"/>
              </a:rPr>
              <a:t>,</a:t>
            </a:r>
            <a:r>
              <a:rPr lang="ru-RU" altLang="ru-RU"/>
              <a:t> </a:t>
            </a:r>
          </a:p>
        </p:txBody>
      </p:sp>
      <p:sp>
        <p:nvSpPr>
          <p:cNvPr id="4210" name="Rectangle 114">
            <a:extLst>
              <a:ext uri="{FF2B5EF4-FFF2-40B4-BE49-F238E27FC236}">
                <a16:creationId xmlns:a16="http://schemas.microsoft.com/office/drawing/2014/main" id="{D95F8183-827B-4251-85BB-0ACA8154D3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6425" y="324643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>
                <a:cs typeface="Times New Roman" panose="02020603050405020304" pitchFamily="18" charset="0"/>
              </a:rPr>
              <a:t>,</a:t>
            </a:r>
            <a:r>
              <a:rPr lang="ru-RU" altLang="ru-RU"/>
              <a:t> </a:t>
            </a:r>
          </a:p>
        </p:txBody>
      </p:sp>
      <p:sp>
        <p:nvSpPr>
          <p:cNvPr id="4211" name="Rectangle 115">
            <a:extLst>
              <a:ext uri="{FF2B5EF4-FFF2-40B4-BE49-F238E27FC236}">
                <a16:creationId xmlns:a16="http://schemas.microsoft.com/office/drawing/2014/main" id="{65FBC9C2-33F9-43FF-8751-6823FA94B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933825"/>
            <a:ext cx="68675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называется опорной гиперплоскостью функции f(</a:t>
            </a:r>
            <a:r>
              <a:rPr lang="en-US" altLang="ru-RU"/>
              <a:t>x</a:t>
            </a:r>
            <a:r>
              <a:rPr lang="ru-RU" altLang="ru-RU"/>
              <a:t>) в точке </a:t>
            </a:r>
            <a:r>
              <a:rPr lang="en-US" altLang="ru-RU"/>
              <a:t>Xo</a:t>
            </a:r>
            <a:r>
              <a:rPr lang="ru-RU" altLang="ru-RU"/>
              <a:t>.</a:t>
            </a:r>
          </a:p>
        </p:txBody>
      </p:sp>
      <p:sp>
        <p:nvSpPr>
          <p:cNvPr id="4212" name="Rectangle 116">
            <a:extLst>
              <a:ext uri="{FF2B5EF4-FFF2-40B4-BE49-F238E27FC236}">
                <a16:creationId xmlns:a16="http://schemas.microsoft.com/office/drawing/2014/main" id="{9016EC83-347D-488A-8498-0030947ED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4365625"/>
            <a:ext cx="82184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b="1" u="sng"/>
              <a:t>Определение 2.</a:t>
            </a:r>
            <a:r>
              <a:rPr lang="ru-RU" altLang="ru-RU" u="sng"/>
              <a:t> </a:t>
            </a:r>
            <a:r>
              <a:rPr lang="ru-RU" altLang="ru-RU"/>
              <a:t>  Субдифференциалом выпуклой необязательно гладкой </a:t>
            </a:r>
          </a:p>
        </p:txBody>
      </p:sp>
      <p:sp>
        <p:nvSpPr>
          <p:cNvPr id="4213" name="Rectangle 117">
            <a:extLst>
              <a:ext uri="{FF2B5EF4-FFF2-40B4-BE49-F238E27FC236}">
                <a16:creationId xmlns:a16="http://schemas.microsoft.com/office/drawing/2014/main" id="{92BDC653-2920-463B-AC31-000CF904D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4797425"/>
            <a:ext cx="8877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функции </a:t>
            </a:r>
            <a:r>
              <a:rPr lang="en-US" altLang="ru-RU"/>
              <a:t>f</a:t>
            </a:r>
            <a:r>
              <a:rPr lang="ru-RU" altLang="ru-RU"/>
              <a:t> в т.</a:t>
            </a:r>
            <a:r>
              <a:rPr lang="en-US" altLang="ru-RU"/>
              <a:t>Xo</a:t>
            </a:r>
            <a:r>
              <a:rPr lang="ru-RU" altLang="ru-RU"/>
              <a:t> называется множество всех субградиентов функции </a:t>
            </a:r>
            <a:r>
              <a:rPr lang="en-US" altLang="ru-RU"/>
              <a:t>f</a:t>
            </a:r>
            <a:r>
              <a:rPr lang="ru-RU" altLang="ru-RU"/>
              <a:t>(</a:t>
            </a:r>
            <a:r>
              <a:rPr lang="en-US" altLang="ru-RU"/>
              <a:t>x</a:t>
            </a:r>
            <a:r>
              <a:rPr lang="ru-RU" altLang="ru-RU"/>
              <a:t>) в т. </a:t>
            </a:r>
            <a:r>
              <a:rPr lang="en-US" altLang="ru-RU"/>
              <a:t>Xo</a:t>
            </a:r>
            <a:r>
              <a:rPr lang="ru-RU" altLang="ru-RU"/>
              <a:t>  </a:t>
            </a:r>
          </a:p>
        </p:txBody>
      </p:sp>
      <p:sp>
        <p:nvSpPr>
          <p:cNvPr id="4215" name="Rectangle 119">
            <a:extLst>
              <a:ext uri="{FF2B5EF4-FFF2-40B4-BE49-F238E27FC236}">
                <a16:creationId xmlns:a16="http://schemas.microsoft.com/office/drawing/2014/main" id="{E3617EF5-EFFC-4AAE-9109-F07CEE1C3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623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4214" name="Object 118">
            <a:extLst>
              <a:ext uri="{FF2B5EF4-FFF2-40B4-BE49-F238E27FC236}">
                <a16:creationId xmlns:a16="http://schemas.microsoft.com/office/drawing/2014/main" id="{17290D33-2925-4C79-A374-0A0DCCE3B9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87675" y="5157788"/>
          <a:ext cx="1584325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1" name="Формула" r:id="rId15" imgW="1143000" imgH="330200" progId="Equation.3">
                  <p:embed/>
                </p:oleObj>
              </mc:Choice>
              <mc:Fallback>
                <p:oleObj name="Формула" r:id="rId15" imgW="1143000" imgH="330200" progId="Equation.3">
                  <p:embed/>
                  <p:pic>
                    <p:nvPicPr>
                      <p:cNvPr id="0" name="Object 1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5157788"/>
                        <a:ext cx="1584325" cy="465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16" name="Rectangle 120">
            <a:extLst>
              <a:ext uri="{FF2B5EF4-FFF2-40B4-BE49-F238E27FC236}">
                <a16:creationId xmlns:a16="http://schemas.microsoft.com/office/drawing/2014/main" id="{FC59DDEC-8A58-4AF0-A97B-ECEE228A19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516563"/>
            <a:ext cx="83089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Обобщение: дифференциал Фреше - главная линейная часть функции </a:t>
            </a:r>
            <a:r>
              <a:rPr lang="en-US" altLang="ru-RU"/>
              <a:t>f</a:t>
            </a:r>
            <a:r>
              <a:rPr lang="ru-RU" altLang="ru-RU"/>
              <a:t>(</a:t>
            </a:r>
            <a:r>
              <a:rPr lang="en-US" altLang="ru-RU"/>
              <a:t>x</a:t>
            </a:r>
            <a:r>
              <a:rPr lang="ru-RU" altLang="ru-RU"/>
              <a:t>): </a:t>
            </a:r>
          </a:p>
        </p:txBody>
      </p:sp>
      <p:sp>
        <p:nvSpPr>
          <p:cNvPr id="4218" name="Rectangle 122">
            <a:extLst>
              <a:ext uri="{FF2B5EF4-FFF2-40B4-BE49-F238E27FC236}">
                <a16:creationId xmlns:a16="http://schemas.microsoft.com/office/drawing/2014/main" id="{2D5E19C7-43FA-4A3F-9A41-B0B8EAB2D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4217" name="Object 121">
            <a:extLst>
              <a:ext uri="{FF2B5EF4-FFF2-40B4-BE49-F238E27FC236}">
                <a16:creationId xmlns:a16="http://schemas.microsoft.com/office/drawing/2014/main" id="{FA77E6C9-7A12-48CD-9688-B993476CF5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9113" y="5876925"/>
          <a:ext cx="1439862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2" name="Формула" r:id="rId17" imgW="825500" imgH="254000" progId="Equation.3">
                  <p:embed/>
                </p:oleObj>
              </mc:Choice>
              <mc:Fallback>
                <p:oleObj name="Формула" r:id="rId17" imgW="825500" imgH="254000" progId="Equation.3">
                  <p:embed/>
                  <p:pic>
                    <p:nvPicPr>
                      <p:cNvPr id="0" name="Object 1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5876925"/>
                        <a:ext cx="1439862" cy="449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3DFF131-E375-498D-A88D-FF0C7814C1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838200" indent="-838200"/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Дифференцирование функций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1A2233BC-F7BF-4B04-B1CE-261EE2002F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628775"/>
            <a:ext cx="8229600" cy="4525963"/>
          </a:xfrm>
        </p:spPr>
        <p:txBody>
          <a:bodyPr/>
          <a:lstStyle/>
          <a:p>
            <a:pPr>
              <a:buFontTx/>
              <a:buNone/>
            </a:pPr>
            <a:r>
              <a:rPr lang="ru-RU" altLang="ru-RU" sz="2400" b="1" u="sng"/>
              <a:t>Теорема:</a:t>
            </a:r>
            <a:r>
              <a:rPr lang="ru-RU" altLang="ru-RU"/>
              <a:t> </a:t>
            </a:r>
            <a:r>
              <a:rPr lang="ru-RU" altLang="ru-RU" sz="1800"/>
              <a:t>Для любой точки</a:t>
            </a:r>
            <a:r>
              <a:rPr lang="ru-RU" altLang="ru-RU"/>
              <a:t> </a:t>
            </a:r>
          </a:p>
        </p:txBody>
      </p:sp>
      <p:sp>
        <p:nvSpPr>
          <p:cNvPr id="6168" name="Rectangle 24">
            <a:extLst>
              <a:ext uri="{FF2B5EF4-FFF2-40B4-BE49-F238E27FC236}">
                <a16:creationId xmlns:a16="http://schemas.microsoft.com/office/drawing/2014/main" id="{73528F43-88C2-496A-B1AC-8E239F47B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70" name="Rectangle 26">
            <a:extLst>
              <a:ext uri="{FF2B5EF4-FFF2-40B4-BE49-F238E27FC236}">
                <a16:creationId xmlns:a16="http://schemas.microsoft.com/office/drawing/2014/main" id="{9DDCFE28-C542-4CDB-80EB-65ED0FE1B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41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72" name="Rectangle 28">
            <a:extLst>
              <a:ext uri="{FF2B5EF4-FFF2-40B4-BE49-F238E27FC236}">
                <a16:creationId xmlns:a16="http://schemas.microsoft.com/office/drawing/2014/main" id="{9DAD884E-7F18-4B72-8D2D-6671451AE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6171" name="Object 27">
            <a:extLst>
              <a:ext uri="{FF2B5EF4-FFF2-40B4-BE49-F238E27FC236}">
                <a16:creationId xmlns:a16="http://schemas.microsoft.com/office/drawing/2014/main" id="{C17F55C8-8CF9-4D9C-9111-D0EE4F188B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4300" y="1773238"/>
          <a:ext cx="1728788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7" name="Формула" r:id="rId3" imgW="1002865" imgH="228501" progId="Equation.3">
                  <p:embed/>
                </p:oleObj>
              </mc:Choice>
              <mc:Fallback>
                <p:oleObj name="Формула" r:id="rId3" imgW="1002865" imgH="228501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1773238"/>
                        <a:ext cx="1728788" cy="395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74" name="Rectangle 30">
            <a:extLst>
              <a:ext uri="{FF2B5EF4-FFF2-40B4-BE49-F238E27FC236}">
                <a16:creationId xmlns:a16="http://schemas.microsoft.com/office/drawing/2014/main" id="{3DBB7B1F-FEB1-41EC-8673-9FBFFFF4E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1798638"/>
            <a:ext cx="36353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>
                <a:cs typeface="Times New Roman" panose="02020603050405020304" pitchFamily="18" charset="0"/>
              </a:rPr>
              <a:t>элемента внутренности множества</a:t>
            </a:r>
            <a:endParaRPr lang="ru-RU" altLang="ru-RU"/>
          </a:p>
        </p:txBody>
      </p:sp>
      <p:graphicFrame>
        <p:nvGraphicFramePr>
          <p:cNvPr id="6173" name="Object 29">
            <a:extLst>
              <a:ext uri="{FF2B5EF4-FFF2-40B4-BE49-F238E27FC236}">
                <a16:creationId xmlns:a16="http://schemas.microsoft.com/office/drawing/2014/main" id="{2B933699-2416-4B1F-8E79-3544080ABC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5875" y="2276475"/>
          <a:ext cx="719138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8" name="Формула" r:id="rId5" imgW="444307" imgH="228501" progId="Equation.3">
                  <p:embed/>
                </p:oleObj>
              </mc:Choice>
              <mc:Fallback>
                <p:oleObj name="Формула" r:id="rId5" imgW="444307" imgH="228501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2276475"/>
                        <a:ext cx="719138" cy="366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75" name="Rectangle 31">
            <a:extLst>
              <a:ext uri="{FF2B5EF4-FFF2-40B4-BE49-F238E27FC236}">
                <a16:creationId xmlns:a16="http://schemas.microsoft.com/office/drawing/2014/main" id="{89097510-E45A-462F-B604-2D6C23B05F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276475"/>
            <a:ext cx="27003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1200">
                <a:cs typeface="Times New Roman" panose="02020603050405020304" pitchFamily="18" charset="0"/>
              </a:rPr>
              <a:t> </a:t>
            </a:r>
            <a:r>
              <a:rPr lang="ru-RU" altLang="ru-RU">
                <a:cs typeface="Times New Roman" panose="02020603050405020304" pitchFamily="18" charset="0"/>
              </a:rPr>
              <a:t>- компактное множество.</a:t>
            </a:r>
            <a:endParaRPr lang="ru-RU" altLang="ru-RU"/>
          </a:p>
        </p:txBody>
      </p:sp>
      <p:sp>
        <p:nvSpPr>
          <p:cNvPr id="6176" name="Rectangle 32">
            <a:extLst>
              <a:ext uri="{FF2B5EF4-FFF2-40B4-BE49-F238E27FC236}">
                <a16:creationId xmlns:a16="http://schemas.microsoft.com/office/drawing/2014/main" id="{A5BEF2A5-C4A3-4169-96D6-96C8227A2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276475"/>
            <a:ext cx="19177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сечения уровня </a:t>
            </a:r>
          </a:p>
        </p:txBody>
      </p:sp>
      <p:sp>
        <p:nvSpPr>
          <p:cNvPr id="6177" name="Rectangle 33">
            <a:extLst>
              <a:ext uri="{FF2B5EF4-FFF2-40B4-BE49-F238E27FC236}">
                <a16:creationId xmlns:a16="http://schemas.microsoft.com/office/drawing/2014/main" id="{72BB28F0-2D5C-411C-B321-AAB713D73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0638" y="2697163"/>
            <a:ext cx="692150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2400" b="1"/>
              <a:t>1.3.</a:t>
            </a:r>
            <a:r>
              <a:rPr lang="ru-RU" altLang="ru-RU" sz="2400" b="1" u="sng"/>
              <a:t> Производная функции по направлению.</a:t>
            </a:r>
          </a:p>
        </p:txBody>
      </p:sp>
      <p:sp>
        <p:nvSpPr>
          <p:cNvPr id="6178" name="Rectangle 34">
            <a:extLst>
              <a:ext uri="{FF2B5EF4-FFF2-40B4-BE49-F238E27FC236}">
                <a16:creationId xmlns:a16="http://schemas.microsoft.com/office/drawing/2014/main" id="{1C9CA094-1413-42AB-B973-7FC5CF98B9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3284538"/>
            <a:ext cx="29051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b="1" u="sng"/>
              <a:t>Определение 3.</a:t>
            </a:r>
            <a:r>
              <a:rPr lang="ru-RU" altLang="ru-RU"/>
              <a:t> Пусть </a:t>
            </a:r>
            <a:r>
              <a:rPr lang="en-US" altLang="ru-RU"/>
              <a:t>f</a:t>
            </a:r>
            <a:r>
              <a:rPr lang="ru-RU" altLang="ru-RU"/>
              <a:t>: </a:t>
            </a:r>
          </a:p>
        </p:txBody>
      </p:sp>
      <p:sp>
        <p:nvSpPr>
          <p:cNvPr id="6180" name="Rectangle 36">
            <a:extLst>
              <a:ext uri="{FF2B5EF4-FFF2-40B4-BE49-F238E27FC236}">
                <a16:creationId xmlns:a16="http://schemas.microsoft.com/office/drawing/2014/main" id="{E930D79E-08A8-42C0-BD21-982671E36A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6179" name="Object 35">
            <a:extLst>
              <a:ext uri="{FF2B5EF4-FFF2-40B4-BE49-F238E27FC236}">
                <a16:creationId xmlns:a16="http://schemas.microsoft.com/office/drawing/2014/main" id="{46B99EF9-927D-4F79-A6C2-25C1633269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87675" y="3284538"/>
          <a:ext cx="266382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9" name="Формула" r:id="rId7" imgW="1536700" imgH="228600" progId="Equation.3">
                  <p:embed/>
                </p:oleObj>
              </mc:Choice>
              <mc:Fallback>
                <p:oleObj name="Формула" r:id="rId7" imgW="1536700" imgH="22860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3284538"/>
                        <a:ext cx="2663825" cy="396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81" name="Rectangle 37">
            <a:extLst>
              <a:ext uri="{FF2B5EF4-FFF2-40B4-BE49-F238E27FC236}">
                <a16:creationId xmlns:a16="http://schemas.microsoft.com/office/drawing/2014/main" id="{2EBCEFB3-A5A1-4B8C-89CD-3595E006CF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3284538"/>
            <a:ext cx="21971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тогда производной</a:t>
            </a:r>
          </a:p>
        </p:txBody>
      </p:sp>
      <p:sp>
        <p:nvSpPr>
          <p:cNvPr id="6182" name="Rectangle 38">
            <a:extLst>
              <a:ext uri="{FF2B5EF4-FFF2-40B4-BE49-F238E27FC236}">
                <a16:creationId xmlns:a16="http://schemas.microsoft.com/office/drawing/2014/main" id="{03472CF8-56F9-4FD6-A3B2-1E596554E6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644900"/>
            <a:ext cx="6591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по направлению  </a:t>
            </a:r>
            <a:r>
              <a:rPr lang="en-US" altLang="ru-RU"/>
              <a:t>d</a:t>
            </a:r>
            <a:r>
              <a:rPr lang="ru-RU" altLang="ru-RU"/>
              <a:t> функции  </a:t>
            </a:r>
            <a:r>
              <a:rPr lang="en-US" altLang="ru-RU"/>
              <a:t>f</a:t>
            </a:r>
            <a:r>
              <a:rPr lang="ru-RU" altLang="ru-RU"/>
              <a:t>(</a:t>
            </a:r>
            <a:r>
              <a:rPr lang="en-US" altLang="ru-RU"/>
              <a:t>x</a:t>
            </a:r>
            <a:r>
              <a:rPr lang="ru-RU" altLang="ru-RU"/>
              <a:t>) в т. </a:t>
            </a:r>
            <a:r>
              <a:rPr lang="en-US" altLang="ru-RU"/>
              <a:t>Xo</a:t>
            </a:r>
            <a:r>
              <a:rPr lang="ru-RU" altLang="ru-RU"/>
              <a:t> называется предел:</a:t>
            </a:r>
          </a:p>
        </p:txBody>
      </p:sp>
      <p:sp>
        <p:nvSpPr>
          <p:cNvPr id="6184" name="Rectangle 40">
            <a:extLst>
              <a:ext uri="{FF2B5EF4-FFF2-40B4-BE49-F238E27FC236}">
                <a16:creationId xmlns:a16="http://schemas.microsoft.com/office/drawing/2014/main" id="{1CE38054-3D2E-4A5F-B188-0FCDF0FAB3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53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86" name="Rectangle 42">
            <a:extLst>
              <a:ext uri="{FF2B5EF4-FFF2-40B4-BE49-F238E27FC236}">
                <a16:creationId xmlns:a16="http://schemas.microsoft.com/office/drawing/2014/main" id="{D616D95F-786F-4EC1-8140-40F04FF2A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4175125"/>
            <a:ext cx="10795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US" altLang="ru-RU">
                <a:cs typeface="Times New Roman" panose="02020603050405020304" pitchFamily="18" charset="0"/>
              </a:rPr>
              <a:t>f</a:t>
            </a:r>
            <a:r>
              <a:rPr lang="ru-RU" altLang="ru-RU">
                <a:cs typeface="Times New Roman" panose="02020603050405020304" pitchFamily="18" charset="0"/>
              </a:rPr>
              <a:t> '</a:t>
            </a:r>
            <a:r>
              <a:rPr lang="en-US" altLang="ru-RU" baseline="-30000">
                <a:cs typeface="Times New Roman" panose="02020603050405020304" pitchFamily="18" charset="0"/>
              </a:rPr>
              <a:t>d</a:t>
            </a:r>
            <a:r>
              <a:rPr lang="ru-RU" altLang="ru-RU">
                <a:cs typeface="Times New Roman" panose="02020603050405020304" pitchFamily="18" charset="0"/>
              </a:rPr>
              <a:t>(</a:t>
            </a:r>
            <a:r>
              <a:rPr lang="en-US" altLang="ru-RU">
                <a:cs typeface="Times New Roman" panose="02020603050405020304" pitchFamily="18" charset="0"/>
              </a:rPr>
              <a:t>x</a:t>
            </a:r>
            <a:r>
              <a:rPr lang="ru-RU" altLang="ru-RU" baseline="-30000">
                <a:cs typeface="Times New Roman" panose="02020603050405020304" pitchFamily="18" charset="0"/>
              </a:rPr>
              <a:t>0</a:t>
            </a:r>
            <a:r>
              <a:rPr lang="ru-RU" altLang="ru-RU">
                <a:cs typeface="Times New Roman" panose="02020603050405020304" pitchFamily="18" charset="0"/>
              </a:rPr>
              <a:t>)=</a:t>
            </a:r>
            <a:endParaRPr lang="ru-RU" altLang="ru-RU"/>
          </a:p>
        </p:txBody>
      </p:sp>
      <p:graphicFrame>
        <p:nvGraphicFramePr>
          <p:cNvPr id="6185" name="Object 41">
            <a:extLst>
              <a:ext uri="{FF2B5EF4-FFF2-40B4-BE49-F238E27FC236}">
                <a16:creationId xmlns:a16="http://schemas.microsoft.com/office/drawing/2014/main" id="{F43EFF6A-9B0A-4F46-8D76-4B196DED80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8175" y="4076700"/>
          <a:ext cx="3311525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0" name="Формула" r:id="rId9" imgW="2260600" imgH="393700" progId="Equation.3">
                  <p:embed/>
                </p:oleObj>
              </mc:Choice>
              <mc:Fallback>
                <p:oleObj name="Формула" r:id="rId9" imgW="2260600" imgH="39370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4076700"/>
                        <a:ext cx="3311525" cy="569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87" name="Rectangle 43">
            <a:extLst>
              <a:ext uri="{FF2B5EF4-FFF2-40B4-BE49-F238E27FC236}">
                <a16:creationId xmlns:a16="http://schemas.microsoft.com/office/drawing/2014/main" id="{1BBF1577-B0A9-45E1-ACB1-BB18596834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75" y="3624263"/>
            <a:ext cx="269875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1200">
                <a:cs typeface="Times New Roman" panose="02020603050405020304" pitchFamily="18" charset="0"/>
              </a:rPr>
              <a:t>  </a:t>
            </a:r>
            <a:endParaRPr lang="ru-RU" altLang="ru-RU"/>
          </a:p>
        </p:txBody>
      </p:sp>
      <p:sp>
        <p:nvSpPr>
          <p:cNvPr id="6188" name="Rectangle 44">
            <a:extLst>
              <a:ext uri="{FF2B5EF4-FFF2-40B4-BE49-F238E27FC236}">
                <a16:creationId xmlns:a16="http://schemas.microsoft.com/office/drawing/2014/main" id="{62DA2B26-8501-4137-A23C-DBB14A3C73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4724400"/>
            <a:ext cx="635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или </a:t>
            </a:r>
          </a:p>
        </p:txBody>
      </p:sp>
      <p:sp>
        <p:nvSpPr>
          <p:cNvPr id="6190" name="Rectangle 46">
            <a:extLst>
              <a:ext uri="{FF2B5EF4-FFF2-40B4-BE49-F238E27FC236}">
                <a16:creationId xmlns:a16="http://schemas.microsoft.com/office/drawing/2014/main" id="{24FCA831-517E-46D3-8E45-CF9777324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6189" name="Object 45">
            <a:extLst>
              <a:ext uri="{FF2B5EF4-FFF2-40B4-BE49-F238E27FC236}">
                <a16:creationId xmlns:a16="http://schemas.microsoft.com/office/drawing/2014/main" id="{29F6DA32-F1AC-4A30-B664-AFFA35064B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4652963"/>
          <a:ext cx="3816350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1" name="Формула" r:id="rId11" imgW="2679700" imgH="444500" progId="Equation.3">
                  <p:embed/>
                </p:oleObj>
              </mc:Choice>
              <mc:Fallback>
                <p:oleObj name="Формула" r:id="rId11" imgW="2679700" imgH="444500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4652963"/>
                        <a:ext cx="3816350" cy="641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91" name="Rectangle 47">
            <a:extLst>
              <a:ext uri="{FF2B5EF4-FFF2-40B4-BE49-F238E27FC236}">
                <a16:creationId xmlns:a16="http://schemas.microsoft.com/office/drawing/2014/main" id="{49CA9897-5931-41C2-B98C-B5B800F42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5373688"/>
            <a:ext cx="37353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b="1" u="sng"/>
              <a:t>Обобщение:</a:t>
            </a:r>
            <a:r>
              <a:rPr lang="ru-RU" altLang="ru-RU"/>
              <a:t> Производная Гато: </a:t>
            </a:r>
          </a:p>
        </p:txBody>
      </p:sp>
      <p:sp>
        <p:nvSpPr>
          <p:cNvPr id="6193" name="Rectangle 49">
            <a:extLst>
              <a:ext uri="{FF2B5EF4-FFF2-40B4-BE49-F238E27FC236}">
                <a16:creationId xmlns:a16="http://schemas.microsoft.com/office/drawing/2014/main" id="{7C8C0FA9-A8E0-4EC1-B5DC-07528457E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6192" name="Object 48">
            <a:extLst>
              <a:ext uri="{FF2B5EF4-FFF2-40B4-BE49-F238E27FC236}">
                <a16:creationId xmlns:a16="http://schemas.microsoft.com/office/drawing/2014/main" id="{1E791405-3854-4996-97EE-08083EDA93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67175" y="5229225"/>
          <a:ext cx="1727200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2" name="Формула" r:id="rId13" imgW="1244600" imgH="444500" progId="Equation.3">
                  <p:embed/>
                </p:oleObj>
              </mc:Choice>
              <mc:Fallback>
                <p:oleObj name="Формула" r:id="rId13" imgW="1244600" imgH="44450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5229225"/>
                        <a:ext cx="1727200" cy="620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94" name="Rectangle 50">
            <a:extLst>
              <a:ext uri="{FF2B5EF4-FFF2-40B4-BE49-F238E27FC236}">
                <a16:creationId xmlns:a16="http://schemas.microsoft.com/office/drawing/2014/main" id="{1A74959D-0823-4506-89E2-2DEF8B0132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5668963"/>
            <a:ext cx="864076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/>
              <a:t>Из существования производной Гато не следует существование дифференциала Фреше.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C8DFC304-B638-407A-8491-72F33211EC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Дифференцирование функций</a:t>
            </a:r>
          </a:p>
        </p:txBody>
      </p:sp>
      <p:pic>
        <p:nvPicPr>
          <p:cNvPr id="8218" name="Picture 26">
            <a:extLst>
              <a:ext uri="{FF2B5EF4-FFF2-40B4-BE49-F238E27FC236}">
                <a16:creationId xmlns:a16="http://schemas.microsoft.com/office/drawing/2014/main" id="{CE066405-F88F-4D1D-BAF8-EBCBF6F4CC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773238"/>
            <a:ext cx="8064500" cy="41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683D8FA6-E636-4CF6-8BE3-6C26F04609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Дифференцирование функций</a:t>
            </a:r>
          </a:p>
        </p:txBody>
      </p:sp>
      <p:sp>
        <p:nvSpPr>
          <p:cNvPr id="11276" name="Rectangle 12">
            <a:extLst>
              <a:ext uri="{FF2B5EF4-FFF2-40B4-BE49-F238E27FC236}">
                <a16:creationId xmlns:a16="http://schemas.microsoft.com/office/drawing/2014/main" id="{C497543D-FA5B-47D4-9B90-44D2FCD0EA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83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77" name="Rectangle 13">
            <a:extLst>
              <a:ext uri="{FF2B5EF4-FFF2-40B4-BE49-F238E27FC236}">
                <a16:creationId xmlns:a16="http://schemas.microsoft.com/office/drawing/2014/main" id="{F172A0BA-53B6-48AC-9781-99E22D08E7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49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79" name="Rectangle 15">
            <a:extLst>
              <a:ext uri="{FF2B5EF4-FFF2-40B4-BE49-F238E27FC236}">
                <a16:creationId xmlns:a16="http://schemas.microsoft.com/office/drawing/2014/main" id="{25985DFF-22C8-4D20-A54B-9E5847828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80" name="Rectangle 16">
            <a:extLst>
              <a:ext uri="{FF2B5EF4-FFF2-40B4-BE49-F238E27FC236}">
                <a16:creationId xmlns:a16="http://schemas.microsoft.com/office/drawing/2014/main" id="{6D4924D5-D389-484E-8FB9-A64024B74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449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83" name="Rectangle 19">
            <a:extLst>
              <a:ext uri="{FF2B5EF4-FFF2-40B4-BE49-F238E27FC236}">
                <a16:creationId xmlns:a16="http://schemas.microsoft.com/office/drawing/2014/main" id="{BFACD39A-F80A-4DFD-BCAA-0189DD24D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57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86" name="Rectangle 22">
            <a:extLst>
              <a:ext uri="{FF2B5EF4-FFF2-40B4-BE49-F238E27FC236}">
                <a16:creationId xmlns:a16="http://schemas.microsoft.com/office/drawing/2014/main" id="{F06BDC2B-2AE6-40FC-875B-3546883D4E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62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88" name="Rectangle 24">
            <a:extLst>
              <a:ext uri="{FF2B5EF4-FFF2-40B4-BE49-F238E27FC236}">
                <a16:creationId xmlns:a16="http://schemas.microsoft.com/office/drawing/2014/main" id="{FE2B1691-2922-4061-B011-3535A0B4CC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91" name="Rectangle 27">
            <a:extLst>
              <a:ext uri="{FF2B5EF4-FFF2-40B4-BE49-F238E27FC236}">
                <a16:creationId xmlns:a16="http://schemas.microsoft.com/office/drawing/2014/main" id="{7F0FBEBC-24B2-4709-8798-BC9A14E4C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99" name="Rectangle 35">
            <a:extLst>
              <a:ext uri="{FF2B5EF4-FFF2-40B4-BE49-F238E27FC236}">
                <a16:creationId xmlns:a16="http://schemas.microsoft.com/office/drawing/2014/main" id="{57A4ED37-3E07-4295-BFF1-684CDC3BAD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511300"/>
            <a:ext cx="6384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2400" b="1"/>
              <a:t>1.4.</a:t>
            </a:r>
            <a:r>
              <a:rPr lang="ru-RU" altLang="ru-RU" sz="2400" b="1" u="sng"/>
              <a:t> Разложение функции в ряд Тейлора.</a:t>
            </a:r>
          </a:p>
        </p:txBody>
      </p:sp>
      <p:sp>
        <p:nvSpPr>
          <p:cNvPr id="11300" name="Rectangle 36">
            <a:extLst>
              <a:ext uri="{FF2B5EF4-FFF2-40B4-BE49-F238E27FC236}">
                <a16:creationId xmlns:a16="http://schemas.microsoft.com/office/drawing/2014/main" id="{D0732897-1324-477D-B588-95E65A6128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989138"/>
            <a:ext cx="8324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В случае </a:t>
            </a:r>
            <a:r>
              <a:rPr lang="en-US" altLang="ru-RU"/>
              <a:t>n</a:t>
            </a:r>
            <a:r>
              <a:rPr lang="ru-RU" altLang="ru-RU"/>
              <a:t>-мерного пространства переменных - разложение в ряд Тейлора.</a:t>
            </a:r>
          </a:p>
        </p:txBody>
      </p:sp>
      <p:sp>
        <p:nvSpPr>
          <p:cNvPr id="11301" name="Rectangle 37">
            <a:extLst>
              <a:ext uri="{FF2B5EF4-FFF2-40B4-BE49-F238E27FC236}">
                <a16:creationId xmlns:a16="http://schemas.microsoft.com/office/drawing/2014/main" id="{2DB968BF-AA3F-4534-ABD8-A69EAE19F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2420938"/>
            <a:ext cx="13731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Пусть     </a:t>
            </a:r>
            <a:r>
              <a:rPr lang="en-US" altLang="ru-RU"/>
              <a:t>f</a:t>
            </a:r>
            <a:r>
              <a:rPr lang="ru-RU" altLang="ru-RU"/>
              <a:t> : </a:t>
            </a:r>
          </a:p>
        </p:txBody>
      </p:sp>
      <p:sp>
        <p:nvSpPr>
          <p:cNvPr id="11303" name="Rectangle 39">
            <a:extLst>
              <a:ext uri="{FF2B5EF4-FFF2-40B4-BE49-F238E27FC236}">
                <a16:creationId xmlns:a16="http://schemas.microsoft.com/office/drawing/2014/main" id="{6BBE4706-51EC-4BDA-99FB-757D808B6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1302" name="Object 38">
            <a:extLst>
              <a:ext uri="{FF2B5EF4-FFF2-40B4-BE49-F238E27FC236}">
                <a16:creationId xmlns:a16="http://schemas.microsoft.com/office/drawing/2014/main" id="{3C2E7C54-7675-41E2-9786-5BB6E76FF2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2275" y="2420938"/>
          <a:ext cx="2447925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8" name="Формула" r:id="rId3" imgW="1536700" imgH="228600" progId="Equation.3">
                  <p:embed/>
                </p:oleObj>
              </mc:Choice>
              <mc:Fallback>
                <p:oleObj name="Формула" r:id="rId3" imgW="1536700" imgH="22860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2420938"/>
                        <a:ext cx="2447925" cy="365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04" name="Rectangle 40">
            <a:extLst>
              <a:ext uri="{FF2B5EF4-FFF2-40B4-BE49-F238E27FC236}">
                <a16:creationId xmlns:a16="http://schemas.microsoft.com/office/drawing/2014/main" id="{3E20A9CA-1D4A-458B-827A-A17F68E65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2420938"/>
            <a:ext cx="46386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тогда , если </a:t>
            </a:r>
            <a:r>
              <a:rPr lang="en-US" altLang="ru-RU"/>
              <a:t>f</a:t>
            </a:r>
            <a:r>
              <a:rPr lang="ru-RU" altLang="ru-RU"/>
              <a:t>(</a:t>
            </a:r>
            <a:r>
              <a:rPr lang="en-US" altLang="ru-RU"/>
              <a:t>x</a:t>
            </a:r>
            <a:r>
              <a:rPr lang="ru-RU" altLang="ru-RU"/>
              <a:t>) </a:t>
            </a:r>
            <a:r>
              <a:rPr lang="en-US" altLang="ru-RU"/>
              <a:t>n</a:t>
            </a:r>
            <a:r>
              <a:rPr lang="ru-RU" altLang="ru-RU"/>
              <a:t> раз дифференцируема </a:t>
            </a:r>
          </a:p>
        </p:txBody>
      </p:sp>
      <p:sp>
        <p:nvSpPr>
          <p:cNvPr id="11305" name="Rectangle 41">
            <a:extLst>
              <a:ext uri="{FF2B5EF4-FFF2-40B4-BE49-F238E27FC236}">
                <a16:creationId xmlns:a16="http://schemas.microsoft.com/office/drawing/2014/main" id="{8CBC17EE-EB81-4B5D-A9E3-F2D3C7335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781300"/>
            <a:ext cx="15192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в т. </a:t>
            </a:r>
            <a:r>
              <a:rPr lang="en-US" altLang="ru-RU"/>
              <a:t>x</a:t>
            </a:r>
            <a:r>
              <a:rPr lang="ru-RU" altLang="ru-RU"/>
              <a:t>0, то     </a:t>
            </a:r>
          </a:p>
        </p:txBody>
      </p:sp>
      <p:sp>
        <p:nvSpPr>
          <p:cNvPr id="11307" name="Rectangle 43">
            <a:extLst>
              <a:ext uri="{FF2B5EF4-FFF2-40B4-BE49-F238E27FC236}">
                <a16:creationId xmlns:a16="http://schemas.microsoft.com/office/drawing/2014/main" id="{C6ACBBAF-960B-4F03-8227-C582FB0C9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908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1306" name="Object 42">
            <a:extLst>
              <a:ext uri="{FF2B5EF4-FFF2-40B4-BE49-F238E27FC236}">
                <a16:creationId xmlns:a16="http://schemas.microsoft.com/office/drawing/2014/main" id="{4157733C-6632-42EA-97ED-42FACAEA1B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2852738"/>
          <a:ext cx="5759450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9" name="Формула" r:id="rId5" imgW="4013200" imgH="279400" progId="Equation.3">
                  <p:embed/>
                </p:oleObj>
              </mc:Choice>
              <mc:Fallback>
                <p:oleObj name="Формула" r:id="rId5" imgW="4013200" imgH="279400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2852738"/>
                        <a:ext cx="5759450" cy="350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08" name="Rectangle 44">
            <a:extLst>
              <a:ext uri="{FF2B5EF4-FFF2-40B4-BE49-F238E27FC236}">
                <a16:creationId xmlns:a16="http://schemas.microsoft.com/office/drawing/2014/main" id="{13814172-BFAE-4441-95CE-28AB599BD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73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309" name="Rectangle 45">
            <a:extLst>
              <a:ext uri="{FF2B5EF4-FFF2-40B4-BE49-F238E27FC236}">
                <a16:creationId xmlns:a16="http://schemas.microsoft.com/office/drawing/2014/main" id="{1A8C8181-9491-4BEA-9049-28A791D50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3141663"/>
            <a:ext cx="48148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где     </a:t>
            </a:r>
            <a:r>
              <a:rPr lang="en-US" altLang="ru-RU"/>
              <a:t>O</a:t>
            </a:r>
            <a:r>
              <a:rPr lang="ru-RU" altLang="ru-RU"/>
              <a:t> - остаточный член в форме Пеано;</a:t>
            </a:r>
          </a:p>
        </p:txBody>
      </p:sp>
      <p:sp>
        <p:nvSpPr>
          <p:cNvPr id="11311" name="Rectangle 47">
            <a:extLst>
              <a:ext uri="{FF2B5EF4-FFF2-40B4-BE49-F238E27FC236}">
                <a16:creationId xmlns:a16="http://schemas.microsoft.com/office/drawing/2014/main" id="{9F7F759F-A202-4EB8-A213-7D0ABAE85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765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1310" name="Object 46">
            <a:extLst>
              <a:ext uri="{FF2B5EF4-FFF2-40B4-BE49-F238E27FC236}">
                <a16:creationId xmlns:a16="http://schemas.microsoft.com/office/drawing/2014/main" id="{A8093B10-7C30-4549-B5C3-ECE6548004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3521075"/>
          <a:ext cx="3455987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50" name="Формула" r:id="rId7" imgW="2260600" imgH="508000" progId="Equation.3">
                  <p:embed/>
                </p:oleObj>
              </mc:Choice>
              <mc:Fallback>
                <p:oleObj name="Формула" r:id="rId7" imgW="2260600" imgH="508000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3521075"/>
                        <a:ext cx="3455987" cy="715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12" name="Rectangle 48">
            <a:extLst>
              <a:ext uri="{FF2B5EF4-FFF2-40B4-BE49-F238E27FC236}">
                <a16:creationId xmlns:a16="http://schemas.microsoft.com/office/drawing/2014/main" id="{8EBA18D2-9B86-4304-8A0B-D03EDFBF26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798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313" name="Rectangle 49">
            <a:extLst>
              <a:ext uri="{FF2B5EF4-FFF2-40B4-BE49-F238E27FC236}">
                <a16:creationId xmlns:a16="http://schemas.microsoft.com/office/drawing/2014/main" id="{7375EF88-E5D5-4E0B-8D14-9F2A500F95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3716338"/>
            <a:ext cx="34369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- градиент функции </a:t>
            </a:r>
            <a:r>
              <a:rPr lang="en-US" altLang="ru-RU"/>
              <a:t>f</a:t>
            </a:r>
            <a:r>
              <a:rPr lang="ru-RU" altLang="ru-RU"/>
              <a:t>(</a:t>
            </a:r>
            <a:r>
              <a:rPr lang="en-US" altLang="ru-RU"/>
              <a:t>x</a:t>
            </a:r>
            <a:r>
              <a:rPr lang="ru-RU" altLang="ru-RU"/>
              <a:t>) в т. </a:t>
            </a:r>
            <a:r>
              <a:rPr lang="en-US" altLang="ru-RU"/>
              <a:t>x</a:t>
            </a:r>
            <a:r>
              <a:rPr lang="ru-RU" altLang="ru-RU"/>
              <a:t>0;</a:t>
            </a:r>
          </a:p>
        </p:txBody>
      </p:sp>
      <p:sp>
        <p:nvSpPr>
          <p:cNvPr id="11315" name="Rectangle 51">
            <a:extLst>
              <a:ext uri="{FF2B5EF4-FFF2-40B4-BE49-F238E27FC236}">
                <a16:creationId xmlns:a16="http://schemas.microsoft.com/office/drawing/2014/main" id="{22C002D1-CBD5-4FC9-AC97-3DD055BE15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432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1314" name="Object 50">
            <a:extLst>
              <a:ext uri="{FF2B5EF4-FFF2-40B4-BE49-F238E27FC236}">
                <a16:creationId xmlns:a16="http://schemas.microsoft.com/office/drawing/2014/main" id="{4C465320-3C29-441E-9E25-05C8A89305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4029075"/>
          <a:ext cx="2160587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51" name="Формула" r:id="rId9" imgW="1459866" imgH="571252" progId="Equation.3">
                  <p:embed/>
                </p:oleObj>
              </mc:Choice>
              <mc:Fallback>
                <p:oleObj name="Формула" r:id="rId9" imgW="1459866" imgH="571252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4029075"/>
                        <a:ext cx="2160587" cy="847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16" name="Rectangle 52">
            <a:extLst>
              <a:ext uri="{FF2B5EF4-FFF2-40B4-BE49-F238E27FC236}">
                <a16:creationId xmlns:a16="http://schemas.microsoft.com/office/drawing/2014/main" id="{A1152622-13C8-4FBD-B86C-D216F7D8F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3573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317" name="Rectangle 53">
            <a:extLst>
              <a:ext uri="{FF2B5EF4-FFF2-40B4-BE49-F238E27FC236}">
                <a16:creationId xmlns:a16="http://schemas.microsoft.com/office/drawing/2014/main" id="{63CD13E6-6DE9-4526-92A1-E70AF6DB08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4221163"/>
            <a:ext cx="55721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– матрица Гессе 2-х частных производных в т. х0. </a:t>
            </a:r>
          </a:p>
        </p:txBody>
      </p:sp>
      <p:sp>
        <p:nvSpPr>
          <p:cNvPr id="11318" name="Rectangle 54">
            <a:extLst>
              <a:ext uri="{FF2B5EF4-FFF2-40B4-BE49-F238E27FC236}">
                <a16:creationId xmlns:a16="http://schemas.microsoft.com/office/drawing/2014/main" id="{8058B7EE-282D-4775-80E9-DF3F03193A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797425"/>
            <a:ext cx="7747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Если </a:t>
            </a:r>
          </a:p>
        </p:txBody>
      </p:sp>
      <p:sp>
        <p:nvSpPr>
          <p:cNvPr id="11320" name="Rectangle 56">
            <a:extLst>
              <a:ext uri="{FF2B5EF4-FFF2-40B4-BE49-F238E27FC236}">
                <a16:creationId xmlns:a16="http://schemas.microsoft.com/office/drawing/2014/main" id="{E5C520F8-647C-4A4D-925B-C908998972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1319" name="Object 55">
            <a:extLst>
              <a:ext uri="{FF2B5EF4-FFF2-40B4-BE49-F238E27FC236}">
                <a16:creationId xmlns:a16="http://schemas.microsoft.com/office/drawing/2014/main" id="{C5145340-B565-4F83-B7A3-B3C9D163A6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4868863"/>
          <a:ext cx="1223962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52" name="Формула" r:id="rId11" imgW="876300" imgH="228600" progId="Equation.3">
                  <p:embed/>
                </p:oleObj>
              </mc:Choice>
              <mc:Fallback>
                <p:oleObj name="Формула" r:id="rId11" imgW="876300" imgH="228600" progId="Equation.3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868863"/>
                        <a:ext cx="1223962" cy="360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21" name="Rectangle 57">
            <a:extLst>
              <a:ext uri="{FF2B5EF4-FFF2-40B4-BE49-F238E27FC236}">
                <a16:creationId xmlns:a16="http://schemas.microsoft.com/office/drawing/2014/main" id="{EEB7527E-1449-4E57-8F04-449639B3B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4797425"/>
            <a:ext cx="52022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, функция </a:t>
            </a:r>
            <a:r>
              <a:rPr lang="en-US" altLang="ru-RU"/>
              <a:t>f</a:t>
            </a:r>
            <a:r>
              <a:rPr lang="ru-RU" altLang="ru-RU"/>
              <a:t>(x) в т. х0 выпукла (если &gt; – строго).</a:t>
            </a:r>
          </a:p>
        </p:txBody>
      </p:sp>
      <p:sp>
        <p:nvSpPr>
          <p:cNvPr id="11323" name="Rectangle 59">
            <a:extLst>
              <a:ext uri="{FF2B5EF4-FFF2-40B4-BE49-F238E27FC236}">
                <a16:creationId xmlns:a16="http://schemas.microsoft.com/office/drawing/2014/main" id="{02B8A769-289A-49C8-91F1-14AB9B514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1322" name="Object 58">
            <a:extLst>
              <a:ext uri="{FF2B5EF4-FFF2-40B4-BE49-F238E27FC236}">
                <a16:creationId xmlns:a16="http://schemas.microsoft.com/office/drawing/2014/main" id="{F74D205A-4FFC-4294-BEE7-4B471028C6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5229225"/>
          <a:ext cx="1439862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53" name="Формула" r:id="rId13" imgW="876300" imgH="228600" progId="Equation.3">
                  <p:embed/>
                </p:oleObj>
              </mc:Choice>
              <mc:Fallback>
                <p:oleObj name="Формула" r:id="rId13" imgW="876300" imgH="228600" progId="Equation.3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5229225"/>
                        <a:ext cx="1439862" cy="376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25" name="Rectangle 61">
            <a:extLst>
              <a:ext uri="{FF2B5EF4-FFF2-40B4-BE49-F238E27FC236}">
                <a16:creationId xmlns:a16="http://schemas.microsoft.com/office/drawing/2014/main" id="{125E5804-70A2-4EB1-93C5-374C41003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78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326" name="Rectangle 62">
            <a:extLst>
              <a:ext uri="{FF2B5EF4-FFF2-40B4-BE49-F238E27FC236}">
                <a16:creationId xmlns:a16="http://schemas.microsoft.com/office/drawing/2014/main" id="{7CE26205-E6CC-404C-8CC5-0160E6AF7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5229225"/>
            <a:ext cx="48783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,  </a:t>
            </a:r>
            <a:r>
              <a:rPr lang="ru-RU" altLang="ru-RU">
                <a:cs typeface="Times New Roman" panose="02020603050405020304" pitchFamily="18" charset="0"/>
              </a:rPr>
              <a:t>функция </a:t>
            </a:r>
            <a:r>
              <a:rPr lang="en-US" altLang="ru-RU">
                <a:cs typeface="Times New Roman" panose="02020603050405020304" pitchFamily="18" charset="0"/>
              </a:rPr>
              <a:t>f</a:t>
            </a:r>
            <a:r>
              <a:rPr lang="ru-RU" altLang="ru-RU">
                <a:cs typeface="Times New Roman" panose="02020603050405020304" pitchFamily="18" charset="0"/>
              </a:rPr>
              <a:t>(x) в т. х</a:t>
            </a:r>
            <a:r>
              <a:rPr lang="ru-RU" altLang="ru-RU" baseline="-30000">
                <a:cs typeface="Times New Roman" panose="02020603050405020304" pitchFamily="18" charset="0"/>
              </a:rPr>
              <a:t>0 </a:t>
            </a:r>
            <a:r>
              <a:rPr lang="ru-RU" altLang="ru-RU">
                <a:cs typeface="Times New Roman" panose="02020603050405020304" pitchFamily="18" charset="0"/>
              </a:rPr>
              <a:t>вогнута (если &lt; – строго)</a:t>
            </a:r>
            <a:r>
              <a:rPr lang="ru-RU" altLang="ru-RU"/>
              <a:t>.</a:t>
            </a:r>
          </a:p>
        </p:txBody>
      </p:sp>
      <p:sp>
        <p:nvSpPr>
          <p:cNvPr id="11327" name="Rectangle 63">
            <a:extLst>
              <a:ext uri="{FF2B5EF4-FFF2-40B4-BE49-F238E27FC236}">
                <a16:creationId xmlns:a16="http://schemas.microsoft.com/office/drawing/2014/main" id="{B3ABD253-BCA9-4380-9E55-4CB3A8553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5229225"/>
            <a:ext cx="7747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Если </a:t>
            </a:r>
          </a:p>
        </p:txBody>
      </p:sp>
      <p:graphicFrame>
        <p:nvGraphicFramePr>
          <p:cNvPr id="11328" name="Object 64">
            <a:extLst>
              <a:ext uri="{FF2B5EF4-FFF2-40B4-BE49-F238E27FC236}">
                <a16:creationId xmlns:a16="http://schemas.microsoft.com/office/drawing/2014/main" id="{8683C630-3FB4-4C5F-8D29-722FB6B504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350" y="5589588"/>
          <a:ext cx="1439863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54" name="Формула" r:id="rId15" imgW="876300" imgH="228600" progId="Equation.3">
                  <p:embed/>
                </p:oleObj>
              </mc:Choice>
              <mc:Fallback>
                <p:oleObj name="Формула" r:id="rId15" imgW="876300" imgH="228600" progId="Equation.3">
                  <p:embed/>
                  <p:pic>
                    <p:nvPicPr>
                      <p:cNvPr id="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5589588"/>
                        <a:ext cx="1439863" cy="376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30" name="Rectangle 66">
            <a:extLst>
              <a:ext uri="{FF2B5EF4-FFF2-40B4-BE49-F238E27FC236}">
                <a16:creationId xmlns:a16="http://schemas.microsoft.com/office/drawing/2014/main" id="{B4A95BC0-3E91-4719-9BD5-BE17B1102C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5589588"/>
            <a:ext cx="7747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Если </a:t>
            </a:r>
          </a:p>
        </p:txBody>
      </p:sp>
      <p:sp>
        <p:nvSpPr>
          <p:cNvPr id="11332" name="Rectangle 68">
            <a:extLst>
              <a:ext uri="{FF2B5EF4-FFF2-40B4-BE49-F238E27FC236}">
                <a16:creationId xmlns:a16="http://schemas.microsoft.com/office/drawing/2014/main" id="{00D83F13-FBAB-48B1-9698-A9A411F41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78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333" name="Rectangle 69">
            <a:extLst>
              <a:ext uri="{FF2B5EF4-FFF2-40B4-BE49-F238E27FC236}">
                <a16:creationId xmlns:a16="http://schemas.microsoft.com/office/drawing/2014/main" id="{5D87F167-8A0D-4288-9A0A-5154F9EED7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5589588"/>
            <a:ext cx="41767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/>
              <a:t>,</a:t>
            </a:r>
            <a:r>
              <a:rPr lang="ru-RU" altLang="ru-RU">
                <a:cs typeface="Times New Roman" panose="02020603050405020304" pitchFamily="18" charset="0"/>
              </a:rPr>
              <a:t> функция </a:t>
            </a:r>
            <a:r>
              <a:rPr lang="en-US" altLang="ru-RU">
                <a:cs typeface="Times New Roman" panose="02020603050405020304" pitchFamily="18" charset="0"/>
              </a:rPr>
              <a:t>f</a:t>
            </a:r>
            <a:r>
              <a:rPr lang="ru-RU" altLang="ru-RU">
                <a:cs typeface="Times New Roman" panose="02020603050405020304" pitchFamily="18" charset="0"/>
              </a:rPr>
              <a:t>(x) в т. х</a:t>
            </a:r>
            <a:r>
              <a:rPr lang="ru-RU" altLang="ru-RU" baseline="-30000">
                <a:cs typeface="Times New Roman" panose="02020603050405020304" pitchFamily="18" charset="0"/>
              </a:rPr>
              <a:t>0 </a:t>
            </a:r>
            <a:r>
              <a:rPr lang="ru-RU" altLang="ru-RU">
                <a:cs typeface="Times New Roman" panose="02020603050405020304" pitchFamily="18" charset="0"/>
              </a:rPr>
              <a:t> имеет перегиб.</a:t>
            </a:r>
            <a:r>
              <a:rPr lang="ru-RU" altLang="ru-RU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626FC71A-59AB-449C-982B-24CC6101DC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Дифференцирование функций</a:t>
            </a:r>
          </a:p>
        </p:txBody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EE7EA230-9EF7-42F4-A5CE-0EA6394BA6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83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15" name="Rectangle 7">
            <a:extLst>
              <a:ext uri="{FF2B5EF4-FFF2-40B4-BE49-F238E27FC236}">
                <a16:creationId xmlns:a16="http://schemas.microsoft.com/office/drawing/2014/main" id="{9E91EAAB-50A2-473C-8CFD-43C2B42230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49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16" name="Rectangle 8">
            <a:extLst>
              <a:ext uri="{FF2B5EF4-FFF2-40B4-BE49-F238E27FC236}">
                <a16:creationId xmlns:a16="http://schemas.microsoft.com/office/drawing/2014/main" id="{1CCB3633-64C7-4347-86AA-6A2D41069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18" name="Rectangle 10">
            <a:extLst>
              <a:ext uri="{FF2B5EF4-FFF2-40B4-BE49-F238E27FC236}">
                <a16:creationId xmlns:a16="http://schemas.microsoft.com/office/drawing/2014/main" id="{7D78F7CA-31B4-48E9-A473-D2FF67364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449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20" name="Rectangle 12">
            <a:extLst>
              <a:ext uri="{FF2B5EF4-FFF2-40B4-BE49-F238E27FC236}">
                <a16:creationId xmlns:a16="http://schemas.microsoft.com/office/drawing/2014/main" id="{D0D66A07-C179-45CB-A707-A4B258CA7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23" name="Rectangle 15">
            <a:extLst>
              <a:ext uri="{FF2B5EF4-FFF2-40B4-BE49-F238E27FC236}">
                <a16:creationId xmlns:a16="http://schemas.microsoft.com/office/drawing/2014/main" id="{915ECBB2-9D45-4315-AC91-C363B3925A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27" name="Rectangle 19">
            <a:extLst>
              <a:ext uri="{FF2B5EF4-FFF2-40B4-BE49-F238E27FC236}">
                <a16:creationId xmlns:a16="http://schemas.microsoft.com/office/drawing/2014/main" id="{D7B20AAB-B31F-47BA-8C03-533025154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32" name="Rectangle 24">
            <a:extLst>
              <a:ext uri="{FF2B5EF4-FFF2-40B4-BE49-F238E27FC236}">
                <a16:creationId xmlns:a16="http://schemas.microsoft.com/office/drawing/2014/main" id="{3F4A41F3-065E-4C8D-B5CD-5D5F55382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41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36" name="Rectangle 28">
            <a:extLst>
              <a:ext uri="{FF2B5EF4-FFF2-40B4-BE49-F238E27FC236}">
                <a16:creationId xmlns:a16="http://schemas.microsoft.com/office/drawing/2014/main" id="{AE3D3C08-1AAA-4A48-A1C0-927A30A9D7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37" name="Rectangle 29">
            <a:extLst>
              <a:ext uri="{FF2B5EF4-FFF2-40B4-BE49-F238E27FC236}">
                <a16:creationId xmlns:a16="http://schemas.microsoft.com/office/drawing/2014/main" id="{017E798A-AC66-46B3-A481-5B1A7C75F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449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40" name="Rectangle 32">
            <a:extLst>
              <a:ext uri="{FF2B5EF4-FFF2-40B4-BE49-F238E27FC236}">
                <a16:creationId xmlns:a16="http://schemas.microsoft.com/office/drawing/2014/main" id="{7BEC706F-4BD9-4C87-9B4C-EEFA4D5F9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42" name="Rectangle 34">
            <a:extLst>
              <a:ext uri="{FF2B5EF4-FFF2-40B4-BE49-F238E27FC236}">
                <a16:creationId xmlns:a16="http://schemas.microsoft.com/office/drawing/2014/main" id="{AA02AF33-29A5-49A7-A7C0-A9A788E7C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81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44" name="Rectangle 36">
            <a:extLst>
              <a:ext uri="{FF2B5EF4-FFF2-40B4-BE49-F238E27FC236}">
                <a16:creationId xmlns:a16="http://schemas.microsoft.com/office/drawing/2014/main" id="{2FC13062-A087-4297-A1EA-064037CB05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1484313"/>
            <a:ext cx="46370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2400" b="1" u="sng"/>
              <a:t>1.5. Матрица Якоби. Якобиан</a:t>
            </a:r>
            <a:r>
              <a:rPr lang="ru-RU" altLang="ru-RU" sz="2400" u="sng"/>
              <a:t>.</a:t>
            </a:r>
          </a:p>
        </p:txBody>
      </p:sp>
      <p:sp>
        <p:nvSpPr>
          <p:cNvPr id="17445" name="Rectangle 37">
            <a:extLst>
              <a:ext uri="{FF2B5EF4-FFF2-40B4-BE49-F238E27FC236}">
                <a16:creationId xmlns:a16="http://schemas.microsoft.com/office/drawing/2014/main" id="{09C962C5-CB9D-4C37-B704-08C9F635B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1989138"/>
            <a:ext cx="44148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Пусть </a:t>
            </a:r>
            <a:r>
              <a:rPr lang="en-US" altLang="ru-RU"/>
              <a:t>g</a:t>
            </a:r>
            <a:r>
              <a:rPr lang="ru-RU" altLang="ru-RU"/>
              <a:t> - операторное отображение: </a:t>
            </a:r>
            <a:r>
              <a:rPr lang="en-US" altLang="ru-RU"/>
              <a:t>g</a:t>
            </a:r>
            <a:r>
              <a:rPr lang="ru-RU" altLang="ru-RU"/>
              <a:t>: </a:t>
            </a:r>
          </a:p>
        </p:txBody>
      </p:sp>
      <p:sp>
        <p:nvSpPr>
          <p:cNvPr id="17447" name="Rectangle 39">
            <a:extLst>
              <a:ext uri="{FF2B5EF4-FFF2-40B4-BE49-F238E27FC236}">
                <a16:creationId xmlns:a16="http://schemas.microsoft.com/office/drawing/2014/main" id="{A4BA3D55-9E24-48D9-A93A-7C5ECAEFE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7446" name="Object 38">
            <a:extLst>
              <a:ext uri="{FF2B5EF4-FFF2-40B4-BE49-F238E27FC236}">
                <a16:creationId xmlns:a16="http://schemas.microsoft.com/office/drawing/2014/main" id="{5365946A-7BF8-4354-983F-DC7E44931D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2725" y="1989138"/>
          <a:ext cx="30241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2" name="Формула" r:id="rId3" imgW="1600200" imgH="228600" progId="Equation.3">
                  <p:embed/>
                </p:oleObj>
              </mc:Choice>
              <mc:Fallback>
                <p:oleObj name="Формула" r:id="rId3" imgW="1600200" imgH="22860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1989138"/>
                        <a:ext cx="3024188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48" name="Rectangle 40">
            <a:extLst>
              <a:ext uri="{FF2B5EF4-FFF2-40B4-BE49-F238E27FC236}">
                <a16:creationId xmlns:a16="http://schemas.microsoft.com/office/drawing/2014/main" id="{6C497804-01C6-4DD8-9B5D-3E81E1B93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73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49" name="Rectangle 41">
            <a:extLst>
              <a:ext uri="{FF2B5EF4-FFF2-40B4-BE49-F238E27FC236}">
                <a16:creationId xmlns:a16="http://schemas.microsoft.com/office/drawing/2014/main" id="{FE152881-87BC-4257-B445-91F7E879C0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2565400"/>
            <a:ext cx="48212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Тогда                                 – матрица Якоби, </a:t>
            </a:r>
          </a:p>
        </p:txBody>
      </p:sp>
      <p:sp>
        <p:nvSpPr>
          <p:cNvPr id="17451" name="Rectangle 43">
            <a:extLst>
              <a:ext uri="{FF2B5EF4-FFF2-40B4-BE49-F238E27FC236}">
                <a16:creationId xmlns:a16="http://schemas.microsoft.com/office/drawing/2014/main" id="{597F6D4D-A860-4F5F-8055-E1484C6E06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7450" name="Object 42">
            <a:extLst>
              <a:ext uri="{FF2B5EF4-FFF2-40B4-BE49-F238E27FC236}">
                <a16:creationId xmlns:a16="http://schemas.microsoft.com/office/drawing/2014/main" id="{9CC6D226-9B52-4030-8230-748789AD9C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2565400"/>
          <a:ext cx="2016125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3" name="Формула" r:id="rId5" imgW="1257300" imgH="228600" progId="Equation.3">
                  <p:embed/>
                </p:oleObj>
              </mc:Choice>
              <mc:Fallback>
                <p:oleObj name="Формула" r:id="rId5" imgW="1257300" imgH="228600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2565400"/>
                        <a:ext cx="2016125" cy="360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52" name="Rectangle 44">
            <a:extLst>
              <a:ext uri="{FF2B5EF4-FFF2-40B4-BE49-F238E27FC236}">
                <a16:creationId xmlns:a16="http://schemas.microsoft.com/office/drawing/2014/main" id="{88581ADF-A2C0-4F72-AC5E-3491B60F8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2565400"/>
            <a:ext cx="1162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где	 </a:t>
            </a:r>
          </a:p>
        </p:txBody>
      </p:sp>
      <p:sp>
        <p:nvSpPr>
          <p:cNvPr id="17454" name="Rectangle 46">
            <a:extLst>
              <a:ext uri="{FF2B5EF4-FFF2-40B4-BE49-F238E27FC236}">
                <a16:creationId xmlns:a16="http://schemas.microsoft.com/office/drawing/2014/main" id="{D874508F-0CC4-45DA-AB01-42C0DA9B8E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62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7453" name="Object 45">
            <a:extLst>
              <a:ext uri="{FF2B5EF4-FFF2-40B4-BE49-F238E27FC236}">
                <a16:creationId xmlns:a16="http://schemas.microsoft.com/office/drawing/2014/main" id="{3E143231-8A5E-42B7-BA3F-1C49572BCF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00788" y="2393950"/>
          <a:ext cx="2519362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4" name="Формула" r:id="rId7" imgW="1396394" imgH="533169" progId="Equation.3">
                  <p:embed/>
                </p:oleObj>
              </mc:Choice>
              <mc:Fallback>
                <p:oleObj name="Формула" r:id="rId7" imgW="1396394" imgH="533169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2393950"/>
                        <a:ext cx="2519362" cy="857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55" name="Rectangle 47">
            <a:extLst>
              <a:ext uri="{FF2B5EF4-FFF2-40B4-BE49-F238E27FC236}">
                <a16:creationId xmlns:a16="http://schemas.microsoft.com/office/drawing/2014/main" id="{B5AFA046-BAD5-45BA-B674-121F2D0A3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2924175"/>
            <a:ext cx="49450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а </a:t>
            </a:r>
            <a:r>
              <a:rPr lang="en-US" altLang="ru-RU"/>
              <a:t>det</a:t>
            </a:r>
            <a:r>
              <a:rPr lang="ru-RU" altLang="ru-RU"/>
              <a:t>(</a:t>
            </a:r>
            <a:r>
              <a:rPr lang="en-US" altLang="ru-RU"/>
              <a:t>J</a:t>
            </a:r>
            <a:r>
              <a:rPr lang="ru-RU" altLang="ru-RU"/>
              <a:t>(</a:t>
            </a:r>
            <a:r>
              <a:rPr lang="en-US" altLang="ru-RU"/>
              <a:t>x</a:t>
            </a:r>
            <a:r>
              <a:rPr lang="ru-RU" altLang="ru-RU"/>
              <a:t>0)) – Якобиан.     </a:t>
            </a:r>
            <a:r>
              <a:rPr lang="en-US" altLang="ru-RU"/>
              <a:t>det</a:t>
            </a:r>
            <a:r>
              <a:rPr lang="ru-RU" altLang="ru-RU"/>
              <a:t>(</a:t>
            </a:r>
            <a:r>
              <a:rPr lang="en-US" altLang="ru-RU"/>
              <a:t>J</a:t>
            </a:r>
            <a:r>
              <a:rPr lang="ru-RU" altLang="ru-RU"/>
              <a:t>(</a:t>
            </a:r>
            <a:r>
              <a:rPr lang="en-US" altLang="ru-RU"/>
              <a:t>x</a:t>
            </a:r>
            <a:r>
              <a:rPr lang="ru-RU" altLang="ru-RU"/>
              <a:t>0)) =  |</a:t>
            </a:r>
            <a:r>
              <a:rPr lang="en-US" altLang="ru-RU"/>
              <a:t>J</a:t>
            </a:r>
            <a:r>
              <a:rPr lang="ru-RU" altLang="ru-RU"/>
              <a:t>(</a:t>
            </a:r>
            <a:r>
              <a:rPr lang="en-US" altLang="ru-RU"/>
              <a:t>x</a:t>
            </a:r>
            <a:r>
              <a:rPr lang="ru-RU" altLang="ru-RU"/>
              <a:t>0)|. </a:t>
            </a:r>
          </a:p>
        </p:txBody>
      </p:sp>
      <p:sp>
        <p:nvSpPr>
          <p:cNvPr id="17456" name="Rectangle 48">
            <a:extLst>
              <a:ext uri="{FF2B5EF4-FFF2-40B4-BE49-F238E27FC236}">
                <a16:creationId xmlns:a16="http://schemas.microsoft.com/office/drawing/2014/main" id="{7EE0F148-B021-487A-9906-228C1FACEE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1013" y="2276475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, </a:t>
            </a:r>
          </a:p>
        </p:txBody>
      </p:sp>
      <p:sp>
        <p:nvSpPr>
          <p:cNvPr id="17457" name="Rectangle 49">
            <a:extLst>
              <a:ext uri="{FF2B5EF4-FFF2-40B4-BE49-F238E27FC236}">
                <a16:creationId xmlns:a16="http://schemas.microsoft.com/office/drawing/2014/main" id="{6799EA03-B7BB-41EE-A4D5-447D87FCC3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3429000"/>
            <a:ext cx="7747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Если </a:t>
            </a:r>
          </a:p>
        </p:txBody>
      </p:sp>
      <p:sp>
        <p:nvSpPr>
          <p:cNvPr id="17459" name="Rectangle 51">
            <a:extLst>
              <a:ext uri="{FF2B5EF4-FFF2-40B4-BE49-F238E27FC236}">
                <a16:creationId xmlns:a16="http://schemas.microsoft.com/office/drawing/2014/main" id="{F3BFB140-DBFE-491A-9491-A9EE94F324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7458" name="Object 50">
            <a:extLst>
              <a:ext uri="{FF2B5EF4-FFF2-40B4-BE49-F238E27FC236}">
                <a16:creationId xmlns:a16="http://schemas.microsoft.com/office/drawing/2014/main" id="{244DAA31-D2F9-47E2-8BA6-86B953A511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2275" y="3500438"/>
          <a:ext cx="1079500" cy="268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5" name="Формула" r:id="rId9" imgW="799753" imgH="203112" progId="Equation.3">
                  <p:embed/>
                </p:oleObj>
              </mc:Choice>
              <mc:Fallback>
                <p:oleObj name="Формула" r:id="rId9" imgW="799753" imgH="203112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3500438"/>
                        <a:ext cx="1079500" cy="268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60" name="Rectangle 52">
            <a:extLst>
              <a:ext uri="{FF2B5EF4-FFF2-40B4-BE49-F238E27FC236}">
                <a16:creationId xmlns:a16="http://schemas.microsoft.com/office/drawing/2014/main" id="{6B26A61B-FB95-48D8-80D7-D7BE82B556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274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61" name="Rectangle 53">
            <a:extLst>
              <a:ext uri="{FF2B5EF4-FFF2-40B4-BE49-F238E27FC236}">
                <a16:creationId xmlns:a16="http://schemas.microsoft.com/office/drawing/2014/main" id="{6ECB1D5F-6EC5-4DDC-85CA-EE71B284B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3429000"/>
            <a:ext cx="54435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то система уравнений   </a:t>
            </a:r>
            <a:r>
              <a:rPr lang="en-US" altLang="ru-RU"/>
              <a:t>gj</a:t>
            </a:r>
            <a:r>
              <a:rPr lang="ru-RU" altLang="ru-RU"/>
              <a:t>(</a:t>
            </a:r>
            <a:r>
              <a:rPr lang="en-US" altLang="ru-RU"/>
              <a:t>x</a:t>
            </a:r>
            <a:r>
              <a:rPr lang="ru-RU" altLang="ru-RU"/>
              <a:t>) = </a:t>
            </a:r>
            <a:r>
              <a:rPr lang="en-US" altLang="ru-RU"/>
              <a:t>C</a:t>
            </a:r>
            <a:r>
              <a:rPr lang="ru-RU" altLang="ru-RU"/>
              <a:t> имеет решение. </a:t>
            </a:r>
          </a:p>
        </p:txBody>
      </p:sp>
      <p:sp>
        <p:nvSpPr>
          <p:cNvPr id="17463" name="Rectangle 55">
            <a:extLst>
              <a:ext uri="{FF2B5EF4-FFF2-40B4-BE49-F238E27FC236}">
                <a16:creationId xmlns:a16="http://schemas.microsoft.com/office/drawing/2014/main" id="{2A1EC51B-458E-4AA6-AD44-67E9BF329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57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7462" name="Object 54">
            <a:extLst>
              <a:ext uri="{FF2B5EF4-FFF2-40B4-BE49-F238E27FC236}">
                <a16:creationId xmlns:a16="http://schemas.microsoft.com/office/drawing/2014/main" id="{3592BC08-FB72-4592-B5D3-3172CD6690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3933825"/>
          <a:ext cx="865188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6" name="Формула" r:id="rId11" imgW="494870" imgH="177646" progId="Equation.3">
                  <p:embed/>
                </p:oleObj>
              </mc:Choice>
              <mc:Fallback>
                <p:oleObj name="Формула" r:id="rId11" imgW="494870" imgH="177646" progId="Equation.3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933825"/>
                        <a:ext cx="865188" cy="319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64" name="Rectangle 56">
            <a:extLst>
              <a:ext uri="{FF2B5EF4-FFF2-40B4-BE49-F238E27FC236}">
                <a16:creationId xmlns:a16="http://schemas.microsoft.com/office/drawing/2014/main" id="{C50B08DD-1341-49AE-94F7-603BF0519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3933825"/>
            <a:ext cx="247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/>
              <a:t>.</a:t>
            </a:r>
          </a:p>
        </p:txBody>
      </p:sp>
      <p:sp>
        <p:nvSpPr>
          <p:cNvPr id="17465" name="Rectangle 57">
            <a:extLst>
              <a:ext uri="{FF2B5EF4-FFF2-40B4-BE49-F238E27FC236}">
                <a16:creationId xmlns:a16="http://schemas.microsoft.com/office/drawing/2014/main" id="{B5B4B400-78EB-4709-AEB3-54455C5F8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3933825"/>
            <a:ext cx="55245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В этом случае существует обратное отображение</a:t>
            </a:r>
          </a:p>
        </p:txBody>
      </p:sp>
      <p:sp>
        <p:nvSpPr>
          <p:cNvPr id="17467" name="Rectangle 59">
            <a:extLst>
              <a:ext uri="{FF2B5EF4-FFF2-40B4-BE49-F238E27FC236}">
                <a16:creationId xmlns:a16="http://schemas.microsoft.com/office/drawing/2014/main" id="{D7170108-F8C0-42F8-B5FC-38066C753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57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7466" name="Object 58">
            <a:extLst>
              <a:ext uri="{FF2B5EF4-FFF2-40B4-BE49-F238E27FC236}">
                <a16:creationId xmlns:a16="http://schemas.microsoft.com/office/drawing/2014/main" id="{1ABA0489-21AD-40A0-8D7A-4E36506937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4365625"/>
          <a:ext cx="338455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7" name="Формула" r:id="rId13" imgW="1993900" imgH="241300" progId="Equation.3">
                  <p:embed/>
                </p:oleObj>
              </mc:Choice>
              <mc:Fallback>
                <p:oleObj name="Формула" r:id="rId13" imgW="1993900" imgH="241300" progId="Equation.3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365625"/>
                        <a:ext cx="3384550" cy="403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68" name="Rectangle 60">
            <a:extLst>
              <a:ext uri="{FF2B5EF4-FFF2-40B4-BE49-F238E27FC236}">
                <a16:creationId xmlns:a16="http://schemas.microsoft.com/office/drawing/2014/main" id="{D2E403CA-3E90-45F4-A9CA-E11C5B4808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464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69" name="Rectangle 61">
            <a:extLst>
              <a:ext uri="{FF2B5EF4-FFF2-40B4-BE49-F238E27FC236}">
                <a16:creationId xmlns:a16="http://schemas.microsoft.com/office/drawing/2014/main" id="{13BB25B2-0FC1-46C0-BC56-705DBA89B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4868863"/>
            <a:ext cx="79343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/>
              <a:t>Это имеет большое значение при решении задач с неявно заданными функциями.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B9347CC2-2CC1-4568-BFEF-16902E61EC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1143000"/>
          </a:xfrm>
        </p:spPr>
        <p:txBody>
          <a:bodyPr/>
          <a:lstStyle/>
          <a:p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Дифференцирование функций</a:t>
            </a:r>
            <a:endParaRPr lang="ru-RU" altLang="ru-RU" sz="3600" b="1" i="1" u="sng" dirty="0"/>
          </a:p>
        </p:txBody>
      </p:sp>
      <p:sp>
        <p:nvSpPr>
          <p:cNvPr id="18436" name="Rectangle 4">
            <a:extLst>
              <a:ext uri="{FF2B5EF4-FFF2-40B4-BE49-F238E27FC236}">
                <a16:creationId xmlns:a16="http://schemas.microsoft.com/office/drawing/2014/main" id="{C06F74D1-B8BC-413F-A6B4-8BC8883FE0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83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8437" name="Rectangle 5">
            <a:extLst>
              <a:ext uri="{FF2B5EF4-FFF2-40B4-BE49-F238E27FC236}">
                <a16:creationId xmlns:a16="http://schemas.microsoft.com/office/drawing/2014/main" id="{417A4D91-C51E-44B6-A484-1F819AEF4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49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8438" name="Rectangle 6">
            <a:extLst>
              <a:ext uri="{FF2B5EF4-FFF2-40B4-BE49-F238E27FC236}">
                <a16:creationId xmlns:a16="http://schemas.microsoft.com/office/drawing/2014/main" id="{83DD777A-5B6D-4659-84CB-28C0B5C827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8439" name="Rectangle 7">
            <a:extLst>
              <a:ext uri="{FF2B5EF4-FFF2-40B4-BE49-F238E27FC236}">
                <a16:creationId xmlns:a16="http://schemas.microsoft.com/office/drawing/2014/main" id="{7A6FA7A4-5FD4-46D2-9867-3EC59CB0F7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449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8441" name="Rectangle 9">
            <a:extLst>
              <a:ext uri="{FF2B5EF4-FFF2-40B4-BE49-F238E27FC236}">
                <a16:creationId xmlns:a16="http://schemas.microsoft.com/office/drawing/2014/main" id="{471DA97E-B781-4609-877F-CCD1DDEF3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8442" name="Rectangle 10">
            <a:extLst>
              <a:ext uri="{FF2B5EF4-FFF2-40B4-BE49-F238E27FC236}">
                <a16:creationId xmlns:a16="http://schemas.microsoft.com/office/drawing/2014/main" id="{0448D70F-A116-4426-99D8-1C07C856A6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8444" name="Rectangle 12">
            <a:extLst>
              <a:ext uri="{FF2B5EF4-FFF2-40B4-BE49-F238E27FC236}">
                <a16:creationId xmlns:a16="http://schemas.microsoft.com/office/drawing/2014/main" id="{A4437ECB-D2BE-440C-B096-2C95F989BE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41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8447" name="Rectangle 15">
            <a:extLst>
              <a:ext uri="{FF2B5EF4-FFF2-40B4-BE49-F238E27FC236}">
                <a16:creationId xmlns:a16="http://schemas.microsoft.com/office/drawing/2014/main" id="{E00CE2DC-1D75-495C-99B5-A2A25390A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2413" y="3284538"/>
            <a:ext cx="91440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8453" name="Rectangle 21">
            <a:extLst>
              <a:ext uri="{FF2B5EF4-FFF2-40B4-BE49-F238E27FC236}">
                <a16:creationId xmlns:a16="http://schemas.microsoft.com/office/drawing/2014/main" id="{CBDB8709-61C3-407A-8B16-6BBAE46C3F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11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8458" name="Rectangle 26">
            <a:extLst>
              <a:ext uri="{FF2B5EF4-FFF2-40B4-BE49-F238E27FC236}">
                <a16:creationId xmlns:a16="http://schemas.microsoft.com/office/drawing/2014/main" id="{8F19DAE3-5D00-45AC-84BF-EBB9EB24F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80975" y="4508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8463" name="Rectangle 31">
            <a:extLst>
              <a:ext uri="{FF2B5EF4-FFF2-40B4-BE49-F238E27FC236}">
                <a16:creationId xmlns:a16="http://schemas.microsoft.com/office/drawing/2014/main" id="{11F4CA40-6FF2-4FED-8494-BE1C62AC1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584325"/>
            <a:ext cx="6692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2400" b="1"/>
              <a:t>1.6. </a:t>
            </a:r>
            <a:r>
              <a:rPr lang="ru-RU" altLang="ru-RU" sz="2400" b="1" u="sng"/>
              <a:t>Классы дифференцируемых функций.</a:t>
            </a:r>
          </a:p>
        </p:txBody>
      </p:sp>
      <p:sp>
        <p:nvSpPr>
          <p:cNvPr id="18464" name="Rectangle 32">
            <a:extLst>
              <a:ext uri="{FF2B5EF4-FFF2-40B4-BE49-F238E27FC236}">
                <a16:creationId xmlns:a16="http://schemas.microsoft.com/office/drawing/2014/main" id="{57B0FD22-2060-46A1-B266-EE27B294FE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2133600"/>
            <a:ext cx="10556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Пусть </a:t>
            </a:r>
            <a:r>
              <a:rPr lang="en-US" altLang="ru-RU"/>
              <a:t>f</a:t>
            </a:r>
            <a:r>
              <a:rPr lang="ru-RU" altLang="ru-RU"/>
              <a:t>: </a:t>
            </a:r>
          </a:p>
        </p:txBody>
      </p:sp>
      <p:sp>
        <p:nvSpPr>
          <p:cNvPr id="18466" name="Rectangle 34">
            <a:extLst>
              <a:ext uri="{FF2B5EF4-FFF2-40B4-BE49-F238E27FC236}">
                <a16:creationId xmlns:a16="http://schemas.microsoft.com/office/drawing/2014/main" id="{19B5B43E-7D05-4C19-A345-AE94915DAD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8465" name="Object 33">
            <a:extLst>
              <a:ext uri="{FF2B5EF4-FFF2-40B4-BE49-F238E27FC236}">
                <a16:creationId xmlns:a16="http://schemas.microsoft.com/office/drawing/2014/main" id="{E4523939-769E-4B23-8949-4B3EE5300D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5150" y="2162175"/>
          <a:ext cx="230505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1" name="Формула" r:id="rId3" imgW="1536700" imgH="228600" progId="Equation.3">
                  <p:embed/>
                </p:oleObj>
              </mc:Choice>
              <mc:Fallback>
                <p:oleObj name="Формула" r:id="rId3" imgW="1536700" imgH="22860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2162175"/>
                        <a:ext cx="230505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67" name="Rectangle 35">
            <a:extLst>
              <a:ext uri="{FF2B5EF4-FFF2-40B4-BE49-F238E27FC236}">
                <a16:creationId xmlns:a16="http://schemas.microsoft.com/office/drawing/2014/main" id="{5D56DE33-3E41-450B-877F-579A3F9C4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2133600"/>
            <a:ext cx="7604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тогда</a:t>
            </a:r>
          </a:p>
        </p:txBody>
      </p:sp>
      <p:sp>
        <p:nvSpPr>
          <p:cNvPr id="18469" name="Rectangle 37">
            <a:extLst>
              <a:ext uri="{FF2B5EF4-FFF2-40B4-BE49-F238E27FC236}">
                <a16:creationId xmlns:a16="http://schemas.microsoft.com/office/drawing/2014/main" id="{8177917B-6814-414A-8BEB-B0518359E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8468" name="Object 36">
            <a:extLst>
              <a:ext uri="{FF2B5EF4-FFF2-40B4-BE49-F238E27FC236}">
                <a16:creationId xmlns:a16="http://schemas.microsoft.com/office/drawing/2014/main" id="{20279D09-DA1C-4A64-9315-4708C45CFB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2609850"/>
          <a:ext cx="1296987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2" name="Формула" r:id="rId5" imgW="901309" imgH="228501" progId="Equation.3">
                  <p:embed/>
                </p:oleObj>
              </mc:Choice>
              <mc:Fallback>
                <p:oleObj name="Формула" r:id="rId5" imgW="901309" imgH="228501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2609850"/>
                        <a:ext cx="1296987" cy="327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70" name="Rectangle 38">
            <a:extLst>
              <a:ext uri="{FF2B5EF4-FFF2-40B4-BE49-F238E27FC236}">
                <a16:creationId xmlns:a16="http://schemas.microsoft.com/office/drawing/2014/main" id="{76041FE4-C7A0-4D40-AEC4-3BD67DC82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2636838"/>
            <a:ext cx="35194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– класс непрерывных функций;</a:t>
            </a:r>
          </a:p>
        </p:txBody>
      </p:sp>
      <p:sp>
        <p:nvSpPr>
          <p:cNvPr id="18472" name="Rectangle 40">
            <a:extLst>
              <a:ext uri="{FF2B5EF4-FFF2-40B4-BE49-F238E27FC236}">
                <a16:creationId xmlns:a16="http://schemas.microsoft.com/office/drawing/2014/main" id="{E6A4DA4D-7A4F-4746-90FB-017A24ADC9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8471" name="Object 39">
            <a:extLst>
              <a:ext uri="{FF2B5EF4-FFF2-40B4-BE49-F238E27FC236}">
                <a16:creationId xmlns:a16="http://schemas.microsoft.com/office/drawing/2014/main" id="{77133F4A-A3D7-430D-878D-B2B2728E5A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3141663"/>
          <a:ext cx="1295400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3" name="Формула" r:id="rId7" imgW="876300" imgH="228600" progId="Equation.3">
                  <p:embed/>
                </p:oleObj>
              </mc:Choice>
              <mc:Fallback>
                <p:oleObj name="Формула" r:id="rId7" imgW="876300" imgH="22860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141663"/>
                        <a:ext cx="1295400" cy="338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73" name="Rectangle 41">
            <a:extLst>
              <a:ext uri="{FF2B5EF4-FFF2-40B4-BE49-F238E27FC236}">
                <a16:creationId xmlns:a16="http://schemas.microsoft.com/office/drawing/2014/main" id="{8EE8A363-D5C3-419B-BE68-E00962750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3141663"/>
            <a:ext cx="48847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– класс 1 раз дифференцируемых функций;</a:t>
            </a:r>
          </a:p>
        </p:txBody>
      </p:sp>
      <p:sp>
        <p:nvSpPr>
          <p:cNvPr id="18475" name="Rectangle 43">
            <a:extLst>
              <a:ext uri="{FF2B5EF4-FFF2-40B4-BE49-F238E27FC236}">
                <a16:creationId xmlns:a16="http://schemas.microsoft.com/office/drawing/2014/main" id="{DA9D7DA4-FEC1-4F08-AB4B-0D880A230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8474" name="Object 42">
            <a:extLst>
              <a:ext uri="{FF2B5EF4-FFF2-40B4-BE49-F238E27FC236}">
                <a16:creationId xmlns:a16="http://schemas.microsoft.com/office/drawing/2014/main" id="{76FF390D-C7C5-4B39-9F4E-B19EE947F8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3716338"/>
          <a:ext cx="1296987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4" name="Формула" r:id="rId9" imgW="901309" imgH="228501" progId="Equation.3">
                  <p:embed/>
                </p:oleObj>
              </mc:Choice>
              <mc:Fallback>
                <p:oleObj name="Формула" r:id="rId9" imgW="901309" imgH="228501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3716338"/>
                        <a:ext cx="1296987" cy="327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76" name="Rectangle 44">
            <a:extLst>
              <a:ext uri="{FF2B5EF4-FFF2-40B4-BE49-F238E27FC236}">
                <a16:creationId xmlns:a16="http://schemas.microsoft.com/office/drawing/2014/main" id="{5F7A47CB-FFC4-478F-ACA8-3CCCCF9E6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3716338"/>
            <a:ext cx="50117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– класс 2 раза дифференцируемых функций;</a:t>
            </a:r>
          </a:p>
        </p:txBody>
      </p:sp>
      <p:sp>
        <p:nvSpPr>
          <p:cNvPr id="18477" name="Rectangle 45">
            <a:extLst>
              <a:ext uri="{FF2B5EF4-FFF2-40B4-BE49-F238E27FC236}">
                <a16:creationId xmlns:a16="http://schemas.microsoft.com/office/drawing/2014/main" id="{5C1552FA-F913-4C27-9183-533DB41257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4221163"/>
            <a:ext cx="64087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US" altLang="ru-RU"/>
              <a:t>………………………………………………………………….</a:t>
            </a:r>
          </a:p>
        </p:txBody>
      </p:sp>
      <p:sp>
        <p:nvSpPr>
          <p:cNvPr id="18479" name="Rectangle 47">
            <a:extLst>
              <a:ext uri="{FF2B5EF4-FFF2-40B4-BE49-F238E27FC236}">
                <a16:creationId xmlns:a16="http://schemas.microsoft.com/office/drawing/2014/main" id="{52408207-A0A0-41EE-9F7C-21C62BEB4A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8478" name="Object 46">
            <a:extLst>
              <a:ext uri="{FF2B5EF4-FFF2-40B4-BE49-F238E27FC236}">
                <a16:creationId xmlns:a16="http://schemas.microsoft.com/office/drawing/2014/main" id="{936DEC59-65C9-4C15-997F-F502DC4386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4652963"/>
          <a:ext cx="1368425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5" name="Формула" r:id="rId11" imgW="901309" imgH="228501" progId="Equation.3">
                  <p:embed/>
                </p:oleObj>
              </mc:Choice>
              <mc:Fallback>
                <p:oleObj name="Формула" r:id="rId11" imgW="901309" imgH="228501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652963"/>
                        <a:ext cx="1368425" cy="344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80" name="Rectangle 48">
            <a:extLst>
              <a:ext uri="{FF2B5EF4-FFF2-40B4-BE49-F238E27FC236}">
                <a16:creationId xmlns:a16="http://schemas.microsoft.com/office/drawing/2014/main" id="{32367B12-F167-4C6C-B7E2-51F8BBA1B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4652963"/>
            <a:ext cx="48847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– класс </a:t>
            </a:r>
            <a:r>
              <a:rPr lang="en-US" altLang="ru-RU"/>
              <a:t>n</a:t>
            </a:r>
            <a:r>
              <a:rPr lang="ru-RU" altLang="ru-RU"/>
              <a:t> раз дифференцируемых функций.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207684E0-C5A7-4300-950C-DE3D0D724E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Необходимые и достаточные условия существования экстремума функции</a:t>
            </a:r>
          </a:p>
        </p:txBody>
      </p:sp>
      <p:sp>
        <p:nvSpPr>
          <p:cNvPr id="21508" name="Rectangle 4">
            <a:extLst>
              <a:ext uri="{FF2B5EF4-FFF2-40B4-BE49-F238E27FC236}">
                <a16:creationId xmlns:a16="http://schemas.microsoft.com/office/drawing/2014/main" id="{20893543-F79D-43E0-94FE-1C52EC1E3C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14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1510" name="Rectangle 6">
            <a:extLst>
              <a:ext uri="{FF2B5EF4-FFF2-40B4-BE49-F238E27FC236}">
                <a16:creationId xmlns:a16="http://schemas.microsoft.com/office/drawing/2014/main" id="{28132145-3761-4538-B9B7-C8B0DF0B2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14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1514" name="Rectangle 10">
            <a:extLst>
              <a:ext uri="{FF2B5EF4-FFF2-40B4-BE49-F238E27FC236}">
                <a16:creationId xmlns:a16="http://schemas.microsoft.com/office/drawing/2014/main" id="{C636BA15-3982-495A-9F79-CA1D99D83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89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1515" name="Rectangle 11">
            <a:extLst>
              <a:ext uri="{FF2B5EF4-FFF2-40B4-BE49-F238E27FC236}">
                <a16:creationId xmlns:a16="http://schemas.microsoft.com/office/drawing/2014/main" id="{555341C1-776D-449B-9722-94DAED64CD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41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1530" name="Rectangle 26">
            <a:extLst>
              <a:ext uri="{FF2B5EF4-FFF2-40B4-BE49-F238E27FC236}">
                <a16:creationId xmlns:a16="http://schemas.microsoft.com/office/drawing/2014/main" id="{E1286D5A-031B-4EEC-BBAD-082AA793D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1534" name="Rectangle 30">
            <a:extLst>
              <a:ext uri="{FF2B5EF4-FFF2-40B4-BE49-F238E27FC236}">
                <a16:creationId xmlns:a16="http://schemas.microsoft.com/office/drawing/2014/main" id="{12FA609A-08E2-4723-BE4D-7A54CAA928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614488"/>
            <a:ext cx="8299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2000" b="1" u="sng"/>
              <a:t>2.1.Условия существования экстремума без учета ограничений.</a:t>
            </a:r>
          </a:p>
        </p:txBody>
      </p:sp>
      <p:sp>
        <p:nvSpPr>
          <p:cNvPr id="21535" name="Rectangle 31">
            <a:extLst>
              <a:ext uri="{FF2B5EF4-FFF2-40B4-BE49-F238E27FC236}">
                <a16:creationId xmlns:a16="http://schemas.microsoft.com/office/drawing/2014/main" id="{1FB1452D-B504-414A-BDC8-5B7A4F3D7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060575"/>
            <a:ext cx="77311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b="1"/>
              <a:t>2.1.1.</a:t>
            </a:r>
            <a:r>
              <a:rPr lang="ru-RU" altLang="ru-RU" b="1" u="sng"/>
              <a:t>Необходимые и достаточные условия выпуклости функций.</a:t>
            </a:r>
          </a:p>
        </p:txBody>
      </p:sp>
      <p:sp>
        <p:nvSpPr>
          <p:cNvPr id="21536" name="Rectangle 32">
            <a:extLst>
              <a:ext uri="{FF2B5EF4-FFF2-40B4-BE49-F238E27FC236}">
                <a16:creationId xmlns:a16="http://schemas.microsoft.com/office/drawing/2014/main" id="{641AE488-1825-42C6-9F29-F58E55701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2492375"/>
            <a:ext cx="41132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b="1" u="sng"/>
              <a:t>Теорема1.</a:t>
            </a:r>
            <a:r>
              <a:rPr lang="ru-RU" altLang="ru-RU" u="sng"/>
              <a:t> (Необходимые условия)</a:t>
            </a:r>
            <a:r>
              <a:rPr lang="ru-RU" altLang="ru-RU"/>
              <a:t>. </a:t>
            </a:r>
          </a:p>
        </p:txBody>
      </p:sp>
      <p:sp>
        <p:nvSpPr>
          <p:cNvPr id="21537" name="Rectangle 33">
            <a:extLst>
              <a:ext uri="{FF2B5EF4-FFF2-40B4-BE49-F238E27FC236}">
                <a16:creationId xmlns:a16="http://schemas.microsoft.com/office/drawing/2014/main" id="{1759575A-3C2C-4D50-8FD0-2626C1667D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2924175"/>
            <a:ext cx="10556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Пусть </a:t>
            </a:r>
            <a:r>
              <a:rPr lang="en-US" altLang="ru-RU"/>
              <a:t>f</a:t>
            </a:r>
            <a:r>
              <a:rPr lang="ru-RU" altLang="ru-RU"/>
              <a:t>: </a:t>
            </a:r>
          </a:p>
        </p:txBody>
      </p:sp>
      <p:sp>
        <p:nvSpPr>
          <p:cNvPr id="21539" name="Rectangle 35">
            <a:extLst>
              <a:ext uri="{FF2B5EF4-FFF2-40B4-BE49-F238E27FC236}">
                <a16:creationId xmlns:a16="http://schemas.microsoft.com/office/drawing/2014/main" id="{9AD1714C-A5E9-4158-A9D4-4FE6201D33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1538" name="Object 34">
            <a:extLst>
              <a:ext uri="{FF2B5EF4-FFF2-40B4-BE49-F238E27FC236}">
                <a16:creationId xmlns:a16="http://schemas.microsoft.com/office/drawing/2014/main" id="{6AFD514B-6930-4C1C-9792-D76960AEF8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5150" y="2917825"/>
          <a:ext cx="2449513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2" name="Формула" r:id="rId3" imgW="1498600" imgH="228600" progId="Equation.3">
                  <p:embed/>
                </p:oleObj>
              </mc:Choice>
              <mc:Fallback>
                <p:oleObj name="Формула" r:id="rId3" imgW="1498600" imgH="22860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2917825"/>
                        <a:ext cx="2449513" cy="374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40" name="Rectangle 36">
            <a:extLst>
              <a:ext uri="{FF2B5EF4-FFF2-40B4-BE49-F238E27FC236}">
                <a16:creationId xmlns:a16="http://schemas.microsoft.com/office/drawing/2014/main" id="{1A533EE7-F4D4-4911-8BC0-FB0419DBE7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43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1542" name="Rectangle 38">
            <a:extLst>
              <a:ext uri="{FF2B5EF4-FFF2-40B4-BE49-F238E27FC236}">
                <a16:creationId xmlns:a16="http://schemas.microsoft.com/office/drawing/2014/main" id="{5305B55D-1A7D-4205-9535-E44C8FD1A7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76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1541" name="Object 37">
            <a:extLst>
              <a:ext uri="{FF2B5EF4-FFF2-40B4-BE49-F238E27FC236}">
                <a16:creationId xmlns:a16="http://schemas.microsoft.com/office/drawing/2014/main" id="{48EAA791-E822-4F69-A913-C213B267B1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0563" y="2852738"/>
          <a:ext cx="1008062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3" name="Формула" r:id="rId5" imgW="660113" imgH="304668" progId="Equation.3">
                  <p:embed/>
                </p:oleObj>
              </mc:Choice>
              <mc:Fallback>
                <p:oleObj name="Формула" r:id="rId5" imgW="660113" imgH="304668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2852738"/>
                        <a:ext cx="1008062" cy="544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44" name="Rectangle 40">
            <a:extLst>
              <a:ext uri="{FF2B5EF4-FFF2-40B4-BE49-F238E27FC236}">
                <a16:creationId xmlns:a16="http://schemas.microsoft.com/office/drawing/2014/main" id="{0A48680F-FE0B-4E32-A16A-B3C795EE4E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1545" name="Rectangle 41">
            <a:extLst>
              <a:ext uri="{FF2B5EF4-FFF2-40B4-BE49-F238E27FC236}">
                <a16:creationId xmlns:a16="http://schemas.microsoft.com/office/drawing/2014/main" id="{CA61117F-B61F-46B6-9086-401B5E2E9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73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1546" name="Rectangle 42">
            <a:extLst>
              <a:ext uri="{FF2B5EF4-FFF2-40B4-BE49-F238E27FC236}">
                <a16:creationId xmlns:a16="http://schemas.microsoft.com/office/drawing/2014/main" id="{5DC1A3F1-6870-443C-B0DE-A26A69FAF7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3284538"/>
            <a:ext cx="31416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, тогда для того, чтобы </a:t>
            </a:r>
            <a:r>
              <a:rPr lang="en-US" altLang="ru-RU"/>
              <a:t>f</a:t>
            </a:r>
            <a:r>
              <a:rPr lang="ru-RU" altLang="ru-RU"/>
              <a:t>(</a:t>
            </a:r>
            <a:r>
              <a:rPr lang="en-US" altLang="ru-RU"/>
              <a:t>x</a:t>
            </a:r>
            <a:r>
              <a:rPr lang="ru-RU" altLang="ru-RU"/>
              <a:t>)  </a:t>
            </a:r>
          </a:p>
        </p:txBody>
      </p:sp>
      <p:sp>
        <p:nvSpPr>
          <p:cNvPr id="21547" name="Rectangle 43">
            <a:extLst>
              <a:ext uri="{FF2B5EF4-FFF2-40B4-BE49-F238E27FC236}">
                <a16:creationId xmlns:a16="http://schemas.microsoft.com/office/drawing/2014/main" id="{EF508F10-19BE-4FDD-BD7F-23FCA6BCF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3789363"/>
            <a:ext cx="20653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была выпуклой в </a:t>
            </a:r>
          </a:p>
        </p:txBody>
      </p:sp>
      <p:sp>
        <p:nvSpPr>
          <p:cNvPr id="21548" name="Rectangle 44">
            <a:extLst>
              <a:ext uri="{FF2B5EF4-FFF2-40B4-BE49-F238E27FC236}">
                <a16:creationId xmlns:a16="http://schemas.microsoft.com/office/drawing/2014/main" id="{B09381FE-890D-4206-83E8-8152AF616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3789363"/>
            <a:ext cx="9366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US" altLang="ru-RU"/>
              <a:t>U</a:t>
            </a:r>
            <a:r>
              <a:rPr lang="en-US" altLang="ru-RU">
                <a:sym typeface="Symbol" panose="05050102010706020507" pitchFamily="18" charset="2"/>
              </a:rPr>
              <a:t></a:t>
            </a:r>
            <a:r>
              <a:rPr lang="ru-RU" altLang="ru-RU"/>
              <a:t>(</a:t>
            </a:r>
            <a:r>
              <a:rPr lang="en-US" altLang="ru-RU">
                <a:sym typeface="Symbol" panose="05050102010706020507" pitchFamily="18" charset="2"/>
              </a:rPr>
              <a:t>x</a:t>
            </a:r>
            <a:r>
              <a:rPr lang="ru-RU" altLang="ru-RU">
                <a:sym typeface="Symbol" panose="05050102010706020507" pitchFamily="18" charset="2"/>
              </a:rPr>
              <a:t>), </a:t>
            </a:r>
          </a:p>
        </p:txBody>
      </p:sp>
      <p:sp>
        <p:nvSpPr>
          <p:cNvPr id="21549" name="Rectangle 45">
            <a:extLst>
              <a:ext uri="{FF2B5EF4-FFF2-40B4-BE49-F238E27FC236}">
                <a16:creationId xmlns:a16="http://schemas.microsoft.com/office/drawing/2014/main" id="{D6A9F227-96B0-4914-B6C6-E4F9A53601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3789363"/>
            <a:ext cx="2317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необходимо, чтобы </a:t>
            </a:r>
          </a:p>
        </p:txBody>
      </p:sp>
      <p:sp>
        <p:nvSpPr>
          <p:cNvPr id="21551" name="Rectangle 47">
            <a:extLst>
              <a:ext uri="{FF2B5EF4-FFF2-40B4-BE49-F238E27FC236}">
                <a16:creationId xmlns:a16="http://schemas.microsoft.com/office/drawing/2014/main" id="{BC5837E7-F2C8-44D3-8EB7-0E7890A1D8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1552" name="Rectangle 48">
            <a:extLst>
              <a:ext uri="{FF2B5EF4-FFF2-40B4-BE49-F238E27FC236}">
                <a16:creationId xmlns:a16="http://schemas.microsoft.com/office/drawing/2014/main" id="{0CF99564-2DA6-4BA2-919E-3D3B256DA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4149725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, </a:t>
            </a:r>
          </a:p>
        </p:txBody>
      </p:sp>
      <p:sp>
        <p:nvSpPr>
          <p:cNvPr id="21553" name="Rectangle 49">
            <a:extLst>
              <a:ext uri="{FF2B5EF4-FFF2-40B4-BE49-F238E27FC236}">
                <a16:creationId xmlns:a16="http://schemas.microsoft.com/office/drawing/2014/main" id="{D9911ACA-EA14-433C-A2FC-D44E4D420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838" y="4221163"/>
            <a:ext cx="5921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где </a:t>
            </a:r>
          </a:p>
        </p:txBody>
      </p:sp>
      <p:sp>
        <p:nvSpPr>
          <p:cNvPr id="21555" name="Rectangle 51">
            <a:extLst>
              <a:ext uri="{FF2B5EF4-FFF2-40B4-BE49-F238E27FC236}">
                <a16:creationId xmlns:a16="http://schemas.microsoft.com/office/drawing/2014/main" id="{C2465BEE-53E2-4827-BFD3-C48887B4A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1556" name="Rectangle 52">
            <a:extLst>
              <a:ext uri="{FF2B5EF4-FFF2-40B4-BE49-F238E27FC236}">
                <a16:creationId xmlns:a16="http://schemas.microsoft.com/office/drawing/2014/main" id="{8AC2F7A7-80DB-4B69-9815-7E525BF6C7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4076700"/>
            <a:ext cx="3603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ru-RU" altLang="ru-RU"/>
              <a:t>.</a:t>
            </a:r>
          </a:p>
        </p:txBody>
      </p:sp>
      <p:sp>
        <p:nvSpPr>
          <p:cNvPr id="21557" name="Rectangle 53">
            <a:extLst>
              <a:ext uri="{FF2B5EF4-FFF2-40B4-BE49-F238E27FC236}">
                <a16:creationId xmlns:a16="http://schemas.microsoft.com/office/drawing/2014/main" id="{3A6C0CB2-82A6-4F33-BD85-C4F323DCA3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4581525"/>
            <a:ext cx="38623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b="1" u="sng"/>
              <a:t>Теорема2.(</a:t>
            </a:r>
            <a:r>
              <a:rPr lang="ru-RU" altLang="ru-RU" u="sng"/>
              <a:t>достаточные условия).</a:t>
            </a:r>
          </a:p>
        </p:txBody>
      </p:sp>
      <p:sp>
        <p:nvSpPr>
          <p:cNvPr id="21558" name="Rectangle 54">
            <a:extLst>
              <a:ext uri="{FF2B5EF4-FFF2-40B4-BE49-F238E27FC236}">
                <a16:creationId xmlns:a16="http://schemas.microsoft.com/office/drawing/2014/main" id="{607EF2B0-5F5E-4279-A89E-B40CAD7E9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5013325"/>
            <a:ext cx="10556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Пусть </a:t>
            </a:r>
            <a:r>
              <a:rPr lang="en-US" altLang="ru-RU"/>
              <a:t>f</a:t>
            </a:r>
            <a:r>
              <a:rPr lang="ru-RU" altLang="ru-RU"/>
              <a:t>: </a:t>
            </a:r>
          </a:p>
        </p:txBody>
      </p:sp>
      <p:sp>
        <p:nvSpPr>
          <p:cNvPr id="21560" name="Rectangle 56">
            <a:extLst>
              <a:ext uri="{FF2B5EF4-FFF2-40B4-BE49-F238E27FC236}">
                <a16:creationId xmlns:a16="http://schemas.microsoft.com/office/drawing/2014/main" id="{F32BF7A7-35B5-4DF1-99DA-D572F0C4D9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1559" name="Object 55">
            <a:extLst>
              <a:ext uri="{FF2B5EF4-FFF2-40B4-BE49-F238E27FC236}">
                <a16:creationId xmlns:a16="http://schemas.microsoft.com/office/drawing/2014/main" id="{07905165-D396-463C-9482-4994DB422D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5150" y="5013325"/>
          <a:ext cx="2232025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4" name="Формула" r:id="rId7" imgW="1498600" imgH="228600" progId="Equation.3">
                  <p:embed/>
                </p:oleObj>
              </mc:Choice>
              <mc:Fallback>
                <p:oleObj name="Формула" r:id="rId7" imgW="1498600" imgH="228600" progId="Equation.3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5013325"/>
                        <a:ext cx="2232025" cy="341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62" name="Rectangle 58">
            <a:extLst>
              <a:ext uri="{FF2B5EF4-FFF2-40B4-BE49-F238E27FC236}">
                <a16:creationId xmlns:a16="http://schemas.microsoft.com/office/drawing/2014/main" id="{1DB5AEC9-077A-4494-8486-44FE679BD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4941888"/>
            <a:ext cx="374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и </a:t>
            </a:r>
          </a:p>
        </p:txBody>
      </p:sp>
      <p:sp>
        <p:nvSpPr>
          <p:cNvPr id="21564" name="Rectangle 60">
            <a:extLst>
              <a:ext uri="{FF2B5EF4-FFF2-40B4-BE49-F238E27FC236}">
                <a16:creationId xmlns:a16="http://schemas.microsoft.com/office/drawing/2014/main" id="{5E8E39ED-BD5A-405C-87E1-273FD774B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496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1563" name="Object 59">
            <a:extLst>
              <a:ext uri="{FF2B5EF4-FFF2-40B4-BE49-F238E27FC236}">
                <a16:creationId xmlns:a16="http://schemas.microsoft.com/office/drawing/2014/main" id="{EAA8CF9B-696F-4E22-B6DC-CDDDF41AF0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84663" y="5013325"/>
          <a:ext cx="43180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5" name="Формула" r:id="rId8" imgW="215619" imgH="164885" progId="Equation.3">
                  <p:embed/>
                </p:oleObj>
              </mc:Choice>
              <mc:Fallback>
                <p:oleObj name="Формула" r:id="rId8" imgW="215619" imgH="164885" progId="Equation.3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5013325"/>
                        <a:ext cx="431800" cy="314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65" name="Rectangle 61">
            <a:extLst>
              <a:ext uri="{FF2B5EF4-FFF2-40B4-BE49-F238E27FC236}">
                <a16:creationId xmlns:a16="http://schemas.microsoft.com/office/drawing/2014/main" id="{CF2F6435-EF5A-4221-81AF-1AC94D762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463" y="4941888"/>
            <a:ext cx="17319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,  для которой </a:t>
            </a:r>
          </a:p>
        </p:txBody>
      </p:sp>
      <p:sp>
        <p:nvSpPr>
          <p:cNvPr id="21567" name="Rectangle 63">
            <a:extLst>
              <a:ext uri="{FF2B5EF4-FFF2-40B4-BE49-F238E27FC236}">
                <a16:creationId xmlns:a16="http://schemas.microsoft.com/office/drawing/2014/main" id="{0314927D-CA9E-411C-B321-9E2A786EDE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1566" name="Object 62">
            <a:extLst>
              <a:ext uri="{FF2B5EF4-FFF2-40B4-BE49-F238E27FC236}">
                <a16:creationId xmlns:a16="http://schemas.microsoft.com/office/drawing/2014/main" id="{3BB848B0-37FC-40C2-9DE0-1B9FA0CFF1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3663" y="4941888"/>
          <a:ext cx="1728787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6" name="Формула" r:id="rId10" imgW="1079032" imgH="253890" progId="Equation.3">
                  <p:embed/>
                </p:oleObj>
              </mc:Choice>
              <mc:Fallback>
                <p:oleObj name="Формула" r:id="rId10" imgW="1079032" imgH="253890" progId="Equation.3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4941888"/>
                        <a:ext cx="1728787" cy="415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68" name="Rectangle 64">
            <a:extLst>
              <a:ext uri="{FF2B5EF4-FFF2-40B4-BE49-F238E27FC236}">
                <a16:creationId xmlns:a16="http://schemas.microsoft.com/office/drawing/2014/main" id="{16E2DE62-EE04-4EAF-9E7A-131D149CF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7988" y="49418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, </a:t>
            </a:r>
          </a:p>
        </p:txBody>
      </p:sp>
      <p:sp>
        <p:nvSpPr>
          <p:cNvPr id="21570" name="Rectangle 66">
            <a:extLst>
              <a:ext uri="{FF2B5EF4-FFF2-40B4-BE49-F238E27FC236}">
                <a16:creationId xmlns:a16="http://schemas.microsoft.com/office/drawing/2014/main" id="{F28EFBE2-1BF7-49A3-9303-5066F0A94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1569" name="Object 65">
            <a:extLst>
              <a:ext uri="{FF2B5EF4-FFF2-40B4-BE49-F238E27FC236}">
                <a16:creationId xmlns:a16="http://schemas.microsoft.com/office/drawing/2014/main" id="{EEE2EBD0-77C9-4A93-B3BA-F29121317C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5376863"/>
          <a:ext cx="360045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7" name="Формула" r:id="rId12" imgW="1866900" imgH="228600" progId="Equation.3">
                  <p:embed/>
                </p:oleObj>
              </mc:Choice>
              <mc:Fallback>
                <p:oleObj name="Формула" r:id="rId12" imgW="1866900" imgH="228600" progId="Equation.3">
                  <p:embed/>
                  <p:pic>
                    <p:nvPicPr>
                      <p:cNvPr id="0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5376863"/>
                        <a:ext cx="3600450" cy="441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71" name="Rectangle 67">
            <a:extLst>
              <a:ext uri="{FF2B5EF4-FFF2-40B4-BE49-F238E27FC236}">
                <a16:creationId xmlns:a16="http://schemas.microsoft.com/office/drawing/2014/main" id="{78B135F1-280D-4551-8626-BB74505410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100" y="5445125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, </a:t>
            </a:r>
          </a:p>
        </p:txBody>
      </p:sp>
      <p:sp>
        <p:nvSpPr>
          <p:cNvPr id="21572" name="Rectangle 68">
            <a:extLst>
              <a:ext uri="{FF2B5EF4-FFF2-40B4-BE49-F238E27FC236}">
                <a16:creationId xmlns:a16="http://schemas.microsoft.com/office/drawing/2014/main" id="{77A16111-1424-45A3-AFA5-C10B3CC725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5373688"/>
            <a:ext cx="36972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тогда для того, чтобы </a:t>
            </a:r>
            <a:r>
              <a:rPr lang="en-US" altLang="ru-RU"/>
              <a:t>f</a:t>
            </a:r>
            <a:r>
              <a:rPr lang="ru-RU" altLang="ru-RU"/>
              <a:t>(</a:t>
            </a:r>
            <a:r>
              <a:rPr lang="en-US" altLang="ru-RU"/>
              <a:t>x</a:t>
            </a:r>
            <a:r>
              <a:rPr lang="ru-RU" altLang="ru-RU"/>
              <a:t>) </a:t>
            </a:r>
            <a:r>
              <a:rPr lang="en-US" altLang="ru-RU"/>
              <a:t>,</a:t>
            </a:r>
            <a:r>
              <a:rPr lang="ru-RU" altLang="ru-RU"/>
              <a:t> была </a:t>
            </a:r>
          </a:p>
        </p:txBody>
      </p:sp>
      <p:sp>
        <p:nvSpPr>
          <p:cNvPr id="21573" name="Rectangle 69">
            <a:extLst>
              <a:ext uri="{FF2B5EF4-FFF2-40B4-BE49-F238E27FC236}">
                <a16:creationId xmlns:a16="http://schemas.microsoft.com/office/drawing/2014/main" id="{FEBE0E1F-8338-4E66-870B-B1D7119B8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5876925"/>
            <a:ext cx="44465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выпуклой в </a:t>
            </a:r>
            <a:r>
              <a:rPr lang="en-US" altLang="ru-RU"/>
              <a:t>               </a:t>
            </a:r>
            <a:r>
              <a:rPr lang="ru-RU" altLang="ru-RU"/>
              <a:t>достаточно, чтобы </a:t>
            </a:r>
          </a:p>
        </p:txBody>
      </p:sp>
      <p:sp>
        <p:nvSpPr>
          <p:cNvPr id="21575" name="Rectangle 71">
            <a:extLst>
              <a:ext uri="{FF2B5EF4-FFF2-40B4-BE49-F238E27FC236}">
                <a16:creationId xmlns:a16="http://schemas.microsoft.com/office/drawing/2014/main" id="{484F4AC6-3B73-4A12-842F-CC67FEB40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1577" name="Rectangle 73">
            <a:extLst>
              <a:ext uri="{FF2B5EF4-FFF2-40B4-BE49-F238E27FC236}">
                <a16:creationId xmlns:a16="http://schemas.microsoft.com/office/drawing/2014/main" id="{BA2AFA59-A5DB-41E4-9747-CA008E4B8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05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1576" name="Object 72">
            <a:extLst>
              <a:ext uri="{FF2B5EF4-FFF2-40B4-BE49-F238E27FC236}">
                <a16:creationId xmlns:a16="http://schemas.microsoft.com/office/drawing/2014/main" id="{4D8EBFE7-E3BC-488A-B7B2-A63C09B8D1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9700" y="5949950"/>
          <a:ext cx="1368425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8" name="Формула" r:id="rId14" imgW="812447" imgH="203112" progId="Equation.3">
                  <p:embed/>
                </p:oleObj>
              </mc:Choice>
              <mc:Fallback>
                <p:oleObj name="Формула" r:id="rId14" imgW="812447" imgH="203112" progId="Equation.3">
                  <p:embed/>
                  <p:pic>
                    <p:nvPicPr>
                      <p:cNvPr id="0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5949950"/>
                        <a:ext cx="1368425" cy="336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78" name="Rectangle 74">
            <a:extLst>
              <a:ext uri="{FF2B5EF4-FFF2-40B4-BE49-F238E27FC236}">
                <a16:creationId xmlns:a16="http://schemas.microsoft.com/office/drawing/2014/main" id="{9C3C9B93-D87A-4849-8C0E-03052D168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5876925"/>
            <a:ext cx="3603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ru-RU" altLang="ru-RU"/>
              <a:t>.</a:t>
            </a:r>
          </a:p>
        </p:txBody>
      </p:sp>
      <p:sp>
        <p:nvSpPr>
          <p:cNvPr id="21580" name="Rectangle 76">
            <a:extLst>
              <a:ext uri="{FF2B5EF4-FFF2-40B4-BE49-F238E27FC236}">
                <a16:creationId xmlns:a16="http://schemas.microsoft.com/office/drawing/2014/main" id="{87C9296F-280F-4243-935F-819942ECFC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35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1579" name="Object 75">
            <a:extLst>
              <a:ext uri="{FF2B5EF4-FFF2-40B4-BE49-F238E27FC236}">
                <a16:creationId xmlns:a16="http://schemas.microsoft.com/office/drawing/2014/main" id="{AE492C00-2ADE-4AB2-A54F-608C3C3AA4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84663" y="4149725"/>
          <a:ext cx="2087562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9" name="Формула" r:id="rId16" imgW="1104840" imgH="253800" progId="Equation.3">
                  <p:embed/>
                </p:oleObj>
              </mc:Choice>
              <mc:Fallback>
                <p:oleObj name="Формула" r:id="rId16" imgW="1104840" imgH="253800" progId="Equation.3">
                  <p:embed/>
                  <p:pic>
                    <p:nvPicPr>
                      <p:cNvPr id="0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4149725"/>
                        <a:ext cx="2087562" cy="503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82" name="Rectangle 78">
            <a:extLst>
              <a:ext uri="{FF2B5EF4-FFF2-40B4-BE49-F238E27FC236}">
                <a16:creationId xmlns:a16="http://schemas.microsoft.com/office/drawing/2014/main" id="{64AA98DE-48C6-4792-A568-80F3738B88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1581" name="Object 77">
            <a:extLst>
              <a:ext uri="{FF2B5EF4-FFF2-40B4-BE49-F238E27FC236}">
                <a16:creationId xmlns:a16="http://schemas.microsoft.com/office/drawing/2014/main" id="{3C47D48F-16B7-44C4-AC58-48175965C1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95513" y="5876925"/>
          <a:ext cx="8636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20" name="Формула" r:id="rId18" imgW="406224" imgH="228501" progId="Equation.3">
                  <p:embed/>
                </p:oleObj>
              </mc:Choice>
              <mc:Fallback>
                <p:oleObj name="Формула" r:id="rId18" imgW="406224" imgH="228501" progId="Equation.3">
                  <p:embed/>
                  <p:pic>
                    <p:nvPicPr>
                      <p:cNvPr id="0" name="Object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5876925"/>
                        <a:ext cx="863600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84" name="Rectangle 80">
            <a:extLst>
              <a:ext uri="{FF2B5EF4-FFF2-40B4-BE49-F238E27FC236}">
                <a16:creationId xmlns:a16="http://schemas.microsoft.com/office/drawing/2014/main" id="{779D3BD5-1460-41A7-9D69-E800D3C68A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1583" name="Object 79">
            <a:extLst>
              <a:ext uri="{FF2B5EF4-FFF2-40B4-BE49-F238E27FC236}">
                <a16:creationId xmlns:a16="http://schemas.microsoft.com/office/drawing/2014/main" id="{1944501E-4FE3-4A56-A9F8-9C6FB689C5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3284538"/>
          <a:ext cx="41767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21" name="Формула" r:id="rId20" imgW="2514600" imgH="228600" progId="Equation.3">
                  <p:embed/>
                </p:oleObj>
              </mc:Choice>
              <mc:Fallback>
                <p:oleObj name="Формула" r:id="rId20" imgW="2514600" imgH="228600" progId="Equation.3">
                  <p:embed/>
                  <p:pic>
                    <p:nvPicPr>
                      <p:cNvPr id="0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284538"/>
                        <a:ext cx="4176713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88" name="Object 84">
            <a:extLst>
              <a:ext uri="{FF2B5EF4-FFF2-40B4-BE49-F238E27FC236}">
                <a16:creationId xmlns:a16="http://schemas.microsoft.com/office/drawing/2014/main" id="{7E78C41D-1F07-4DB1-A145-396B3E6474B6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971550" y="4149725"/>
          <a:ext cx="2592388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22" name="Формула" r:id="rId22" imgW="1866600" imgH="253800" progId="Equation.3">
                  <p:embed/>
                </p:oleObj>
              </mc:Choice>
              <mc:Fallback>
                <p:oleObj name="Формула" r:id="rId22" imgW="1866600" imgH="253800" progId="Equation.3">
                  <p:embed/>
                  <p:pic>
                    <p:nvPicPr>
                      <p:cNvPr id="0" name="Object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149725"/>
                        <a:ext cx="2592388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FED977D3-CAA6-44F8-B9E1-3692DFB0E3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Необходимые и достаточные условия существования экстремума функции</a:t>
            </a:r>
          </a:p>
        </p:txBody>
      </p:sp>
      <p:sp>
        <p:nvSpPr>
          <p:cNvPr id="24581" name="Rectangle 5">
            <a:extLst>
              <a:ext uri="{FF2B5EF4-FFF2-40B4-BE49-F238E27FC236}">
                <a16:creationId xmlns:a16="http://schemas.microsoft.com/office/drawing/2014/main" id="{3C831F31-768B-43CA-A498-5D0205FC0A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14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4583" name="Rectangle 7">
            <a:extLst>
              <a:ext uri="{FF2B5EF4-FFF2-40B4-BE49-F238E27FC236}">
                <a16:creationId xmlns:a16="http://schemas.microsoft.com/office/drawing/2014/main" id="{7EB6EE80-609B-4770-8BB4-71706F6AD1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923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4585" name="Rectangle 9">
            <a:extLst>
              <a:ext uri="{FF2B5EF4-FFF2-40B4-BE49-F238E27FC236}">
                <a16:creationId xmlns:a16="http://schemas.microsoft.com/office/drawing/2014/main" id="{EF22DA9E-8655-4087-BA12-D2556FDB45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321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4587" name="Rectangle 11">
            <a:extLst>
              <a:ext uri="{FF2B5EF4-FFF2-40B4-BE49-F238E27FC236}">
                <a16:creationId xmlns:a16="http://schemas.microsoft.com/office/drawing/2014/main" id="{5CFDF1B0-E87D-4A82-AEC3-8C0D2FE74D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89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4588" name="Rectangle 12">
            <a:extLst>
              <a:ext uri="{FF2B5EF4-FFF2-40B4-BE49-F238E27FC236}">
                <a16:creationId xmlns:a16="http://schemas.microsoft.com/office/drawing/2014/main" id="{B8F63C44-9BCB-489D-A10F-1221D4989E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686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4596" name="Rectangle 20">
            <a:extLst>
              <a:ext uri="{FF2B5EF4-FFF2-40B4-BE49-F238E27FC236}">
                <a16:creationId xmlns:a16="http://schemas.microsoft.com/office/drawing/2014/main" id="{37CA24C5-CFB4-4F93-8A21-82D1D2EB67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4601" name="Rectangle 25">
            <a:extLst>
              <a:ext uri="{FF2B5EF4-FFF2-40B4-BE49-F238E27FC236}">
                <a16:creationId xmlns:a16="http://schemas.microsoft.com/office/drawing/2014/main" id="{5C9D530F-8E50-4837-8F35-57FF828101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484313"/>
            <a:ext cx="87852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 b="1"/>
              <a:t>2.1.2.</a:t>
            </a:r>
            <a:r>
              <a:rPr lang="ru-RU" altLang="ru-RU" b="1" u="sng"/>
              <a:t>Необходимые и достаточные условия существования экстремума функции без ограничений.</a:t>
            </a:r>
          </a:p>
        </p:txBody>
      </p:sp>
      <p:sp>
        <p:nvSpPr>
          <p:cNvPr id="24602" name="Rectangle 26">
            <a:extLst>
              <a:ext uri="{FF2B5EF4-FFF2-40B4-BE49-F238E27FC236}">
                <a16:creationId xmlns:a16="http://schemas.microsoft.com/office/drawing/2014/main" id="{94C8DFD3-9BB0-4C7B-B2EB-825B6EF9F1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276475"/>
            <a:ext cx="2279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b="1" u="sng"/>
              <a:t>Теорема3.</a:t>
            </a:r>
            <a:r>
              <a:rPr lang="ru-RU" altLang="ru-RU"/>
              <a:t> Пусть </a:t>
            </a:r>
            <a:r>
              <a:rPr lang="en-US" altLang="ru-RU"/>
              <a:t>f</a:t>
            </a:r>
            <a:r>
              <a:rPr lang="ru-RU" altLang="ru-RU"/>
              <a:t>: </a:t>
            </a:r>
          </a:p>
        </p:txBody>
      </p:sp>
      <p:sp>
        <p:nvSpPr>
          <p:cNvPr id="24604" name="Rectangle 28">
            <a:extLst>
              <a:ext uri="{FF2B5EF4-FFF2-40B4-BE49-F238E27FC236}">
                <a16:creationId xmlns:a16="http://schemas.microsoft.com/office/drawing/2014/main" id="{6A200160-3D2B-41FB-A614-3BA46DADB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4603" name="Object 27">
            <a:extLst>
              <a:ext uri="{FF2B5EF4-FFF2-40B4-BE49-F238E27FC236}">
                <a16:creationId xmlns:a16="http://schemas.microsoft.com/office/drawing/2014/main" id="{5AED940E-2E35-46BE-A557-0DFCD66E1F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1413" y="2290763"/>
          <a:ext cx="2089150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5" name="Формула" r:id="rId3" imgW="1498600" imgH="228600" progId="Equation.3">
                  <p:embed/>
                </p:oleObj>
              </mc:Choice>
              <mc:Fallback>
                <p:oleObj name="Формула" r:id="rId3" imgW="1498600" imgH="22860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2290763"/>
                        <a:ext cx="2089150" cy="320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5" name="Rectangle 29">
            <a:extLst>
              <a:ext uri="{FF2B5EF4-FFF2-40B4-BE49-F238E27FC236}">
                <a16:creationId xmlns:a16="http://schemas.microsoft.com/office/drawing/2014/main" id="{E6CA05BC-334F-4320-B9F8-4ED280D5E6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43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4607" name="Rectangle 31">
            <a:extLst>
              <a:ext uri="{FF2B5EF4-FFF2-40B4-BE49-F238E27FC236}">
                <a16:creationId xmlns:a16="http://schemas.microsoft.com/office/drawing/2014/main" id="{C3EB72CC-9CFF-429B-86F6-B7BF0792B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4606" name="Object 30">
            <a:extLst>
              <a:ext uri="{FF2B5EF4-FFF2-40B4-BE49-F238E27FC236}">
                <a16:creationId xmlns:a16="http://schemas.microsoft.com/office/drawing/2014/main" id="{BB5320E0-4DC8-4AAF-9205-09AB182980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2276475"/>
          <a:ext cx="360045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6" name="Формула" r:id="rId5" imgW="2400300" imgH="228600" progId="Equation.3">
                  <p:embed/>
                </p:oleObj>
              </mc:Choice>
              <mc:Fallback>
                <p:oleObj name="Формула" r:id="rId5" imgW="2400300" imgH="22860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276475"/>
                        <a:ext cx="360045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8" name="Rectangle 32">
            <a:extLst>
              <a:ext uri="{FF2B5EF4-FFF2-40B4-BE49-F238E27FC236}">
                <a16:creationId xmlns:a16="http://schemas.microsoft.com/office/drawing/2014/main" id="{8DC6F951-2AB0-44BA-8151-B528EC6C9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43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4609" name="Rectangle 33">
            <a:extLst>
              <a:ext uri="{FF2B5EF4-FFF2-40B4-BE49-F238E27FC236}">
                <a16:creationId xmlns:a16="http://schemas.microsoft.com/office/drawing/2014/main" id="{5110CE8D-48F0-4A63-BB61-6B273AF2D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100" y="2276475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; </a:t>
            </a:r>
          </a:p>
        </p:txBody>
      </p:sp>
      <p:sp>
        <p:nvSpPr>
          <p:cNvPr id="24610" name="Rectangle 34">
            <a:extLst>
              <a:ext uri="{FF2B5EF4-FFF2-40B4-BE49-F238E27FC236}">
                <a16:creationId xmlns:a16="http://schemas.microsoft.com/office/drawing/2014/main" id="{853A8E20-5EDE-427D-916C-C166A3CBD3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781300"/>
            <a:ext cx="25923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Тогда, для того чтобы </a:t>
            </a:r>
          </a:p>
        </p:txBody>
      </p:sp>
      <p:sp>
        <p:nvSpPr>
          <p:cNvPr id="24612" name="Rectangle 36">
            <a:extLst>
              <a:ext uri="{FF2B5EF4-FFF2-40B4-BE49-F238E27FC236}">
                <a16:creationId xmlns:a16="http://schemas.microsoft.com/office/drawing/2014/main" id="{84725741-58EA-42CC-A454-81DA0F23E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4611" name="Object 35">
            <a:extLst>
              <a:ext uri="{FF2B5EF4-FFF2-40B4-BE49-F238E27FC236}">
                <a16:creationId xmlns:a16="http://schemas.microsoft.com/office/drawing/2014/main" id="{862CBFB6-28C8-47CD-91F1-EC49E13955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3213" y="2803525"/>
          <a:ext cx="1728787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7" name="Формула" r:id="rId7" imgW="1282700" imgH="241300" progId="Equation.3">
                  <p:embed/>
                </p:oleObj>
              </mc:Choice>
              <mc:Fallback>
                <p:oleObj name="Формула" r:id="rId7" imgW="1282700" imgH="24130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2803525"/>
                        <a:ext cx="1728787" cy="369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13" name="Rectangle 37">
            <a:extLst>
              <a:ext uri="{FF2B5EF4-FFF2-40B4-BE49-F238E27FC236}">
                <a16:creationId xmlns:a16="http://schemas.microsoft.com/office/drawing/2014/main" id="{2BD6EDDD-16E3-4BC4-9A7B-4A9136FC00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2781300"/>
            <a:ext cx="37830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необходимо и достаточно, чтобы </a:t>
            </a:r>
          </a:p>
        </p:txBody>
      </p:sp>
      <p:sp>
        <p:nvSpPr>
          <p:cNvPr id="24614" name="Rectangle 38">
            <a:extLst>
              <a:ext uri="{FF2B5EF4-FFF2-40B4-BE49-F238E27FC236}">
                <a16:creationId xmlns:a16="http://schemas.microsoft.com/office/drawing/2014/main" id="{36178C56-E7C7-45C1-8A6E-11FBD71A30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284538"/>
            <a:ext cx="3073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были выполнены условия: </a:t>
            </a:r>
          </a:p>
        </p:txBody>
      </p:sp>
      <p:sp>
        <p:nvSpPr>
          <p:cNvPr id="24616" name="Rectangle 40">
            <a:extLst>
              <a:ext uri="{FF2B5EF4-FFF2-40B4-BE49-F238E27FC236}">
                <a16:creationId xmlns:a16="http://schemas.microsoft.com/office/drawing/2014/main" id="{548698C8-8F37-4EA7-B3EE-7E8C52666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73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4615" name="Object 39">
            <a:extLst>
              <a:ext uri="{FF2B5EF4-FFF2-40B4-BE49-F238E27FC236}">
                <a16:creationId xmlns:a16="http://schemas.microsoft.com/office/drawing/2014/main" id="{F3DD7618-F99D-408F-84A7-9A8CFB537A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9475" y="3098800"/>
          <a:ext cx="1439863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8" name="Формула" r:id="rId9" imgW="965200" imgH="508000" progId="Equation.3">
                  <p:embed/>
                </p:oleObj>
              </mc:Choice>
              <mc:Fallback>
                <p:oleObj name="Формула" r:id="rId9" imgW="965200" imgH="50800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3098800"/>
                        <a:ext cx="1439863" cy="765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17" name="Rectangle 41">
            <a:extLst>
              <a:ext uri="{FF2B5EF4-FFF2-40B4-BE49-F238E27FC236}">
                <a16:creationId xmlns:a16="http://schemas.microsoft.com/office/drawing/2014/main" id="{7C9BCA21-E090-4DC2-8B42-FDBDAB1CF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005263"/>
            <a:ext cx="14255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При этом:   </a:t>
            </a:r>
          </a:p>
        </p:txBody>
      </p:sp>
      <p:graphicFrame>
        <p:nvGraphicFramePr>
          <p:cNvPr id="24618" name="Object 42">
            <a:extLst>
              <a:ext uri="{FF2B5EF4-FFF2-40B4-BE49-F238E27FC236}">
                <a16:creationId xmlns:a16="http://schemas.microsoft.com/office/drawing/2014/main" id="{41E9DAAD-1495-4192-8BFF-1858CF63AC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3857625"/>
          <a:ext cx="1368425" cy="72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9" name="Формула" r:id="rId11" imgW="965200" imgH="508000" progId="Equation.3">
                  <p:embed/>
                </p:oleObj>
              </mc:Choice>
              <mc:Fallback>
                <p:oleObj name="Формула" r:id="rId11" imgW="965200" imgH="508000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3857625"/>
                        <a:ext cx="1368425" cy="728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20" name="Rectangle 44">
            <a:extLst>
              <a:ext uri="{FF2B5EF4-FFF2-40B4-BE49-F238E27FC236}">
                <a16:creationId xmlns:a16="http://schemas.microsoft.com/office/drawing/2014/main" id="{0E21161D-B14F-466E-AB58-31FE323033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2575" y="3684588"/>
            <a:ext cx="290513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1200">
                <a:cs typeface="Times New Roman" panose="02020603050405020304" pitchFamily="18" charset="0"/>
              </a:rPr>
              <a:t>  </a:t>
            </a:r>
            <a:r>
              <a:rPr lang="ru-RU" altLang="ru-RU" sz="600"/>
              <a:t> </a:t>
            </a:r>
            <a:endParaRPr lang="ru-RU" altLang="ru-RU"/>
          </a:p>
        </p:txBody>
      </p:sp>
      <p:sp>
        <p:nvSpPr>
          <p:cNvPr id="24621" name="Rectangle 45">
            <a:extLst>
              <a:ext uri="{FF2B5EF4-FFF2-40B4-BE49-F238E27FC236}">
                <a16:creationId xmlns:a16="http://schemas.microsoft.com/office/drawing/2014/main" id="{3DC18F10-C5D1-4020-8158-7921D1921B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4076700"/>
            <a:ext cx="1657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приводит к     </a:t>
            </a:r>
          </a:p>
        </p:txBody>
      </p:sp>
      <p:sp>
        <p:nvSpPr>
          <p:cNvPr id="24623" name="Rectangle 47">
            <a:extLst>
              <a:ext uri="{FF2B5EF4-FFF2-40B4-BE49-F238E27FC236}">
                <a16:creationId xmlns:a16="http://schemas.microsoft.com/office/drawing/2014/main" id="{31217700-7E5A-4F71-831B-008B972E39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15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4622" name="Object 46">
            <a:extLst>
              <a:ext uri="{FF2B5EF4-FFF2-40B4-BE49-F238E27FC236}">
                <a16:creationId xmlns:a16="http://schemas.microsoft.com/office/drawing/2014/main" id="{60C5F705-4440-4B48-B17A-A7C2F18EA9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6825" y="4076700"/>
          <a:ext cx="2590800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50" name="Формула" r:id="rId13" imgW="1358310" imgH="241195" progId="Equation.3">
                  <p:embed/>
                </p:oleObj>
              </mc:Choice>
              <mc:Fallback>
                <p:oleObj name="Формула" r:id="rId13" imgW="1358310" imgH="241195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4076700"/>
                        <a:ext cx="2590800" cy="449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25" name="Rectangle 49">
            <a:extLst>
              <a:ext uri="{FF2B5EF4-FFF2-40B4-BE49-F238E27FC236}">
                <a16:creationId xmlns:a16="http://schemas.microsoft.com/office/drawing/2014/main" id="{798CF2DF-403D-4D55-B187-06D3DDC8C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73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4624" name="Object 48">
            <a:extLst>
              <a:ext uri="{FF2B5EF4-FFF2-40B4-BE49-F238E27FC236}">
                <a16:creationId xmlns:a16="http://schemas.microsoft.com/office/drawing/2014/main" id="{AAD33338-7CA0-4FF4-9956-243BC7F96C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5013325"/>
          <a:ext cx="1439863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51" name="Формула" r:id="rId15" imgW="965200" imgH="508000" progId="Equation.3">
                  <p:embed/>
                </p:oleObj>
              </mc:Choice>
              <mc:Fallback>
                <p:oleObj name="Формула" r:id="rId15" imgW="965200" imgH="50800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5013325"/>
                        <a:ext cx="1439863" cy="765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26" name="Rectangle 50">
            <a:extLst>
              <a:ext uri="{FF2B5EF4-FFF2-40B4-BE49-F238E27FC236}">
                <a16:creationId xmlns:a16="http://schemas.microsoft.com/office/drawing/2014/main" id="{A2AFDCB3-390C-486C-8B2E-D47C9D37D9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75" y="5157788"/>
            <a:ext cx="1657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приводит к     </a:t>
            </a:r>
          </a:p>
        </p:txBody>
      </p:sp>
      <p:sp>
        <p:nvSpPr>
          <p:cNvPr id="24628" name="Rectangle 52">
            <a:extLst>
              <a:ext uri="{FF2B5EF4-FFF2-40B4-BE49-F238E27FC236}">
                <a16:creationId xmlns:a16="http://schemas.microsoft.com/office/drawing/2014/main" id="{7CCE9DE5-2543-4895-8B74-778E8C845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15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4627" name="Object 51">
            <a:extLst>
              <a:ext uri="{FF2B5EF4-FFF2-40B4-BE49-F238E27FC236}">
                <a16:creationId xmlns:a16="http://schemas.microsoft.com/office/drawing/2014/main" id="{4FD9CB3F-BEDC-42ED-987C-4816938DB7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8263" y="5092700"/>
          <a:ext cx="2592387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52" name="Формула" r:id="rId17" imgW="1384300" imgH="241300" progId="Equation.3">
                  <p:embed/>
                </p:oleObj>
              </mc:Choice>
              <mc:Fallback>
                <p:oleObj name="Формула" r:id="rId17" imgW="1384300" imgH="241300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5092700"/>
                        <a:ext cx="2592387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E706332-952F-4DF4-8E3B-868C2BFA56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Необходимые и достаточные условия существования экстремума функции</a:t>
            </a:r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C733E530-8898-4BBF-8BF4-5B197D80EB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14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4AB49113-E6B5-4E88-BAD1-73A2A089B5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923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5609" name="Rectangle 9">
            <a:extLst>
              <a:ext uri="{FF2B5EF4-FFF2-40B4-BE49-F238E27FC236}">
                <a16:creationId xmlns:a16="http://schemas.microsoft.com/office/drawing/2014/main" id="{30B4C60F-1858-4106-9041-6F17E99410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321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5610" name="Rectangle 10">
            <a:extLst>
              <a:ext uri="{FF2B5EF4-FFF2-40B4-BE49-F238E27FC236}">
                <a16:creationId xmlns:a16="http://schemas.microsoft.com/office/drawing/2014/main" id="{C86CB874-E3EE-43AF-ACB9-D410161686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60475" y="3789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5611" name="Rectangle 11">
            <a:extLst>
              <a:ext uri="{FF2B5EF4-FFF2-40B4-BE49-F238E27FC236}">
                <a16:creationId xmlns:a16="http://schemas.microsoft.com/office/drawing/2014/main" id="{3F9C4421-34E7-4C6C-A2E8-EA305D5BB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686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5615" name="Rectangle 15">
            <a:extLst>
              <a:ext uri="{FF2B5EF4-FFF2-40B4-BE49-F238E27FC236}">
                <a16:creationId xmlns:a16="http://schemas.microsoft.com/office/drawing/2014/main" id="{8201E188-2A16-4AEE-9165-955F0C04CD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5623" name="Rectangle 23">
            <a:extLst>
              <a:ext uri="{FF2B5EF4-FFF2-40B4-BE49-F238E27FC236}">
                <a16:creationId xmlns:a16="http://schemas.microsoft.com/office/drawing/2014/main" id="{72B7A7E2-ABD6-4CDD-8093-777B5C214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923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5628" name="Rectangle 28">
            <a:extLst>
              <a:ext uri="{FF2B5EF4-FFF2-40B4-BE49-F238E27FC236}">
                <a16:creationId xmlns:a16="http://schemas.microsoft.com/office/drawing/2014/main" id="{78843541-3FB1-4759-BFC0-B6BA19CB20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5631" name="Rectangle 31">
            <a:extLst>
              <a:ext uri="{FF2B5EF4-FFF2-40B4-BE49-F238E27FC236}">
                <a16:creationId xmlns:a16="http://schemas.microsoft.com/office/drawing/2014/main" id="{71B10B37-7426-4F69-A852-F4A4C6BF2A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628775"/>
            <a:ext cx="74961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b="1" u="sng"/>
              <a:t>2.2. Условия существования экстремума с учетом ограничений.</a:t>
            </a:r>
          </a:p>
        </p:txBody>
      </p:sp>
      <p:sp>
        <p:nvSpPr>
          <p:cNvPr id="25632" name="Rectangle 32">
            <a:extLst>
              <a:ext uri="{FF2B5EF4-FFF2-40B4-BE49-F238E27FC236}">
                <a16:creationId xmlns:a16="http://schemas.microsoft.com/office/drawing/2014/main" id="{D3447B5B-2125-4CE5-A570-4C5EFB63DB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133600"/>
            <a:ext cx="30146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b="1" u="sng"/>
              <a:t>2.2.1.Постановка задачи:</a:t>
            </a:r>
          </a:p>
        </p:txBody>
      </p:sp>
      <p:sp>
        <p:nvSpPr>
          <p:cNvPr id="25633" name="Rectangle 33">
            <a:extLst>
              <a:ext uri="{FF2B5EF4-FFF2-40B4-BE49-F238E27FC236}">
                <a16:creationId xmlns:a16="http://schemas.microsoft.com/office/drawing/2014/main" id="{8B344241-C463-49E3-A6EB-9F091F8145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636838"/>
            <a:ext cx="11191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Пусть  </a:t>
            </a:r>
            <a:r>
              <a:rPr lang="en-US" altLang="ru-RU"/>
              <a:t>f</a:t>
            </a:r>
            <a:r>
              <a:rPr lang="ru-RU" altLang="ru-RU"/>
              <a:t>: </a:t>
            </a:r>
          </a:p>
        </p:txBody>
      </p:sp>
      <p:sp>
        <p:nvSpPr>
          <p:cNvPr id="25635" name="Rectangle 35">
            <a:extLst>
              <a:ext uri="{FF2B5EF4-FFF2-40B4-BE49-F238E27FC236}">
                <a16:creationId xmlns:a16="http://schemas.microsoft.com/office/drawing/2014/main" id="{EEB11CED-F1EF-4BD6-91EC-36A321C729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5634" name="Object 34">
            <a:extLst>
              <a:ext uri="{FF2B5EF4-FFF2-40B4-BE49-F238E27FC236}">
                <a16:creationId xmlns:a16="http://schemas.microsoft.com/office/drawing/2014/main" id="{B899CF5A-C50E-43F7-B0A3-66D708BE7E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2636838"/>
          <a:ext cx="2232025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65" name="Формула" r:id="rId3" imgW="1498600" imgH="228600" progId="Equation.3">
                  <p:embed/>
                </p:oleObj>
              </mc:Choice>
              <mc:Fallback>
                <p:oleObj name="Формула" r:id="rId3" imgW="1498600" imgH="22860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2636838"/>
                        <a:ext cx="2232025" cy="341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36" name="Rectangle 36">
            <a:extLst>
              <a:ext uri="{FF2B5EF4-FFF2-40B4-BE49-F238E27FC236}">
                <a16:creationId xmlns:a16="http://schemas.microsoft.com/office/drawing/2014/main" id="{646734DB-81CD-4A49-995F-64B79BA3DE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43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5637" name="Rectangle 37">
            <a:extLst>
              <a:ext uri="{FF2B5EF4-FFF2-40B4-BE49-F238E27FC236}">
                <a16:creationId xmlns:a16="http://schemas.microsoft.com/office/drawing/2014/main" id="{383757B4-0C1D-4639-BF0C-0282E7AA8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2636838"/>
            <a:ext cx="31257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ru-RU"/>
              <a:t>y</a:t>
            </a:r>
            <a:r>
              <a:rPr lang="ru-RU" altLang="ru-RU"/>
              <a:t>=</a:t>
            </a:r>
            <a:r>
              <a:rPr lang="en-US" altLang="ru-RU"/>
              <a:t>f</a:t>
            </a:r>
            <a:r>
              <a:rPr lang="ru-RU" altLang="ru-RU"/>
              <a:t>(</a:t>
            </a:r>
            <a:r>
              <a:rPr lang="en-US" altLang="ru-RU"/>
              <a:t>x</a:t>
            </a:r>
            <a:r>
              <a:rPr lang="ru-RU" altLang="ru-RU"/>
              <a:t>) – выпуклая функция; </a:t>
            </a:r>
          </a:p>
        </p:txBody>
      </p:sp>
      <p:sp>
        <p:nvSpPr>
          <p:cNvPr id="25639" name="Rectangle 39">
            <a:extLst>
              <a:ext uri="{FF2B5EF4-FFF2-40B4-BE49-F238E27FC236}">
                <a16:creationId xmlns:a16="http://schemas.microsoft.com/office/drawing/2014/main" id="{AA27FE2A-80B3-45E3-81BE-FE3FEE1A4D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5638" name="Object 38">
            <a:extLst>
              <a:ext uri="{FF2B5EF4-FFF2-40B4-BE49-F238E27FC236}">
                <a16:creationId xmlns:a16="http://schemas.microsoft.com/office/drawing/2014/main" id="{2579B157-6F47-431C-B77E-B739E536F7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2997200"/>
          <a:ext cx="2736850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66" name="Формула" r:id="rId5" imgW="1676400" imgH="228600" progId="Equation.3">
                  <p:embed/>
                </p:oleObj>
              </mc:Choice>
              <mc:Fallback>
                <p:oleObj name="Формула" r:id="rId5" imgW="1676400" imgH="22860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2997200"/>
                        <a:ext cx="2736850" cy="373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40" name="Rectangle 40">
            <a:extLst>
              <a:ext uri="{FF2B5EF4-FFF2-40B4-BE49-F238E27FC236}">
                <a16:creationId xmlns:a16="http://schemas.microsoft.com/office/drawing/2014/main" id="{DE34A615-A200-4C16-9585-B1397CFC7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2997200"/>
            <a:ext cx="12684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и пусть </a:t>
            </a:r>
            <a:r>
              <a:rPr lang="en-US" altLang="ru-RU"/>
              <a:t>g</a:t>
            </a:r>
            <a:r>
              <a:rPr lang="ru-RU" altLang="ru-RU"/>
              <a:t>: </a:t>
            </a:r>
          </a:p>
        </p:txBody>
      </p:sp>
      <p:sp>
        <p:nvSpPr>
          <p:cNvPr id="25642" name="Rectangle 42">
            <a:extLst>
              <a:ext uri="{FF2B5EF4-FFF2-40B4-BE49-F238E27FC236}">
                <a16:creationId xmlns:a16="http://schemas.microsoft.com/office/drawing/2014/main" id="{9F615CE3-5775-4CC0-8631-93E086099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5641" name="Object 41">
            <a:extLst>
              <a:ext uri="{FF2B5EF4-FFF2-40B4-BE49-F238E27FC236}">
                <a16:creationId xmlns:a16="http://schemas.microsoft.com/office/drawing/2014/main" id="{15EDD7F7-6639-4265-BFA3-7164FA1E8E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16463" y="3068638"/>
          <a:ext cx="2376487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67" name="Формула" r:id="rId7" imgW="1549400" imgH="228600" progId="Equation.3">
                  <p:embed/>
                </p:oleObj>
              </mc:Choice>
              <mc:Fallback>
                <p:oleObj name="Формула" r:id="rId7" imgW="1549400" imgH="22860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3068638"/>
                        <a:ext cx="2376487" cy="349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44" name="Rectangle 44">
            <a:extLst>
              <a:ext uri="{FF2B5EF4-FFF2-40B4-BE49-F238E27FC236}">
                <a16:creationId xmlns:a16="http://schemas.microsoft.com/office/drawing/2014/main" id="{2AAE5DF1-1F96-4D83-83A3-D447515FCB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52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5643" name="Object 43">
            <a:extLst>
              <a:ext uri="{FF2B5EF4-FFF2-40B4-BE49-F238E27FC236}">
                <a16:creationId xmlns:a16="http://schemas.microsoft.com/office/drawing/2014/main" id="{67F1054C-68B8-4D7E-9646-C56338AC85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3357563"/>
          <a:ext cx="2592387" cy="1192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68" name="Формула" r:id="rId9" imgW="1638300" imgH="749300" progId="Equation.3">
                  <p:embed/>
                </p:oleObj>
              </mc:Choice>
              <mc:Fallback>
                <p:oleObj name="Формула" r:id="rId9" imgW="1638300" imgH="749300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3357563"/>
                        <a:ext cx="2592387" cy="1192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45" name="Rectangle 45">
            <a:extLst>
              <a:ext uri="{FF2B5EF4-FFF2-40B4-BE49-F238E27FC236}">
                <a16:creationId xmlns:a16="http://schemas.microsoft.com/office/drawing/2014/main" id="{5C6EAF15-2C8A-4A43-8072-821036A11C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3789363"/>
            <a:ext cx="40782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–   вогнутые или выпуклые функции,</a:t>
            </a:r>
          </a:p>
        </p:txBody>
      </p:sp>
      <p:sp>
        <p:nvSpPr>
          <p:cNvPr id="25646" name="Rectangle 46">
            <a:extLst>
              <a:ext uri="{FF2B5EF4-FFF2-40B4-BE49-F238E27FC236}">
                <a16:creationId xmlns:a16="http://schemas.microsoft.com/office/drawing/2014/main" id="{E5DDE6A3-4591-437D-AB77-1E6A3F3BC1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75" y="4221163"/>
            <a:ext cx="10493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а также </a:t>
            </a:r>
          </a:p>
        </p:txBody>
      </p:sp>
      <p:sp>
        <p:nvSpPr>
          <p:cNvPr id="25648" name="Rectangle 48">
            <a:extLst>
              <a:ext uri="{FF2B5EF4-FFF2-40B4-BE49-F238E27FC236}">
                <a16:creationId xmlns:a16="http://schemas.microsoft.com/office/drawing/2014/main" id="{08D566E1-B55E-410E-8379-B8F909D399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15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5647" name="Object 47">
            <a:extLst>
              <a:ext uri="{FF2B5EF4-FFF2-40B4-BE49-F238E27FC236}">
                <a16:creationId xmlns:a16="http://schemas.microsoft.com/office/drawing/2014/main" id="{73D79E4D-EE42-4506-B7F1-91FC73EAD7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3438" y="4221163"/>
          <a:ext cx="1079500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69" name="Формула" r:id="rId11" imgW="710891" imgH="241195" progId="Equation.3">
                  <p:embed/>
                </p:oleObj>
              </mc:Choice>
              <mc:Fallback>
                <p:oleObj name="Формула" r:id="rId11" imgW="710891" imgH="241195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4221163"/>
                        <a:ext cx="1079500" cy="357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49" name="Rectangle 49">
            <a:extLst>
              <a:ext uri="{FF2B5EF4-FFF2-40B4-BE49-F238E27FC236}">
                <a16:creationId xmlns:a16="http://schemas.microsoft.com/office/drawing/2014/main" id="{4BC11C25-64BF-4188-822D-FDF2E9065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4149725"/>
            <a:ext cx="28797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/>
              <a:t>– ограничения типа равенства. </a:t>
            </a:r>
          </a:p>
        </p:txBody>
      </p:sp>
      <p:sp>
        <p:nvSpPr>
          <p:cNvPr id="25650" name="Rectangle 50">
            <a:extLst>
              <a:ext uri="{FF2B5EF4-FFF2-40B4-BE49-F238E27FC236}">
                <a16:creationId xmlns:a16="http://schemas.microsoft.com/office/drawing/2014/main" id="{B0E26750-D267-4D4C-B837-4F65322D4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4724400"/>
            <a:ext cx="748823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/>
              <a:t>Тогда задачу поиска экстремума функции при наличии ограничений можно записать:</a:t>
            </a:r>
          </a:p>
        </p:txBody>
      </p:sp>
      <p:sp>
        <p:nvSpPr>
          <p:cNvPr id="25652" name="Rectangle 52">
            <a:extLst>
              <a:ext uri="{FF2B5EF4-FFF2-40B4-BE49-F238E27FC236}">
                <a16:creationId xmlns:a16="http://schemas.microsoft.com/office/drawing/2014/main" id="{E13D39E1-B795-4A07-A8DF-73085F269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638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5651" name="Object 51">
            <a:extLst>
              <a:ext uri="{FF2B5EF4-FFF2-40B4-BE49-F238E27FC236}">
                <a16:creationId xmlns:a16="http://schemas.microsoft.com/office/drawing/2014/main" id="{A580B358-D34C-4588-9BBB-BAB9CED24B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5013325"/>
          <a:ext cx="2303463" cy="137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70" name="Формула" r:id="rId13" imgW="1231900" imgH="736600" progId="Equation.3">
                  <p:embed/>
                </p:oleObj>
              </mc:Choice>
              <mc:Fallback>
                <p:oleObj name="Формула" r:id="rId13" imgW="1231900" imgH="736600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013325"/>
                        <a:ext cx="2303463" cy="1374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C208B06B-5F88-4965-8C5E-A557D271FE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Необходимые и достаточные условия существования экстремума функции</a:t>
            </a:r>
          </a:p>
        </p:txBody>
      </p:sp>
      <p:sp>
        <p:nvSpPr>
          <p:cNvPr id="26630" name="Rectangle 6">
            <a:extLst>
              <a:ext uri="{FF2B5EF4-FFF2-40B4-BE49-F238E27FC236}">
                <a16:creationId xmlns:a16="http://schemas.microsoft.com/office/drawing/2014/main" id="{5F35E264-796E-42B5-8C4A-B8376F93E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2997200"/>
            <a:ext cx="6254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ru-RU" altLang="ru-RU"/>
              <a:t>при </a:t>
            </a:r>
          </a:p>
        </p:txBody>
      </p:sp>
      <p:sp>
        <p:nvSpPr>
          <p:cNvPr id="26634" name="Rectangle 10">
            <a:extLst>
              <a:ext uri="{FF2B5EF4-FFF2-40B4-BE49-F238E27FC236}">
                <a16:creationId xmlns:a16="http://schemas.microsoft.com/office/drawing/2014/main" id="{BFEDB5A6-91BF-4B15-B4FF-7310F46D6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082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6641" name="Rectangle 17">
            <a:extLst>
              <a:ext uri="{FF2B5EF4-FFF2-40B4-BE49-F238E27FC236}">
                <a16:creationId xmlns:a16="http://schemas.microsoft.com/office/drawing/2014/main" id="{0EF13D61-572B-4F87-BFEF-BF530D7B0D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484313"/>
            <a:ext cx="42037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b="1" u="sng"/>
              <a:t>2.2.2.Метод множителей Лагранжа.</a:t>
            </a:r>
            <a:r>
              <a:rPr lang="ru-RU" altLang="ru-RU" u="sng"/>
              <a:t> </a:t>
            </a:r>
          </a:p>
        </p:txBody>
      </p:sp>
      <p:sp>
        <p:nvSpPr>
          <p:cNvPr id="26643" name="Rectangle 19">
            <a:extLst>
              <a:ext uri="{FF2B5EF4-FFF2-40B4-BE49-F238E27FC236}">
                <a16:creationId xmlns:a16="http://schemas.microsoft.com/office/drawing/2014/main" id="{3A2B53A3-35B2-4079-B05B-9CA083DA7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1484313"/>
            <a:ext cx="38242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u="sng"/>
              <a:t>(1788г.”Аналитическая механика”)</a:t>
            </a:r>
          </a:p>
        </p:txBody>
      </p:sp>
      <p:sp>
        <p:nvSpPr>
          <p:cNvPr id="26646" name="Rectangle 22">
            <a:extLst>
              <a:ext uri="{FF2B5EF4-FFF2-40B4-BE49-F238E27FC236}">
                <a16:creationId xmlns:a16="http://schemas.microsoft.com/office/drawing/2014/main" id="{F3548A70-01D3-4065-9937-0BAE84DF14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6645" name="Object 21">
            <a:extLst>
              <a:ext uri="{FF2B5EF4-FFF2-40B4-BE49-F238E27FC236}">
                <a16:creationId xmlns:a16="http://schemas.microsoft.com/office/drawing/2014/main" id="{A48DFF19-C93B-4A57-8077-6843FD6C4A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9113" y="1844675"/>
          <a:ext cx="3095625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85" name="Формула" r:id="rId3" imgW="1739900" imgH="444500" progId="Equation.3">
                  <p:embed/>
                </p:oleObj>
              </mc:Choice>
              <mc:Fallback>
                <p:oleObj name="Формула" r:id="rId3" imgW="1739900" imgH="4445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1844675"/>
                        <a:ext cx="3095625" cy="796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47" name="Rectangle 23">
            <a:extLst>
              <a:ext uri="{FF2B5EF4-FFF2-40B4-BE49-F238E27FC236}">
                <a16:creationId xmlns:a16="http://schemas.microsoft.com/office/drawing/2014/main" id="{81463E86-2E0F-46D1-B49E-DBF32AE11D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1989138"/>
            <a:ext cx="30241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/>
              <a:t>Функция вида:</a:t>
            </a:r>
          </a:p>
        </p:txBody>
      </p:sp>
      <p:sp>
        <p:nvSpPr>
          <p:cNvPr id="26648" name="Rectangle 24">
            <a:extLst>
              <a:ext uri="{FF2B5EF4-FFF2-40B4-BE49-F238E27FC236}">
                <a16:creationId xmlns:a16="http://schemas.microsoft.com/office/drawing/2014/main" id="{AA64912F-AEE0-42A1-A517-1A3CD0B1C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2492375"/>
            <a:ext cx="56546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Если взять вариацию от функции </a:t>
            </a:r>
            <a:r>
              <a:rPr lang="en-US" altLang="ru-RU"/>
              <a:t>L</a:t>
            </a:r>
            <a:r>
              <a:rPr lang="ru-RU" altLang="ru-RU"/>
              <a:t>(</a:t>
            </a:r>
            <a:r>
              <a:rPr lang="en-US" altLang="ru-RU"/>
              <a:t>x</a:t>
            </a:r>
            <a:r>
              <a:rPr lang="ru-RU" altLang="ru-RU"/>
              <a:t>,</a:t>
            </a:r>
            <a:r>
              <a:rPr lang="en-US" altLang="ru-RU">
                <a:sym typeface="Symbol" panose="05050102010706020507" pitchFamily="18" charset="2"/>
              </a:rPr>
              <a:t></a:t>
            </a:r>
            <a:r>
              <a:rPr lang="ru-RU" altLang="ru-RU"/>
              <a:t>) в</a:t>
            </a:r>
            <a:r>
              <a:rPr lang="en-US" altLang="ru-RU"/>
              <a:t>                </a:t>
            </a:r>
            <a:r>
              <a:rPr lang="ru-RU" altLang="ru-RU">
                <a:sym typeface="Symbol" panose="05050102010706020507" pitchFamily="18" charset="2"/>
              </a:rPr>
              <a:t>:</a:t>
            </a:r>
          </a:p>
        </p:txBody>
      </p:sp>
      <p:sp>
        <p:nvSpPr>
          <p:cNvPr id="26650" name="Rectangle 26">
            <a:extLst>
              <a:ext uri="{FF2B5EF4-FFF2-40B4-BE49-F238E27FC236}">
                <a16:creationId xmlns:a16="http://schemas.microsoft.com/office/drawing/2014/main" id="{D9E41EC1-7A7F-4AFF-9587-28230945A6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6649" name="Object 25">
            <a:extLst>
              <a:ext uri="{FF2B5EF4-FFF2-40B4-BE49-F238E27FC236}">
                <a16:creationId xmlns:a16="http://schemas.microsoft.com/office/drawing/2014/main" id="{CD360FB8-4C09-4666-9DF6-C1F83B9FB0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2852738"/>
          <a:ext cx="4392612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86" name="Формула" r:id="rId5" imgW="2743200" imgH="444500" progId="Equation.3">
                  <p:embed/>
                </p:oleObj>
              </mc:Choice>
              <mc:Fallback>
                <p:oleObj name="Формула" r:id="rId5" imgW="2743200" imgH="44450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852738"/>
                        <a:ext cx="4392612" cy="720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52" name="Rectangle 28">
            <a:extLst>
              <a:ext uri="{FF2B5EF4-FFF2-40B4-BE49-F238E27FC236}">
                <a16:creationId xmlns:a16="http://schemas.microsoft.com/office/drawing/2014/main" id="{ECB0475E-3F4F-4329-98F2-E8F402107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05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6651" name="Object 27">
            <a:extLst>
              <a:ext uri="{FF2B5EF4-FFF2-40B4-BE49-F238E27FC236}">
                <a16:creationId xmlns:a16="http://schemas.microsoft.com/office/drawing/2014/main" id="{81B9EA1A-6680-4D08-9A92-478DF32B51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72225" y="2919413"/>
          <a:ext cx="936625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87" name="Формула" r:id="rId7" imgW="406048" imgH="203024" progId="Equation.3">
                  <p:embed/>
                </p:oleObj>
              </mc:Choice>
              <mc:Fallback>
                <p:oleObj name="Формула" r:id="rId7" imgW="406048" imgH="203024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2919413"/>
                        <a:ext cx="936625" cy="452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54" name="Rectangle 30">
            <a:extLst>
              <a:ext uri="{FF2B5EF4-FFF2-40B4-BE49-F238E27FC236}">
                <a16:creationId xmlns:a16="http://schemas.microsoft.com/office/drawing/2014/main" id="{CA3B086D-2BB0-4770-A765-7B0FFFD094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670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6653" name="Object 29">
            <a:extLst>
              <a:ext uri="{FF2B5EF4-FFF2-40B4-BE49-F238E27FC236}">
                <a16:creationId xmlns:a16="http://schemas.microsoft.com/office/drawing/2014/main" id="{5A7BD6CD-0549-4E9A-953D-CA853151CB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3597275"/>
          <a:ext cx="3527425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88" name="Формула" r:id="rId9" imgW="2578100" imgH="520700" progId="Equation.3">
                  <p:embed/>
                </p:oleObj>
              </mc:Choice>
              <mc:Fallback>
                <p:oleObj name="Формула" r:id="rId9" imgW="2578100" imgH="52070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3597275"/>
                        <a:ext cx="3527425" cy="717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55" name="Rectangle 31">
            <a:extLst>
              <a:ext uri="{FF2B5EF4-FFF2-40B4-BE49-F238E27FC236}">
                <a16:creationId xmlns:a16="http://schemas.microsoft.com/office/drawing/2014/main" id="{8809833C-9C5F-43DD-AFC9-6A6784708D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4365625"/>
            <a:ext cx="51927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Таким образом получаем систему уравнений : </a:t>
            </a:r>
          </a:p>
        </p:txBody>
      </p:sp>
      <p:sp>
        <p:nvSpPr>
          <p:cNvPr id="26657" name="Rectangle 33">
            <a:extLst>
              <a:ext uri="{FF2B5EF4-FFF2-40B4-BE49-F238E27FC236}">
                <a16:creationId xmlns:a16="http://schemas.microsoft.com/office/drawing/2014/main" id="{329FBB9F-3667-4ACC-8832-FE25D1CC5D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670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6656" name="Object 32">
            <a:extLst>
              <a:ext uri="{FF2B5EF4-FFF2-40B4-BE49-F238E27FC236}">
                <a16:creationId xmlns:a16="http://schemas.microsoft.com/office/drawing/2014/main" id="{0AC67188-5472-4B16-8F22-951F7616DC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72225" y="4005263"/>
          <a:ext cx="2592388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89" name="Формула" r:id="rId11" imgW="1562100" imgH="520700" progId="Equation.3">
                  <p:embed/>
                </p:oleObj>
              </mc:Choice>
              <mc:Fallback>
                <p:oleObj name="Формула" r:id="rId11" imgW="1562100" imgH="52070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4005263"/>
                        <a:ext cx="2592388" cy="871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59" name="Object 35">
            <a:extLst>
              <a:ext uri="{FF2B5EF4-FFF2-40B4-BE49-F238E27FC236}">
                <a16:creationId xmlns:a16="http://schemas.microsoft.com/office/drawing/2014/main" id="{A40C7DAF-00E5-4C97-B455-6E5887B13A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56100" y="5057775"/>
          <a:ext cx="863600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90" name="Формула" r:id="rId13" imgW="596641" imgH="215806" progId="Equation.3">
                  <p:embed/>
                </p:oleObj>
              </mc:Choice>
              <mc:Fallback>
                <p:oleObj name="Формула" r:id="rId13" imgW="596641" imgH="215806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5057775"/>
                        <a:ext cx="863600" cy="320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58" name="Object 34">
            <a:extLst>
              <a:ext uri="{FF2B5EF4-FFF2-40B4-BE49-F238E27FC236}">
                <a16:creationId xmlns:a16="http://schemas.microsoft.com/office/drawing/2014/main" id="{471AD95D-927D-462C-9AF4-B8F4B11581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08850" y="5013325"/>
          <a:ext cx="447675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91" name="Формула" r:id="rId15" imgW="177569" imgH="202936" progId="Equation.3">
                  <p:embed/>
                </p:oleObj>
              </mc:Choice>
              <mc:Fallback>
                <p:oleObj name="Формула" r:id="rId15" imgW="177569" imgH="202936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850" y="5013325"/>
                        <a:ext cx="447675" cy="487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60" name="Rectangle 36">
            <a:extLst>
              <a:ext uri="{FF2B5EF4-FFF2-40B4-BE49-F238E27FC236}">
                <a16:creationId xmlns:a16="http://schemas.microsoft.com/office/drawing/2014/main" id="{2FB02D3A-DB79-46F8-88CE-3322392FF3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4724400"/>
            <a:ext cx="799306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>
                <a:cs typeface="Times New Roman" panose="02020603050405020304" pitchFamily="18" charset="0"/>
              </a:rPr>
              <a:t>Подбором определенных значений </a:t>
            </a:r>
            <a:r>
              <a:rPr lang="ru-RU" altLang="ru-RU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ru-RU" baseline="-30000">
                <a:cs typeface="Times New Roman" panose="02020603050405020304" pitchFamily="18" charset="0"/>
              </a:rPr>
              <a:t>j</a:t>
            </a:r>
            <a:r>
              <a:rPr lang="ru-RU" altLang="ru-RU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можно добиться того, чтобы эти уравнения удовлетворялись при </a:t>
            </a:r>
          </a:p>
        </p:txBody>
      </p:sp>
      <p:sp>
        <p:nvSpPr>
          <p:cNvPr id="26661" name="Rectangle 37">
            <a:extLst>
              <a:ext uri="{FF2B5EF4-FFF2-40B4-BE49-F238E27FC236}">
                <a16:creationId xmlns:a16="http://schemas.microsoft.com/office/drawing/2014/main" id="{149BB0CE-2CAB-4C85-8EB8-2ED8D00828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725" y="5084763"/>
            <a:ext cx="18589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1200">
                <a:cs typeface="Times New Roman" panose="02020603050405020304" pitchFamily="18" charset="0"/>
              </a:rPr>
              <a:t>  </a:t>
            </a:r>
            <a:r>
              <a:rPr lang="ru-RU" altLang="ru-RU">
                <a:cs typeface="Times New Roman" panose="02020603050405020304" pitchFamily="18" charset="0"/>
              </a:rPr>
              <a:t>Именно в точке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/>
          </a:p>
        </p:txBody>
      </p:sp>
      <p:sp>
        <p:nvSpPr>
          <p:cNvPr id="26662" name="Rectangle 38">
            <a:extLst>
              <a:ext uri="{FF2B5EF4-FFF2-40B4-BE49-F238E27FC236}">
                <a16:creationId xmlns:a16="http://schemas.microsoft.com/office/drawing/2014/main" id="{E797F23B-42EC-46C5-B1C5-292C3E2F65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5300663"/>
            <a:ext cx="79216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 sz="1200">
                <a:cs typeface="Times New Roman" panose="02020603050405020304" pitchFamily="18" charset="0"/>
              </a:rPr>
              <a:t> </a:t>
            </a:r>
            <a:r>
              <a:rPr lang="ru-RU" altLang="ru-RU">
                <a:cs typeface="Times New Roman" panose="02020603050405020304" pitchFamily="18" charset="0"/>
              </a:rPr>
              <a:t>достигается стационарность функции </a:t>
            </a:r>
            <a:r>
              <a:rPr lang="en-US" altLang="ru-RU">
                <a:cs typeface="Times New Roman" panose="02020603050405020304" pitchFamily="18" charset="0"/>
              </a:rPr>
              <a:t>L</a:t>
            </a:r>
            <a:r>
              <a:rPr lang="ru-RU" altLang="ru-RU">
                <a:cs typeface="Times New Roman" panose="02020603050405020304" pitchFamily="18" charset="0"/>
              </a:rPr>
              <a:t>(</a:t>
            </a:r>
            <a:r>
              <a:rPr lang="en-US" altLang="ru-RU">
                <a:cs typeface="Times New Roman" panose="02020603050405020304" pitchFamily="18" charset="0"/>
              </a:rPr>
              <a:t>x</a:t>
            </a:r>
            <a:r>
              <a:rPr lang="ru-RU" altLang="ru-RU">
                <a:cs typeface="Times New Roman" panose="02020603050405020304" pitchFamily="18" charset="0"/>
              </a:rPr>
              <a:t>,</a:t>
            </a:r>
            <a:r>
              <a:rPr lang="ru-RU" altLang="ru-RU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ru-RU" altLang="ru-RU">
                <a:cs typeface="Times New Roman" panose="02020603050405020304" pitchFamily="18" charset="0"/>
              </a:rPr>
              <a:t>), т.е. экстремум функции </a:t>
            </a:r>
            <a:r>
              <a:rPr lang="en-US" altLang="ru-RU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ru-RU" altLang="ru-RU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ru-RU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ru-RU" altLang="ru-RU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 при заданных ограничениях </a:t>
            </a:r>
            <a:r>
              <a:rPr lang="en-US" altLang="ru-RU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ru-RU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ru-RU" altLang="ru-RU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ru-RU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ru-RU" altLang="ru-RU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)=0.</a:t>
            </a:r>
          </a:p>
        </p:txBody>
      </p:sp>
      <p:sp>
        <p:nvSpPr>
          <p:cNvPr id="26664" name="Rectangle 40">
            <a:extLst>
              <a:ext uri="{FF2B5EF4-FFF2-40B4-BE49-F238E27FC236}">
                <a16:creationId xmlns:a16="http://schemas.microsoft.com/office/drawing/2014/main" id="{B8CEB2DD-3722-482B-A5B6-B26DA1CCA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6666" name="Rectangle 42">
            <a:extLst>
              <a:ext uri="{FF2B5EF4-FFF2-40B4-BE49-F238E27FC236}">
                <a16:creationId xmlns:a16="http://schemas.microsoft.com/office/drawing/2014/main" id="{C6297DA4-3FDE-4D0B-AB64-9BE98E2FEA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6668" name="Rectangle 44">
            <a:extLst>
              <a:ext uri="{FF2B5EF4-FFF2-40B4-BE49-F238E27FC236}">
                <a16:creationId xmlns:a16="http://schemas.microsoft.com/office/drawing/2014/main" id="{0645CAE5-3A50-4452-A665-29A1F95C2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6667" name="Object 43">
            <a:extLst>
              <a:ext uri="{FF2B5EF4-FFF2-40B4-BE49-F238E27FC236}">
                <a16:creationId xmlns:a16="http://schemas.microsoft.com/office/drawing/2014/main" id="{BD6555C5-8435-4E7E-AF47-F7F0D74F35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67400" y="2441575"/>
          <a:ext cx="865188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92" name="Формула" r:id="rId17" imgW="482391" imgH="241195" progId="Equation.3">
                  <p:embed/>
                </p:oleObj>
              </mc:Choice>
              <mc:Fallback>
                <p:oleObj name="Формула" r:id="rId17" imgW="482391" imgH="241195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2441575"/>
                        <a:ext cx="865188" cy="442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3555E9DD-770F-46E6-9B21-C83ECF8EA4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Необходимые и достаточные условия существования экстремума функции</a:t>
            </a:r>
          </a:p>
        </p:txBody>
      </p:sp>
      <p:sp>
        <p:nvSpPr>
          <p:cNvPr id="27657" name="Rectangle 9">
            <a:extLst>
              <a:ext uri="{FF2B5EF4-FFF2-40B4-BE49-F238E27FC236}">
                <a16:creationId xmlns:a16="http://schemas.microsoft.com/office/drawing/2014/main" id="{726BA0F5-10B0-4A91-9DAA-3885F0A54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082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7660" name="Rectangle 12">
            <a:extLst>
              <a:ext uri="{FF2B5EF4-FFF2-40B4-BE49-F238E27FC236}">
                <a16:creationId xmlns:a16="http://schemas.microsoft.com/office/drawing/2014/main" id="{FCDB5EA4-A40A-486E-81FF-85D7EE05F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1557338"/>
            <a:ext cx="42037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b="1" u="sng"/>
              <a:t>2.2.2.Метод множителей Лагранжа.</a:t>
            </a:r>
            <a:r>
              <a:rPr lang="ru-RU" altLang="ru-RU"/>
              <a:t> </a:t>
            </a:r>
          </a:p>
        </p:txBody>
      </p:sp>
      <p:sp>
        <p:nvSpPr>
          <p:cNvPr id="27661" name="Rectangle 13">
            <a:extLst>
              <a:ext uri="{FF2B5EF4-FFF2-40B4-BE49-F238E27FC236}">
                <a16:creationId xmlns:a16="http://schemas.microsoft.com/office/drawing/2014/main" id="{EDF407AD-3AE8-48B5-AB15-3D68A425C1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989138"/>
            <a:ext cx="63214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Задачу можно переформулировать следующим образом.</a:t>
            </a:r>
          </a:p>
        </p:txBody>
      </p:sp>
      <p:sp>
        <p:nvSpPr>
          <p:cNvPr id="27662" name="Rectangle 14">
            <a:extLst>
              <a:ext uri="{FF2B5EF4-FFF2-40B4-BE49-F238E27FC236}">
                <a16:creationId xmlns:a16="http://schemas.microsoft.com/office/drawing/2014/main" id="{4DCB6429-71CD-4752-867A-2694E4175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420938"/>
            <a:ext cx="2032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Требуется найти:</a:t>
            </a:r>
          </a:p>
        </p:txBody>
      </p:sp>
      <p:sp>
        <p:nvSpPr>
          <p:cNvPr id="27664" name="Rectangle 16">
            <a:extLst>
              <a:ext uri="{FF2B5EF4-FFF2-40B4-BE49-F238E27FC236}">
                <a16:creationId xmlns:a16="http://schemas.microsoft.com/office/drawing/2014/main" id="{0B14D6FC-A49D-4E34-8AB1-E6A8E6AFB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432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7663" name="Object 15">
            <a:extLst>
              <a:ext uri="{FF2B5EF4-FFF2-40B4-BE49-F238E27FC236}">
                <a16:creationId xmlns:a16="http://schemas.microsoft.com/office/drawing/2014/main" id="{AB23FFF5-DCD1-4478-A4D4-7633C98E3F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3213" y="2276475"/>
          <a:ext cx="2879725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9" name="Формула" r:id="rId3" imgW="1587500" imgH="508000" progId="Equation.3">
                  <p:embed/>
                </p:oleObj>
              </mc:Choice>
              <mc:Fallback>
                <p:oleObj name="Формула" r:id="rId3" imgW="1587500" imgH="5080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2276475"/>
                        <a:ext cx="2879725" cy="842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5" name="Rectangle 17">
            <a:extLst>
              <a:ext uri="{FF2B5EF4-FFF2-40B4-BE49-F238E27FC236}">
                <a16:creationId xmlns:a16="http://schemas.microsoft.com/office/drawing/2014/main" id="{374A72F3-F932-46FA-8972-B410218E7F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068638"/>
            <a:ext cx="72786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Тогда решение задачи состоит в совместном решении уравнений:</a:t>
            </a:r>
          </a:p>
        </p:txBody>
      </p:sp>
      <p:sp>
        <p:nvSpPr>
          <p:cNvPr id="27667" name="Rectangle 19">
            <a:extLst>
              <a:ext uri="{FF2B5EF4-FFF2-40B4-BE49-F238E27FC236}">
                <a16:creationId xmlns:a16="http://schemas.microsoft.com/office/drawing/2014/main" id="{A40CBC5D-5C0D-458A-9AF9-14FAF902E7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718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7668" name="Rectangle 20">
            <a:extLst>
              <a:ext uri="{FF2B5EF4-FFF2-40B4-BE49-F238E27FC236}">
                <a16:creationId xmlns:a16="http://schemas.microsoft.com/office/drawing/2014/main" id="{601A722B-33E8-457B-86AE-48252C9548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3860800"/>
            <a:ext cx="55292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 Составляются и решаются 2 системы уравнений:</a:t>
            </a:r>
          </a:p>
        </p:txBody>
      </p:sp>
      <p:sp>
        <p:nvSpPr>
          <p:cNvPr id="27670" name="Rectangle 22">
            <a:extLst>
              <a:ext uri="{FF2B5EF4-FFF2-40B4-BE49-F238E27FC236}">
                <a16:creationId xmlns:a16="http://schemas.microsoft.com/office/drawing/2014/main" id="{2D315EBF-9FB5-408D-87C5-83D680D9B2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638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7669" name="Object 21">
            <a:extLst>
              <a:ext uri="{FF2B5EF4-FFF2-40B4-BE49-F238E27FC236}">
                <a16:creationId xmlns:a16="http://schemas.microsoft.com/office/drawing/2014/main" id="{90E7D725-3392-4240-82AB-7BD5C45734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8038" y="4284663"/>
          <a:ext cx="4392612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0" name="Формула" r:id="rId5" imgW="2247900" imgH="736600" progId="Equation.3">
                  <p:embed/>
                </p:oleObj>
              </mc:Choice>
              <mc:Fallback>
                <p:oleObj name="Формула" r:id="rId5" imgW="2247900" imgH="7366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4284663"/>
                        <a:ext cx="4392612" cy="142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1" name="Object 23">
            <a:extLst>
              <a:ext uri="{FF2B5EF4-FFF2-40B4-BE49-F238E27FC236}">
                <a16:creationId xmlns:a16="http://schemas.microsoft.com/office/drawing/2014/main" id="{00F7D15E-964D-4B9A-A482-885B5EF8B3FF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539750" y="3554413"/>
          <a:ext cx="2592388" cy="165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1" name="Формула" r:id="rId7" imgW="1434960" imgH="914400" progId="Equation.3">
                  <p:embed/>
                </p:oleObj>
              </mc:Choice>
              <mc:Fallback>
                <p:oleObj name="Формула" r:id="rId7" imgW="1434960" imgH="9144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3554413"/>
                        <a:ext cx="2592388" cy="165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308CC5DD-BFC0-4A15-BEBD-A76E94CEB3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Необходимые и достаточные условия существования экстремума </a:t>
            </a:r>
            <a:r>
              <a:rPr lang="ru-RU" alt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</a:t>
            </a:r>
            <a:endParaRPr lang="ru-RU" alt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36B567CF-8A31-4DAE-A9B0-2198B90D40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628775"/>
            <a:ext cx="8229600" cy="4525963"/>
          </a:xfrm>
        </p:spPr>
        <p:txBody>
          <a:bodyPr/>
          <a:lstStyle/>
          <a:p>
            <a:pPr>
              <a:buFontTx/>
              <a:buNone/>
            </a:pPr>
            <a:r>
              <a:rPr lang="ru-RU" altLang="ru-RU" sz="2400" b="1" u="sng" dirty="0"/>
              <a:t>2.2.4.Область применения классического метода множителей Лагранжа.</a:t>
            </a:r>
          </a:p>
        </p:txBody>
      </p:sp>
      <p:sp>
        <p:nvSpPr>
          <p:cNvPr id="36868" name="Rectangle 4">
            <a:extLst>
              <a:ext uri="{FF2B5EF4-FFF2-40B4-BE49-F238E27FC236}">
                <a16:creationId xmlns:a16="http://schemas.microsoft.com/office/drawing/2014/main" id="{8575F346-2ECA-4357-9EFA-313D82A69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349500"/>
            <a:ext cx="806450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/>
              <a:t>Задача поиска экстремума методами классического математического анализа связана с удовлетворением следующих условий, накладываемых на функции:</a:t>
            </a:r>
          </a:p>
        </p:txBody>
      </p:sp>
      <p:sp>
        <p:nvSpPr>
          <p:cNvPr id="36869" name="Rectangle 5">
            <a:extLst>
              <a:ext uri="{FF2B5EF4-FFF2-40B4-BE49-F238E27FC236}">
                <a16:creationId xmlns:a16="http://schemas.microsoft.com/office/drawing/2014/main" id="{ADA0707A-E76B-42E5-9222-E1EE43FA5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813" y="3246438"/>
            <a:ext cx="83343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1.Целевая функция </a:t>
            </a:r>
            <a:r>
              <a:rPr lang="en-US" altLang="ru-RU"/>
              <a:t>f</a:t>
            </a:r>
            <a:r>
              <a:rPr lang="ru-RU" altLang="ru-RU"/>
              <a:t>(</a:t>
            </a:r>
            <a:r>
              <a:rPr lang="en-US" altLang="ru-RU"/>
              <a:t>x</a:t>
            </a:r>
            <a:r>
              <a:rPr lang="ru-RU" altLang="ru-RU"/>
              <a:t>) должна быть выпуклой (в случае поиска минимума).</a:t>
            </a:r>
          </a:p>
        </p:txBody>
      </p:sp>
      <p:sp>
        <p:nvSpPr>
          <p:cNvPr id="36870" name="Rectangle 6">
            <a:extLst>
              <a:ext uri="{FF2B5EF4-FFF2-40B4-BE49-F238E27FC236}">
                <a16:creationId xmlns:a16="http://schemas.microsoft.com/office/drawing/2014/main" id="{2C4F3892-08A5-4806-9AEC-71DBD7C20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644900"/>
            <a:ext cx="818991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/>
              <a:t>2.Функции ограничений </a:t>
            </a:r>
            <a:r>
              <a:rPr lang="en-US" altLang="ru-RU"/>
              <a:t>gj</a:t>
            </a:r>
            <a:r>
              <a:rPr lang="ru-RU" altLang="ru-RU"/>
              <a:t>(</a:t>
            </a:r>
            <a:r>
              <a:rPr lang="en-US" altLang="ru-RU"/>
              <a:t>x</a:t>
            </a:r>
            <a:r>
              <a:rPr lang="ru-RU" altLang="ru-RU"/>
              <a:t>) должны быть вогнутыми или выпуклыми функциями.</a:t>
            </a:r>
          </a:p>
        </p:txBody>
      </p:sp>
      <p:sp>
        <p:nvSpPr>
          <p:cNvPr id="36871" name="Rectangle 7">
            <a:extLst>
              <a:ext uri="{FF2B5EF4-FFF2-40B4-BE49-F238E27FC236}">
                <a16:creationId xmlns:a16="http://schemas.microsoft.com/office/drawing/2014/main" id="{49449610-1CA0-47AA-A7B4-034288BB6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365625"/>
            <a:ext cx="50831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3.Ограничения </a:t>
            </a:r>
            <a:r>
              <a:rPr lang="en-US" altLang="ru-RU"/>
              <a:t>gj</a:t>
            </a:r>
            <a:r>
              <a:rPr lang="ru-RU" altLang="ru-RU"/>
              <a:t>(</a:t>
            </a:r>
            <a:r>
              <a:rPr lang="en-US" altLang="ru-RU"/>
              <a:t>x</a:t>
            </a:r>
            <a:r>
              <a:rPr lang="ru-RU" altLang="ru-RU"/>
              <a:t>) = 0 только типа равенств.</a:t>
            </a:r>
          </a:p>
        </p:txBody>
      </p:sp>
      <p:sp>
        <p:nvSpPr>
          <p:cNvPr id="36872" name="Rectangle 8">
            <a:extLst>
              <a:ext uri="{FF2B5EF4-FFF2-40B4-BE49-F238E27FC236}">
                <a16:creationId xmlns:a16="http://schemas.microsoft.com/office/drawing/2014/main" id="{A318DD75-3501-45CB-B6B3-4698B369D6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805363"/>
            <a:ext cx="85693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/>
              <a:t>Последнее условие связано с тем, что если </a:t>
            </a:r>
            <a:r>
              <a:rPr lang="en-US" altLang="ru-RU"/>
              <a:t>gj</a:t>
            </a:r>
            <a:r>
              <a:rPr lang="ru-RU" altLang="ru-RU"/>
              <a:t>(</a:t>
            </a:r>
            <a:r>
              <a:rPr lang="en-US" altLang="ru-RU"/>
              <a:t>x</a:t>
            </a:r>
            <a:r>
              <a:rPr lang="ru-RU" altLang="ru-RU"/>
              <a:t>) &lt; 0, то классический метод множителей Лагранжа не дает единственного решения </a:t>
            </a:r>
          </a:p>
        </p:txBody>
      </p:sp>
      <p:sp>
        <p:nvSpPr>
          <p:cNvPr id="36874" name="Rectangle 10">
            <a:extLst>
              <a:ext uri="{FF2B5EF4-FFF2-40B4-BE49-F238E27FC236}">
                <a16:creationId xmlns:a16="http://schemas.microsoft.com/office/drawing/2014/main" id="{A06A5B44-F08F-4E68-8B8B-65045967F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36873" name="Object 9">
            <a:extLst>
              <a:ext uri="{FF2B5EF4-FFF2-40B4-BE49-F238E27FC236}">
                <a16:creationId xmlns:a16="http://schemas.microsoft.com/office/drawing/2014/main" id="{5B68F929-D193-41D3-B7FE-88109570FB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88125" y="5057775"/>
          <a:ext cx="2376488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8" name="Формула" r:id="rId3" imgW="1155700" imgH="228600" progId="Equation.3">
                  <p:embed/>
                </p:oleObj>
              </mc:Choice>
              <mc:Fallback>
                <p:oleObj name="Формула" r:id="rId3" imgW="115570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25" y="5057775"/>
                        <a:ext cx="2376488" cy="471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5" name="Rectangle 11">
            <a:extLst>
              <a:ext uri="{FF2B5EF4-FFF2-40B4-BE49-F238E27FC236}">
                <a16:creationId xmlns:a16="http://schemas.microsoft.com/office/drawing/2014/main" id="{52206634-E588-4F6E-A8E2-CC9E6FB69B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5445125"/>
            <a:ext cx="3543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и, следовательно, не работает.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A2A2ACF-B762-47BE-8308-77D7AB3E4B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838200" indent="-838200" eaLnBrk="1" hangingPunct="1"/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выпуклого программирования</a:t>
            </a:r>
          </a:p>
        </p:txBody>
      </p:sp>
      <p:sp>
        <p:nvSpPr>
          <p:cNvPr id="3075" name="Rectangle 4">
            <a:extLst>
              <a:ext uri="{FF2B5EF4-FFF2-40B4-BE49-F238E27FC236}">
                <a16:creationId xmlns:a16="http://schemas.microsoft.com/office/drawing/2014/main" id="{C66C61B5-AB87-4A6C-9365-1F657C5DEA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3076" name="Object 10">
            <a:extLst>
              <a:ext uri="{FF2B5EF4-FFF2-40B4-BE49-F238E27FC236}">
                <a16:creationId xmlns:a16="http://schemas.microsoft.com/office/drawing/2014/main" id="{5FB12F42-E66A-4843-91BF-EDDF0B6607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114300" y="2957513"/>
          <a:ext cx="114300" cy="21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0" name="Формула" r:id="rId3" imgW="114151" imgH="215619" progId="Equation.3">
                  <p:embed/>
                </p:oleObj>
              </mc:Choice>
              <mc:Fallback>
                <p:oleObj name="Формула" r:id="rId3" imgW="114151" imgH="215619" progId="Equation.3">
                  <p:embed/>
                  <p:pic>
                    <p:nvPicPr>
                      <p:cNvPr id="3076" name="Object 10">
                        <a:extLst>
                          <a:ext uri="{FF2B5EF4-FFF2-40B4-BE49-F238E27FC236}">
                            <a16:creationId xmlns:a16="http://schemas.microsoft.com/office/drawing/2014/main" id="{5FB12F42-E66A-4843-91BF-EDDF0B6607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14300" y="2957513"/>
                        <a:ext cx="114300" cy="21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7" name="Rectangle 24">
            <a:extLst>
              <a:ext uri="{FF2B5EF4-FFF2-40B4-BE49-F238E27FC236}">
                <a16:creationId xmlns:a16="http://schemas.microsoft.com/office/drawing/2014/main" id="{3198E738-37B8-4622-BDCA-1E6E564F19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78" name="Rectangle 26">
            <a:extLst>
              <a:ext uri="{FF2B5EF4-FFF2-40B4-BE49-F238E27FC236}">
                <a16:creationId xmlns:a16="http://schemas.microsoft.com/office/drawing/2014/main" id="{E7A02D8F-1F42-4A06-8225-BF5467132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9925" y="1844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79" name="Rectangle 38">
            <a:extLst>
              <a:ext uri="{FF2B5EF4-FFF2-40B4-BE49-F238E27FC236}">
                <a16:creationId xmlns:a16="http://schemas.microsoft.com/office/drawing/2014/main" id="{9DE99F25-B045-4041-BE83-FD4975A06B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5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80" name="Rectangle 40">
            <a:extLst>
              <a:ext uri="{FF2B5EF4-FFF2-40B4-BE49-F238E27FC236}">
                <a16:creationId xmlns:a16="http://schemas.microsoft.com/office/drawing/2014/main" id="{497A95CB-5446-410D-9405-63B973ADA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5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81" name="Rectangle 63">
            <a:extLst>
              <a:ext uri="{FF2B5EF4-FFF2-40B4-BE49-F238E27FC236}">
                <a16:creationId xmlns:a16="http://schemas.microsoft.com/office/drawing/2014/main" id="{546B0462-52FE-4786-84BE-C4D4B250A8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1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82" name="Rectangle 67">
            <a:extLst>
              <a:ext uri="{FF2B5EF4-FFF2-40B4-BE49-F238E27FC236}">
                <a16:creationId xmlns:a16="http://schemas.microsoft.com/office/drawing/2014/main" id="{48520A45-F4CB-41E4-AEB4-4A953482E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57238" y="3357563"/>
            <a:ext cx="91440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83" name="Rectangle 68">
            <a:extLst>
              <a:ext uri="{FF2B5EF4-FFF2-40B4-BE49-F238E27FC236}">
                <a16:creationId xmlns:a16="http://schemas.microsoft.com/office/drawing/2014/main" id="{BB062CDF-6597-4AC2-9302-80A01FEA4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57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84" name="Rectangle 72">
            <a:extLst>
              <a:ext uri="{FF2B5EF4-FFF2-40B4-BE49-F238E27FC236}">
                <a16:creationId xmlns:a16="http://schemas.microsoft.com/office/drawing/2014/main" id="{BD6FD84F-A2D4-4BFD-B3A7-B588933149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1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85" name="Rectangle 75">
            <a:extLst>
              <a:ext uri="{FF2B5EF4-FFF2-40B4-BE49-F238E27FC236}">
                <a16:creationId xmlns:a16="http://schemas.microsoft.com/office/drawing/2014/main" id="{0EC5BD28-F313-4A60-9933-77CB2334D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57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86" name="Rectangle 85">
            <a:extLst>
              <a:ext uri="{FF2B5EF4-FFF2-40B4-BE49-F238E27FC236}">
                <a16:creationId xmlns:a16="http://schemas.microsoft.com/office/drawing/2014/main" id="{1F5565D3-EEB9-47DD-8D0D-FB6E9644A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689100"/>
            <a:ext cx="4281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 b="1"/>
              <a:t>3.1. Формулировка задачи </a:t>
            </a:r>
          </a:p>
        </p:txBody>
      </p:sp>
      <p:sp>
        <p:nvSpPr>
          <p:cNvPr id="3087" name="Rectangle 89">
            <a:extLst>
              <a:ext uri="{FF2B5EF4-FFF2-40B4-BE49-F238E27FC236}">
                <a16:creationId xmlns:a16="http://schemas.microsoft.com/office/drawing/2014/main" id="{B3420350-E952-48D2-92B1-5765D834F1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88" name="Rectangle 92">
            <a:extLst>
              <a:ext uri="{FF2B5EF4-FFF2-40B4-BE49-F238E27FC236}">
                <a16:creationId xmlns:a16="http://schemas.microsoft.com/office/drawing/2014/main" id="{D9E0844A-B07C-4AE8-B6FB-CFA9EF8E1C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24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89" name="Rectangle 94">
            <a:extLst>
              <a:ext uri="{FF2B5EF4-FFF2-40B4-BE49-F238E27FC236}">
                <a16:creationId xmlns:a16="http://schemas.microsoft.com/office/drawing/2014/main" id="{BA7E6FAF-BEE0-4531-B004-002EEFF6D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76650"/>
            <a:ext cx="2270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cs typeface="Times New Roman" panose="02020603050405020304" pitchFamily="18" charset="0"/>
              </a:rPr>
              <a:t>.</a:t>
            </a:r>
            <a:endParaRPr lang="ru-RU" altLang="ru-RU"/>
          </a:p>
        </p:txBody>
      </p:sp>
      <p:sp>
        <p:nvSpPr>
          <p:cNvPr id="3090" name="Rectangle 99">
            <a:extLst>
              <a:ext uri="{FF2B5EF4-FFF2-40B4-BE49-F238E27FC236}">
                <a16:creationId xmlns:a16="http://schemas.microsoft.com/office/drawing/2014/main" id="{99675904-A907-412E-A4E8-D1580AF43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24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91" name="Rectangle 104">
            <a:extLst>
              <a:ext uri="{FF2B5EF4-FFF2-40B4-BE49-F238E27FC236}">
                <a16:creationId xmlns:a16="http://schemas.microsoft.com/office/drawing/2014/main" id="{F8595699-FB0D-4E23-9B7B-774B8298C9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57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92" name="Rectangle 107">
            <a:extLst>
              <a:ext uri="{FF2B5EF4-FFF2-40B4-BE49-F238E27FC236}">
                <a16:creationId xmlns:a16="http://schemas.microsoft.com/office/drawing/2014/main" id="{93212C93-9976-42F5-B87C-C9A24C3D55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328453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cs typeface="Times New Roman" panose="02020603050405020304" pitchFamily="18" charset="0"/>
              </a:rPr>
              <a:t>,</a:t>
            </a:r>
            <a:r>
              <a:rPr lang="ru-RU" altLang="ru-RU"/>
              <a:t> </a:t>
            </a:r>
          </a:p>
        </p:txBody>
      </p:sp>
      <p:sp>
        <p:nvSpPr>
          <p:cNvPr id="3093" name="Rectangle 108">
            <a:extLst>
              <a:ext uri="{FF2B5EF4-FFF2-40B4-BE49-F238E27FC236}">
                <a16:creationId xmlns:a16="http://schemas.microsoft.com/office/drawing/2014/main" id="{15BF4EEA-5E74-40DE-B900-A1452B662C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663" y="306863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, </a:t>
            </a:r>
          </a:p>
        </p:txBody>
      </p:sp>
      <p:sp>
        <p:nvSpPr>
          <p:cNvPr id="3094" name="Rectangle 110">
            <a:extLst>
              <a:ext uri="{FF2B5EF4-FFF2-40B4-BE49-F238E27FC236}">
                <a16:creationId xmlns:a16="http://schemas.microsoft.com/office/drawing/2014/main" id="{0797FD03-6C45-49C9-B188-A4C0576B0A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2708275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cs typeface="Times New Roman" panose="02020603050405020304" pitchFamily="18" charset="0"/>
              </a:rPr>
              <a:t>,</a:t>
            </a:r>
            <a:r>
              <a:rPr lang="ru-RU" altLang="ru-RU"/>
              <a:t> </a:t>
            </a:r>
          </a:p>
        </p:txBody>
      </p:sp>
      <p:sp>
        <p:nvSpPr>
          <p:cNvPr id="3095" name="Rectangle 114">
            <a:extLst>
              <a:ext uri="{FF2B5EF4-FFF2-40B4-BE49-F238E27FC236}">
                <a16:creationId xmlns:a16="http://schemas.microsoft.com/office/drawing/2014/main" id="{3202E962-AA51-454A-A614-5C6117B6D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663" y="242093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cs typeface="Times New Roman" panose="02020603050405020304" pitchFamily="18" charset="0"/>
              </a:rPr>
              <a:t>,</a:t>
            </a:r>
            <a:r>
              <a:rPr lang="ru-RU" altLang="ru-RU"/>
              <a:t> </a:t>
            </a:r>
          </a:p>
        </p:txBody>
      </p:sp>
      <p:sp>
        <p:nvSpPr>
          <p:cNvPr id="3096" name="Rectangle 119">
            <a:extLst>
              <a:ext uri="{FF2B5EF4-FFF2-40B4-BE49-F238E27FC236}">
                <a16:creationId xmlns:a16="http://schemas.microsoft.com/office/drawing/2014/main" id="{192C5785-86C9-420D-B3F7-85A02469E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97" name="Rectangle 122">
            <a:extLst>
              <a:ext uri="{FF2B5EF4-FFF2-40B4-BE49-F238E27FC236}">
                <a16:creationId xmlns:a16="http://schemas.microsoft.com/office/drawing/2014/main" id="{03144A42-437D-443C-AC88-439848DEBD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98" name="Rectangle 123">
            <a:extLst>
              <a:ext uri="{FF2B5EF4-FFF2-40B4-BE49-F238E27FC236}">
                <a16:creationId xmlns:a16="http://schemas.microsoft.com/office/drawing/2014/main" id="{0353BD74-2F5D-4F6A-97B2-32135BB44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349500"/>
            <a:ext cx="10556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Пусть </a:t>
            </a:r>
            <a:r>
              <a:rPr lang="en-US" altLang="ru-RU"/>
              <a:t>f</a:t>
            </a:r>
            <a:r>
              <a:rPr lang="ru-RU" altLang="ru-RU"/>
              <a:t>: </a:t>
            </a:r>
          </a:p>
        </p:txBody>
      </p:sp>
      <p:sp>
        <p:nvSpPr>
          <p:cNvPr id="3099" name="Rectangle 125">
            <a:extLst>
              <a:ext uri="{FF2B5EF4-FFF2-40B4-BE49-F238E27FC236}">
                <a16:creationId xmlns:a16="http://schemas.microsoft.com/office/drawing/2014/main" id="{5BDB5ACD-0AD0-4ABE-A635-D3A282A5B3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3100" name="Object 124">
            <a:extLst>
              <a:ext uri="{FF2B5EF4-FFF2-40B4-BE49-F238E27FC236}">
                <a16:creationId xmlns:a16="http://schemas.microsoft.com/office/drawing/2014/main" id="{14B60DB0-83B6-499D-86A3-99140E0270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2349500"/>
          <a:ext cx="2808288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1" name="Формула" r:id="rId5" imgW="1498600" imgH="228600" progId="Equation.3">
                  <p:embed/>
                </p:oleObj>
              </mc:Choice>
              <mc:Fallback>
                <p:oleObj name="Формула" r:id="rId5" imgW="1498600" imgH="228600" progId="Equation.3">
                  <p:embed/>
                  <p:pic>
                    <p:nvPicPr>
                      <p:cNvPr id="3100" name="Object 124">
                        <a:extLst>
                          <a:ext uri="{FF2B5EF4-FFF2-40B4-BE49-F238E27FC236}">
                            <a16:creationId xmlns:a16="http://schemas.microsoft.com/office/drawing/2014/main" id="{14B60DB0-83B6-499D-86A3-99140E0270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2349500"/>
                        <a:ext cx="2808288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01" name="Rectangle 126">
            <a:extLst>
              <a:ext uri="{FF2B5EF4-FFF2-40B4-BE49-F238E27FC236}">
                <a16:creationId xmlns:a16="http://schemas.microsoft.com/office/drawing/2014/main" id="{6602131F-64EA-4D02-AB45-6BF9AA500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73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102" name="Rectangle 128">
            <a:extLst>
              <a:ext uri="{FF2B5EF4-FFF2-40B4-BE49-F238E27FC236}">
                <a16:creationId xmlns:a16="http://schemas.microsoft.com/office/drawing/2014/main" id="{98ABA860-94CF-4ECF-B56B-B5C8407CE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3103" name="Object 127">
            <a:extLst>
              <a:ext uri="{FF2B5EF4-FFF2-40B4-BE49-F238E27FC236}">
                <a16:creationId xmlns:a16="http://schemas.microsoft.com/office/drawing/2014/main" id="{E2194AB4-8B36-4C14-880F-62A90A7311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2708275"/>
          <a:ext cx="25209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2" name="Формула" r:id="rId7" imgW="1549400" imgH="228600" progId="Equation.3">
                  <p:embed/>
                </p:oleObj>
              </mc:Choice>
              <mc:Fallback>
                <p:oleObj name="Формула" r:id="rId7" imgW="1549400" imgH="228600" progId="Equation.3">
                  <p:embed/>
                  <p:pic>
                    <p:nvPicPr>
                      <p:cNvPr id="3103" name="Object 127">
                        <a:extLst>
                          <a:ext uri="{FF2B5EF4-FFF2-40B4-BE49-F238E27FC236}">
                            <a16:creationId xmlns:a16="http://schemas.microsoft.com/office/drawing/2014/main" id="{E2194AB4-8B36-4C14-880F-62A90A7311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2708275"/>
                        <a:ext cx="2520950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04" name="Rectangle 130">
            <a:extLst>
              <a:ext uri="{FF2B5EF4-FFF2-40B4-BE49-F238E27FC236}">
                <a16:creationId xmlns:a16="http://schemas.microsoft.com/office/drawing/2014/main" id="{2CE9C80B-9DC5-491F-8BE8-C488B9B5F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2706688"/>
            <a:ext cx="5048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 </a:t>
            </a:r>
            <a:r>
              <a:rPr lang="en-US" altLang="ru-RU"/>
              <a:t>g</a:t>
            </a:r>
            <a:r>
              <a:rPr lang="ru-RU" altLang="ru-RU"/>
              <a:t>: </a:t>
            </a:r>
          </a:p>
        </p:txBody>
      </p:sp>
      <p:sp>
        <p:nvSpPr>
          <p:cNvPr id="3105" name="Rectangle 132">
            <a:extLst>
              <a:ext uri="{FF2B5EF4-FFF2-40B4-BE49-F238E27FC236}">
                <a16:creationId xmlns:a16="http://schemas.microsoft.com/office/drawing/2014/main" id="{6A884ADD-F331-4F44-9DFA-23965D7EC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3106" name="Object 131">
            <a:extLst>
              <a:ext uri="{FF2B5EF4-FFF2-40B4-BE49-F238E27FC236}">
                <a16:creationId xmlns:a16="http://schemas.microsoft.com/office/drawing/2014/main" id="{F861D8FA-F6FE-4129-8113-C157444394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3068638"/>
          <a:ext cx="3097213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3" name="Формула" r:id="rId9" imgW="1828800" imgH="228600" progId="Equation.3">
                  <p:embed/>
                </p:oleObj>
              </mc:Choice>
              <mc:Fallback>
                <p:oleObj name="Формула" r:id="rId9" imgW="1828800" imgH="228600" progId="Equation.3">
                  <p:embed/>
                  <p:pic>
                    <p:nvPicPr>
                      <p:cNvPr id="3106" name="Object 131">
                        <a:extLst>
                          <a:ext uri="{FF2B5EF4-FFF2-40B4-BE49-F238E27FC236}">
                            <a16:creationId xmlns:a16="http://schemas.microsoft.com/office/drawing/2014/main" id="{F861D8FA-F6FE-4129-8113-C157444394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3068638"/>
                        <a:ext cx="3097213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07" name="Rectangle 133">
            <a:extLst>
              <a:ext uri="{FF2B5EF4-FFF2-40B4-BE49-F238E27FC236}">
                <a16:creationId xmlns:a16="http://schemas.microsoft.com/office/drawing/2014/main" id="{F381DB87-FD65-47A1-A6D6-9389E7F74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3108" name="Object 134">
            <a:extLst>
              <a:ext uri="{FF2B5EF4-FFF2-40B4-BE49-F238E27FC236}">
                <a16:creationId xmlns:a16="http://schemas.microsoft.com/office/drawing/2014/main" id="{4D056BA2-F575-49EB-ABDE-DC71BB1A50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3429000"/>
          <a:ext cx="3960812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4" name="Формула" r:id="rId11" imgW="2019300" imgH="241300" progId="Equation.3">
                  <p:embed/>
                </p:oleObj>
              </mc:Choice>
              <mc:Fallback>
                <p:oleObj name="Формула" r:id="rId11" imgW="2019300" imgH="241300" progId="Equation.3">
                  <p:embed/>
                  <p:pic>
                    <p:nvPicPr>
                      <p:cNvPr id="3108" name="Object 134">
                        <a:extLst>
                          <a:ext uri="{FF2B5EF4-FFF2-40B4-BE49-F238E27FC236}">
                            <a16:creationId xmlns:a16="http://schemas.microsoft.com/office/drawing/2014/main" id="{4D056BA2-F575-49EB-ABDE-DC71BB1A50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429000"/>
                        <a:ext cx="3960812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09" name="Rectangle 139">
            <a:extLst>
              <a:ext uri="{FF2B5EF4-FFF2-40B4-BE49-F238E27FC236}">
                <a16:creationId xmlns:a16="http://schemas.microsoft.com/office/drawing/2014/main" id="{8CB61088-F92A-4EC0-BE7E-05BE2EDA5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15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3110" name="Object 138">
            <a:extLst>
              <a:ext uri="{FF2B5EF4-FFF2-40B4-BE49-F238E27FC236}">
                <a16:creationId xmlns:a16="http://schemas.microsoft.com/office/drawing/2014/main" id="{A5CD9C5C-E454-4670-8D1B-C20F82D0EA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3859213"/>
          <a:ext cx="1873250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5" name="Формула" r:id="rId13" imgW="1155700" imgH="241300" progId="Equation.3">
                  <p:embed/>
                </p:oleObj>
              </mc:Choice>
              <mc:Fallback>
                <p:oleObj name="Формула" r:id="rId13" imgW="1155700" imgH="241300" progId="Equation.3">
                  <p:embed/>
                  <p:pic>
                    <p:nvPicPr>
                      <p:cNvPr id="3110" name="Object 138">
                        <a:extLst>
                          <a:ext uri="{FF2B5EF4-FFF2-40B4-BE49-F238E27FC236}">
                            <a16:creationId xmlns:a16="http://schemas.microsoft.com/office/drawing/2014/main" id="{A5CD9C5C-E454-4670-8D1B-C20F82D0EA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859213"/>
                        <a:ext cx="1873250" cy="382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11" name="Rectangle 141">
            <a:extLst>
              <a:ext uri="{FF2B5EF4-FFF2-40B4-BE49-F238E27FC236}">
                <a16:creationId xmlns:a16="http://schemas.microsoft.com/office/drawing/2014/main" id="{5C389563-0472-400C-A1F5-F1C45F1C15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73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112" name="Rectangle 142">
            <a:extLst>
              <a:ext uri="{FF2B5EF4-FFF2-40B4-BE49-F238E27FC236}">
                <a16:creationId xmlns:a16="http://schemas.microsoft.com/office/drawing/2014/main" id="{F47CA825-6586-43E2-875C-DE516D61B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338" y="3860800"/>
            <a:ext cx="34559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cs typeface="Times New Roman" panose="02020603050405020304" pitchFamily="18" charset="0"/>
              </a:rPr>
              <a:t> </a:t>
            </a:r>
            <a:r>
              <a:rPr lang="ru-RU" altLang="ru-RU">
                <a:cs typeface="Times New Roman" panose="02020603050405020304" pitchFamily="18" charset="0"/>
              </a:rPr>
              <a:t>– ограничения типа равенств.</a:t>
            </a:r>
            <a:endParaRPr lang="ru-RU" altLang="ru-RU"/>
          </a:p>
        </p:txBody>
      </p:sp>
      <p:sp>
        <p:nvSpPr>
          <p:cNvPr id="3113" name="Rectangle 144">
            <a:extLst>
              <a:ext uri="{FF2B5EF4-FFF2-40B4-BE49-F238E27FC236}">
                <a16:creationId xmlns:a16="http://schemas.microsoft.com/office/drawing/2014/main" id="{BAFA2AC6-03CC-45F5-9461-F6BFB88F39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29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3114" name="Object 143">
            <a:extLst>
              <a:ext uri="{FF2B5EF4-FFF2-40B4-BE49-F238E27FC236}">
                <a16:creationId xmlns:a16="http://schemas.microsoft.com/office/drawing/2014/main" id="{A86D380E-6D51-4094-B54F-4C0ACBEF0F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4221163"/>
          <a:ext cx="2166937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6" name="Формула" r:id="rId15" imgW="1447800" imgH="241300" progId="Equation.3">
                  <p:embed/>
                </p:oleObj>
              </mc:Choice>
              <mc:Fallback>
                <p:oleObj name="Формула" r:id="rId15" imgW="1447800" imgH="241300" progId="Equation.3">
                  <p:embed/>
                  <p:pic>
                    <p:nvPicPr>
                      <p:cNvPr id="3114" name="Object 143">
                        <a:extLst>
                          <a:ext uri="{FF2B5EF4-FFF2-40B4-BE49-F238E27FC236}">
                            <a16:creationId xmlns:a16="http://schemas.microsoft.com/office/drawing/2014/main" id="{A86D380E-6D51-4094-B54F-4C0ACBEF0F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221163"/>
                        <a:ext cx="2166937" cy="35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15" name="Rectangle 145">
            <a:extLst>
              <a:ext uri="{FF2B5EF4-FFF2-40B4-BE49-F238E27FC236}">
                <a16:creationId xmlns:a16="http://schemas.microsoft.com/office/drawing/2014/main" id="{22F1C75D-B392-4922-8F61-AE7B985010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4221163"/>
            <a:ext cx="35782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latin typeface="Times New Roman" panose="02020603050405020304" pitchFamily="18" charset="0"/>
              </a:rPr>
              <a:t>– ограничения типа неравенств.</a:t>
            </a:r>
          </a:p>
        </p:txBody>
      </p:sp>
      <p:sp>
        <p:nvSpPr>
          <p:cNvPr id="3116" name="Rectangle 147">
            <a:extLst>
              <a:ext uri="{FF2B5EF4-FFF2-40B4-BE49-F238E27FC236}">
                <a16:creationId xmlns:a16="http://schemas.microsoft.com/office/drawing/2014/main" id="{546A4F3E-E1D5-449A-8046-BBF638CDB3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4535488"/>
            <a:ext cx="3600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cs typeface="Times New Roman" panose="02020603050405020304" pitchFamily="18" charset="0"/>
              </a:rPr>
              <a:t>Обозначим множество индексов</a:t>
            </a:r>
            <a:r>
              <a:rPr lang="ru-RU" altLang="ru-RU"/>
              <a:t>:</a:t>
            </a:r>
            <a:r>
              <a:rPr lang="ru-RU" altLang="ru-RU">
                <a:cs typeface="Times New Roman" panose="02020603050405020304" pitchFamily="18" charset="0"/>
              </a:rPr>
              <a:t> </a:t>
            </a:r>
            <a:endParaRPr lang="ru-RU" altLang="ru-RU"/>
          </a:p>
        </p:txBody>
      </p:sp>
      <p:sp>
        <p:nvSpPr>
          <p:cNvPr id="3117" name="Rectangle 149">
            <a:extLst>
              <a:ext uri="{FF2B5EF4-FFF2-40B4-BE49-F238E27FC236}">
                <a16:creationId xmlns:a16="http://schemas.microsoft.com/office/drawing/2014/main" id="{51955441-97BF-4955-AD6C-3FD06B9311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3118" name="Object 148">
            <a:extLst>
              <a:ext uri="{FF2B5EF4-FFF2-40B4-BE49-F238E27FC236}">
                <a16:creationId xmlns:a16="http://schemas.microsoft.com/office/drawing/2014/main" id="{91C36488-1EC7-4C87-83C1-DB701A8267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0200" y="4581525"/>
          <a:ext cx="187325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7" name="Формула" r:id="rId17" imgW="1231366" imgH="215806" progId="Equation.3">
                  <p:embed/>
                </p:oleObj>
              </mc:Choice>
              <mc:Fallback>
                <p:oleObj name="Формула" r:id="rId17" imgW="1231366" imgH="215806" progId="Equation.3">
                  <p:embed/>
                  <p:pic>
                    <p:nvPicPr>
                      <p:cNvPr id="3118" name="Object 148">
                        <a:extLst>
                          <a:ext uri="{FF2B5EF4-FFF2-40B4-BE49-F238E27FC236}">
                            <a16:creationId xmlns:a16="http://schemas.microsoft.com/office/drawing/2014/main" id="{91C36488-1EC7-4C87-83C1-DB701A8267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4581525"/>
                        <a:ext cx="187325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19" name="Rectangle 150">
            <a:extLst>
              <a:ext uri="{FF2B5EF4-FFF2-40B4-BE49-F238E27FC236}">
                <a16:creationId xmlns:a16="http://schemas.microsoft.com/office/drawing/2014/main" id="{D795565C-C3F9-4551-8029-202F131C9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4508500"/>
            <a:ext cx="247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/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0B2D8F7F-69E0-4AE5-AFCE-64BB748AD0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838200" indent="-838200" eaLnBrk="1" hangingPunct="1"/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выпуклого программирования.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C188B3C-CE63-4BAA-A0B2-110769A33B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628775"/>
            <a:ext cx="8229600" cy="45259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z="2800" b="1" i="1" dirty="0"/>
              <a:t>3.1. </a:t>
            </a:r>
            <a:r>
              <a:rPr lang="ru-RU" altLang="ru-RU" sz="2800" b="1" i="1" u="sng" dirty="0"/>
              <a:t>Активные ограничения</a:t>
            </a:r>
            <a:r>
              <a:rPr lang="ru-RU" altLang="ru-RU" sz="2800" b="1" i="1" dirty="0"/>
              <a:t>.</a:t>
            </a:r>
          </a:p>
        </p:txBody>
      </p:sp>
      <p:sp>
        <p:nvSpPr>
          <p:cNvPr id="4100" name="Rectangle 24">
            <a:extLst>
              <a:ext uri="{FF2B5EF4-FFF2-40B4-BE49-F238E27FC236}">
                <a16:creationId xmlns:a16="http://schemas.microsoft.com/office/drawing/2014/main" id="{A936801E-85AF-491B-8E60-3D734FC3FC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01" name="Rectangle 26">
            <a:extLst>
              <a:ext uri="{FF2B5EF4-FFF2-40B4-BE49-F238E27FC236}">
                <a16:creationId xmlns:a16="http://schemas.microsoft.com/office/drawing/2014/main" id="{963E9A91-F5C5-4475-995A-B4A4E06F55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41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02" name="Rectangle 28">
            <a:extLst>
              <a:ext uri="{FF2B5EF4-FFF2-40B4-BE49-F238E27FC236}">
                <a16:creationId xmlns:a16="http://schemas.microsoft.com/office/drawing/2014/main" id="{D66D0F26-35E5-4B44-8A03-1A7C656D2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03" name="Rectangle 36">
            <a:extLst>
              <a:ext uri="{FF2B5EF4-FFF2-40B4-BE49-F238E27FC236}">
                <a16:creationId xmlns:a16="http://schemas.microsoft.com/office/drawing/2014/main" id="{4A0B46E7-04EF-42DF-9E9F-A2A61C8848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04" name="Rectangle 40">
            <a:extLst>
              <a:ext uri="{FF2B5EF4-FFF2-40B4-BE49-F238E27FC236}">
                <a16:creationId xmlns:a16="http://schemas.microsoft.com/office/drawing/2014/main" id="{98147FE8-69AA-4E71-91D1-F80F06469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53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05" name="Rectangle 46">
            <a:extLst>
              <a:ext uri="{FF2B5EF4-FFF2-40B4-BE49-F238E27FC236}">
                <a16:creationId xmlns:a16="http://schemas.microsoft.com/office/drawing/2014/main" id="{44A420CD-CD34-48A2-9775-27DFFE0EA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06" name="Rectangle 49">
            <a:extLst>
              <a:ext uri="{FF2B5EF4-FFF2-40B4-BE49-F238E27FC236}">
                <a16:creationId xmlns:a16="http://schemas.microsoft.com/office/drawing/2014/main" id="{94C17B7A-3E90-4D0C-93E7-7AAFE08ABB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pic>
        <p:nvPicPr>
          <p:cNvPr id="4107" name="Picture 51" descr="81">
            <a:extLst>
              <a:ext uri="{FF2B5EF4-FFF2-40B4-BE49-F238E27FC236}">
                <a16:creationId xmlns:a16="http://schemas.microsoft.com/office/drawing/2014/main" id="{469861D0-180F-4FC6-8463-7F08A97A3D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2276475"/>
            <a:ext cx="6119813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8" name="Rectangle 52">
            <a:extLst>
              <a:ext uri="{FF2B5EF4-FFF2-40B4-BE49-F238E27FC236}">
                <a16:creationId xmlns:a16="http://schemas.microsoft.com/office/drawing/2014/main" id="{4D040CA3-AB2D-4F1C-A850-B786F943C3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4581525"/>
            <a:ext cx="8785225" cy="1465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В процессе решения задачи происходит перемещение текущей точки из заданной начальной точки в конечную точку. При этом возможен выход на границу области допустимых решений  Х.  Такие нарушенные ограничения носят название активных.</a:t>
            </a:r>
          </a:p>
          <a:p>
            <a:pPr eaLnBrk="1" hangingPunct="1"/>
            <a:r>
              <a:rPr lang="ru-RU" altLang="ru-RU"/>
              <a:t>	Определение множества индексов активных ограничений:</a:t>
            </a:r>
          </a:p>
        </p:txBody>
      </p:sp>
      <p:sp>
        <p:nvSpPr>
          <p:cNvPr id="4109" name="Rectangle 54">
            <a:extLst>
              <a:ext uri="{FF2B5EF4-FFF2-40B4-BE49-F238E27FC236}">
                <a16:creationId xmlns:a16="http://schemas.microsoft.com/office/drawing/2014/main" id="{C99D79E4-E585-432C-92B5-E4F1A2EF0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4110" name="Object 53">
            <a:extLst>
              <a:ext uri="{FF2B5EF4-FFF2-40B4-BE49-F238E27FC236}">
                <a16:creationId xmlns:a16="http://schemas.microsoft.com/office/drawing/2014/main" id="{8BD4D20B-52E7-490B-ADF2-C017280DD2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6011863"/>
          <a:ext cx="6697662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4" name="Формула" r:id="rId4" imgW="3568700" imgH="254000" progId="Equation.3">
                  <p:embed/>
                </p:oleObj>
              </mc:Choice>
              <mc:Fallback>
                <p:oleObj name="Формула" r:id="rId4" imgW="3568700" imgH="254000" progId="Equation.3">
                  <p:embed/>
                  <p:pic>
                    <p:nvPicPr>
                      <p:cNvPr id="4110" name="Object 53">
                        <a:extLst>
                          <a:ext uri="{FF2B5EF4-FFF2-40B4-BE49-F238E27FC236}">
                            <a16:creationId xmlns:a16="http://schemas.microsoft.com/office/drawing/2014/main" id="{8BD4D20B-52E7-490B-ADF2-C017280DD2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6011863"/>
                        <a:ext cx="6697662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3854120-7DE4-4180-979C-152ABE14E7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2400" b="1" i="1" u="sng" dirty="0"/>
              <a:t>3.2. </a:t>
            </a: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Куна-</a:t>
            </a:r>
            <a:r>
              <a:rPr lang="ru-RU" alt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Таккера</a:t>
            </a: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(функция Лагранжа) для задач выпуклого программирования (1951г.)</a:t>
            </a:r>
          </a:p>
        </p:txBody>
      </p:sp>
      <p:sp>
        <p:nvSpPr>
          <p:cNvPr id="5123" name="Rectangle 28">
            <a:extLst>
              <a:ext uri="{FF2B5EF4-FFF2-40B4-BE49-F238E27FC236}">
                <a16:creationId xmlns:a16="http://schemas.microsoft.com/office/drawing/2014/main" id="{51FC24D4-AD76-4438-99D1-5F11D6E27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5124" name="Object 27">
            <a:extLst>
              <a:ext uri="{FF2B5EF4-FFF2-40B4-BE49-F238E27FC236}">
                <a16:creationId xmlns:a16="http://schemas.microsoft.com/office/drawing/2014/main" id="{760E131E-0552-4971-A9F4-75AB31B7BE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1150938"/>
          <a:ext cx="6480175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38" name="Формула" r:id="rId3" imgW="2717800" imgH="444500" progId="Equation.3">
                  <p:embed/>
                </p:oleObj>
              </mc:Choice>
              <mc:Fallback>
                <p:oleObj name="Формула" r:id="rId3" imgW="2717800" imgH="444500" progId="Equation.3">
                  <p:embed/>
                  <p:pic>
                    <p:nvPicPr>
                      <p:cNvPr id="5124" name="Object 27">
                        <a:extLst>
                          <a:ext uri="{FF2B5EF4-FFF2-40B4-BE49-F238E27FC236}">
                            <a16:creationId xmlns:a16="http://schemas.microsoft.com/office/drawing/2014/main" id="{760E131E-0552-4971-A9F4-75AB31B7BE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1150938"/>
                        <a:ext cx="6480175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5" name="Rectangle 30">
            <a:extLst>
              <a:ext uri="{FF2B5EF4-FFF2-40B4-BE49-F238E27FC236}">
                <a16:creationId xmlns:a16="http://schemas.microsoft.com/office/drawing/2014/main" id="{EF5D9B79-5A84-4EFA-8E37-890F012D5A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236788"/>
            <a:ext cx="8280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cs typeface="Times New Roman" panose="02020603050405020304" pitchFamily="18" charset="0"/>
              </a:rPr>
              <a:t>Продифференцируем функцию </a:t>
            </a:r>
            <a:r>
              <a:rPr lang="en-US" altLang="ru-RU">
                <a:cs typeface="Times New Roman" panose="02020603050405020304" pitchFamily="18" charset="0"/>
              </a:rPr>
              <a:t>L</a:t>
            </a:r>
            <a:r>
              <a:rPr lang="ru-RU" altLang="ru-RU">
                <a:cs typeface="Times New Roman" panose="02020603050405020304" pitchFamily="18" charset="0"/>
              </a:rPr>
              <a:t>(</a:t>
            </a:r>
            <a:r>
              <a:rPr lang="en-US" altLang="ru-RU">
                <a:cs typeface="Times New Roman" panose="02020603050405020304" pitchFamily="18" charset="0"/>
              </a:rPr>
              <a:t>x</a:t>
            </a:r>
            <a:r>
              <a:rPr lang="ru-RU" altLang="ru-RU">
                <a:cs typeface="Times New Roman" panose="02020603050405020304" pitchFamily="18" charset="0"/>
              </a:rPr>
              <a:t>,</a:t>
            </a:r>
            <a:r>
              <a:rPr lang="en-US" altLang="ru-RU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ru-RU" altLang="ru-RU">
                <a:cs typeface="Times New Roman" panose="02020603050405020304" pitchFamily="18" charset="0"/>
              </a:rPr>
              <a:t>,</a:t>
            </a:r>
            <a:r>
              <a:rPr lang="en-US" altLang="ru-RU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</a:t>
            </a:r>
            <a:r>
              <a:rPr lang="ru-RU" altLang="ru-RU">
                <a:cs typeface="Times New Roman" panose="02020603050405020304" pitchFamily="18" charset="0"/>
              </a:rPr>
              <a:t>) по </a:t>
            </a:r>
            <a:r>
              <a:rPr lang="en-US" altLang="ru-RU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ru-RU" altLang="ru-RU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и приравняем  0.</a:t>
            </a:r>
            <a:endParaRPr lang="ru-RU" altLang="ru-RU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ru-RU" altLang="ru-RU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Если продифференцировать по </a:t>
            </a:r>
            <a:r>
              <a:rPr lang="ru-RU" altLang="ru-RU" baseline="-30000">
                <a:cs typeface="Times New Roman" panose="02020603050405020304" pitchFamily="18" charset="0"/>
              </a:rPr>
              <a:t>к</a:t>
            </a:r>
            <a:r>
              <a:rPr lang="ru-RU" altLang="ru-RU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то получим неравенства </a:t>
            </a:r>
            <a:r>
              <a:rPr lang="en-US" altLang="ru-RU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ru-RU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ru-RU" altLang="ru-RU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ru-RU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ru-RU" altLang="ru-RU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</a:p>
        </p:txBody>
      </p:sp>
      <p:sp>
        <p:nvSpPr>
          <p:cNvPr id="5126" name="Rectangle 31">
            <a:extLst>
              <a:ext uri="{FF2B5EF4-FFF2-40B4-BE49-F238E27FC236}">
                <a16:creationId xmlns:a16="http://schemas.microsoft.com/office/drawing/2014/main" id="{AEB59BDD-F9BF-4C30-9F99-EBE571CFF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2781300"/>
            <a:ext cx="864076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cs typeface="Times New Roman" panose="02020603050405020304" pitchFamily="18" charset="0"/>
              </a:rPr>
              <a:t>что не позволяет получить единственное решение. Противоречие состоит в том, что для ЗВП имеется единственное решение.</a:t>
            </a:r>
            <a:endParaRPr lang="ru-RU" altLang="ru-RU"/>
          </a:p>
        </p:txBody>
      </p:sp>
      <p:graphicFrame>
        <p:nvGraphicFramePr>
          <p:cNvPr id="5127" name="Object 32">
            <a:extLst>
              <a:ext uri="{FF2B5EF4-FFF2-40B4-BE49-F238E27FC236}">
                <a16:creationId xmlns:a16="http://schemas.microsoft.com/office/drawing/2014/main" id="{150CDD21-0F6F-4C39-92FA-1B0DE972D4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77050" y="2565400"/>
          <a:ext cx="246063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39" name="Формула" r:id="rId5" imgW="126835" imgH="152202" progId="Equation.3">
                  <p:embed/>
                </p:oleObj>
              </mc:Choice>
              <mc:Fallback>
                <p:oleObj name="Формула" r:id="rId5" imgW="126835" imgH="152202" progId="Equation.3">
                  <p:embed/>
                  <p:pic>
                    <p:nvPicPr>
                      <p:cNvPr id="5127" name="Object 32">
                        <a:extLst>
                          <a:ext uri="{FF2B5EF4-FFF2-40B4-BE49-F238E27FC236}">
                            <a16:creationId xmlns:a16="http://schemas.microsoft.com/office/drawing/2014/main" id="{150CDD21-0F6F-4C39-92FA-1B0DE972D4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7050" y="2565400"/>
                        <a:ext cx="246063" cy="287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8" name="Rectangle 34">
            <a:extLst>
              <a:ext uri="{FF2B5EF4-FFF2-40B4-BE49-F238E27FC236}">
                <a16:creationId xmlns:a16="http://schemas.microsoft.com/office/drawing/2014/main" id="{B4E51A57-9DEB-4739-8A8B-A1BBC4756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9925" y="2492375"/>
            <a:ext cx="488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cs typeface="Times New Roman" panose="02020603050405020304" pitchFamily="18" charset="0"/>
              </a:rPr>
              <a:t> </a:t>
            </a:r>
            <a:r>
              <a:rPr lang="ru-RU" altLang="ru-RU">
                <a:cs typeface="Times New Roman" panose="02020603050405020304" pitchFamily="18" charset="0"/>
              </a:rPr>
              <a:t>0 ,</a:t>
            </a:r>
            <a:r>
              <a:rPr lang="ru-RU" altLang="ru-RU"/>
              <a:t> </a:t>
            </a:r>
          </a:p>
        </p:txBody>
      </p:sp>
      <p:sp>
        <p:nvSpPr>
          <p:cNvPr id="5129" name="Rectangle 36">
            <a:extLst>
              <a:ext uri="{FF2B5EF4-FFF2-40B4-BE49-F238E27FC236}">
                <a16:creationId xmlns:a16="http://schemas.microsoft.com/office/drawing/2014/main" id="{0A7E4D5D-A446-4911-AAF8-ECD38F0F6A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861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5130" name="Object 35">
            <a:extLst>
              <a:ext uri="{FF2B5EF4-FFF2-40B4-BE49-F238E27FC236}">
                <a16:creationId xmlns:a16="http://schemas.microsoft.com/office/drawing/2014/main" id="{94EF3C68-13A1-4860-9ACF-250E7E5934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3357563"/>
          <a:ext cx="5976937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0" name="Формула" r:id="rId7" imgW="3746500" imgH="482600" progId="Equation.3">
                  <p:embed/>
                </p:oleObj>
              </mc:Choice>
              <mc:Fallback>
                <p:oleObj name="Формула" r:id="rId7" imgW="3746500" imgH="482600" progId="Equation.3">
                  <p:embed/>
                  <p:pic>
                    <p:nvPicPr>
                      <p:cNvPr id="5130" name="Object 35">
                        <a:extLst>
                          <a:ext uri="{FF2B5EF4-FFF2-40B4-BE49-F238E27FC236}">
                            <a16:creationId xmlns:a16="http://schemas.microsoft.com/office/drawing/2014/main" id="{94EF3C68-13A1-4860-9ACF-250E7E5934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3357563"/>
                        <a:ext cx="5976937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131" name="Picture 37" descr="82">
            <a:extLst>
              <a:ext uri="{FF2B5EF4-FFF2-40B4-BE49-F238E27FC236}">
                <a16:creationId xmlns:a16="http://schemas.microsoft.com/office/drawing/2014/main" id="{F9F9F861-CF96-4D70-86AA-6AED1D4EE6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4076700"/>
            <a:ext cx="3887787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132" name="Object 39">
            <a:extLst>
              <a:ext uri="{FF2B5EF4-FFF2-40B4-BE49-F238E27FC236}">
                <a16:creationId xmlns:a16="http://schemas.microsoft.com/office/drawing/2014/main" id="{E6A1226F-5113-4CA6-8AA4-4304927191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72450" y="4240213"/>
          <a:ext cx="971550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1" name="Формула" r:id="rId10" imgW="469900" imgH="228600" progId="Equation.3">
                  <p:embed/>
                </p:oleObj>
              </mc:Choice>
              <mc:Fallback>
                <p:oleObj name="Формула" r:id="rId10" imgW="469900" imgH="228600" progId="Equation.3">
                  <p:embed/>
                  <p:pic>
                    <p:nvPicPr>
                      <p:cNvPr id="5132" name="Object 39">
                        <a:extLst>
                          <a:ext uri="{FF2B5EF4-FFF2-40B4-BE49-F238E27FC236}">
                            <a16:creationId xmlns:a16="http://schemas.microsoft.com/office/drawing/2014/main" id="{E6A1226F-5113-4CA6-8AA4-4304927191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2450" y="4240213"/>
                        <a:ext cx="971550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3" name="Rectangle 40">
            <a:extLst>
              <a:ext uri="{FF2B5EF4-FFF2-40B4-BE49-F238E27FC236}">
                <a16:creationId xmlns:a16="http://schemas.microsoft.com/office/drawing/2014/main" id="{7624DD4D-6167-4C4A-A224-16AD25F1F4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4246563"/>
            <a:ext cx="44656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u="sng">
                <a:cs typeface="Times New Roman" panose="02020603050405020304" pitchFamily="18" charset="0"/>
              </a:rPr>
              <a:t>Лемма</a:t>
            </a:r>
            <a:r>
              <a:rPr lang="ru-RU" altLang="ru-RU" b="1">
                <a:cs typeface="Times New Roman" panose="02020603050405020304" pitchFamily="18" charset="0"/>
              </a:rPr>
              <a:t>:</a:t>
            </a:r>
            <a:r>
              <a:rPr lang="ru-RU" altLang="ru-RU">
                <a:cs typeface="Times New Roman" panose="02020603050405020304" pitchFamily="18" charset="0"/>
              </a:rPr>
              <a:t> Градиент целевой функции </a:t>
            </a:r>
            <a:endParaRPr lang="ru-RU" altLang="ru-RU"/>
          </a:p>
        </p:txBody>
      </p:sp>
      <p:sp>
        <p:nvSpPr>
          <p:cNvPr id="5134" name="Rectangle 41">
            <a:extLst>
              <a:ext uri="{FF2B5EF4-FFF2-40B4-BE49-F238E27FC236}">
                <a16:creationId xmlns:a16="http://schemas.microsoft.com/office/drawing/2014/main" id="{22CA870C-6B83-45B2-A190-67C2B7E31F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4508500"/>
            <a:ext cx="4716462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cs typeface="Times New Roman" panose="02020603050405020304" pitchFamily="18" charset="0"/>
              </a:rPr>
              <a:t> </a:t>
            </a:r>
            <a:r>
              <a:rPr lang="ru-RU" altLang="ru-RU">
                <a:cs typeface="Times New Roman" panose="02020603050405020304" pitchFamily="18" charset="0"/>
              </a:rPr>
              <a:t>равен линейной комбинации градиентов функций ограничений в точке условного экстремума </a:t>
            </a:r>
            <a:endParaRPr lang="ru-RU" altLang="ru-RU"/>
          </a:p>
        </p:txBody>
      </p:sp>
      <p:sp>
        <p:nvSpPr>
          <p:cNvPr id="5135" name="Rectangle 42">
            <a:extLst>
              <a:ext uri="{FF2B5EF4-FFF2-40B4-BE49-F238E27FC236}">
                <a16:creationId xmlns:a16="http://schemas.microsoft.com/office/drawing/2014/main" id="{78964937-5E5D-4C07-9E8B-8B89BBCE88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5589588"/>
            <a:ext cx="287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cs typeface="Times New Roman" panose="02020603050405020304" pitchFamily="18" charset="0"/>
              </a:rPr>
              <a:t>  Множество всех векторов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/>
          </a:p>
        </p:txBody>
      </p:sp>
      <p:sp>
        <p:nvSpPr>
          <p:cNvPr id="5136" name="Rectangle 44">
            <a:extLst>
              <a:ext uri="{FF2B5EF4-FFF2-40B4-BE49-F238E27FC236}">
                <a16:creationId xmlns:a16="http://schemas.microsoft.com/office/drawing/2014/main" id="{0434FE0F-A7E3-4354-9D73-499301F60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57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5137" name="Object 43">
            <a:extLst>
              <a:ext uri="{FF2B5EF4-FFF2-40B4-BE49-F238E27FC236}">
                <a16:creationId xmlns:a16="http://schemas.microsoft.com/office/drawing/2014/main" id="{B2118F42-16E9-41CC-A51F-1E3F214F4C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51500" y="5013325"/>
          <a:ext cx="381000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2" name="Формула" r:id="rId12" imgW="177569" imgH="202936" progId="Equation.3">
                  <p:embed/>
                </p:oleObj>
              </mc:Choice>
              <mc:Fallback>
                <p:oleObj name="Формула" r:id="rId12" imgW="177569" imgH="202936" progId="Equation.3">
                  <p:embed/>
                  <p:pic>
                    <p:nvPicPr>
                      <p:cNvPr id="5137" name="Object 43">
                        <a:extLst>
                          <a:ext uri="{FF2B5EF4-FFF2-40B4-BE49-F238E27FC236}">
                            <a16:creationId xmlns:a16="http://schemas.microsoft.com/office/drawing/2014/main" id="{B2118F42-16E9-41CC-A51F-1E3F214F4C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5013325"/>
                        <a:ext cx="381000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8" name="Rectangle 46">
            <a:extLst>
              <a:ext uri="{FF2B5EF4-FFF2-40B4-BE49-F238E27FC236}">
                <a16:creationId xmlns:a16="http://schemas.microsoft.com/office/drawing/2014/main" id="{A9F2B5F3-9B56-44B0-8A1B-3F13CC8873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78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5139" name="Object 45">
            <a:extLst>
              <a:ext uri="{FF2B5EF4-FFF2-40B4-BE49-F238E27FC236}">
                <a16:creationId xmlns:a16="http://schemas.microsoft.com/office/drawing/2014/main" id="{B3450E0F-62A4-4F4C-B7BE-129B65EE8D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32475" y="5445125"/>
          <a:ext cx="331152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3" name="Формула" r:id="rId14" imgW="2114858" imgH="552388" progId="Equation.3">
                  <p:embed/>
                </p:oleObj>
              </mc:Choice>
              <mc:Fallback>
                <p:oleObj name="Формула" r:id="rId14" imgW="2114858" imgH="552388" progId="Equation.3">
                  <p:embed/>
                  <p:pic>
                    <p:nvPicPr>
                      <p:cNvPr id="5139" name="Object 45">
                        <a:extLst>
                          <a:ext uri="{FF2B5EF4-FFF2-40B4-BE49-F238E27FC236}">
                            <a16:creationId xmlns:a16="http://schemas.microsoft.com/office/drawing/2014/main" id="{B3450E0F-62A4-4F4C-B7BE-129B65EE8D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2475" y="5445125"/>
                        <a:ext cx="3311525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40" name="Rectangle 47">
            <a:extLst>
              <a:ext uri="{FF2B5EF4-FFF2-40B4-BE49-F238E27FC236}">
                <a16:creationId xmlns:a16="http://schemas.microsoft.com/office/drawing/2014/main" id="{975BAE6C-5F99-4657-AFA7-4BE670C62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6021388"/>
            <a:ext cx="58261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называется множеством </a:t>
            </a:r>
            <a:r>
              <a:rPr lang="ru-RU" altLang="ru-RU" b="1" i="1"/>
              <a:t>возможных направлений.</a:t>
            </a:r>
          </a:p>
        </p:txBody>
      </p:sp>
      <p:sp>
        <p:nvSpPr>
          <p:cNvPr id="5141" name="Rectangle 49">
            <a:extLst>
              <a:ext uri="{FF2B5EF4-FFF2-40B4-BE49-F238E27FC236}">
                <a16:creationId xmlns:a16="http://schemas.microsoft.com/office/drawing/2014/main" id="{B67E6010-4E16-41AB-B513-B8DA8B362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5142" name="Object 48">
            <a:extLst>
              <a:ext uri="{FF2B5EF4-FFF2-40B4-BE49-F238E27FC236}">
                <a16:creationId xmlns:a16="http://schemas.microsoft.com/office/drawing/2014/main" id="{A6399E9F-A5D5-461A-9E5E-5328DF5D7A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84888" y="4941888"/>
          <a:ext cx="3059112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4" name="Формула" r:id="rId16" imgW="2590800" imgH="444500" progId="Equation.3">
                  <p:embed/>
                </p:oleObj>
              </mc:Choice>
              <mc:Fallback>
                <p:oleObj name="Формула" r:id="rId16" imgW="2590800" imgH="444500" progId="Equation.3">
                  <p:embed/>
                  <p:pic>
                    <p:nvPicPr>
                      <p:cNvPr id="5142" name="Object 48">
                        <a:extLst>
                          <a:ext uri="{FF2B5EF4-FFF2-40B4-BE49-F238E27FC236}">
                            <a16:creationId xmlns:a16="http://schemas.microsoft.com/office/drawing/2014/main" id="{A6399E9F-A5D5-461A-9E5E-5328DF5D7A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4941888"/>
                        <a:ext cx="3059112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43" name="Rectangle 50">
            <a:extLst>
              <a:ext uri="{FF2B5EF4-FFF2-40B4-BE49-F238E27FC236}">
                <a16:creationId xmlns:a16="http://schemas.microsoft.com/office/drawing/2014/main" id="{D8AD8ECF-7EB7-4DE2-9FD0-55269567D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5084763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 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4877596-1737-4B5F-9B66-CB6C6BC4FA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3.3. Теорема Куна-</a:t>
            </a:r>
            <a:r>
              <a:rPr lang="ru-RU" alt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Таккера</a:t>
            </a:r>
            <a:r>
              <a:rPr lang="ru-RU" alt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147" name="Rectangle 12">
            <a:extLst>
              <a:ext uri="{FF2B5EF4-FFF2-40B4-BE49-F238E27FC236}">
                <a16:creationId xmlns:a16="http://schemas.microsoft.com/office/drawing/2014/main" id="{4C77A5C3-ABAE-4EFD-9131-21EBF5F336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83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48" name="Rectangle 13">
            <a:extLst>
              <a:ext uri="{FF2B5EF4-FFF2-40B4-BE49-F238E27FC236}">
                <a16:creationId xmlns:a16="http://schemas.microsoft.com/office/drawing/2014/main" id="{6F0A040B-4200-4AB5-AC55-B0E54CF83F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49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49" name="Rectangle 15">
            <a:extLst>
              <a:ext uri="{FF2B5EF4-FFF2-40B4-BE49-F238E27FC236}">
                <a16:creationId xmlns:a16="http://schemas.microsoft.com/office/drawing/2014/main" id="{0BCE705A-5780-463A-AD5A-3A314B7170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50" name="Rectangle 16">
            <a:extLst>
              <a:ext uri="{FF2B5EF4-FFF2-40B4-BE49-F238E27FC236}">
                <a16:creationId xmlns:a16="http://schemas.microsoft.com/office/drawing/2014/main" id="{CA7AC2C5-5F72-4A7F-AF1C-990FFEF53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449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51" name="Rectangle 19">
            <a:extLst>
              <a:ext uri="{FF2B5EF4-FFF2-40B4-BE49-F238E27FC236}">
                <a16:creationId xmlns:a16="http://schemas.microsoft.com/office/drawing/2014/main" id="{A7929299-1B09-4BDF-B3D2-99F30EA495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57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52" name="Rectangle 22">
            <a:extLst>
              <a:ext uri="{FF2B5EF4-FFF2-40B4-BE49-F238E27FC236}">
                <a16:creationId xmlns:a16="http://schemas.microsoft.com/office/drawing/2014/main" id="{EC5567A9-A7A5-49A7-A916-B07FC4F06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62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53" name="Rectangle 24">
            <a:extLst>
              <a:ext uri="{FF2B5EF4-FFF2-40B4-BE49-F238E27FC236}">
                <a16:creationId xmlns:a16="http://schemas.microsoft.com/office/drawing/2014/main" id="{38E3BEFD-98F5-45F3-82FF-ABA1B55636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54" name="Rectangle 27">
            <a:extLst>
              <a:ext uri="{FF2B5EF4-FFF2-40B4-BE49-F238E27FC236}">
                <a16:creationId xmlns:a16="http://schemas.microsoft.com/office/drawing/2014/main" id="{E8D454FD-C704-46C5-B45D-726AF5FF4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55" name="Rectangle 39">
            <a:extLst>
              <a:ext uri="{FF2B5EF4-FFF2-40B4-BE49-F238E27FC236}">
                <a16:creationId xmlns:a16="http://schemas.microsoft.com/office/drawing/2014/main" id="{198A7FB4-3317-4EB6-9AD6-2F3BBC2AF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56" name="Rectangle 43">
            <a:extLst>
              <a:ext uri="{FF2B5EF4-FFF2-40B4-BE49-F238E27FC236}">
                <a16:creationId xmlns:a16="http://schemas.microsoft.com/office/drawing/2014/main" id="{A7A87581-3188-486E-99D8-DAD37F7F16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908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57" name="Rectangle 44">
            <a:extLst>
              <a:ext uri="{FF2B5EF4-FFF2-40B4-BE49-F238E27FC236}">
                <a16:creationId xmlns:a16="http://schemas.microsoft.com/office/drawing/2014/main" id="{D8D6421C-FAA3-4476-BD17-3FA7FD85D7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73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58" name="Rectangle 47">
            <a:extLst>
              <a:ext uri="{FF2B5EF4-FFF2-40B4-BE49-F238E27FC236}">
                <a16:creationId xmlns:a16="http://schemas.microsoft.com/office/drawing/2014/main" id="{1338FDF7-AEB7-4416-B257-142FFDD327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765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59" name="Rectangle 48">
            <a:extLst>
              <a:ext uri="{FF2B5EF4-FFF2-40B4-BE49-F238E27FC236}">
                <a16:creationId xmlns:a16="http://schemas.microsoft.com/office/drawing/2014/main" id="{BB0A4861-F44C-472F-AF64-F689D38FC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798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60" name="Rectangle 51">
            <a:extLst>
              <a:ext uri="{FF2B5EF4-FFF2-40B4-BE49-F238E27FC236}">
                <a16:creationId xmlns:a16="http://schemas.microsoft.com/office/drawing/2014/main" id="{B7D8F82F-A6BB-4F04-A31E-484CF46CCA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432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61" name="Rectangle 52">
            <a:extLst>
              <a:ext uri="{FF2B5EF4-FFF2-40B4-BE49-F238E27FC236}">
                <a16:creationId xmlns:a16="http://schemas.microsoft.com/office/drawing/2014/main" id="{07763FCE-F3C5-46C5-B069-F44F4C0BE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3573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62" name="Rectangle 56">
            <a:extLst>
              <a:ext uri="{FF2B5EF4-FFF2-40B4-BE49-F238E27FC236}">
                <a16:creationId xmlns:a16="http://schemas.microsoft.com/office/drawing/2014/main" id="{EF37890C-0CEB-491B-9A02-AD8CA043F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63" name="Rectangle 59">
            <a:extLst>
              <a:ext uri="{FF2B5EF4-FFF2-40B4-BE49-F238E27FC236}">
                <a16:creationId xmlns:a16="http://schemas.microsoft.com/office/drawing/2014/main" id="{D72BDE6F-A43C-4F81-A056-12234858F3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64" name="Rectangle 61">
            <a:extLst>
              <a:ext uri="{FF2B5EF4-FFF2-40B4-BE49-F238E27FC236}">
                <a16:creationId xmlns:a16="http://schemas.microsoft.com/office/drawing/2014/main" id="{292B35F0-F7C5-45D2-83CD-AD310A24B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65" name="Rectangle 68">
            <a:extLst>
              <a:ext uri="{FF2B5EF4-FFF2-40B4-BE49-F238E27FC236}">
                <a16:creationId xmlns:a16="http://schemas.microsoft.com/office/drawing/2014/main" id="{D3B36A2E-F161-440C-BF41-223A9580A0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66" name="Rectangle 70">
            <a:extLst>
              <a:ext uri="{FF2B5EF4-FFF2-40B4-BE49-F238E27FC236}">
                <a16:creationId xmlns:a16="http://schemas.microsoft.com/office/drawing/2014/main" id="{14B1F12A-086C-4979-B2A4-69D830A0C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1268413"/>
            <a:ext cx="5607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Рассмотрим задачу выпуклого программирования </a:t>
            </a:r>
          </a:p>
        </p:txBody>
      </p:sp>
      <p:graphicFrame>
        <p:nvGraphicFramePr>
          <p:cNvPr id="6167" name="Object 72">
            <a:extLst>
              <a:ext uri="{FF2B5EF4-FFF2-40B4-BE49-F238E27FC236}">
                <a16:creationId xmlns:a16="http://schemas.microsoft.com/office/drawing/2014/main" id="{4F69FDB1-4279-47BB-89AC-1B9B652250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1773238"/>
          <a:ext cx="3671888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2" name="Формула" r:id="rId3" imgW="2387600" imgH="228600" progId="Equation.3">
                  <p:embed/>
                </p:oleObj>
              </mc:Choice>
              <mc:Fallback>
                <p:oleObj name="Формула" r:id="rId3" imgW="2387600" imgH="228600" progId="Equation.3">
                  <p:embed/>
                  <p:pic>
                    <p:nvPicPr>
                      <p:cNvPr id="6167" name="Object 72">
                        <a:extLst>
                          <a:ext uri="{FF2B5EF4-FFF2-40B4-BE49-F238E27FC236}">
                            <a16:creationId xmlns:a16="http://schemas.microsoft.com/office/drawing/2014/main" id="{4F69FDB1-4279-47BB-89AC-1B9B652250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1773238"/>
                        <a:ext cx="3671888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68" name="Object 71">
            <a:extLst>
              <a:ext uri="{FF2B5EF4-FFF2-40B4-BE49-F238E27FC236}">
                <a16:creationId xmlns:a16="http://schemas.microsoft.com/office/drawing/2014/main" id="{A52C5B37-C292-4E2B-8C51-E2BFC677CC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2276475"/>
          <a:ext cx="3816350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3" name="Формула" r:id="rId5" imgW="2438400" imgH="228600" progId="Equation.3">
                  <p:embed/>
                </p:oleObj>
              </mc:Choice>
              <mc:Fallback>
                <p:oleObj name="Формула" r:id="rId5" imgW="2438400" imgH="228600" progId="Equation.3">
                  <p:embed/>
                  <p:pic>
                    <p:nvPicPr>
                      <p:cNvPr id="6168" name="Object 71">
                        <a:extLst>
                          <a:ext uri="{FF2B5EF4-FFF2-40B4-BE49-F238E27FC236}">
                            <a16:creationId xmlns:a16="http://schemas.microsoft.com/office/drawing/2014/main" id="{A52C5B37-C292-4E2B-8C51-E2BFC677CC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2276475"/>
                        <a:ext cx="3816350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9" name="Rectangle 73">
            <a:extLst>
              <a:ext uri="{FF2B5EF4-FFF2-40B4-BE49-F238E27FC236}">
                <a16:creationId xmlns:a16="http://schemas.microsoft.com/office/drawing/2014/main" id="{86DC125F-CCB3-46FC-893A-2DA4B3F06E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1727200"/>
            <a:ext cx="20161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cs typeface="Times New Roman" panose="02020603050405020304" pitchFamily="18" charset="0"/>
              </a:rPr>
              <a:t>Пусть    </a:t>
            </a:r>
            <a:r>
              <a:rPr lang="en-US" altLang="ru-RU">
                <a:cs typeface="Times New Roman" panose="02020603050405020304" pitchFamily="18" charset="0"/>
              </a:rPr>
              <a:t>f</a:t>
            </a:r>
            <a:r>
              <a:rPr lang="ru-RU" altLang="ru-RU">
                <a:cs typeface="Times New Roman" panose="02020603050405020304" pitchFamily="18" charset="0"/>
              </a:rPr>
              <a:t>: </a:t>
            </a:r>
            <a:endParaRPr lang="ru-RU" altLang="ru-RU"/>
          </a:p>
        </p:txBody>
      </p:sp>
      <p:sp>
        <p:nvSpPr>
          <p:cNvPr id="6170" name="Rectangle 74">
            <a:extLst>
              <a:ext uri="{FF2B5EF4-FFF2-40B4-BE49-F238E27FC236}">
                <a16:creationId xmlns:a16="http://schemas.microsoft.com/office/drawing/2014/main" id="{04ACF811-4A30-40D5-BFD6-52964C1788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2205038"/>
            <a:ext cx="5461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cs typeface="Times New Roman" panose="02020603050405020304" pitchFamily="18" charset="0"/>
              </a:rPr>
              <a:t>   </a:t>
            </a:r>
            <a:r>
              <a:rPr lang="en-US" altLang="ru-RU">
                <a:cs typeface="Times New Roman" panose="02020603050405020304" pitchFamily="18" charset="0"/>
              </a:rPr>
              <a:t>g</a:t>
            </a:r>
            <a:r>
              <a:rPr lang="ru-RU" altLang="ru-RU">
                <a:cs typeface="Times New Roman" panose="02020603050405020304" pitchFamily="18" charset="0"/>
              </a:rPr>
              <a:t>: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/>
          </a:p>
        </p:txBody>
      </p:sp>
      <p:sp>
        <p:nvSpPr>
          <p:cNvPr id="6171" name="Rectangle 75">
            <a:extLst>
              <a:ext uri="{FF2B5EF4-FFF2-40B4-BE49-F238E27FC236}">
                <a16:creationId xmlns:a16="http://schemas.microsoft.com/office/drawing/2014/main" id="{2802FF9E-E4EC-449A-AD32-EB5D44F74E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2636838"/>
            <a:ext cx="20955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Требуется найти: </a:t>
            </a:r>
          </a:p>
        </p:txBody>
      </p:sp>
      <p:sp>
        <p:nvSpPr>
          <p:cNvPr id="6172" name="Rectangle 77">
            <a:extLst>
              <a:ext uri="{FF2B5EF4-FFF2-40B4-BE49-F238E27FC236}">
                <a16:creationId xmlns:a16="http://schemas.microsoft.com/office/drawing/2014/main" id="{887CBB9E-A1C1-4B4B-8349-9D96C4B236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6173" name="Object 76">
            <a:extLst>
              <a:ext uri="{FF2B5EF4-FFF2-40B4-BE49-F238E27FC236}">
                <a16:creationId xmlns:a16="http://schemas.microsoft.com/office/drawing/2014/main" id="{2EC50906-B487-4C85-B9BF-9CDB28746C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16238" y="2636838"/>
          <a:ext cx="2089150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4" name="Формула" r:id="rId7" imgW="1155700" imgH="228600" progId="Equation.3">
                  <p:embed/>
                </p:oleObj>
              </mc:Choice>
              <mc:Fallback>
                <p:oleObj name="Формула" r:id="rId7" imgW="1155700" imgH="228600" progId="Equation.3">
                  <p:embed/>
                  <p:pic>
                    <p:nvPicPr>
                      <p:cNvPr id="6173" name="Object 76">
                        <a:extLst>
                          <a:ext uri="{FF2B5EF4-FFF2-40B4-BE49-F238E27FC236}">
                            <a16:creationId xmlns:a16="http://schemas.microsoft.com/office/drawing/2014/main" id="{2EC50906-B487-4C85-B9BF-9CDB28746C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2636838"/>
                        <a:ext cx="2089150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74" name="Rectangle 79">
            <a:extLst>
              <a:ext uri="{FF2B5EF4-FFF2-40B4-BE49-F238E27FC236}">
                <a16:creationId xmlns:a16="http://schemas.microsoft.com/office/drawing/2014/main" id="{E08072E7-EAED-4CB8-B6A4-157190190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2636838"/>
            <a:ext cx="3587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cs typeface="Times New Roman" panose="02020603050405020304" pitchFamily="18" charset="0"/>
              </a:rPr>
              <a:t>,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/>
          </a:p>
        </p:txBody>
      </p:sp>
      <p:graphicFrame>
        <p:nvGraphicFramePr>
          <p:cNvPr id="6175" name="Object 78">
            <a:extLst>
              <a:ext uri="{FF2B5EF4-FFF2-40B4-BE49-F238E27FC236}">
                <a16:creationId xmlns:a16="http://schemas.microsoft.com/office/drawing/2014/main" id="{9F2A8C97-DF5B-4ACC-8274-41E37DD51E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9700" y="2708275"/>
          <a:ext cx="720725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5" name="Формула" r:id="rId9" imgW="405872" imgH="177569" progId="Equation.3">
                  <p:embed/>
                </p:oleObj>
              </mc:Choice>
              <mc:Fallback>
                <p:oleObj name="Формула" r:id="rId9" imgW="405872" imgH="177569" progId="Equation.3">
                  <p:embed/>
                  <p:pic>
                    <p:nvPicPr>
                      <p:cNvPr id="6175" name="Object 78">
                        <a:extLst>
                          <a:ext uri="{FF2B5EF4-FFF2-40B4-BE49-F238E27FC236}">
                            <a16:creationId xmlns:a16="http://schemas.microsoft.com/office/drawing/2014/main" id="{9F2A8C97-DF5B-4ACC-8274-41E37DD51E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2708275"/>
                        <a:ext cx="720725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76" name="Rectangle 81">
            <a:extLst>
              <a:ext uri="{FF2B5EF4-FFF2-40B4-BE49-F238E27FC236}">
                <a16:creationId xmlns:a16="http://schemas.microsoft.com/office/drawing/2014/main" id="{E4CD719E-4359-47BE-A9F5-E1695F342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80975" y="3141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6177" name="Object 80">
            <a:extLst>
              <a:ext uri="{FF2B5EF4-FFF2-40B4-BE49-F238E27FC236}">
                <a16:creationId xmlns:a16="http://schemas.microsoft.com/office/drawing/2014/main" id="{82971F4E-2A82-4A5C-A47A-C2531B41D8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2997200"/>
          <a:ext cx="2520950" cy="1312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6" name="Формула" r:id="rId11" imgW="1333500" imgH="698500" progId="Equation.3">
                  <p:embed/>
                </p:oleObj>
              </mc:Choice>
              <mc:Fallback>
                <p:oleObj name="Формула" r:id="rId11" imgW="1333500" imgH="698500" progId="Equation.3">
                  <p:embed/>
                  <p:pic>
                    <p:nvPicPr>
                      <p:cNvPr id="6177" name="Object 80">
                        <a:extLst>
                          <a:ext uri="{FF2B5EF4-FFF2-40B4-BE49-F238E27FC236}">
                            <a16:creationId xmlns:a16="http://schemas.microsoft.com/office/drawing/2014/main" id="{82971F4E-2A82-4A5C-A47A-C2531B41D8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997200"/>
                        <a:ext cx="2520950" cy="1312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78" name="Rectangle 82">
            <a:extLst>
              <a:ext uri="{FF2B5EF4-FFF2-40B4-BE49-F238E27FC236}">
                <a16:creationId xmlns:a16="http://schemas.microsoft.com/office/drawing/2014/main" id="{3599AD8F-4932-4F5A-8C97-1BD34BAF9B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75" y="3860800"/>
            <a:ext cx="532923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Для этого решение ЗВП должно удовлетворять следующим условиям:</a:t>
            </a:r>
          </a:p>
        </p:txBody>
      </p:sp>
      <p:sp>
        <p:nvSpPr>
          <p:cNvPr id="6179" name="Rectangle 83">
            <a:extLst>
              <a:ext uri="{FF2B5EF4-FFF2-40B4-BE49-F238E27FC236}">
                <a16:creationId xmlns:a16="http://schemas.microsoft.com/office/drawing/2014/main" id="{EBFD808D-8239-4DA9-A6F8-E9F51A1671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2924175"/>
            <a:ext cx="3587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cs typeface="Times New Roman" panose="02020603050405020304" pitchFamily="18" charset="0"/>
              </a:rPr>
              <a:t>,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/>
          </a:p>
        </p:txBody>
      </p:sp>
      <p:sp>
        <p:nvSpPr>
          <p:cNvPr id="6180" name="Rectangle 84">
            <a:extLst>
              <a:ext uri="{FF2B5EF4-FFF2-40B4-BE49-F238E27FC236}">
                <a16:creationId xmlns:a16="http://schemas.microsoft.com/office/drawing/2014/main" id="{C7DF737D-6133-4AEF-B877-310D36DD1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3357563"/>
            <a:ext cx="3587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cs typeface="Times New Roman" panose="02020603050405020304" pitchFamily="18" charset="0"/>
              </a:rPr>
              <a:t>,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/>
          </a:p>
        </p:txBody>
      </p:sp>
      <p:sp>
        <p:nvSpPr>
          <p:cNvPr id="6181" name="Rectangle 85">
            <a:extLst>
              <a:ext uri="{FF2B5EF4-FFF2-40B4-BE49-F238E27FC236}">
                <a16:creationId xmlns:a16="http://schemas.microsoft.com/office/drawing/2014/main" id="{61D956C0-4058-4480-9376-CD29CF475D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3789363"/>
            <a:ext cx="3587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.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/>
          </a:p>
        </p:txBody>
      </p:sp>
      <p:sp>
        <p:nvSpPr>
          <p:cNvPr id="6182" name="Rectangle 87">
            <a:extLst>
              <a:ext uri="{FF2B5EF4-FFF2-40B4-BE49-F238E27FC236}">
                <a16:creationId xmlns:a16="http://schemas.microsoft.com/office/drawing/2014/main" id="{420FFA15-8D15-4FE3-9449-63A7DB1FF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05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6183" name="Object 86">
            <a:extLst>
              <a:ext uri="{FF2B5EF4-FFF2-40B4-BE49-F238E27FC236}">
                <a16:creationId xmlns:a16="http://schemas.microsoft.com/office/drawing/2014/main" id="{F6456E15-C2B6-4012-BB98-B5A339BCB5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8" y="4437063"/>
          <a:ext cx="5113337" cy="222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7" name="Формула" r:id="rId13" imgW="2832100" imgH="1447800" progId="Equation.3">
                  <p:embed/>
                </p:oleObj>
              </mc:Choice>
              <mc:Fallback>
                <p:oleObj name="Формула" r:id="rId13" imgW="2832100" imgH="1447800" progId="Equation.3">
                  <p:embed/>
                  <p:pic>
                    <p:nvPicPr>
                      <p:cNvPr id="6183" name="Object 86">
                        <a:extLst>
                          <a:ext uri="{FF2B5EF4-FFF2-40B4-BE49-F238E27FC236}">
                            <a16:creationId xmlns:a16="http://schemas.microsoft.com/office/drawing/2014/main" id="{F6456E15-C2B6-4012-BB98-B5A339BCB5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8" y="4437063"/>
                        <a:ext cx="5113337" cy="222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84" name="Rectangle 89">
            <a:extLst>
              <a:ext uri="{FF2B5EF4-FFF2-40B4-BE49-F238E27FC236}">
                <a16:creationId xmlns:a16="http://schemas.microsoft.com/office/drawing/2014/main" id="{CA0BA2F5-03FE-4DBC-AC6A-67615C1BE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4535488"/>
            <a:ext cx="37449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cs typeface="Times New Roman" panose="02020603050405020304" pitchFamily="18" charset="0"/>
              </a:rPr>
              <a:t>Если  эти условия выполнены, то </a:t>
            </a:r>
            <a:endParaRPr lang="ru-RU" altLang="ru-RU"/>
          </a:p>
        </p:txBody>
      </p:sp>
      <p:graphicFrame>
        <p:nvGraphicFramePr>
          <p:cNvPr id="6185" name="Object 88">
            <a:extLst>
              <a:ext uri="{FF2B5EF4-FFF2-40B4-BE49-F238E27FC236}">
                <a16:creationId xmlns:a16="http://schemas.microsoft.com/office/drawing/2014/main" id="{3164393E-532A-4A89-BA44-C1DF36373C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2725" y="4797425"/>
          <a:ext cx="461963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8" name="Формула" r:id="rId15" imgW="177569" imgH="202936" progId="Equation.3">
                  <p:embed/>
                </p:oleObj>
              </mc:Choice>
              <mc:Fallback>
                <p:oleObj name="Формула" r:id="rId15" imgW="177569" imgH="202936" progId="Equation.3">
                  <p:embed/>
                  <p:pic>
                    <p:nvPicPr>
                      <p:cNvPr id="6185" name="Object 88">
                        <a:extLst>
                          <a:ext uri="{FF2B5EF4-FFF2-40B4-BE49-F238E27FC236}">
                            <a16:creationId xmlns:a16="http://schemas.microsoft.com/office/drawing/2014/main" id="{3164393E-532A-4A89-BA44-C1DF36373C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4797425"/>
                        <a:ext cx="461963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86" name="Rectangle 90">
            <a:extLst>
              <a:ext uri="{FF2B5EF4-FFF2-40B4-BE49-F238E27FC236}">
                <a16:creationId xmlns:a16="http://schemas.microsoft.com/office/drawing/2014/main" id="{7958AB9D-9452-48FE-8165-9341676FF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4868863"/>
            <a:ext cx="25923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cs typeface="Times New Roman" panose="02020603050405020304" pitchFamily="18" charset="0"/>
              </a:rPr>
              <a:t> </a:t>
            </a:r>
            <a:r>
              <a:rPr lang="ru-RU" altLang="ru-RU">
                <a:cs typeface="Times New Roman" panose="02020603050405020304" pitchFamily="18" charset="0"/>
              </a:rPr>
              <a:t>– решение ЗВП.</a:t>
            </a:r>
            <a:endParaRPr lang="ru-RU" altLang="ru-RU"/>
          </a:p>
        </p:txBody>
      </p:sp>
      <p:sp>
        <p:nvSpPr>
          <p:cNvPr id="6187" name="Rectangle 92">
            <a:extLst>
              <a:ext uri="{FF2B5EF4-FFF2-40B4-BE49-F238E27FC236}">
                <a16:creationId xmlns:a16="http://schemas.microsoft.com/office/drawing/2014/main" id="{E50480DE-FFB4-4ECC-8F00-E2A8F5303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5300663"/>
            <a:ext cx="12239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cs typeface="Times New Roman" panose="02020603050405020304" pitchFamily="18" charset="0"/>
              </a:rPr>
              <a:t>Условия: </a:t>
            </a:r>
            <a:endParaRPr lang="ru-RU" altLang="ru-RU"/>
          </a:p>
        </p:txBody>
      </p:sp>
      <p:sp>
        <p:nvSpPr>
          <p:cNvPr id="6188" name="Rectangle 94">
            <a:extLst>
              <a:ext uri="{FF2B5EF4-FFF2-40B4-BE49-F238E27FC236}">
                <a16:creationId xmlns:a16="http://schemas.microsoft.com/office/drawing/2014/main" id="{DAA7363D-4245-4500-AE9C-720584F3FA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5740400"/>
            <a:ext cx="374491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- называются </a:t>
            </a:r>
            <a:r>
              <a:rPr lang="ru-RU" altLang="ru-RU" b="1" i="1"/>
              <a:t>условиями дополняющей нежесткости</a:t>
            </a:r>
            <a:r>
              <a:rPr lang="ru-RU" altLang="ru-RU"/>
              <a:t>.</a:t>
            </a:r>
          </a:p>
        </p:txBody>
      </p:sp>
      <p:sp>
        <p:nvSpPr>
          <p:cNvPr id="6189" name="Rectangle 95">
            <a:extLst>
              <a:ext uri="{FF2B5EF4-FFF2-40B4-BE49-F238E27FC236}">
                <a16:creationId xmlns:a16="http://schemas.microsoft.com/office/drawing/2014/main" id="{25B2819F-723E-4B3D-B97A-E95141365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4437063"/>
            <a:ext cx="3587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cs typeface="Times New Roman" panose="02020603050405020304" pitchFamily="18" charset="0"/>
              </a:rPr>
              <a:t>,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/>
          </a:p>
        </p:txBody>
      </p:sp>
      <p:sp>
        <p:nvSpPr>
          <p:cNvPr id="6190" name="Rectangle 96">
            <a:extLst>
              <a:ext uri="{FF2B5EF4-FFF2-40B4-BE49-F238E27FC236}">
                <a16:creationId xmlns:a16="http://schemas.microsoft.com/office/drawing/2014/main" id="{01AE09E5-2F87-4A3C-A6DA-37C879D5D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5876925"/>
            <a:ext cx="3587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cs typeface="Times New Roman" panose="02020603050405020304" pitchFamily="18" charset="0"/>
              </a:rPr>
              <a:t>,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/>
          </a:p>
        </p:txBody>
      </p:sp>
      <p:sp>
        <p:nvSpPr>
          <p:cNvPr id="6191" name="Rectangle 97">
            <a:extLst>
              <a:ext uri="{FF2B5EF4-FFF2-40B4-BE49-F238E27FC236}">
                <a16:creationId xmlns:a16="http://schemas.microsoft.com/office/drawing/2014/main" id="{4CEE81D8-1F05-4326-9EF1-F2CE58CBB3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6237288"/>
            <a:ext cx="247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.</a:t>
            </a:r>
          </a:p>
        </p:txBody>
      </p:sp>
      <p:sp>
        <p:nvSpPr>
          <p:cNvPr id="6192" name="Rectangle 98">
            <a:extLst>
              <a:ext uri="{FF2B5EF4-FFF2-40B4-BE49-F238E27FC236}">
                <a16:creationId xmlns:a16="http://schemas.microsoft.com/office/drawing/2014/main" id="{A0216965-D712-446B-B6F0-E13A2A7C35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5300663"/>
            <a:ext cx="247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7E2F484-340C-4023-A727-3A544E28AA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3.4. Теория двойственности</a:t>
            </a:r>
            <a:endParaRPr lang="ru-RU" alt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1" name="Rectangle 5">
            <a:extLst>
              <a:ext uri="{FF2B5EF4-FFF2-40B4-BE49-F238E27FC236}">
                <a16:creationId xmlns:a16="http://schemas.microsoft.com/office/drawing/2014/main" id="{07557593-855B-4B49-AA4B-E1A80A30B9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83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172" name="Rectangle 7">
            <a:extLst>
              <a:ext uri="{FF2B5EF4-FFF2-40B4-BE49-F238E27FC236}">
                <a16:creationId xmlns:a16="http://schemas.microsoft.com/office/drawing/2014/main" id="{23C7CEA0-C362-4D00-B2A3-7A2C9EFA26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49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173" name="Rectangle 8">
            <a:extLst>
              <a:ext uri="{FF2B5EF4-FFF2-40B4-BE49-F238E27FC236}">
                <a16:creationId xmlns:a16="http://schemas.microsoft.com/office/drawing/2014/main" id="{CB755540-9BCA-45F9-AC6F-8B0A2FFC4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174" name="Rectangle 10">
            <a:extLst>
              <a:ext uri="{FF2B5EF4-FFF2-40B4-BE49-F238E27FC236}">
                <a16:creationId xmlns:a16="http://schemas.microsoft.com/office/drawing/2014/main" id="{E14DC7EF-0217-446E-BF50-376AF7C22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449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175" name="Rectangle 12">
            <a:extLst>
              <a:ext uri="{FF2B5EF4-FFF2-40B4-BE49-F238E27FC236}">
                <a16:creationId xmlns:a16="http://schemas.microsoft.com/office/drawing/2014/main" id="{8431C3C8-CEBA-425E-8544-31128DDBA6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176" name="Rectangle 15">
            <a:extLst>
              <a:ext uri="{FF2B5EF4-FFF2-40B4-BE49-F238E27FC236}">
                <a16:creationId xmlns:a16="http://schemas.microsoft.com/office/drawing/2014/main" id="{347BA7A6-6433-42AD-862C-D1EC631F55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177" name="Rectangle 19">
            <a:extLst>
              <a:ext uri="{FF2B5EF4-FFF2-40B4-BE49-F238E27FC236}">
                <a16:creationId xmlns:a16="http://schemas.microsoft.com/office/drawing/2014/main" id="{7F2767D6-B247-43FC-A276-8140A210A2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178" name="Rectangle 24">
            <a:extLst>
              <a:ext uri="{FF2B5EF4-FFF2-40B4-BE49-F238E27FC236}">
                <a16:creationId xmlns:a16="http://schemas.microsoft.com/office/drawing/2014/main" id="{0C5F6CD3-4A18-4005-B38C-DC1807CF78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41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179" name="Rectangle 28">
            <a:extLst>
              <a:ext uri="{FF2B5EF4-FFF2-40B4-BE49-F238E27FC236}">
                <a16:creationId xmlns:a16="http://schemas.microsoft.com/office/drawing/2014/main" id="{D9292E6C-10FD-427C-8022-D084CEC92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180" name="Rectangle 29">
            <a:extLst>
              <a:ext uri="{FF2B5EF4-FFF2-40B4-BE49-F238E27FC236}">
                <a16:creationId xmlns:a16="http://schemas.microsoft.com/office/drawing/2014/main" id="{EE1CA3AF-B58A-4DB0-A166-1E553277B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449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181" name="Rectangle 32">
            <a:extLst>
              <a:ext uri="{FF2B5EF4-FFF2-40B4-BE49-F238E27FC236}">
                <a16:creationId xmlns:a16="http://schemas.microsoft.com/office/drawing/2014/main" id="{19C4CBDD-22A6-496B-BB43-D3413CDF28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182" name="Rectangle 34">
            <a:extLst>
              <a:ext uri="{FF2B5EF4-FFF2-40B4-BE49-F238E27FC236}">
                <a16:creationId xmlns:a16="http://schemas.microsoft.com/office/drawing/2014/main" id="{80381FE6-6964-4519-815E-BFD67E710F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81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183" name="Rectangle 36">
            <a:extLst>
              <a:ext uri="{FF2B5EF4-FFF2-40B4-BE49-F238E27FC236}">
                <a16:creationId xmlns:a16="http://schemas.microsoft.com/office/drawing/2014/main" id="{25FAEDF0-49C9-4EBA-92AE-A884CF52BD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84313"/>
            <a:ext cx="90693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 b="1" u="sng"/>
              <a:t>3.4.1.Седловая точка функции Лагранжа. Двойственность.</a:t>
            </a:r>
          </a:p>
        </p:txBody>
      </p:sp>
      <p:sp>
        <p:nvSpPr>
          <p:cNvPr id="7184" name="Rectangle 39">
            <a:extLst>
              <a:ext uri="{FF2B5EF4-FFF2-40B4-BE49-F238E27FC236}">
                <a16:creationId xmlns:a16="http://schemas.microsoft.com/office/drawing/2014/main" id="{EA996D49-6A03-47B2-B52E-CD318E4B43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185" name="Rectangle 40">
            <a:extLst>
              <a:ext uri="{FF2B5EF4-FFF2-40B4-BE49-F238E27FC236}">
                <a16:creationId xmlns:a16="http://schemas.microsoft.com/office/drawing/2014/main" id="{E49DD6ED-1623-49F4-855C-4125EE4F0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73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186" name="Rectangle 43">
            <a:extLst>
              <a:ext uri="{FF2B5EF4-FFF2-40B4-BE49-F238E27FC236}">
                <a16:creationId xmlns:a16="http://schemas.microsoft.com/office/drawing/2014/main" id="{D723A15E-9E8B-4020-9713-DE3BA5C7E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187" name="Rectangle 46">
            <a:extLst>
              <a:ext uri="{FF2B5EF4-FFF2-40B4-BE49-F238E27FC236}">
                <a16:creationId xmlns:a16="http://schemas.microsoft.com/office/drawing/2014/main" id="{F0B5D12E-51A1-4F9C-A584-FC8319054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62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ru-RU" altLang="ru-RU"/>
          </a:p>
        </p:txBody>
      </p:sp>
      <p:sp>
        <p:nvSpPr>
          <p:cNvPr id="7188" name="Rectangle 51">
            <a:extLst>
              <a:ext uri="{FF2B5EF4-FFF2-40B4-BE49-F238E27FC236}">
                <a16:creationId xmlns:a16="http://schemas.microsoft.com/office/drawing/2014/main" id="{F50D08EC-A32E-4136-B286-82FC2915A7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189" name="Rectangle 52">
            <a:extLst>
              <a:ext uri="{FF2B5EF4-FFF2-40B4-BE49-F238E27FC236}">
                <a16:creationId xmlns:a16="http://schemas.microsoft.com/office/drawing/2014/main" id="{5CB7672E-9A60-4A5E-923B-A0F73566B3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274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190" name="Rectangle 55">
            <a:extLst>
              <a:ext uri="{FF2B5EF4-FFF2-40B4-BE49-F238E27FC236}">
                <a16:creationId xmlns:a16="http://schemas.microsoft.com/office/drawing/2014/main" id="{4441C4CE-AC77-43ED-AEF3-A37C935A9A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57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191" name="Rectangle 56">
            <a:extLst>
              <a:ext uri="{FF2B5EF4-FFF2-40B4-BE49-F238E27FC236}">
                <a16:creationId xmlns:a16="http://schemas.microsoft.com/office/drawing/2014/main" id="{81D5E781-9473-44EF-86E0-0B5C43853A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4581525"/>
            <a:ext cx="247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.</a:t>
            </a:r>
          </a:p>
        </p:txBody>
      </p:sp>
      <p:sp>
        <p:nvSpPr>
          <p:cNvPr id="7192" name="Rectangle 60">
            <a:extLst>
              <a:ext uri="{FF2B5EF4-FFF2-40B4-BE49-F238E27FC236}">
                <a16:creationId xmlns:a16="http://schemas.microsoft.com/office/drawing/2014/main" id="{5AA4268D-8959-4244-8155-800231380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338" y="3500438"/>
            <a:ext cx="54721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/>
              <a:t>Тогда функция Лагранжа может быть записана:</a:t>
            </a:r>
          </a:p>
        </p:txBody>
      </p:sp>
      <p:sp>
        <p:nvSpPr>
          <p:cNvPr id="7193" name="Rectangle 62">
            <a:extLst>
              <a:ext uri="{FF2B5EF4-FFF2-40B4-BE49-F238E27FC236}">
                <a16:creationId xmlns:a16="http://schemas.microsoft.com/office/drawing/2014/main" id="{29CE9304-08BF-4B0E-BF6C-0C53DDBF8A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989138"/>
            <a:ext cx="7016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Рассмотрим упрощенную задачу выпуклого программирования.</a:t>
            </a:r>
          </a:p>
          <a:p>
            <a:pPr eaLnBrk="1" hangingPunct="1"/>
            <a:r>
              <a:rPr lang="ru-RU" altLang="ru-RU"/>
              <a:t>Пусть заданы условия на </a:t>
            </a:r>
            <a:r>
              <a:rPr lang="en-US" altLang="ru-RU"/>
              <a:t>f</a:t>
            </a:r>
            <a:r>
              <a:rPr lang="ru-RU" altLang="ru-RU"/>
              <a:t>(</a:t>
            </a:r>
            <a:r>
              <a:rPr lang="en-US" altLang="ru-RU"/>
              <a:t>x</a:t>
            </a:r>
            <a:r>
              <a:rPr lang="ru-RU" altLang="ru-RU"/>
              <a:t>)  и </a:t>
            </a:r>
            <a:r>
              <a:rPr lang="en-US" altLang="ru-RU"/>
              <a:t>g</a:t>
            </a:r>
            <a:r>
              <a:rPr lang="ru-RU" altLang="ru-RU"/>
              <a:t> (</a:t>
            </a:r>
            <a:r>
              <a:rPr lang="en-US" altLang="ru-RU"/>
              <a:t>x</a:t>
            </a:r>
            <a:r>
              <a:rPr lang="ru-RU" altLang="ru-RU"/>
              <a:t>) как и ранее.</a:t>
            </a:r>
          </a:p>
        </p:txBody>
      </p:sp>
      <p:sp>
        <p:nvSpPr>
          <p:cNvPr id="7194" name="Rectangle 64">
            <a:extLst>
              <a:ext uri="{FF2B5EF4-FFF2-40B4-BE49-F238E27FC236}">
                <a16:creationId xmlns:a16="http://schemas.microsoft.com/office/drawing/2014/main" id="{6224F8B4-4E75-42C0-A4BA-DCB213C446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7195" name="Object 63">
            <a:extLst>
              <a:ext uri="{FF2B5EF4-FFF2-40B4-BE49-F238E27FC236}">
                <a16:creationId xmlns:a16="http://schemas.microsoft.com/office/drawing/2014/main" id="{EFEAAA9C-A947-4925-95A7-C658D4EF06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388" y="2636838"/>
          <a:ext cx="2447925" cy="141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6" name="Формула" r:id="rId3" imgW="1270000" imgH="736600" progId="Equation.3">
                  <p:embed/>
                </p:oleObj>
              </mc:Choice>
              <mc:Fallback>
                <p:oleObj name="Формула" r:id="rId3" imgW="1270000" imgH="736600" progId="Equation.3">
                  <p:embed/>
                  <p:pic>
                    <p:nvPicPr>
                      <p:cNvPr id="7195" name="Object 63">
                        <a:extLst>
                          <a:ext uri="{FF2B5EF4-FFF2-40B4-BE49-F238E27FC236}">
                            <a16:creationId xmlns:a16="http://schemas.microsoft.com/office/drawing/2014/main" id="{EFEAAA9C-A947-4925-95A7-C658D4EF06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2636838"/>
                        <a:ext cx="2447925" cy="1414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96" name="Rectangle 66">
            <a:extLst>
              <a:ext uri="{FF2B5EF4-FFF2-40B4-BE49-F238E27FC236}">
                <a16:creationId xmlns:a16="http://schemas.microsoft.com/office/drawing/2014/main" id="{428CC433-532A-4368-AE93-893051F22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7197" name="Object 65">
            <a:extLst>
              <a:ext uri="{FF2B5EF4-FFF2-40B4-BE49-F238E27FC236}">
                <a16:creationId xmlns:a16="http://schemas.microsoft.com/office/drawing/2014/main" id="{59EF47B7-0B7F-4DD8-BD06-E50E311C10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3860800"/>
          <a:ext cx="2881313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7" name="Формула" r:id="rId5" imgW="1739900" imgH="444500" progId="Equation.3">
                  <p:embed/>
                </p:oleObj>
              </mc:Choice>
              <mc:Fallback>
                <p:oleObj name="Формула" r:id="rId5" imgW="1739900" imgH="444500" progId="Equation.3">
                  <p:embed/>
                  <p:pic>
                    <p:nvPicPr>
                      <p:cNvPr id="7197" name="Object 65">
                        <a:extLst>
                          <a:ext uri="{FF2B5EF4-FFF2-40B4-BE49-F238E27FC236}">
                            <a16:creationId xmlns:a16="http://schemas.microsoft.com/office/drawing/2014/main" id="{59EF47B7-0B7F-4DD8-BD06-E50E311C10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3860800"/>
                        <a:ext cx="2881313" cy="741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98" name="Rectangle 67">
            <a:extLst>
              <a:ext uri="{FF2B5EF4-FFF2-40B4-BE49-F238E27FC236}">
                <a16:creationId xmlns:a16="http://schemas.microsoft.com/office/drawing/2014/main" id="{56C4B6E4-745A-41FF-A8B8-C8F607033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4076700"/>
            <a:ext cx="247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.</a:t>
            </a:r>
          </a:p>
        </p:txBody>
      </p:sp>
      <p:sp>
        <p:nvSpPr>
          <p:cNvPr id="7199" name="Rectangle 68">
            <a:extLst>
              <a:ext uri="{FF2B5EF4-FFF2-40B4-BE49-F238E27FC236}">
                <a16:creationId xmlns:a16="http://schemas.microsoft.com/office/drawing/2014/main" id="{57C2FF4E-2620-446F-A414-623461C11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3860800"/>
            <a:ext cx="46370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Рассмотрим случай, когда  </a:t>
            </a:r>
            <a:r>
              <a:rPr lang="en-US" altLang="ru-RU"/>
              <a:t>x </a:t>
            </a:r>
            <a:r>
              <a:rPr lang="ru-RU" altLang="ru-RU"/>
              <a:t>= </a:t>
            </a:r>
            <a:r>
              <a:rPr lang="en-US" altLang="ru-RU"/>
              <a:t>x</a:t>
            </a:r>
            <a:r>
              <a:rPr lang="ru-RU" altLang="ru-RU"/>
              <a:t>1, </a:t>
            </a:r>
            <a:r>
              <a:rPr lang="ru-RU" altLang="ru-RU">
                <a:sym typeface="Symbol" panose="05050102010706020507" pitchFamily="18" charset="2"/>
              </a:rPr>
              <a:t></a:t>
            </a:r>
            <a:r>
              <a:rPr lang="ru-RU" altLang="ru-RU"/>
              <a:t> = </a:t>
            </a:r>
            <a:r>
              <a:rPr lang="ru-RU" altLang="ru-RU">
                <a:sym typeface="Symbol" panose="05050102010706020507" pitchFamily="18" charset="2"/>
              </a:rPr>
              <a:t></a:t>
            </a:r>
            <a:r>
              <a:rPr lang="ru-RU" altLang="ru-RU"/>
              <a:t>1</a:t>
            </a:r>
            <a:r>
              <a:rPr lang="ru-RU" altLang="ru-RU">
                <a:sym typeface="Symbol" panose="05050102010706020507" pitchFamily="18" charset="2"/>
              </a:rPr>
              <a:t> :</a:t>
            </a:r>
          </a:p>
        </p:txBody>
      </p:sp>
      <p:sp>
        <p:nvSpPr>
          <p:cNvPr id="7200" name="Rectangle 70">
            <a:extLst>
              <a:ext uri="{FF2B5EF4-FFF2-40B4-BE49-F238E27FC236}">
                <a16:creationId xmlns:a16="http://schemas.microsoft.com/office/drawing/2014/main" id="{506CD41E-FF9A-4BF3-9786-383A8DEF4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7201" name="Object 69">
            <a:extLst>
              <a:ext uri="{FF2B5EF4-FFF2-40B4-BE49-F238E27FC236}">
                <a16:creationId xmlns:a16="http://schemas.microsoft.com/office/drawing/2014/main" id="{B4C0EFDD-F84B-4AFA-9326-3C6B0FF42C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388" y="4541838"/>
          <a:ext cx="316865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8" name="Формула" r:id="rId7" imgW="1892300" imgH="228600" progId="Equation.3">
                  <p:embed/>
                </p:oleObj>
              </mc:Choice>
              <mc:Fallback>
                <p:oleObj name="Формула" r:id="rId7" imgW="1892300" imgH="228600" progId="Equation.3">
                  <p:embed/>
                  <p:pic>
                    <p:nvPicPr>
                      <p:cNvPr id="7201" name="Object 69">
                        <a:extLst>
                          <a:ext uri="{FF2B5EF4-FFF2-40B4-BE49-F238E27FC236}">
                            <a16:creationId xmlns:a16="http://schemas.microsoft.com/office/drawing/2014/main" id="{B4C0EFDD-F84B-4AFA-9326-3C6B0FF42C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4541838"/>
                        <a:ext cx="316865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02" name="Rectangle 71">
            <a:extLst>
              <a:ext uri="{FF2B5EF4-FFF2-40B4-BE49-F238E27FC236}">
                <a16:creationId xmlns:a16="http://schemas.microsoft.com/office/drawing/2014/main" id="{A439F33A-40AE-4C22-A8A3-341728E0C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43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pic>
        <p:nvPicPr>
          <p:cNvPr id="7203" name="Picture 72" descr="83">
            <a:extLst>
              <a:ext uri="{FF2B5EF4-FFF2-40B4-BE49-F238E27FC236}">
                <a16:creationId xmlns:a16="http://schemas.microsoft.com/office/drawing/2014/main" id="{AA17AD5B-2A01-433F-93F3-D84AD8A6D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300" y="4292600"/>
            <a:ext cx="4681538" cy="234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04" name="Rectangle 74">
            <a:extLst>
              <a:ext uri="{FF2B5EF4-FFF2-40B4-BE49-F238E27FC236}">
                <a16:creationId xmlns:a16="http://schemas.microsoft.com/office/drawing/2014/main" id="{51D4581C-AA55-4076-BF44-1F934F208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013325"/>
            <a:ext cx="3529013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cs typeface="Times New Roman" panose="02020603050405020304" pitchFamily="18" charset="0"/>
              </a:rPr>
              <a:t>Таким образом седловая точка функции Лагранжа (функции Куна-Таккера) является </a:t>
            </a:r>
            <a:endParaRPr lang="ru-RU" altLang="ru-RU"/>
          </a:p>
        </p:txBody>
      </p:sp>
      <p:graphicFrame>
        <p:nvGraphicFramePr>
          <p:cNvPr id="7205" name="Object 73">
            <a:extLst>
              <a:ext uri="{FF2B5EF4-FFF2-40B4-BE49-F238E27FC236}">
                <a16:creationId xmlns:a16="http://schemas.microsoft.com/office/drawing/2014/main" id="{79346C58-939F-4B01-A15C-C40BD6D645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71775" y="5518150"/>
          <a:ext cx="935038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9" name="Формула" r:id="rId10" imgW="520474" imgH="266584" progId="Equation.3">
                  <p:embed/>
                </p:oleObj>
              </mc:Choice>
              <mc:Fallback>
                <p:oleObj name="Формула" r:id="rId10" imgW="520474" imgH="266584" progId="Equation.3">
                  <p:embed/>
                  <p:pic>
                    <p:nvPicPr>
                      <p:cNvPr id="7205" name="Object 73">
                        <a:extLst>
                          <a:ext uri="{FF2B5EF4-FFF2-40B4-BE49-F238E27FC236}">
                            <a16:creationId xmlns:a16="http://schemas.microsoft.com/office/drawing/2014/main" id="{79346C58-939F-4B01-A15C-C40BD6D645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5518150"/>
                        <a:ext cx="935038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06" name="Rectangle 75">
            <a:extLst>
              <a:ext uri="{FF2B5EF4-FFF2-40B4-BE49-F238E27FC236}">
                <a16:creationId xmlns:a16="http://schemas.microsoft.com/office/drawing/2014/main" id="{67341186-A7ED-45BF-A0AB-37E73E7A4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4813" y="3562350"/>
            <a:ext cx="2698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cs typeface="Times New Roman" panose="02020603050405020304" pitchFamily="18" charset="0"/>
              </a:rPr>
              <a:t>. </a:t>
            </a:r>
            <a:endParaRPr lang="ru-RU" altLang="ru-RU"/>
          </a:p>
        </p:txBody>
      </p:sp>
      <p:sp>
        <p:nvSpPr>
          <p:cNvPr id="7207" name="Rectangle 77">
            <a:extLst>
              <a:ext uri="{FF2B5EF4-FFF2-40B4-BE49-F238E27FC236}">
                <a16:creationId xmlns:a16="http://schemas.microsoft.com/office/drawing/2014/main" id="{945A978F-F382-4D03-9115-131475614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208" name="Rectangle 78">
            <a:extLst>
              <a:ext uri="{FF2B5EF4-FFF2-40B4-BE49-F238E27FC236}">
                <a16:creationId xmlns:a16="http://schemas.microsoft.com/office/drawing/2014/main" id="{BB83A39C-023B-48EC-A56F-0A4195058A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75" y="5589588"/>
            <a:ext cx="247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.</a:t>
            </a:r>
          </a:p>
        </p:txBody>
      </p:sp>
      <p:sp>
        <p:nvSpPr>
          <p:cNvPr id="7209" name="Rectangle 79">
            <a:extLst>
              <a:ext uri="{FF2B5EF4-FFF2-40B4-BE49-F238E27FC236}">
                <a16:creationId xmlns:a16="http://schemas.microsoft.com/office/drawing/2014/main" id="{FEBE4834-21A3-4A9F-A993-A34B1934C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949950"/>
            <a:ext cx="352901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Именно эта точка является решением ЗВП.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9B360D2-22A6-4BD4-9C26-9D421FC3F8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1143000"/>
          </a:xfrm>
        </p:spPr>
        <p:txBody>
          <a:bodyPr/>
          <a:lstStyle/>
          <a:p>
            <a:pPr eaLnBrk="1" hangingPunct="1"/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3.4. Теория двойственности.</a:t>
            </a:r>
          </a:p>
        </p:txBody>
      </p:sp>
      <p:sp>
        <p:nvSpPr>
          <p:cNvPr id="8195" name="Rectangle 4">
            <a:extLst>
              <a:ext uri="{FF2B5EF4-FFF2-40B4-BE49-F238E27FC236}">
                <a16:creationId xmlns:a16="http://schemas.microsoft.com/office/drawing/2014/main" id="{626835C1-B42E-42D3-ABE7-4961B91FEF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83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8196" name="Rectangle 5">
            <a:extLst>
              <a:ext uri="{FF2B5EF4-FFF2-40B4-BE49-F238E27FC236}">
                <a16:creationId xmlns:a16="http://schemas.microsoft.com/office/drawing/2014/main" id="{EE92AA94-29F7-44A7-970A-94743D7DE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49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8197" name="Rectangle 6">
            <a:extLst>
              <a:ext uri="{FF2B5EF4-FFF2-40B4-BE49-F238E27FC236}">
                <a16:creationId xmlns:a16="http://schemas.microsoft.com/office/drawing/2014/main" id="{B9401935-60E8-4A69-BB70-1E34E57FF8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8198" name="Rectangle 7">
            <a:extLst>
              <a:ext uri="{FF2B5EF4-FFF2-40B4-BE49-F238E27FC236}">
                <a16:creationId xmlns:a16="http://schemas.microsoft.com/office/drawing/2014/main" id="{7A6B7E0B-EF41-4699-AF0E-CFC97B032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449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8199" name="Rectangle 9">
            <a:extLst>
              <a:ext uri="{FF2B5EF4-FFF2-40B4-BE49-F238E27FC236}">
                <a16:creationId xmlns:a16="http://schemas.microsoft.com/office/drawing/2014/main" id="{46A58717-E289-42F0-917C-1520515E2A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8200" name="Rectangle 10">
            <a:extLst>
              <a:ext uri="{FF2B5EF4-FFF2-40B4-BE49-F238E27FC236}">
                <a16:creationId xmlns:a16="http://schemas.microsoft.com/office/drawing/2014/main" id="{AD4F8C41-1325-4EA3-86BF-6700AAD26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8201" name="Rectangle 12">
            <a:extLst>
              <a:ext uri="{FF2B5EF4-FFF2-40B4-BE49-F238E27FC236}">
                <a16:creationId xmlns:a16="http://schemas.microsoft.com/office/drawing/2014/main" id="{36DCEE0F-E0E9-4C75-92F9-6EF0501EE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41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ru-RU" altLang="ru-RU"/>
          </a:p>
        </p:txBody>
      </p:sp>
      <p:sp>
        <p:nvSpPr>
          <p:cNvPr id="8202" name="Rectangle 15">
            <a:extLst>
              <a:ext uri="{FF2B5EF4-FFF2-40B4-BE49-F238E27FC236}">
                <a16:creationId xmlns:a16="http://schemas.microsoft.com/office/drawing/2014/main" id="{E97DF8ED-DD79-43F1-B80F-52867E70C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2413" y="3284538"/>
            <a:ext cx="91440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8203" name="Rectangle 21">
            <a:extLst>
              <a:ext uri="{FF2B5EF4-FFF2-40B4-BE49-F238E27FC236}">
                <a16:creationId xmlns:a16="http://schemas.microsoft.com/office/drawing/2014/main" id="{69165FCE-7699-4939-90E3-ED396EBE56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11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8204" name="Rectangle 31">
            <a:extLst>
              <a:ext uri="{FF2B5EF4-FFF2-40B4-BE49-F238E27FC236}">
                <a16:creationId xmlns:a16="http://schemas.microsoft.com/office/drawing/2014/main" id="{3875D1A9-D907-426D-962D-F9A94FE2E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492250"/>
            <a:ext cx="820896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u="sng"/>
              <a:t>Задача может быть поставлена как минимаксная и может быть разбита на решение двух задач:</a:t>
            </a:r>
          </a:p>
        </p:txBody>
      </p:sp>
      <p:sp>
        <p:nvSpPr>
          <p:cNvPr id="8205" name="Rectangle 32">
            <a:extLst>
              <a:ext uri="{FF2B5EF4-FFF2-40B4-BE49-F238E27FC236}">
                <a16:creationId xmlns:a16="http://schemas.microsoft.com/office/drawing/2014/main" id="{721B6B05-89A9-4C07-B81D-798F113FB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21336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8206" name="Rectangle 34">
            <a:extLst>
              <a:ext uri="{FF2B5EF4-FFF2-40B4-BE49-F238E27FC236}">
                <a16:creationId xmlns:a16="http://schemas.microsoft.com/office/drawing/2014/main" id="{4C7CE78A-D35A-41D8-91EE-87DB5581ED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8207" name="Rectangle 37">
            <a:extLst>
              <a:ext uri="{FF2B5EF4-FFF2-40B4-BE49-F238E27FC236}">
                <a16:creationId xmlns:a16="http://schemas.microsoft.com/office/drawing/2014/main" id="{90A6C96F-C7E0-46A4-9831-C57716209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8208" name="Rectangle 40">
            <a:extLst>
              <a:ext uri="{FF2B5EF4-FFF2-40B4-BE49-F238E27FC236}">
                <a16:creationId xmlns:a16="http://schemas.microsoft.com/office/drawing/2014/main" id="{9EA4D1EF-D8DE-4C26-85D9-669B2EBA0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8209" name="Rectangle 43">
            <a:extLst>
              <a:ext uri="{FF2B5EF4-FFF2-40B4-BE49-F238E27FC236}">
                <a16:creationId xmlns:a16="http://schemas.microsoft.com/office/drawing/2014/main" id="{C01C0315-D76A-47F4-A868-30A29A436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8210" name="Rectangle 47">
            <a:extLst>
              <a:ext uri="{FF2B5EF4-FFF2-40B4-BE49-F238E27FC236}">
                <a16:creationId xmlns:a16="http://schemas.microsoft.com/office/drawing/2014/main" id="{3A37246D-716C-4881-B8F1-92D9AF20E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8211" name="Rectangle 49">
            <a:extLst>
              <a:ext uri="{FF2B5EF4-FFF2-40B4-BE49-F238E27FC236}">
                <a16:creationId xmlns:a16="http://schemas.microsoft.com/office/drawing/2014/main" id="{90727774-5EC4-4465-BD76-D1FCC156F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133600"/>
            <a:ext cx="58896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AutoNum type="arabicPeriod"/>
            </a:pPr>
            <a:r>
              <a:rPr lang="ru-RU" altLang="ru-RU" b="1"/>
              <a:t>Прямая задача</a:t>
            </a:r>
            <a:r>
              <a:rPr lang="ru-RU" altLang="ru-RU"/>
              <a:t> –                                           , </a:t>
            </a:r>
          </a:p>
          <a:p>
            <a:pPr eaLnBrk="1" hangingPunct="1"/>
            <a:r>
              <a:rPr lang="ru-RU" altLang="ru-RU"/>
              <a:t>         при </a:t>
            </a:r>
            <a:r>
              <a:rPr lang="ru-RU" altLang="ru-RU">
                <a:sym typeface="Symbol" panose="05050102010706020507" pitchFamily="18" charset="2"/>
              </a:rPr>
              <a:t></a:t>
            </a:r>
            <a:r>
              <a:rPr lang="ru-RU" altLang="ru-RU"/>
              <a:t>=</a:t>
            </a:r>
            <a:r>
              <a:rPr lang="ru-RU" altLang="ru-RU">
                <a:sym typeface="Symbol" panose="05050102010706020507" pitchFamily="18" charset="2"/>
              </a:rPr>
              <a:t></a:t>
            </a:r>
            <a:r>
              <a:rPr lang="ru-RU" altLang="ru-RU"/>
              <a:t>(</a:t>
            </a:r>
            <a:r>
              <a:rPr lang="en-US" altLang="ru-RU"/>
              <a:t>x</a:t>
            </a:r>
            <a:r>
              <a:rPr lang="ru-RU" altLang="ru-RU"/>
              <a:t>)–множитель Лагранжа (Куна-Таккера)</a:t>
            </a:r>
          </a:p>
        </p:txBody>
      </p:sp>
      <p:sp>
        <p:nvSpPr>
          <p:cNvPr id="8212" name="Rectangle 51">
            <a:extLst>
              <a:ext uri="{FF2B5EF4-FFF2-40B4-BE49-F238E27FC236}">
                <a16:creationId xmlns:a16="http://schemas.microsoft.com/office/drawing/2014/main" id="{DEFE7394-264F-4433-A287-926FDC088D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8213" name="Object 50">
            <a:extLst>
              <a:ext uri="{FF2B5EF4-FFF2-40B4-BE49-F238E27FC236}">
                <a16:creationId xmlns:a16="http://schemas.microsoft.com/office/drawing/2014/main" id="{5A1800E7-D8EE-4142-9561-F49B8FD69D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87675" y="2051050"/>
          <a:ext cx="360045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0" name="Формула" r:id="rId3" imgW="2019300" imgH="254000" progId="Equation.3">
                  <p:embed/>
                </p:oleObj>
              </mc:Choice>
              <mc:Fallback>
                <p:oleObj name="Формула" r:id="rId3" imgW="2019300" imgH="254000" progId="Equation.3">
                  <p:embed/>
                  <p:pic>
                    <p:nvPicPr>
                      <p:cNvPr id="8213" name="Object 50">
                        <a:extLst>
                          <a:ext uri="{FF2B5EF4-FFF2-40B4-BE49-F238E27FC236}">
                            <a16:creationId xmlns:a16="http://schemas.microsoft.com/office/drawing/2014/main" id="{5A1800E7-D8EE-4142-9561-F49B8FD69D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2051050"/>
                        <a:ext cx="3600450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4" name="Rectangle 52">
            <a:extLst>
              <a:ext uri="{FF2B5EF4-FFF2-40B4-BE49-F238E27FC236}">
                <a16:creationId xmlns:a16="http://schemas.microsoft.com/office/drawing/2014/main" id="{73DDCC9B-C8A8-4C71-94D8-615B65C3E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781300"/>
            <a:ext cx="32861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2. </a:t>
            </a:r>
            <a:r>
              <a:rPr lang="ru-RU" altLang="ru-RU" b="1"/>
              <a:t>Двойственная задача –   </a:t>
            </a:r>
          </a:p>
        </p:txBody>
      </p:sp>
      <p:sp>
        <p:nvSpPr>
          <p:cNvPr id="8215" name="Rectangle 54">
            <a:extLst>
              <a:ext uri="{FF2B5EF4-FFF2-40B4-BE49-F238E27FC236}">
                <a16:creationId xmlns:a16="http://schemas.microsoft.com/office/drawing/2014/main" id="{FC8DCC1D-FFB5-438D-897E-3CE928ECDB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8216" name="Object 53">
            <a:extLst>
              <a:ext uri="{FF2B5EF4-FFF2-40B4-BE49-F238E27FC236}">
                <a16:creationId xmlns:a16="http://schemas.microsoft.com/office/drawing/2014/main" id="{D9326D59-0DCC-48E2-B446-4D0BFF828F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00" y="2781300"/>
          <a:ext cx="3527425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1" name="Формула" r:id="rId5" imgW="2044700" imgH="254000" progId="Equation.3">
                  <p:embed/>
                </p:oleObj>
              </mc:Choice>
              <mc:Fallback>
                <p:oleObj name="Формула" r:id="rId5" imgW="2044700" imgH="254000" progId="Equation.3">
                  <p:embed/>
                  <p:pic>
                    <p:nvPicPr>
                      <p:cNvPr id="8216" name="Object 53">
                        <a:extLst>
                          <a:ext uri="{FF2B5EF4-FFF2-40B4-BE49-F238E27FC236}">
                            <a16:creationId xmlns:a16="http://schemas.microsoft.com/office/drawing/2014/main" id="{D9326D59-0DCC-48E2-B446-4D0BFF828F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2781300"/>
                        <a:ext cx="3527425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7" name="Rectangle 55">
            <a:extLst>
              <a:ext uri="{FF2B5EF4-FFF2-40B4-BE49-F238E27FC236}">
                <a16:creationId xmlns:a16="http://schemas.microsoft.com/office/drawing/2014/main" id="{316B0558-C8A5-4080-8CBE-32B9A2940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3141663"/>
            <a:ext cx="46640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при </a:t>
            </a:r>
            <a:r>
              <a:rPr lang="en-US" altLang="ru-RU"/>
              <a:t>x</a:t>
            </a:r>
            <a:r>
              <a:rPr lang="ru-RU" altLang="ru-RU"/>
              <a:t>=</a:t>
            </a:r>
            <a:r>
              <a:rPr lang="en-US" altLang="ru-RU"/>
              <a:t>x</a:t>
            </a:r>
            <a:r>
              <a:rPr lang="ru-RU" altLang="ru-RU"/>
              <a:t>(</a:t>
            </a:r>
            <a:r>
              <a:rPr lang="en-US" altLang="ru-RU">
                <a:sym typeface="Symbol" panose="05050102010706020507" pitchFamily="18" charset="2"/>
              </a:rPr>
              <a:t></a:t>
            </a:r>
            <a:r>
              <a:rPr lang="ru-RU" altLang="ru-RU"/>
              <a:t>) – переменная проектирования.</a:t>
            </a:r>
          </a:p>
        </p:txBody>
      </p:sp>
      <p:sp>
        <p:nvSpPr>
          <p:cNvPr id="8218" name="Rectangle 56">
            <a:extLst>
              <a:ext uri="{FF2B5EF4-FFF2-40B4-BE49-F238E27FC236}">
                <a16:creationId xmlns:a16="http://schemas.microsoft.com/office/drawing/2014/main" id="{CA4225AE-C324-44BF-9211-B77FC30A22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573463"/>
            <a:ext cx="56245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u="sng"/>
              <a:t>Пример:</a:t>
            </a:r>
            <a:r>
              <a:rPr lang="ru-RU" altLang="ru-RU" b="1"/>
              <a:t> </a:t>
            </a:r>
            <a:r>
              <a:rPr lang="ru-RU" altLang="ru-RU" b="1" u="sng"/>
              <a:t>Задача линейного программирования.</a:t>
            </a:r>
          </a:p>
        </p:txBody>
      </p:sp>
      <p:sp>
        <p:nvSpPr>
          <p:cNvPr id="8219" name="Rectangle 57">
            <a:extLst>
              <a:ext uri="{FF2B5EF4-FFF2-40B4-BE49-F238E27FC236}">
                <a16:creationId xmlns:a16="http://schemas.microsoft.com/office/drawing/2014/main" id="{72F613CF-1200-41FE-BD06-3F269581A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005263"/>
            <a:ext cx="19669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i="1" u="sng"/>
              <a:t>Прямая задача</a:t>
            </a:r>
            <a:r>
              <a:rPr lang="ru-RU" altLang="ru-RU" b="1" i="1"/>
              <a:t>:</a:t>
            </a:r>
          </a:p>
        </p:txBody>
      </p:sp>
      <p:sp>
        <p:nvSpPr>
          <p:cNvPr id="8220" name="Rectangle 59">
            <a:extLst>
              <a:ext uri="{FF2B5EF4-FFF2-40B4-BE49-F238E27FC236}">
                <a16:creationId xmlns:a16="http://schemas.microsoft.com/office/drawing/2014/main" id="{F40EEEF2-6CFC-4C35-8756-23CDCE010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8221" name="Object 58">
            <a:extLst>
              <a:ext uri="{FF2B5EF4-FFF2-40B4-BE49-F238E27FC236}">
                <a16:creationId xmlns:a16="http://schemas.microsoft.com/office/drawing/2014/main" id="{0D4A8716-0138-49E5-A130-39EA902CDA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5875" y="4005263"/>
          <a:ext cx="914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2" name="Формула" r:id="rId7" imgW="520474" imgH="203112" progId="Equation.3">
                  <p:embed/>
                </p:oleObj>
              </mc:Choice>
              <mc:Fallback>
                <p:oleObj name="Формула" r:id="rId7" imgW="520474" imgH="203112" progId="Equation.3">
                  <p:embed/>
                  <p:pic>
                    <p:nvPicPr>
                      <p:cNvPr id="8221" name="Object 58">
                        <a:extLst>
                          <a:ext uri="{FF2B5EF4-FFF2-40B4-BE49-F238E27FC236}">
                            <a16:creationId xmlns:a16="http://schemas.microsoft.com/office/drawing/2014/main" id="{0D4A8716-0138-49E5-A130-39EA902CDA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4005263"/>
                        <a:ext cx="914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22" name="Rectangle 60">
            <a:extLst>
              <a:ext uri="{FF2B5EF4-FFF2-40B4-BE49-F238E27FC236}">
                <a16:creationId xmlns:a16="http://schemas.microsoft.com/office/drawing/2014/main" id="{B9727DCA-0BA1-4F0F-A681-0ACDECFA3D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4005263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b="1"/>
              <a:t>;</a:t>
            </a:r>
            <a:r>
              <a:rPr lang="ru-RU" altLang="ru-RU"/>
              <a:t> </a:t>
            </a:r>
          </a:p>
        </p:txBody>
      </p:sp>
      <p:sp>
        <p:nvSpPr>
          <p:cNvPr id="8223" name="Rectangle 62">
            <a:extLst>
              <a:ext uri="{FF2B5EF4-FFF2-40B4-BE49-F238E27FC236}">
                <a16:creationId xmlns:a16="http://schemas.microsoft.com/office/drawing/2014/main" id="{8A0FF580-2D7A-4664-BBCF-16B9B4EC8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575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8224" name="Object 61">
            <a:extLst>
              <a:ext uri="{FF2B5EF4-FFF2-40B4-BE49-F238E27FC236}">
                <a16:creationId xmlns:a16="http://schemas.microsoft.com/office/drawing/2014/main" id="{0608D02B-8A55-4BA4-A80B-3634737CAC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63938" y="4005263"/>
          <a:ext cx="800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3" name="Формула" r:id="rId9" imgW="457002" imgH="177723" progId="Equation.3">
                  <p:embed/>
                </p:oleObj>
              </mc:Choice>
              <mc:Fallback>
                <p:oleObj name="Формула" r:id="rId9" imgW="457002" imgH="177723" progId="Equation.3">
                  <p:embed/>
                  <p:pic>
                    <p:nvPicPr>
                      <p:cNvPr id="8224" name="Object 61">
                        <a:extLst>
                          <a:ext uri="{FF2B5EF4-FFF2-40B4-BE49-F238E27FC236}">
                            <a16:creationId xmlns:a16="http://schemas.microsoft.com/office/drawing/2014/main" id="{0608D02B-8A55-4BA4-A80B-3634737CAC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4005263"/>
                        <a:ext cx="8001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25" name="Rectangle 63">
            <a:extLst>
              <a:ext uri="{FF2B5EF4-FFF2-40B4-BE49-F238E27FC236}">
                <a16:creationId xmlns:a16="http://schemas.microsoft.com/office/drawing/2014/main" id="{67DEED83-46AD-4BFB-8A29-527A85ED21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663" y="4005263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b="1"/>
              <a:t>;</a:t>
            </a:r>
            <a:r>
              <a:rPr lang="ru-RU" altLang="ru-RU"/>
              <a:t> </a:t>
            </a:r>
          </a:p>
        </p:txBody>
      </p:sp>
      <p:sp>
        <p:nvSpPr>
          <p:cNvPr id="8226" name="Rectangle 65">
            <a:extLst>
              <a:ext uri="{FF2B5EF4-FFF2-40B4-BE49-F238E27FC236}">
                <a16:creationId xmlns:a16="http://schemas.microsoft.com/office/drawing/2014/main" id="{1A54B7FD-B87C-483F-B25F-DED63187F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76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8227" name="Object 64">
            <a:extLst>
              <a:ext uri="{FF2B5EF4-FFF2-40B4-BE49-F238E27FC236}">
                <a16:creationId xmlns:a16="http://schemas.microsoft.com/office/drawing/2014/main" id="{7B1395FD-C9F5-4CC3-949F-49266547A2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7538" y="3933825"/>
          <a:ext cx="1295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4" name="Формула" r:id="rId11" imgW="406224" imgH="228501" progId="Equation.3">
                  <p:embed/>
                </p:oleObj>
              </mc:Choice>
              <mc:Fallback>
                <p:oleObj name="Формула" r:id="rId11" imgW="406224" imgH="228501" progId="Equation.3">
                  <p:embed/>
                  <p:pic>
                    <p:nvPicPr>
                      <p:cNvPr id="8227" name="Object 64">
                        <a:extLst>
                          <a:ext uri="{FF2B5EF4-FFF2-40B4-BE49-F238E27FC236}">
                            <a16:creationId xmlns:a16="http://schemas.microsoft.com/office/drawing/2014/main" id="{7B1395FD-C9F5-4CC3-949F-49266547A2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3933825"/>
                        <a:ext cx="12954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28" name="Rectangle 66">
            <a:extLst>
              <a:ext uri="{FF2B5EF4-FFF2-40B4-BE49-F238E27FC236}">
                <a16:creationId xmlns:a16="http://schemas.microsoft.com/office/drawing/2014/main" id="{8FDAB866-FC9E-4098-9BF9-9CCAB6A9F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4005263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/>
              <a:t>.</a:t>
            </a:r>
            <a:r>
              <a:rPr lang="ru-RU" altLang="ru-RU"/>
              <a:t> </a:t>
            </a:r>
          </a:p>
        </p:txBody>
      </p:sp>
      <p:sp>
        <p:nvSpPr>
          <p:cNvPr id="8229" name="Rectangle 67">
            <a:extLst>
              <a:ext uri="{FF2B5EF4-FFF2-40B4-BE49-F238E27FC236}">
                <a16:creationId xmlns:a16="http://schemas.microsoft.com/office/drawing/2014/main" id="{053891C5-B678-4FEE-8D11-D3B05A684A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581525"/>
            <a:ext cx="28114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i="1" u="sng"/>
              <a:t>Двойственная задача:</a:t>
            </a:r>
          </a:p>
        </p:txBody>
      </p:sp>
      <p:sp>
        <p:nvSpPr>
          <p:cNvPr id="8230" name="Rectangle 69">
            <a:extLst>
              <a:ext uri="{FF2B5EF4-FFF2-40B4-BE49-F238E27FC236}">
                <a16:creationId xmlns:a16="http://schemas.microsoft.com/office/drawing/2014/main" id="{9D5854BA-45E6-4F88-9D43-C26348031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575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8231" name="Object 68">
            <a:extLst>
              <a:ext uri="{FF2B5EF4-FFF2-40B4-BE49-F238E27FC236}">
                <a16:creationId xmlns:a16="http://schemas.microsoft.com/office/drawing/2014/main" id="{6F25696C-88B9-470A-B1A3-1CAF332223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4941888"/>
          <a:ext cx="5543550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5" name="Формула" r:id="rId13" imgW="3276600" imgH="228600" progId="Equation.3">
                  <p:embed/>
                </p:oleObj>
              </mc:Choice>
              <mc:Fallback>
                <p:oleObj name="Формула" r:id="rId13" imgW="3276600" imgH="228600" progId="Equation.3">
                  <p:embed/>
                  <p:pic>
                    <p:nvPicPr>
                      <p:cNvPr id="8231" name="Object 68">
                        <a:extLst>
                          <a:ext uri="{FF2B5EF4-FFF2-40B4-BE49-F238E27FC236}">
                            <a16:creationId xmlns:a16="http://schemas.microsoft.com/office/drawing/2014/main" id="{6F25696C-88B9-470A-B1A3-1CAF332223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4941888"/>
                        <a:ext cx="5543550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32" name="Rectangle 70">
            <a:extLst>
              <a:ext uri="{FF2B5EF4-FFF2-40B4-BE49-F238E27FC236}">
                <a16:creationId xmlns:a16="http://schemas.microsoft.com/office/drawing/2014/main" id="{12E645C5-C645-4DDA-B25C-716F6E8474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4941888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b="1"/>
              <a:t>;</a:t>
            </a:r>
            <a:r>
              <a:rPr lang="ru-RU" altLang="ru-RU"/>
              <a:t> </a:t>
            </a:r>
          </a:p>
        </p:txBody>
      </p:sp>
      <p:sp>
        <p:nvSpPr>
          <p:cNvPr id="8233" name="Rectangle 72">
            <a:extLst>
              <a:ext uri="{FF2B5EF4-FFF2-40B4-BE49-F238E27FC236}">
                <a16:creationId xmlns:a16="http://schemas.microsoft.com/office/drawing/2014/main" id="{67DD202C-A69B-4363-A649-07BFE0E443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623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8234" name="Object 71">
            <a:extLst>
              <a:ext uri="{FF2B5EF4-FFF2-40B4-BE49-F238E27FC236}">
                <a16:creationId xmlns:a16="http://schemas.microsoft.com/office/drawing/2014/main" id="{53708623-618C-41C9-8E27-B513F61B51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5383213"/>
          <a:ext cx="1150937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6" name="Формула" r:id="rId15" imgW="571252" imgH="228501" progId="Equation.3">
                  <p:embed/>
                </p:oleObj>
              </mc:Choice>
              <mc:Fallback>
                <p:oleObj name="Формула" r:id="rId15" imgW="571252" imgH="228501" progId="Equation.3">
                  <p:embed/>
                  <p:pic>
                    <p:nvPicPr>
                      <p:cNvPr id="8234" name="Object 71">
                        <a:extLst>
                          <a:ext uri="{FF2B5EF4-FFF2-40B4-BE49-F238E27FC236}">
                            <a16:creationId xmlns:a16="http://schemas.microsoft.com/office/drawing/2014/main" id="{53708623-618C-41C9-8E27-B513F61B51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5383213"/>
                        <a:ext cx="1150937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35" name="Rectangle 73">
            <a:extLst>
              <a:ext uri="{FF2B5EF4-FFF2-40B4-BE49-F238E27FC236}">
                <a16:creationId xmlns:a16="http://schemas.microsoft.com/office/drawing/2014/main" id="{A15DDF60-77A4-4B01-B892-669D4E8D3E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5445125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b="1"/>
              <a:t>;</a:t>
            </a:r>
            <a:r>
              <a:rPr lang="ru-RU" altLang="ru-RU"/>
              <a:t> </a:t>
            </a:r>
          </a:p>
        </p:txBody>
      </p:sp>
      <p:sp>
        <p:nvSpPr>
          <p:cNvPr id="8236" name="Rectangle 75">
            <a:extLst>
              <a:ext uri="{FF2B5EF4-FFF2-40B4-BE49-F238E27FC236}">
                <a16:creationId xmlns:a16="http://schemas.microsoft.com/office/drawing/2014/main" id="{21E96CB4-81C0-4EC1-832D-03039EEB8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83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8237" name="Object 74">
            <a:extLst>
              <a:ext uri="{FF2B5EF4-FFF2-40B4-BE49-F238E27FC236}">
                <a16:creationId xmlns:a16="http://schemas.microsoft.com/office/drawing/2014/main" id="{15C7E5AF-C5FF-4DEF-B683-D7C8CB7791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5373688"/>
          <a:ext cx="14414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7" name="Формула" r:id="rId17" imgW="634725" imgH="228501" progId="Equation.3">
                  <p:embed/>
                </p:oleObj>
              </mc:Choice>
              <mc:Fallback>
                <p:oleObj name="Формула" r:id="rId17" imgW="634725" imgH="228501" progId="Equation.3">
                  <p:embed/>
                  <p:pic>
                    <p:nvPicPr>
                      <p:cNvPr id="8237" name="Object 74">
                        <a:extLst>
                          <a:ext uri="{FF2B5EF4-FFF2-40B4-BE49-F238E27FC236}">
                            <a16:creationId xmlns:a16="http://schemas.microsoft.com/office/drawing/2014/main" id="{15C7E5AF-C5FF-4DEF-B683-D7C8CB7791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5373688"/>
                        <a:ext cx="144145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38" name="Rectangle 76">
            <a:extLst>
              <a:ext uri="{FF2B5EF4-FFF2-40B4-BE49-F238E27FC236}">
                <a16:creationId xmlns:a16="http://schemas.microsoft.com/office/drawing/2014/main" id="{DF22F06B-3704-4E99-8D6B-1FCB9A233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5445125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b="1"/>
              <a:t>;</a:t>
            </a:r>
            <a:r>
              <a:rPr lang="ru-RU" altLang="ru-RU"/>
              <a:t> </a:t>
            </a:r>
          </a:p>
        </p:txBody>
      </p:sp>
      <p:sp>
        <p:nvSpPr>
          <p:cNvPr id="8239" name="Rectangle 78">
            <a:extLst>
              <a:ext uri="{FF2B5EF4-FFF2-40B4-BE49-F238E27FC236}">
                <a16:creationId xmlns:a16="http://schemas.microsoft.com/office/drawing/2014/main" id="{47B582CE-37ED-4506-88EE-D6672AAE5F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575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8240" name="Object 77">
            <a:extLst>
              <a:ext uri="{FF2B5EF4-FFF2-40B4-BE49-F238E27FC236}">
                <a16:creationId xmlns:a16="http://schemas.microsoft.com/office/drawing/2014/main" id="{3550EF4C-25E9-48F2-A0FE-7E97809882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8400" y="5343525"/>
          <a:ext cx="122396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8" name="Формула" r:id="rId19" imgW="444307" imgH="241195" progId="Equation.3">
                  <p:embed/>
                </p:oleObj>
              </mc:Choice>
              <mc:Fallback>
                <p:oleObj name="Формула" r:id="rId19" imgW="444307" imgH="241195" progId="Equation.3">
                  <p:embed/>
                  <p:pic>
                    <p:nvPicPr>
                      <p:cNvPr id="8240" name="Object 77">
                        <a:extLst>
                          <a:ext uri="{FF2B5EF4-FFF2-40B4-BE49-F238E27FC236}">
                            <a16:creationId xmlns:a16="http://schemas.microsoft.com/office/drawing/2014/main" id="{3550EF4C-25E9-48F2-A0FE-7E97809882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5343525"/>
                        <a:ext cx="1223963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41" name="Rectangle 79">
            <a:extLst>
              <a:ext uri="{FF2B5EF4-FFF2-40B4-BE49-F238E27FC236}">
                <a16:creationId xmlns:a16="http://schemas.microsoft.com/office/drawing/2014/main" id="{FE8A2A5A-FB6B-451D-B096-3DB3BA755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53736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/>
              <a:t>.</a:t>
            </a:r>
            <a:r>
              <a:rPr lang="ru-RU" altLang="ru-RU"/>
              <a:t> </a:t>
            </a:r>
          </a:p>
        </p:txBody>
      </p:sp>
      <p:sp>
        <p:nvSpPr>
          <p:cNvPr id="8242" name="Rectangle 81">
            <a:extLst>
              <a:ext uri="{FF2B5EF4-FFF2-40B4-BE49-F238E27FC236}">
                <a16:creationId xmlns:a16="http://schemas.microsoft.com/office/drawing/2014/main" id="{C8C18E15-B3AC-4BFD-80F0-46A8AB50CB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788" y="242093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/>
              <a:t>.</a:t>
            </a:r>
            <a:r>
              <a:rPr lang="ru-RU" altLang="ru-RU"/>
              <a:t>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22D53BF6-5B3F-459D-B3DB-C646716023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838200" indent="-838200" eaLnBrk="1" hangingPunct="1"/>
            <a:r>
              <a:rPr lang="ru-RU" altLang="ru-RU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Алгоритм и сходимость алгоритмов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434546C8-5B0B-48EE-BA16-BCF8023CB9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628775"/>
            <a:ext cx="8229600" cy="4525963"/>
          </a:xfrm>
        </p:spPr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ru-RU" altLang="ru-RU" sz="2800" b="1" u="sng"/>
              <a:t>4.1. Понятие алгоритма. Алгоритмические отображения.</a:t>
            </a:r>
          </a:p>
          <a:p>
            <a:pPr marL="609600" indent="-609600" eaLnBrk="1" hangingPunct="1">
              <a:buFontTx/>
              <a:buNone/>
            </a:pPr>
            <a:r>
              <a:rPr lang="ru-RU" altLang="ru-RU" sz="1800" b="1" u="sng"/>
              <a:t>Определение. </a:t>
            </a:r>
            <a:r>
              <a:rPr lang="ru-RU" altLang="ru-RU" sz="1800"/>
              <a:t>Алгоритмом называется итеративный процесс вычислений, который порождает последовательность точек в соответствии с предписанным набором правил, включающим критерий окончания этого процесса.</a:t>
            </a:r>
          </a:p>
          <a:p>
            <a:pPr marL="609600" indent="-609600" eaLnBrk="1" hangingPunct="1">
              <a:buFontTx/>
              <a:buNone/>
            </a:pPr>
            <a:r>
              <a:rPr lang="ru-RU" altLang="ru-RU" sz="1800" u="sng"/>
              <a:t>Алгоритмическое отображение.</a:t>
            </a:r>
            <a:r>
              <a:rPr lang="ru-RU" altLang="ru-RU" sz="1800"/>
              <a:t> </a:t>
            </a:r>
          </a:p>
          <a:p>
            <a:pPr marL="609600" indent="-609600" eaLnBrk="1" hangingPunct="1">
              <a:buFontTx/>
              <a:buNone/>
            </a:pPr>
            <a:r>
              <a:rPr lang="ru-RU" altLang="ru-RU" sz="1800"/>
              <a:t>Пусть А: </a:t>
            </a:r>
          </a:p>
        </p:txBody>
      </p:sp>
      <p:sp>
        <p:nvSpPr>
          <p:cNvPr id="9220" name="Rectangle 5">
            <a:extLst>
              <a:ext uri="{FF2B5EF4-FFF2-40B4-BE49-F238E27FC236}">
                <a16:creationId xmlns:a16="http://schemas.microsoft.com/office/drawing/2014/main" id="{1779ADF9-2DCA-4412-B8BD-FC141D9AD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9221" name="Object 4">
            <a:extLst>
              <a:ext uri="{FF2B5EF4-FFF2-40B4-BE49-F238E27FC236}">
                <a16:creationId xmlns:a16="http://schemas.microsoft.com/office/drawing/2014/main" id="{B29DBC32-25B5-4F22-8934-36DB539319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9250" y="4005263"/>
          <a:ext cx="244792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4" name="Формула" r:id="rId3" imgW="1016000" imgH="228600" progId="Equation.3">
                  <p:embed/>
                </p:oleObj>
              </mc:Choice>
              <mc:Fallback>
                <p:oleObj name="Формула" r:id="rId3" imgW="1016000" imgH="228600" progId="Equation.3">
                  <p:embed/>
                  <p:pic>
                    <p:nvPicPr>
                      <p:cNvPr id="9221" name="Object 4">
                        <a:extLst>
                          <a:ext uri="{FF2B5EF4-FFF2-40B4-BE49-F238E27FC236}">
                            <a16:creationId xmlns:a16="http://schemas.microsoft.com/office/drawing/2014/main" id="{B29DBC32-25B5-4F22-8934-36DB539319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4005263"/>
                        <a:ext cx="2447925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2" name="Rectangle 7">
            <a:extLst>
              <a:ext uri="{FF2B5EF4-FFF2-40B4-BE49-F238E27FC236}">
                <a16:creationId xmlns:a16="http://schemas.microsoft.com/office/drawing/2014/main" id="{D7AF31DB-441E-43F0-B45B-FBC00B2CB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718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9223" name="Object 6">
            <a:extLst>
              <a:ext uri="{FF2B5EF4-FFF2-40B4-BE49-F238E27FC236}">
                <a16:creationId xmlns:a16="http://schemas.microsoft.com/office/drawing/2014/main" id="{744F640B-DC87-4246-8D96-2197B9518B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0200" y="3933825"/>
          <a:ext cx="201612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5" name="Формула" r:id="rId5" imgW="876300" imgH="228600" progId="Equation.3">
                  <p:embed/>
                </p:oleObj>
              </mc:Choice>
              <mc:Fallback>
                <p:oleObj name="Формула" r:id="rId5" imgW="876300" imgH="228600" progId="Equation.3">
                  <p:embed/>
                  <p:pic>
                    <p:nvPicPr>
                      <p:cNvPr id="9223" name="Object 6">
                        <a:extLst>
                          <a:ext uri="{FF2B5EF4-FFF2-40B4-BE49-F238E27FC236}">
                            <a16:creationId xmlns:a16="http://schemas.microsoft.com/office/drawing/2014/main" id="{744F640B-DC87-4246-8D96-2197B9518B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3933825"/>
                        <a:ext cx="2016125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4" name="Rectangle 8">
            <a:extLst>
              <a:ext uri="{FF2B5EF4-FFF2-40B4-BE49-F238E27FC236}">
                <a16:creationId xmlns:a16="http://schemas.microsoft.com/office/drawing/2014/main" id="{616BE6B6-8E2D-40C5-9BFE-50D425D45E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73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9225" name="Rectangle 9">
            <a:extLst>
              <a:ext uri="{FF2B5EF4-FFF2-40B4-BE49-F238E27FC236}">
                <a16:creationId xmlns:a16="http://schemas.microsoft.com/office/drawing/2014/main" id="{DB732B3F-EC24-427A-96C0-D72FC6E83F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3933825"/>
            <a:ext cx="6381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для </a:t>
            </a:r>
          </a:p>
        </p:txBody>
      </p:sp>
      <p:sp>
        <p:nvSpPr>
          <p:cNvPr id="9226" name="Rectangle 11">
            <a:extLst>
              <a:ext uri="{FF2B5EF4-FFF2-40B4-BE49-F238E27FC236}">
                <a16:creationId xmlns:a16="http://schemas.microsoft.com/office/drawing/2014/main" id="{15FF6276-5C3D-4710-9685-D1C71872BB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956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9227" name="Object 10">
            <a:extLst>
              <a:ext uri="{FF2B5EF4-FFF2-40B4-BE49-F238E27FC236}">
                <a16:creationId xmlns:a16="http://schemas.microsoft.com/office/drawing/2014/main" id="{88F1F2C5-3FE2-43C0-A7FC-A0EFA45910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32588" y="3933825"/>
          <a:ext cx="1223962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6" name="Формула" r:id="rId7" imgW="507780" imgH="177723" progId="Equation.3">
                  <p:embed/>
                </p:oleObj>
              </mc:Choice>
              <mc:Fallback>
                <p:oleObj name="Формула" r:id="rId7" imgW="507780" imgH="177723" progId="Equation.3">
                  <p:embed/>
                  <p:pic>
                    <p:nvPicPr>
                      <p:cNvPr id="9227" name="Object 10">
                        <a:extLst>
                          <a:ext uri="{FF2B5EF4-FFF2-40B4-BE49-F238E27FC236}">
                            <a16:creationId xmlns:a16="http://schemas.microsoft.com/office/drawing/2014/main" id="{88F1F2C5-3FE2-43C0-A7FC-A0EFA45910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588" y="3933825"/>
                        <a:ext cx="1223962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8" name="Rectangle 12">
            <a:extLst>
              <a:ext uri="{FF2B5EF4-FFF2-40B4-BE49-F238E27FC236}">
                <a16:creationId xmlns:a16="http://schemas.microsoft.com/office/drawing/2014/main" id="{D974B6F0-0163-4D26-AD98-4EBC66B82E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4076700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/>
              <a:t>,</a:t>
            </a:r>
            <a:r>
              <a:rPr lang="ru-RU" altLang="ru-RU"/>
              <a:t> </a:t>
            </a:r>
          </a:p>
        </p:txBody>
      </p:sp>
      <p:sp>
        <p:nvSpPr>
          <p:cNvPr id="9229" name="Rectangle 13">
            <a:extLst>
              <a:ext uri="{FF2B5EF4-FFF2-40B4-BE49-F238E27FC236}">
                <a16:creationId xmlns:a16="http://schemas.microsoft.com/office/drawing/2014/main" id="{5B821BC1-D0CB-4A36-BCC8-F8F98A634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5113" y="4005263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/>
              <a:t>,</a:t>
            </a:r>
            <a:r>
              <a:rPr lang="ru-RU" altLang="ru-RU"/>
              <a:t> </a:t>
            </a:r>
          </a:p>
        </p:txBody>
      </p:sp>
      <p:sp>
        <p:nvSpPr>
          <p:cNvPr id="9230" name="Rectangle 15">
            <a:extLst>
              <a:ext uri="{FF2B5EF4-FFF2-40B4-BE49-F238E27FC236}">
                <a16:creationId xmlns:a16="http://schemas.microsoft.com/office/drawing/2014/main" id="{7CE16465-F127-4EDE-958B-3385E61FB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462463"/>
            <a:ext cx="17986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Таким образом</a:t>
            </a:r>
          </a:p>
        </p:txBody>
      </p:sp>
      <p:graphicFrame>
        <p:nvGraphicFramePr>
          <p:cNvPr id="9231" name="Object 14">
            <a:extLst>
              <a:ext uri="{FF2B5EF4-FFF2-40B4-BE49-F238E27FC236}">
                <a16:creationId xmlns:a16="http://schemas.microsoft.com/office/drawing/2014/main" id="{B0C85C9E-21DD-4B45-AB69-9E0CFDBD98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1413" y="4437063"/>
          <a:ext cx="3673475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7" name="Формула" r:id="rId9" imgW="1549400" imgH="228600" progId="Equation.3">
                  <p:embed/>
                </p:oleObj>
              </mc:Choice>
              <mc:Fallback>
                <p:oleObj name="Формула" r:id="rId9" imgW="1549400" imgH="228600" progId="Equation.3">
                  <p:embed/>
                  <p:pic>
                    <p:nvPicPr>
                      <p:cNvPr id="9231" name="Object 14">
                        <a:extLst>
                          <a:ext uri="{FF2B5EF4-FFF2-40B4-BE49-F238E27FC236}">
                            <a16:creationId xmlns:a16="http://schemas.microsoft.com/office/drawing/2014/main" id="{B0C85C9E-21DD-4B45-AB69-9E0CFDBD98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4437063"/>
                        <a:ext cx="3673475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2" name="Rectangle 16">
            <a:extLst>
              <a:ext uri="{FF2B5EF4-FFF2-40B4-BE49-F238E27FC236}">
                <a16:creationId xmlns:a16="http://schemas.microsoft.com/office/drawing/2014/main" id="{8AEFF333-E572-4BE4-86CA-6AB567023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3763" y="3619500"/>
            <a:ext cx="204787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600"/>
              <a:t> </a:t>
            </a:r>
            <a:endParaRPr lang="ru-RU" altLang="ru-RU"/>
          </a:p>
        </p:txBody>
      </p:sp>
      <p:sp>
        <p:nvSpPr>
          <p:cNvPr id="9233" name="Rectangle 18">
            <a:extLst>
              <a:ext uri="{FF2B5EF4-FFF2-40B4-BE49-F238E27FC236}">
                <a16:creationId xmlns:a16="http://schemas.microsoft.com/office/drawing/2014/main" id="{98B3618E-EF07-424C-AFA1-47BFD06A3E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4508500"/>
            <a:ext cx="12255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000">
                <a:cs typeface="Times New Roman" panose="02020603050405020304" pitchFamily="18" charset="0"/>
              </a:rPr>
              <a:t>где</a:t>
            </a:r>
            <a:r>
              <a:rPr lang="ru-RU" altLang="ru-RU">
                <a:cs typeface="Times New Roman" panose="02020603050405020304" pitchFamily="18" charset="0"/>
              </a:rPr>
              <a:t> </a:t>
            </a:r>
            <a:endParaRPr lang="ru-RU" altLang="ru-RU"/>
          </a:p>
        </p:txBody>
      </p:sp>
      <p:graphicFrame>
        <p:nvGraphicFramePr>
          <p:cNvPr id="9234" name="Object 17">
            <a:extLst>
              <a:ext uri="{FF2B5EF4-FFF2-40B4-BE49-F238E27FC236}">
                <a16:creationId xmlns:a16="http://schemas.microsoft.com/office/drawing/2014/main" id="{3FAA1FE9-45A2-4945-A466-63A1F82287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16688" y="4508500"/>
          <a:ext cx="5048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8" name="Формула" r:id="rId11" imgW="253780" imgH="203024" progId="Equation.3">
                  <p:embed/>
                </p:oleObj>
              </mc:Choice>
              <mc:Fallback>
                <p:oleObj name="Формула" r:id="rId11" imgW="253780" imgH="203024" progId="Equation.3">
                  <p:embed/>
                  <p:pic>
                    <p:nvPicPr>
                      <p:cNvPr id="9234" name="Object 17">
                        <a:extLst>
                          <a:ext uri="{FF2B5EF4-FFF2-40B4-BE49-F238E27FC236}">
                            <a16:creationId xmlns:a16="http://schemas.microsoft.com/office/drawing/2014/main" id="{3FAA1FE9-45A2-4945-A466-63A1F82287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688" y="4508500"/>
                        <a:ext cx="50482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5" name="Rectangle 19">
            <a:extLst>
              <a:ext uri="{FF2B5EF4-FFF2-40B4-BE49-F238E27FC236}">
                <a16:creationId xmlns:a16="http://schemas.microsoft.com/office/drawing/2014/main" id="{6FB06CE1-07B8-4327-8671-BD1CB17F3D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8488" y="4581525"/>
            <a:ext cx="19796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>
                <a:cs typeface="Times New Roman" panose="02020603050405020304" pitchFamily="18" charset="0"/>
              </a:rPr>
              <a:t>- начальная точка.</a:t>
            </a:r>
            <a:endParaRPr lang="ru-RU" altLang="ru-RU"/>
          </a:p>
        </p:txBody>
      </p:sp>
      <p:sp>
        <p:nvSpPr>
          <p:cNvPr id="9236" name="Rectangle 20">
            <a:extLst>
              <a:ext uri="{FF2B5EF4-FFF2-40B4-BE49-F238E27FC236}">
                <a16:creationId xmlns:a16="http://schemas.microsoft.com/office/drawing/2014/main" id="{6B7AC068-FF64-4BC0-B2DF-1D4447ABB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5013325"/>
            <a:ext cx="8497887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В качестве реализации алгоритмического отображения методов оптимизации может быть выбрана некоторая функция спуска, зависящая от переменных проектирования </a:t>
            </a:r>
          </a:p>
        </p:txBody>
      </p:sp>
      <p:sp>
        <p:nvSpPr>
          <p:cNvPr id="9237" name="Rectangle 22">
            <a:extLst>
              <a:ext uri="{FF2B5EF4-FFF2-40B4-BE49-F238E27FC236}">
                <a16:creationId xmlns:a16="http://schemas.microsoft.com/office/drawing/2014/main" id="{4870FD64-CCEC-4C03-90A4-A7B00710E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9238" name="Object 21">
            <a:extLst>
              <a:ext uri="{FF2B5EF4-FFF2-40B4-BE49-F238E27FC236}">
                <a16:creationId xmlns:a16="http://schemas.microsoft.com/office/drawing/2014/main" id="{A2B069CF-6461-40E4-92B2-3012AA4E82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79838" y="5516563"/>
          <a:ext cx="1150937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9" name="Формула" r:id="rId13" imgW="444307" imgH="228501" progId="Equation.3">
                  <p:embed/>
                </p:oleObj>
              </mc:Choice>
              <mc:Fallback>
                <p:oleObj name="Формула" r:id="rId13" imgW="444307" imgH="228501" progId="Equation.3">
                  <p:embed/>
                  <p:pic>
                    <p:nvPicPr>
                      <p:cNvPr id="9238" name="Object 21">
                        <a:extLst>
                          <a:ext uri="{FF2B5EF4-FFF2-40B4-BE49-F238E27FC236}">
                            <a16:creationId xmlns:a16="http://schemas.microsoft.com/office/drawing/2014/main" id="{A2B069CF-6461-40E4-92B2-3012AA4E82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5516563"/>
                        <a:ext cx="1150937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9" name="Rectangle 23">
            <a:extLst>
              <a:ext uri="{FF2B5EF4-FFF2-40B4-BE49-F238E27FC236}">
                <a16:creationId xmlns:a16="http://schemas.microsoft.com/office/drawing/2014/main" id="{126553F3-B20A-4866-8AB3-AD060897F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5805488"/>
            <a:ext cx="51689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При этом она должна удовлетворить условию </a:t>
            </a:r>
          </a:p>
        </p:txBody>
      </p:sp>
      <p:sp>
        <p:nvSpPr>
          <p:cNvPr id="9240" name="Rectangle 24">
            <a:extLst>
              <a:ext uri="{FF2B5EF4-FFF2-40B4-BE49-F238E27FC236}">
                <a16:creationId xmlns:a16="http://schemas.microsoft.com/office/drawing/2014/main" id="{6875993F-FD70-4DC3-8481-EE3E67011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53736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. </a:t>
            </a:r>
          </a:p>
        </p:txBody>
      </p:sp>
      <p:sp>
        <p:nvSpPr>
          <p:cNvPr id="9241" name="Rectangle 26">
            <a:extLst>
              <a:ext uri="{FF2B5EF4-FFF2-40B4-BE49-F238E27FC236}">
                <a16:creationId xmlns:a16="http://schemas.microsoft.com/office/drawing/2014/main" id="{778A78EE-584A-46E0-8593-62B0004CE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6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9242" name="Object 25">
            <a:extLst>
              <a:ext uri="{FF2B5EF4-FFF2-40B4-BE49-F238E27FC236}">
                <a16:creationId xmlns:a16="http://schemas.microsoft.com/office/drawing/2014/main" id="{DC63D75D-DDFE-48A6-A8C5-C82B5155B7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0063" y="5761038"/>
          <a:ext cx="2879725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40" name="Формула" r:id="rId15" imgW="1104900" imgH="228600" progId="Equation.3">
                  <p:embed/>
                </p:oleObj>
              </mc:Choice>
              <mc:Fallback>
                <p:oleObj name="Формула" r:id="rId15" imgW="1104900" imgH="228600" progId="Equation.3">
                  <p:embed/>
                  <p:pic>
                    <p:nvPicPr>
                      <p:cNvPr id="9242" name="Object 25">
                        <a:extLst>
                          <a:ext uri="{FF2B5EF4-FFF2-40B4-BE49-F238E27FC236}">
                            <a16:creationId xmlns:a16="http://schemas.microsoft.com/office/drawing/2014/main" id="{DC63D75D-DDFE-48A6-A8C5-C82B5155B7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5761038"/>
                        <a:ext cx="2879725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3" name="Object 28">
            <a:extLst>
              <a:ext uri="{FF2B5EF4-FFF2-40B4-BE49-F238E27FC236}">
                <a16:creationId xmlns:a16="http://schemas.microsoft.com/office/drawing/2014/main" id="{21803A5F-3E36-4E7E-91FD-1B670D2181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1400" y="6397625"/>
          <a:ext cx="576263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41" name="Формула" r:id="rId17" imgW="342751" imgH="203112" progId="Equation.3">
                  <p:embed/>
                </p:oleObj>
              </mc:Choice>
              <mc:Fallback>
                <p:oleObj name="Формула" r:id="rId17" imgW="342751" imgH="203112" progId="Equation.3">
                  <p:embed/>
                  <p:pic>
                    <p:nvPicPr>
                      <p:cNvPr id="9243" name="Object 28">
                        <a:extLst>
                          <a:ext uri="{FF2B5EF4-FFF2-40B4-BE49-F238E27FC236}">
                            <a16:creationId xmlns:a16="http://schemas.microsoft.com/office/drawing/2014/main" id="{21803A5F-3E36-4E7E-91FD-1B670D2181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1400" y="6397625"/>
                        <a:ext cx="576263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4" name="Object 27">
            <a:extLst>
              <a:ext uri="{FF2B5EF4-FFF2-40B4-BE49-F238E27FC236}">
                <a16:creationId xmlns:a16="http://schemas.microsoft.com/office/drawing/2014/main" id="{5A5BCADD-AEAC-481A-BCB4-352D6C7B1A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8263" y="6411913"/>
          <a:ext cx="720725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42" name="Формула" r:id="rId19" imgW="444307" imgH="203112" progId="Equation.3">
                  <p:embed/>
                </p:oleObj>
              </mc:Choice>
              <mc:Fallback>
                <p:oleObj name="Формула" r:id="rId19" imgW="444307" imgH="203112" progId="Equation.3">
                  <p:embed/>
                  <p:pic>
                    <p:nvPicPr>
                      <p:cNvPr id="9244" name="Object 27">
                        <a:extLst>
                          <a:ext uri="{FF2B5EF4-FFF2-40B4-BE49-F238E27FC236}">
                            <a16:creationId xmlns:a16="http://schemas.microsoft.com/office/drawing/2014/main" id="{5A5BCADD-AEAC-481A-BCB4-352D6C7B1A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6411913"/>
                        <a:ext cx="720725" cy="319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5" name="Rectangle 29">
            <a:extLst>
              <a:ext uri="{FF2B5EF4-FFF2-40B4-BE49-F238E27FC236}">
                <a16:creationId xmlns:a16="http://schemas.microsoft.com/office/drawing/2014/main" id="{D7D3524D-3146-416E-97E1-109B796DE7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213475"/>
            <a:ext cx="75676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>
                <a:cs typeface="Times New Roman" panose="02020603050405020304" pitchFamily="18" charset="0"/>
              </a:rPr>
              <a:t>В качестве функции спуска может быть  использована целевая функция </a:t>
            </a:r>
            <a:endParaRPr lang="ru-RU" altLang="ru-RU"/>
          </a:p>
        </p:txBody>
      </p:sp>
      <p:sp>
        <p:nvSpPr>
          <p:cNvPr id="9246" name="Rectangle 30">
            <a:extLst>
              <a:ext uri="{FF2B5EF4-FFF2-40B4-BE49-F238E27FC236}">
                <a16:creationId xmlns:a16="http://schemas.microsoft.com/office/drawing/2014/main" id="{CBB662B6-F88E-484C-8183-A70707F89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8900" y="6345238"/>
            <a:ext cx="43195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1200">
                <a:cs typeface="Times New Roman" panose="02020603050405020304" pitchFamily="18" charset="0"/>
              </a:rPr>
              <a:t> </a:t>
            </a:r>
            <a:r>
              <a:rPr lang="en-US" altLang="ru-RU" sz="1200">
                <a:cs typeface="Times New Roman" panose="02020603050405020304" pitchFamily="18" charset="0"/>
              </a:rPr>
              <a:t>      </a:t>
            </a:r>
            <a:r>
              <a:rPr lang="ru-RU" altLang="ru-RU">
                <a:cs typeface="Times New Roman" panose="02020603050405020304" pitchFamily="18" charset="0"/>
              </a:rPr>
              <a:t>или градиент целевой функции  </a:t>
            </a:r>
            <a:endParaRPr lang="ru-RU" altLang="ru-RU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ACA0A85E-B0B5-4FAD-8EF5-A0E7FFAFD2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66800"/>
          </a:xfrm>
        </p:spPr>
        <p:txBody>
          <a:bodyPr/>
          <a:lstStyle/>
          <a:p>
            <a:pPr eaLnBrk="1" hangingPunct="1"/>
            <a:r>
              <a:rPr lang="ru-RU" altLang="ru-RU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Алгоритм и сходимость алгоритмов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69A4D492-C6D7-4490-BC3A-7DC0F9D3B5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412875"/>
            <a:ext cx="8713787" cy="525621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b="1" u="sng"/>
              <a:t>4.2.</a:t>
            </a:r>
            <a:r>
              <a:rPr lang="ru-RU" altLang="ru-RU"/>
              <a:t>  </a:t>
            </a:r>
            <a:r>
              <a:rPr lang="ru-RU" altLang="ru-RU" b="1" u="sng"/>
              <a:t>Композиция алгоритмических отображений.</a:t>
            </a:r>
          </a:p>
        </p:txBody>
      </p:sp>
      <p:pic>
        <p:nvPicPr>
          <p:cNvPr id="10244" name="Picture 4" descr="L93">
            <a:extLst>
              <a:ext uri="{FF2B5EF4-FFF2-40B4-BE49-F238E27FC236}">
                <a16:creationId xmlns:a16="http://schemas.microsoft.com/office/drawing/2014/main" id="{0904C77B-C898-4865-B954-DE9479C153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708275"/>
            <a:ext cx="3455988" cy="388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245" name="Object 6">
            <a:extLst>
              <a:ext uri="{FF2B5EF4-FFF2-40B4-BE49-F238E27FC236}">
                <a16:creationId xmlns:a16="http://schemas.microsoft.com/office/drawing/2014/main" id="{9EC62A89-4DCA-4D5B-9BFD-71AD8ACDB3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32588" y="3141663"/>
          <a:ext cx="1584325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58" name="Формула" r:id="rId4" imgW="748975" imgH="215806" progId="Equation.3">
                  <p:embed/>
                </p:oleObj>
              </mc:Choice>
              <mc:Fallback>
                <p:oleObj name="Формула" r:id="rId4" imgW="748975" imgH="215806" progId="Equation.3">
                  <p:embed/>
                  <p:pic>
                    <p:nvPicPr>
                      <p:cNvPr id="10245" name="Object 6">
                        <a:extLst>
                          <a:ext uri="{FF2B5EF4-FFF2-40B4-BE49-F238E27FC236}">
                            <a16:creationId xmlns:a16="http://schemas.microsoft.com/office/drawing/2014/main" id="{9EC62A89-4DCA-4D5B-9BFD-71AD8ACDB3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588" y="3141663"/>
                        <a:ext cx="1584325" cy="34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6" name="Object 5">
            <a:extLst>
              <a:ext uri="{FF2B5EF4-FFF2-40B4-BE49-F238E27FC236}">
                <a16:creationId xmlns:a16="http://schemas.microsoft.com/office/drawing/2014/main" id="{639875BF-5DF7-4354-970D-5A0E43CD9B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35825" y="3357563"/>
          <a:ext cx="1008063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59" name="Формула" r:id="rId6" imgW="583947" imgH="228501" progId="Equation.3">
                  <p:embed/>
                </p:oleObj>
              </mc:Choice>
              <mc:Fallback>
                <p:oleObj name="Формула" r:id="rId6" imgW="583947" imgH="228501" progId="Equation.3">
                  <p:embed/>
                  <p:pic>
                    <p:nvPicPr>
                      <p:cNvPr id="10246" name="Object 5">
                        <a:extLst>
                          <a:ext uri="{FF2B5EF4-FFF2-40B4-BE49-F238E27FC236}">
                            <a16:creationId xmlns:a16="http://schemas.microsoft.com/office/drawing/2014/main" id="{639875BF-5DF7-4354-970D-5A0E43CD9B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5825" y="3357563"/>
                        <a:ext cx="1008063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7" name="Rectangle 7">
            <a:extLst>
              <a:ext uri="{FF2B5EF4-FFF2-40B4-BE49-F238E27FC236}">
                <a16:creationId xmlns:a16="http://schemas.microsoft.com/office/drawing/2014/main" id="{C6A4BC44-2D85-4CC0-AFDB-DF3DF1AC3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2420938"/>
            <a:ext cx="496887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buFontTx/>
              <a:buAutoNum type="arabicPeriod"/>
            </a:pPr>
            <a:r>
              <a:rPr lang="ru-RU" altLang="ru-RU" sz="2000">
                <a:cs typeface="Times New Roman" panose="02020603050405020304" pitchFamily="18" charset="0"/>
              </a:rPr>
              <a:t>Выбор направления уменьшения функции спуска </a:t>
            </a:r>
            <a:r>
              <a:rPr lang="en-US" altLang="ru-RU" sz="2000">
                <a:cs typeface="Times New Roman" panose="02020603050405020304" pitchFamily="18" charset="0"/>
              </a:rPr>
              <a:t>d</a:t>
            </a:r>
            <a:r>
              <a:rPr lang="ru-RU" altLang="ru-RU" sz="2000">
                <a:cs typeface="Times New Roman" panose="02020603050405020304" pitchFamily="18" charset="0"/>
              </a:rPr>
              <a:t> – в области возможного направления. Например</a:t>
            </a:r>
            <a:endParaRPr lang="ru-RU" altLang="ru-RU"/>
          </a:p>
        </p:txBody>
      </p:sp>
      <p:sp>
        <p:nvSpPr>
          <p:cNvPr id="10248" name="Rectangle 8">
            <a:extLst>
              <a:ext uri="{FF2B5EF4-FFF2-40B4-BE49-F238E27FC236}">
                <a16:creationId xmlns:a16="http://schemas.microsoft.com/office/drawing/2014/main" id="{16CE3D82-E51A-47F1-AD14-985031C72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3368675"/>
            <a:ext cx="3327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000">
                <a:cs typeface="Times New Roman" panose="02020603050405020304" pitchFamily="18" charset="0"/>
              </a:rPr>
              <a:t>Этот алгоритм  обозначим </a:t>
            </a:r>
            <a:r>
              <a:rPr lang="en-US" altLang="ru-RU" sz="2000">
                <a:cs typeface="Times New Roman" panose="02020603050405020304" pitchFamily="18" charset="0"/>
              </a:rPr>
              <a:t>D</a:t>
            </a:r>
            <a:endParaRPr lang="en-US" altLang="ru-RU" sz="2000"/>
          </a:p>
        </p:txBody>
      </p:sp>
      <p:sp>
        <p:nvSpPr>
          <p:cNvPr id="10249" name="Rectangle 9">
            <a:extLst>
              <a:ext uri="{FF2B5EF4-FFF2-40B4-BE49-F238E27FC236}">
                <a16:creationId xmlns:a16="http://schemas.microsoft.com/office/drawing/2014/main" id="{F21CF833-D612-42A4-8BC0-52977A76F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8475" y="3790950"/>
            <a:ext cx="2270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1200">
                <a:cs typeface="Times New Roman" panose="02020603050405020304" pitchFamily="18" charset="0"/>
              </a:rPr>
              <a:t>.</a:t>
            </a:r>
            <a:endParaRPr lang="ru-RU" altLang="ru-RU"/>
          </a:p>
        </p:txBody>
      </p:sp>
      <p:sp>
        <p:nvSpPr>
          <p:cNvPr id="10250" name="Rectangle 11">
            <a:extLst>
              <a:ext uri="{FF2B5EF4-FFF2-40B4-BE49-F238E27FC236}">
                <a16:creationId xmlns:a16="http://schemas.microsoft.com/office/drawing/2014/main" id="{48F1E69B-846C-44C3-BE06-92789088BD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0251" name="Object 13">
            <a:extLst>
              <a:ext uri="{FF2B5EF4-FFF2-40B4-BE49-F238E27FC236}">
                <a16:creationId xmlns:a16="http://schemas.microsoft.com/office/drawing/2014/main" id="{26E77592-A880-41D7-AB44-E61794B3C0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24525" y="3860800"/>
          <a:ext cx="228600" cy="220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0" name="Формула" r:id="rId8" imgW="152334" imgH="139639" progId="Equation.3">
                  <p:embed/>
                </p:oleObj>
              </mc:Choice>
              <mc:Fallback>
                <p:oleObj name="Формула" r:id="rId8" imgW="152334" imgH="139639" progId="Equation.3">
                  <p:embed/>
                  <p:pic>
                    <p:nvPicPr>
                      <p:cNvPr id="10251" name="Object 13">
                        <a:extLst>
                          <a:ext uri="{FF2B5EF4-FFF2-40B4-BE49-F238E27FC236}">
                            <a16:creationId xmlns:a16="http://schemas.microsoft.com/office/drawing/2014/main" id="{26E77592-A880-41D7-AB44-E61794B3C0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525" y="3860800"/>
                        <a:ext cx="228600" cy="220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2" name="Rectangle 14">
            <a:extLst>
              <a:ext uri="{FF2B5EF4-FFF2-40B4-BE49-F238E27FC236}">
                <a16:creationId xmlns:a16="http://schemas.microsoft.com/office/drawing/2014/main" id="{8C05209A-81E7-419B-B02D-191BA73989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3716338"/>
            <a:ext cx="1854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000"/>
              <a:t>2. </a:t>
            </a:r>
            <a:r>
              <a:rPr lang="ru-RU" altLang="ru-RU" sz="2000">
                <a:cs typeface="Times New Roman" panose="02020603050405020304" pitchFamily="18" charset="0"/>
              </a:rPr>
              <a:t>Выбор шага </a:t>
            </a:r>
            <a:endParaRPr lang="ru-RU" altLang="ru-RU" sz="2000"/>
          </a:p>
        </p:txBody>
      </p:sp>
      <p:sp>
        <p:nvSpPr>
          <p:cNvPr id="10253" name="Rectangle 16">
            <a:extLst>
              <a:ext uri="{FF2B5EF4-FFF2-40B4-BE49-F238E27FC236}">
                <a16:creationId xmlns:a16="http://schemas.microsoft.com/office/drawing/2014/main" id="{127F3B13-65B4-4707-A01D-E19A83B0F2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4508500"/>
            <a:ext cx="3460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1200">
                <a:cs typeface="Times New Roman" panose="02020603050405020304" pitchFamily="18" charset="0"/>
              </a:rPr>
              <a:t>.  </a:t>
            </a:r>
            <a:r>
              <a:rPr lang="ru-RU" altLang="ru-RU" sz="2000">
                <a:cs typeface="Times New Roman" panose="02020603050405020304" pitchFamily="18" charset="0"/>
              </a:rPr>
              <a:t>Это</a:t>
            </a:r>
            <a:r>
              <a:rPr lang="ru-RU" altLang="ru-RU" sz="2000">
                <a:latin typeface="Times New Roman" panose="02020603050405020304" pitchFamily="18" charset="0"/>
              </a:rPr>
              <a:t>т</a:t>
            </a:r>
            <a:r>
              <a:rPr lang="ru-RU" altLang="ru-RU" sz="2000">
                <a:cs typeface="Times New Roman" panose="02020603050405020304" pitchFamily="18" charset="0"/>
              </a:rPr>
              <a:t> алгоритм обозначим </a:t>
            </a:r>
            <a:r>
              <a:rPr lang="en-US" altLang="ru-RU" sz="2000">
                <a:cs typeface="Times New Roman" panose="02020603050405020304" pitchFamily="18" charset="0"/>
              </a:rPr>
              <a:t>U</a:t>
            </a:r>
            <a:r>
              <a:rPr lang="ru-RU" altLang="ru-RU" sz="2000">
                <a:cs typeface="Times New Roman" panose="02020603050405020304" pitchFamily="18" charset="0"/>
              </a:rPr>
              <a:t>.</a:t>
            </a:r>
            <a:endParaRPr lang="ru-RU" altLang="ru-RU" sz="2000"/>
          </a:p>
        </p:txBody>
      </p:sp>
      <p:sp>
        <p:nvSpPr>
          <p:cNvPr id="10254" name="Rectangle 18">
            <a:extLst>
              <a:ext uri="{FF2B5EF4-FFF2-40B4-BE49-F238E27FC236}">
                <a16:creationId xmlns:a16="http://schemas.microsoft.com/office/drawing/2014/main" id="{9D705EC1-5477-4781-8B58-D23A873E7E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789363"/>
            <a:ext cx="550863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cs typeface="Times New Roman" panose="02020603050405020304" pitchFamily="18" charset="0"/>
              </a:rPr>
              <a:t>→     </a:t>
            </a:r>
            <a:endParaRPr lang="ru-RU" altLang="ru-RU"/>
          </a:p>
        </p:txBody>
      </p:sp>
      <p:graphicFrame>
        <p:nvGraphicFramePr>
          <p:cNvPr id="10255" name="Object 17">
            <a:extLst>
              <a:ext uri="{FF2B5EF4-FFF2-40B4-BE49-F238E27FC236}">
                <a16:creationId xmlns:a16="http://schemas.microsoft.com/office/drawing/2014/main" id="{D898E2AF-3FC2-47A7-A96E-EFEECAE841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84888" y="3789363"/>
          <a:ext cx="2808287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1" name="Формула" r:id="rId10" imgW="1778000" imgH="228600" progId="Equation.3">
                  <p:embed/>
                </p:oleObj>
              </mc:Choice>
              <mc:Fallback>
                <p:oleObj name="Формула" r:id="rId10" imgW="1778000" imgH="228600" progId="Equation.3">
                  <p:embed/>
                  <p:pic>
                    <p:nvPicPr>
                      <p:cNvPr id="10255" name="Object 17">
                        <a:extLst>
                          <a:ext uri="{FF2B5EF4-FFF2-40B4-BE49-F238E27FC236}">
                            <a16:creationId xmlns:a16="http://schemas.microsoft.com/office/drawing/2014/main" id="{D898E2AF-3FC2-47A7-A96E-EFEECAE841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3789363"/>
                        <a:ext cx="2808287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6" name="Rectangle 19">
            <a:extLst>
              <a:ext uri="{FF2B5EF4-FFF2-40B4-BE49-F238E27FC236}">
                <a16:creationId xmlns:a16="http://schemas.microsoft.com/office/drawing/2014/main" id="{B3671146-DD83-4EDC-B891-F80AB9D331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8675" y="3559175"/>
            <a:ext cx="31273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cs typeface="Times New Roman" panose="02020603050405020304" pitchFamily="18" charset="0"/>
              </a:rPr>
              <a:t>.  </a:t>
            </a:r>
            <a:endParaRPr lang="ru-RU" altLang="ru-RU"/>
          </a:p>
        </p:txBody>
      </p:sp>
      <p:sp>
        <p:nvSpPr>
          <p:cNvPr id="10257" name="Rectangle 21">
            <a:extLst>
              <a:ext uri="{FF2B5EF4-FFF2-40B4-BE49-F238E27FC236}">
                <a16:creationId xmlns:a16="http://schemas.microsoft.com/office/drawing/2014/main" id="{2A275E6F-ADC2-465F-8ACB-98992D913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0258" name="Object 20">
            <a:extLst>
              <a:ext uri="{FF2B5EF4-FFF2-40B4-BE49-F238E27FC236}">
                <a16:creationId xmlns:a16="http://schemas.microsoft.com/office/drawing/2014/main" id="{FC49D156-8E2D-44EF-9B63-978F349F45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0563" y="4167188"/>
          <a:ext cx="3816350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2" name="Формула" r:id="rId12" imgW="2159000" imgH="228600" progId="Equation.3">
                  <p:embed/>
                </p:oleObj>
              </mc:Choice>
              <mc:Fallback>
                <p:oleObj name="Формула" r:id="rId12" imgW="2159000" imgH="228600" progId="Equation.3">
                  <p:embed/>
                  <p:pic>
                    <p:nvPicPr>
                      <p:cNvPr id="10258" name="Object 20">
                        <a:extLst>
                          <a:ext uri="{FF2B5EF4-FFF2-40B4-BE49-F238E27FC236}">
                            <a16:creationId xmlns:a16="http://schemas.microsoft.com/office/drawing/2014/main" id="{FC49D156-8E2D-44EF-9B63-978F349F45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4167188"/>
                        <a:ext cx="3816350" cy="35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9" name="Rectangle 22">
            <a:extLst>
              <a:ext uri="{FF2B5EF4-FFF2-40B4-BE49-F238E27FC236}">
                <a16:creationId xmlns:a16="http://schemas.microsoft.com/office/drawing/2014/main" id="{9C779F84-042E-4B26-877A-D22CB640D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43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0260" name="Rectangle 23">
            <a:extLst>
              <a:ext uri="{FF2B5EF4-FFF2-40B4-BE49-F238E27FC236}">
                <a16:creationId xmlns:a16="http://schemas.microsoft.com/office/drawing/2014/main" id="{8AE9522C-C2F3-4B0B-B9FD-8E36A48E36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5072063"/>
            <a:ext cx="5113338" cy="1465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3. Если решается задача с ограничениями, то необходимо ввести еще один алгоритм  </a:t>
            </a:r>
            <a:r>
              <a:rPr lang="en-US" altLang="ru-RU"/>
              <a:t>L</a:t>
            </a:r>
            <a:r>
              <a:rPr lang="ru-RU" altLang="ru-RU"/>
              <a:t> , учитывающий наличие ограничений.</a:t>
            </a:r>
          </a:p>
          <a:p>
            <a:pPr eaLnBrk="1" hangingPunct="1"/>
            <a:r>
              <a:rPr lang="ru-RU" altLang="ru-RU"/>
              <a:t>Тогда общий алгоритм будет композицией алгоритмов: </a:t>
            </a:r>
          </a:p>
        </p:txBody>
      </p:sp>
      <p:sp>
        <p:nvSpPr>
          <p:cNvPr id="10261" name="Rectangle 25">
            <a:extLst>
              <a:ext uri="{FF2B5EF4-FFF2-40B4-BE49-F238E27FC236}">
                <a16:creationId xmlns:a16="http://schemas.microsoft.com/office/drawing/2014/main" id="{7CBCEB58-F280-45AE-825B-F8C1B8406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0262" name="Object 24">
            <a:extLst>
              <a:ext uri="{FF2B5EF4-FFF2-40B4-BE49-F238E27FC236}">
                <a16:creationId xmlns:a16="http://schemas.microsoft.com/office/drawing/2014/main" id="{0AC38956-0863-4DD1-AFE2-DFF538A725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2725" y="6165850"/>
          <a:ext cx="3457575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3" name="Формула" r:id="rId14" imgW="1637589" imgH="203112" progId="Equation.3">
                  <p:embed/>
                </p:oleObj>
              </mc:Choice>
              <mc:Fallback>
                <p:oleObj name="Формула" r:id="rId14" imgW="1637589" imgH="203112" progId="Equation.3">
                  <p:embed/>
                  <p:pic>
                    <p:nvPicPr>
                      <p:cNvPr id="10262" name="Object 24">
                        <a:extLst>
                          <a:ext uri="{FF2B5EF4-FFF2-40B4-BE49-F238E27FC236}">
                            <a16:creationId xmlns:a16="http://schemas.microsoft.com/office/drawing/2014/main" id="{0AC38956-0863-4DD1-AFE2-DFF538A725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6165850"/>
                        <a:ext cx="3457575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60188B91-2212-41C2-B985-8A03D3565C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66800"/>
          </a:xfrm>
        </p:spPr>
        <p:txBody>
          <a:bodyPr/>
          <a:lstStyle/>
          <a:p>
            <a:pPr eaLnBrk="1" hangingPunct="1"/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Алгоритм и сходимость алгоритмов</a:t>
            </a:r>
            <a:endParaRPr lang="ru-RU" altLang="ru-RU" sz="4000" b="1" u="sng" dirty="0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BA187B4C-2B30-476C-ABAD-D64CAF18CC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412875"/>
            <a:ext cx="8713787" cy="5256213"/>
          </a:xfrm>
        </p:spPr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ru-RU" altLang="ru-RU" b="1" u="sng"/>
              <a:t>4.2. Критерий окончания процесса оптимизации.</a:t>
            </a:r>
          </a:p>
        </p:txBody>
      </p:sp>
      <p:sp>
        <p:nvSpPr>
          <p:cNvPr id="11268" name="Rectangle 9">
            <a:extLst>
              <a:ext uri="{FF2B5EF4-FFF2-40B4-BE49-F238E27FC236}">
                <a16:creationId xmlns:a16="http://schemas.microsoft.com/office/drawing/2014/main" id="{135AF724-873C-4DE9-A953-E9B69A89E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8475" y="3790950"/>
            <a:ext cx="2270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1200">
                <a:cs typeface="Times New Roman" panose="02020603050405020304" pitchFamily="18" charset="0"/>
              </a:rPr>
              <a:t>.</a:t>
            </a:r>
            <a:endParaRPr lang="ru-RU" altLang="ru-RU"/>
          </a:p>
        </p:txBody>
      </p:sp>
      <p:sp>
        <p:nvSpPr>
          <p:cNvPr id="11269" name="Rectangle 16">
            <a:extLst>
              <a:ext uri="{FF2B5EF4-FFF2-40B4-BE49-F238E27FC236}">
                <a16:creationId xmlns:a16="http://schemas.microsoft.com/office/drawing/2014/main" id="{F40B2FE6-E276-40D6-8FA1-FD5661CF29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8675" y="3559175"/>
            <a:ext cx="31273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cs typeface="Times New Roman" panose="02020603050405020304" pitchFamily="18" charset="0"/>
              </a:rPr>
              <a:t>.  </a:t>
            </a:r>
            <a:endParaRPr lang="ru-RU" altLang="ru-RU"/>
          </a:p>
        </p:txBody>
      </p:sp>
      <p:sp>
        <p:nvSpPr>
          <p:cNvPr id="11270" name="Rectangle 19">
            <a:extLst>
              <a:ext uri="{FF2B5EF4-FFF2-40B4-BE49-F238E27FC236}">
                <a16:creationId xmlns:a16="http://schemas.microsoft.com/office/drawing/2014/main" id="{2D68E853-41F7-4EE4-BF05-A98E17E8A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73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1271" name="Rectangle 21">
            <a:extLst>
              <a:ext uri="{FF2B5EF4-FFF2-40B4-BE49-F238E27FC236}">
                <a16:creationId xmlns:a16="http://schemas.microsoft.com/office/drawing/2014/main" id="{0938ABDE-1276-42E5-99B0-1FA9BB030C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1272" name="Object 24">
            <a:extLst>
              <a:ext uri="{FF2B5EF4-FFF2-40B4-BE49-F238E27FC236}">
                <a16:creationId xmlns:a16="http://schemas.microsoft.com/office/drawing/2014/main" id="{4164DD81-6E77-4B74-8080-AB1A929C64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12088" y="2276475"/>
          <a:ext cx="461962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2" name="Формула" r:id="rId3" imgW="177569" imgH="202936" progId="Equation.3">
                  <p:embed/>
                </p:oleObj>
              </mc:Choice>
              <mc:Fallback>
                <p:oleObj name="Формула" r:id="rId3" imgW="177569" imgH="202936" progId="Equation.3">
                  <p:embed/>
                  <p:pic>
                    <p:nvPicPr>
                      <p:cNvPr id="11272" name="Object 24">
                        <a:extLst>
                          <a:ext uri="{FF2B5EF4-FFF2-40B4-BE49-F238E27FC236}">
                            <a16:creationId xmlns:a16="http://schemas.microsoft.com/office/drawing/2014/main" id="{4164DD81-6E77-4B74-8080-AB1A929C64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088" y="2276475"/>
                        <a:ext cx="461962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3" name="Object 23">
            <a:extLst>
              <a:ext uri="{FF2B5EF4-FFF2-40B4-BE49-F238E27FC236}">
                <a16:creationId xmlns:a16="http://schemas.microsoft.com/office/drawing/2014/main" id="{BB8441E1-3351-4963-8D50-8D72E639FF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59563" y="2781300"/>
          <a:ext cx="144145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3" name="Формула" r:id="rId5" imgW="545863" imgH="228501" progId="Equation.3">
                  <p:embed/>
                </p:oleObj>
              </mc:Choice>
              <mc:Fallback>
                <p:oleObj name="Формула" r:id="rId5" imgW="545863" imgH="228501" progId="Equation.3">
                  <p:embed/>
                  <p:pic>
                    <p:nvPicPr>
                      <p:cNvPr id="11273" name="Object 23">
                        <a:extLst>
                          <a:ext uri="{FF2B5EF4-FFF2-40B4-BE49-F238E27FC236}">
                            <a16:creationId xmlns:a16="http://schemas.microsoft.com/office/drawing/2014/main" id="{BB8441E1-3351-4963-8D50-8D72E639FF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2781300"/>
                        <a:ext cx="144145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4" name="Rectangle 25">
            <a:extLst>
              <a:ext uri="{FF2B5EF4-FFF2-40B4-BE49-F238E27FC236}">
                <a16:creationId xmlns:a16="http://schemas.microsoft.com/office/drawing/2014/main" id="{2B88566F-25EA-48EE-9161-71CB532B7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349500"/>
            <a:ext cx="75311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000">
                <a:cs typeface="Times New Roman" panose="02020603050405020304" pitchFamily="18" charset="0"/>
              </a:rPr>
              <a:t>Точка зрения  математика состоит в нахождении точного решения </a:t>
            </a:r>
            <a:endParaRPr lang="ru-RU" altLang="ru-RU" sz="2000"/>
          </a:p>
        </p:txBody>
      </p:sp>
      <p:sp>
        <p:nvSpPr>
          <p:cNvPr id="11275" name="Rectangle 26">
            <a:extLst>
              <a:ext uri="{FF2B5EF4-FFF2-40B4-BE49-F238E27FC236}">
                <a16:creationId xmlns:a16="http://schemas.microsoft.com/office/drawing/2014/main" id="{85D4C862-1CDE-49D9-940D-A21D483BD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781300"/>
            <a:ext cx="63547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/>
            <a:r>
              <a:rPr lang="ru-RU" altLang="ru-RU" sz="2000">
                <a:cs typeface="Times New Roman" panose="02020603050405020304" pitchFamily="18" charset="0"/>
              </a:rPr>
              <a:t>Точка зрения  инженера состоит в определение области </a:t>
            </a:r>
            <a:endParaRPr lang="ru-RU" altLang="ru-RU" sz="2000"/>
          </a:p>
        </p:txBody>
      </p:sp>
      <p:sp>
        <p:nvSpPr>
          <p:cNvPr id="11276" name="Rectangle 27">
            <a:extLst>
              <a:ext uri="{FF2B5EF4-FFF2-40B4-BE49-F238E27FC236}">
                <a16:creationId xmlns:a16="http://schemas.microsoft.com/office/drawing/2014/main" id="{D447E05B-D5DE-4501-9865-014B06492D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068638"/>
            <a:ext cx="8351837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>
                <a:cs typeface="Times New Roman" panose="02020603050405020304" pitchFamily="18" charset="0"/>
              </a:rPr>
              <a:t>близкой к оптимальной. В связи с этим существует несколько критериев останова в зависимости от точности решаемой задачи. </a:t>
            </a:r>
            <a:endParaRPr lang="ru-RU" altLang="ru-RU" sz="2000"/>
          </a:p>
          <a:p>
            <a:endParaRPr lang="ru-RU" altLang="ru-RU" sz="2000"/>
          </a:p>
        </p:txBody>
      </p:sp>
      <p:sp>
        <p:nvSpPr>
          <p:cNvPr id="11277" name="Rectangle 28">
            <a:extLst>
              <a:ext uri="{FF2B5EF4-FFF2-40B4-BE49-F238E27FC236}">
                <a16:creationId xmlns:a16="http://schemas.microsoft.com/office/drawing/2014/main" id="{C57B2952-C1E1-4BED-BFF6-6560C6142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2450" y="2420938"/>
            <a:ext cx="247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.</a:t>
            </a:r>
          </a:p>
        </p:txBody>
      </p:sp>
      <p:pic>
        <p:nvPicPr>
          <p:cNvPr id="11278" name="Picture 29" descr="L94">
            <a:extLst>
              <a:ext uri="{FF2B5EF4-FFF2-40B4-BE49-F238E27FC236}">
                <a16:creationId xmlns:a16="http://schemas.microsoft.com/office/drawing/2014/main" id="{50C9D5A4-91B9-414A-99F7-87E45CBEC4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789363"/>
            <a:ext cx="3419475" cy="2519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9" name="Rectangle 30">
            <a:extLst>
              <a:ext uri="{FF2B5EF4-FFF2-40B4-BE49-F238E27FC236}">
                <a16:creationId xmlns:a16="http://schemas.microsoft.com/office/drawing/2014/main" id="{E8B9AC3D-8BD0-4A95-9212-05741AC8B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6165850"/>
            <a:ext cx="29225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b="1"/>
              <a:t>Точка зрения инженера</a:t>
            </a:r>
            <a:r>
              <a:rPr lang="ru-RU" altLang="ru-RU"/>
              <a:t>.</a:t>
            </a:r>
          </a:p>
        </p:txBody>
      </p:sp>
      <p:sp>
        <p:nvSpPr>
          <p:cNvPr id="11280" name="Rectangle 31">
            <a:extLst>
              <a:ext uri="{FF2B5EF4-FFF2-40B4-BE49-F238E27FC236}">
                <a16:creationId xmlns:a16="http://schemas.microsoft.com/office/drawing/2014/main" id="{4A976335-633D-4C0D-9A04-7094D9C9AA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3716338"/>
            <a:ext cx="37068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b="1"/>
              <a:t>Критерии останова алгоритма.</a:t>
            </a:r>
          </a:p>
        </p:txBody>
      </p:sp>
      <p:sp>
        <p:nvSpPr>
          <p:cNvPr id="11281" name="Rectangle 33">
            <a:extLst>
              <a:ext uri="{FF2B5EF4-FFF2-40B4-BE49-F238E27FC236}">
                <a16:creationId xmlns:a16="http://schemas.microsoft.com/office/drawing/2014/main" id="{9B171163-AB23-4579-B931-1723A8086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4076700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>
                <a:cs typeface="Times New Roman" panose="02020603050405020304" pitchFamily="18" charset="0"/>
              </a:rPr>
              <a:t>1.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/>
          </a:p>
        </p:txBody>
      </p:sp>
      <p:graphicFrame>
        <p:nvGraphicFramePr>
          <p:cNvPr id="11282" name="Object 32">
            <a:extLst>
              <a:ext uri="{FF2B5EF4-FFF2-40B4-BE49-F238E27FC236}">
                <a16:creationId xmlns:a16="http://schemas.microsoft.com/office/drawing/2014/main" id="{F04CA186-37F1-467F-BDAD-CD3A7C5FAC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95738" y="4005263"/>
          <a:ext cx="1944687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4" name="Формула" r:id="rId8" imgW="1066800" imgH="279400" progId="Equation.3">
                  <p:embed/>
                </p:oleObj>
              </mc:Choice>
              <mc:Fallback>
                <p:oleObj name="Формула" r:id="rId8" imgW="1066800" imgH="279400" progId="Equation.3">
                  <p:embed/>
                  <p:pic>
                    <p:nvPicPr>
                      <p:cNvPr id="11282" name="Object 32">
                        <a:extLst>
                          <a:ext uri="{FF2B5EF4-FFF2-40B4-BE49-F238E27FC236}">
                            <a16:creationId xmlns:a16="http://schemas.microsoft.com/office/drawing/2014/main" id="{F04CA186-37F1-467F-BDAD-CD3A7C5FAC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4005263"/>
                        <a:ext cx="1944687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3" name="Rectangle 34">
            <a:extLst>
              <a:ext uri="{FF2B5EF4-FFF2-40B4-BE49-F238E27FC236}">
                <a16:creationId xmlns:a16="http://schemas.microsoft.com/office/drawing/2014/main" id="{6157C44B-88C1-47F5-B39D-8A7660F9A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3567113"/>
            <a:ext cx="2476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cs typeface="Times New Roman" panose="02020603050405020304" pitchFamily="18" charset="0"/>
              </a:rPr>
              <a:t> </a:t>
            </a:r>
            <a:r>
              <a:rPr lang="ru-RU" altLang="ru-RU" sz="600"/>
              <a:t> </a:t>
            </a:r>
            <a:endParaRPr lang="ru-RU" altLang="ru-RU"/>
          </a:p>
        </p:txBody>
      </p:sp>
      <p:sp>
        <p:nvSpPr>
          <p:cNvPr id="11284" name="Rectangle 36">
            <a:extLst>
              <a:ext uri="{FF2B5EF4-FFF2-40B4-BE49-F238E27FC236}">
                <a16:creationId xmlns:a16="http://schemas.microsoft.com/office/drawing/2014/main" id="{A9CD1231-5FE2-4EE2-B003-3F45F4B9F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400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1285" name="Object 35">
            <a:extLst>
              <a:ext uri="{FF2B5EF4-FFF2-40B4-BE49-F238E27FC236}">
                <a16:creationId xmlns:a16="http://schemas.microsoft.com/office/drawing/2014/main" id="{8233A43C-FB04-46CE-B4A6-6E3C22419A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4300" y="4508500"/>
          <a:ext cx="1655763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5" name="Формула" r:id="rId10" imgW="761669" imgH="380835" progId="Equation.3">
                  <p:embed/>
                </p:oleObj>
              </mc:Choice>
              <mc:Fallback>
                <p:oleObj name="Формула" r:id="rId10" imgW="761669" imgH="380835" progId="Equation.3">
                  <p:embed/>
                  <p:pic>
                    <p:nvPicPr>
                      <p:cNvPr id="11285" name="Object 35">
                        <a:extLst>
                          <a:ext uri="{FF2B5EF4-FFF2-40B4-BE49-F238E27FC236}">
                            <a16:creationId xmlns:a16="http://schemas.microsoft.com/office/drawing/2014/main" id="{8233A43C-FB04-46CE-B4A6-6E3C22419A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4508500"/>
                        <a:ext cx="1655763" cy="833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6" name="Rectangle 37">
            <a:extLst>
              <a:ext uri="{FF2B5EF4-FFF2-40B4-BE49-F238E27FC236}">
                <a16:creationId xmlns:a16="http://schemas.microsoft.com/office/drawing/2014/main" id="{BC0A1352-15F7-4898-8C18-CFA018A10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4581525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/>
              <a:t>2</a:t>
            </a:r>
            <a:r>
              <a:rPr lang="ru-RU" altLang="ru-RU" sz="2000">
                <a:cs typeface="Times New Roman" panose="02020603050405020304" pitchFamily="18" charset="0"/>
              </a:rPr>
              <a:t>.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/>
          </a:p>
        </p:txBody>
      </p:sp>
      <p:sp>
        <p:nvSpPr>
          <p:cNvPr id="11287" name="Rectangle 39">
            <a:extLst>
              <a:ext uri="{FF2B5EF4-FFF2-40B4-BE49-F238E27FC236}">
                <a16:creationId xmlns:a16="http://schemas.microsoft.com/office/drawing/2014/main" id="{1118DE2A-895F-455D-9B24-F967B5FB7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1288" name="Object 38">
            <a:extLst>
              <a:ext uri="{FF2B5EF4-FFF2-40B4-BE49-F238E27FC236}">
                <a16:creationId xmlns:a16="http://schemas.microsoft.com/office/drawing/2014/main" id="{5B6BDA0A-0C10-48A2-A41B-4DB9F9831F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1275" y="5338763"/>
          <a:ext cx="2592388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6" name="Формула" r:id="rId12" imgW="1282700" imgH="228600" progId="Equation.3">
                  <p:embed/>
                </p:oleObj>
              </mc:Choice>
              <mc:Fallback>
                <p:oleObj name="Формула" r:id="rId12" imgW="1282700" imgH="228600" progId="Equation.3">
                  <p:embed/>
                  <p:pic>
                    <p:nvPicPr>
                      <p:cNvPr id="11288" name="Object 38">
                        <a:extLst>
                          <a:ext uri="{FF2B5EF4-FFF2-40B4-BE49-F238E27FC236}">
                            <a16:creationId xmlns:a16="http://schemas.microsoft.com/office/drawing/2014/main" id="{5B6BDA0A-0C10-48A2-A41B-4DB9F9831F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5338763"/>
                        <a:ext cx="2592388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9" name="Rectangle 40">
            <a:extLst>
              <a:ext uri="{FF2B5EF4-FFF2-40B4-BE49-F238E27FC236}">
                <a16:creationId xmlns:a16="http://schemas.microsoft.com/office/drawing/2014/main" id="{2370F183-DEDC-4227-B811-133DA0C158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5300663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/>
              <a:t>3</a:t>
            </a:r>
            <a:r>
              <a:rPr lang="ru-RU" altLang="ru-RU" sz="2000">
                <a:cs typeface="Times New Roman" panose="02020603050405020304" pitchFamily="18" charset="0"/>
              </a:rPr>
              <a:t>.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/>
          </a:p>
        </p:txBody>
      </p:sp>
      <p:sp>
        <p:nvSpPr>
          <p:cNvPr id="11290" name="Rectangle 42">
            <a:extLst>
              <a:ext uri="{FF2B5EF4-FFF2-40B4-BE49-F238E27FC236}">
                <a16:creationId xmlns:a16="http://schemas.microsoft.com/office/drawing/2014/main" id="{DB7EA2E4-A51B-4E61-B2F3-2B439159CC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892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1291" name="Object 41">
            <a:extLst>
              <a:ext uri="{FF2B5EF4-FFF2-40B4-BE49-F238E27FC236}">
                <a16:creationId xmlns:a16="http://schemas.microsoft.com/office/drawing/2014/main" id="{144D5E2C-A63B-479B-8ACB-364CA16BA6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79838" y="5805488"/>
          <a:ext cx="2520950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7" name="Формула" r:id="rId14" imgW="875920" imgH="304668" progId="Equation.3">
                  <p:embed/>
                </p:oleObj>
              </mc:Choice>
              <mc:Fallback>
                <p:oleObj name="Формула" r:id="rId14" imgW="875920" imgH="304668" progId="Equation.3">
                  <p:embed/>
                  <p:pic>
                    <p:nvPicPr>
                      <p:cNvPr id="11291" name="Object 41">
                        <a:extLst>
                          <a:ext uri="{FF2B5EF4-FFF2-40B4-BE49-F238E27FC236}">
                            <a16:creationId xmlns:a16="http://schemas.microsoft.com/office/drawing/2014/main" id="{144D5E2C-A63B-479B-8ACB-364CA16BA6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5805488"/>
                        <a:ext cx="2520950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92" name="Rectangle 43">
            <a:extLst>
              <a:ext uri="{FF2B5EF4-FFF2-40B4-BE49-F238E27FC236}">
                <a16:creationId xmlns:a16="http://schemas.microsoft.com/office/drawing/2014/main" id="{F37D157F-4454-44F6-A46D-8AA34AB9D0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6021388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/>
              <a:t>4</a:t>
            </a:r>
            <a:r>
              <a:rPr lang="ru-RU" altLang="ru-RU" sz="2000">
                <a:cs typeface="Times New Roman" panose="02020603050405020304" pitchFamily="18" charset="0"/>
              </a:rPr>
              <a:t>.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9AFDC25F-11A9-4392-AD2E-AE246EEDB2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66800"/>
          </a:xfrm>
        </p:spPr>
        <p:txBody>
          <a:bodyPr/>
          <a:lstStyle/>
          <a:p>
            <a:pPr eaLnBrk="1" hangingPunct="1"/>
            <a:r>
              <a:rPr lang="ru-RU" altLang="ru-RU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Алгоритм и сходимость алгоритмов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E13F97EA-D5A1-4C61-B3DC-5B6A14E8B8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412875"/>
            <a:ext cx="8713787" cy="5256213"/>
          </a:xfrm>
        </p:spPr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ru-RU" altLang="ru-RU" b="1" u="sng" dirty="0"/>
              <a:t>4.3. Скорость сходимости алгоритмов.</a:t>
            </a:r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ADEAB189-84CA-49A9-BF34-13EF29D6B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8475" y="3790950"/>
            <a:ext cx="2270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762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1200">
                <a:cs typeface="Times New Roman" panose="02020603050405020304" pitchFamily="18" charset="0"/>
              </a:rPr>
              <a:t>.</a:t>
            </a:r>
            <a:endParaRPr lang="ru-RU" altLang="ru-RU"/>
          </a:p>
        </p:txBody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FEB21A44-061F-4ED2-BBB7-8B6A1D4E19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8675" y="3559175"/>
            <a:ext cx="31273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cs typeface="Times New Roman" panose="02020603050405020304" pitchFamily="18" charset="0"/>
              </a:rPr>
              <a:t>.  </a:t>
            </a:r>
            <a:endParaRPr lang="ru-RU" altLang="ru-RU"/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C4EE21AD-1B2B-467F-A390-E02179E27D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73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2295" name="Rectangle 7">
            <a:extLst>
              <a:ext uri="{FF2B5EF4-FFF2-40B4-BE49-F238E27FC236}">
                <a16:creationId xmlns:a16="http://schemas.microsoft.com/office/drawing/2014/main" id="{5BD2DE66-6769-429F-A025-8791B1CF74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2296" name="Rectangle 19">
            <a:extLst>
              <a:ext uri="{FF2B5EF4-FFF2-40B4-BE49-F238E27FC236}">
                <a16:creationId xmlns:a16="http://schemas.microsoft.com/office/drawing/2014/main" id="{738778BE-19EE-4A35-BA09-EDEC23E61D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3567113"/>
            <a:ext cx="2476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>
                <a:cs typeface="Times New Roman" panose="02020603050405020304" pitchFamily="18" charset="0"/>
              </a:rPr>
              <a:t> </a:t>
            </a:r>
            <a:r>
              <a:rPr lang="ru-RU" altLang="ru-RU" sz="600"/>
              <a:t> </a:t>
            </a:r>
            <a:endParaRPr lang="ru-RU" altLang="ru-RU"/>
          </a:p>
        </p:txBody>
      </p:sp>
      <p:sp>
        <p:nvSpPr>
          <p:cNvPr id="12297" name="Rectangle 20">
            <a:extLst>
              <a:ext uri="{FF2B5EF4-FFF2-40B4-BE49-F238E27FC236}">
                <a16:creationId xmlns:a16="http://schemas.microsoft.com/office/drawing/2014/main" id="{E9AE030E-6A6D-4B63-98AE-2E6A35DDCC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41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2298" name="Rectangle 23">
            <a:extLst>
              <a:ext uri="{FF2B5EF4-FFF2-40B4-BE49-F238E27FC236}">
                <a16:creationId xmlns:a16="http://schemas.microsoft.com/office/drawing/2014/main" id="{F4AD22D0-0D0F-4EE3-BD35-499BD575DB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2299" name="Rectangle 26">
            <a:extLst>
              <a:ext uri="{FF2B5EF4-FFF2-40B4-BE49-F238E27FC236}">
                <a16:creationId xmlns:a16="http://schemas.microsoft.com/office/drawing/2014/main" id="{BD09286F-C0B6-4821-A34B-A9573F098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2300" name="Object 29">
            <a:extLst>
              <a:ext uri="{FF2B5EF4-FFF2-40B4-BE49-F238E27FC236}">
                <a16:creationId xmlns:a16="http://schemas.microsoft.com/office/drawing/2014/main" id="{D182DF48-63B7-4440-80DD-6018D8828F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1275" y="1916113"/>
          <a:ext cx="282575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06" name="Формула" r:id="rId3" imgW="126780" imgH="215526" progId="Equation.3">
                  <p:embed/>
                </p:oleObj>
              </mc:Choice>
              <mc:Fallback>
                <p:oleObj name="Формула" r:id="rId3" imgW="126780" imgH="215526" progId="Equation.3">
                  <p:embed/>
                  <p:pic>
                    <p:nvPicPr>
                      <p:cNvPr id="12300" name="Object 29">
                        <a:extLst>
                          <a:ext uri="{FF2B5EF4-FFF2-40B4-BE49-F238E27FC236}">
                            <a16:creationId xmlns:a16="http://schemas.microsoft.com/office/drawing/2014/main" id="{D182DF48-63B7-4440-80DD-6018D8828F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1916113"/>
                        <a:ext cx="282575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1" name="Rectangle 31">
            <a:extLst>
              <a:ext uri="{FF2B5EF4-FFF2-40B4-BE49-F238E27FC236}">
                <a16:creationId xmlns:a16="http://schemas.microsoft.com/office/drawing/2014/main" id="{A9302A30-2A57-4316-8306-304D7B2C0A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989138"/>
            <a:ext cx="1230313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49121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Пусть</a:t>
            </a:r>
            <a:r>
              <a:rPr lang="ru-RU" altLang="ru-RU" sz="1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altLang="ru-RU"/>
          </a:p>
        </p:txBody>
      </p:sp>
      <p:sp>
        <p:nvSpPr>
          <p:cNvPr id="12302" name="Rectangle 32">
            <a:extLst>
              <a:ext uri="{FF2B5EF4-FFF2-40B4-BE49-F238E27FC236}">
                <a16:creationId xmlns:a16="http://schemas.microsoft.com/office/drawing/2014/main" id="{DA52012F-8283-462C-BD6B-9A5024C0B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1989138"/>
            <a:ext cx="14843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12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сходится к </a:t>
            </a:r>
            <a:endParaRPr lang="ru-RU" altLang="ru-RU" sz="2000"/>
          </a:p>
        </p:txBody>
      </p:sp>
      <p:sp>
        <p:nvSpPr>
          <p:cNvPr id="12303" name="Rectangle 33">
            <a:extLst>
              <a:ext uri="{FF2B5EF4-FFF2-40B4-BE49-F238E27FC236}">
                <a16:creationId xmlns:a16="http://schemas.microsoft.com/office/drawing/2014/main" id="{E966361A-45C7-4DC9-92E2-9098707A0A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1989138"/>
            <a:ext cx="44926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тогда, если выполняются неравенства:</a:t>
            </a:r>
          </a:p>
          <a:p>
            <a:endParaRPr lang="ru-RU" altLang="ru-RU" sz="2000"/>
          </a:p>
        </p:txBody>
      </p:sp>
      <p:sp>
        <p:nvSpPr>
          <p:cNvPr id="12304" name="Rectangle 35">
            <a:extLst>
              <a:ext uri="{FF2B5EF4-FFF2-40B4-BE49-F238E27FC236}">
                <a16:creationId xmlns:a16="http://schemas.microsoft.com/office/drawing/2014/main" id="{DAE5F75C-70B7-4C60-8B4B-9B9B9A36D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2305" name="Object 34">
            <a:extLst>
              <a:ext uri="{FF2B5EF4-FFF2-40B4-BE49-F238E27FC236}">
                <a16:creationId xmlns:a16="http://schemas.microsoft.com/office/drawing/2014/main" id="{E6957188-E36E-464A-9F55-86F77E542C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1989138"/>
          <a:ext cx="647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07" name="Формула" r:id="rId5" imgW="342751" imgH="228501" progId="Equation.3">
                  <p:embed/>
                </p:oleObj>
              </mc:Choice>
              <mc:Fallback>
                <p:oleObj name="Формула" r:id="rId5" imgW="342751" imgH="228501" progId="Equation.3">
                  <p:embed/>
                  <p:pic>
                    <p:nvPicPr>
                      <p:cNvPr id="12305" name="Object 34">
                        <a:extLst>
                          <a:ext uri="{FF2B5EF4-FFF2-40B4-BE49-F238E27FC236}">
                            <a16:creationId xmlns:a16="http://schemas.microsoft.com/office/drawing/2014/main" id="{E6957188-E36E-464A-9F55-86F77E542C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1989138"/>
                        <a:ext cx="6477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6" name="Rectangle 37">
            <a:extLst>
              <a:ext uri="{FF2B5EF4-FFF2-40B4-BE49-F238E27FC236}">
                <a16:creationId xmlns:a16="http://schemas.microsoft.com/office/drawing/2014/main" id="{C215C119-156A-4C34-B490-2FCDCDBFD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24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2307" name="Rectangle 38">
            <a:extLst>
              <a:ext uri="{FF2B5EF4-FFF2-40B4-BE49-F238E27FC236}">
                <a16:creationId xmlns:a16="http://schemas.microsoft.com/office/drawing/2014/main" id="{602FC123-7B09-4B3D-8B01-0056F24F8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51113"/>
            <a:ext cx="8175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/>
              <a:t>(1.)</a:t>
            </a:r>
            <a:r>
              <a:rPr lang="ru-RU" altLang="ru-RU"/>
              <a:t>    </a:t>
            </a:r>
          </a:p>
        </p:txBody>
      </p:sp>
      <p:sp>
        <p:nvSpPr>
          <p:cNvPr id="12308" name="Rectangle 40">
            <a:extLst>
              <a:ext uri="{FF2B5EF4-FFF2-40B4-BE49-F238E27FC236}">
                <a16:creationId xmlns:a16="http://schemas.microsoft.com/office/drawing/2014/main" id="{235A3157-9E1B-4B6D-83D4-1082F4DCD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321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2309" name="Object 39">
            <a:extLst>
              <a:ext uri="{FF2B5EF4-FFF2-40B4-BE49-F238E27FC236}">
                <a16:creationId xmlns:a16="http://schemas.microsoft.com/office/drawing/2014/main" id="{8373DDA8-3A7F-487E-8ECD-26815BB37B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2420938"/>
          <a:ext cx="424815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08" name="Формула" r:id="rId7" imgW="1916868" imgH="393529" progId="Equation.3">
                  <p:embed/>
                </p:oleObj>
              </mc:Choice>
              <mc:Fallback>
                <p:oleObj name="Формула" r:id="rId7" imgW="1916868" imgH="393529" progId="Equation.3">
                  <p:embed/>
                  <p:pic>
                    <p:nvPicPr>
                      <p:cNvPr id="12309" name="Object 39">
                        <a:extLst>
                          <a:ext uri="{FF2B5EF4-FFF2-40B4-BE49-F238E27FC236}">
                            <a16:creationId xmlns:a16="http://schemas.microsoft.com/office/drawing/2014/main" id="{8373DDA8-3A7F-487E-8ECD-26815BB37B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2420938"/>
                        <a:ext cx="4248150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10" name="Rectangle 42">
            <a:extLst>
              <a:ext uri="{FF2B5EF4-FFF2-40B4-BE49-F238E27FC236}">
                <a16:creationId xmlns:a16="http://schemas.microsoft.com/office/drawing/2014/main" id="{446D6983-8EBE-42FC-AB13-494023D66A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019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2311" name="Object 41">
            <a:extLst>
              <a:ext uri="{FF2B5EF4-FFF2-40B4-BE49-F238E27FC236}">
                <a16:creationId xmlns:a16="http://schemas.microsoft.com/office/drawing/2014/main" id="{9731DB21-386A-43D4-95D0-AC2EB480A9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35600" y="2565400"/>
          <a:ext cx="3492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09" name="Формула" r:id="rId9" imgW="164957" imgH="203024" progId="Equation.3">
                  <p:embed/>
                </p:oleObj>
              </mc:Choice>
              <mc:Fallback>
                <p:oleObj name="Формула" r:id="rId9" imgW="164957" imgH="203024" progId="Equation.3">
                  <p:embed/>
                  <p:pic>
                    <p:nvPicPr>
                      <p:cNvPr id="12311" name="Object 41">
                        <a:extLst>
                          <a:ext uri="{FF2B5EF4-FFF2-40B4-BE49-F238E27FC236}">
                            <a16:creationId xmlns:a16="http://schemas.microsoft.com/office/drawing/2014/main" id="{9731DB21-386A-43D4-95D0-AC2EB480A9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2565400"/>
                        <a:ext cx="34925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12" name="Rectangle 43">
            <a:extLst>
              <a:ext uri="{FF2B5EF4-FFF2-40B4-BE49-F238E27FC236}">
                <a16:creationId xmlns:a16="http://schemas.microsoft.com/office/drawing/2014/main" id="{F6E8E6F9-DA57-474E-B7BE-DE32E0D6C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7495" y="2645600"/>
            <a:ext cx="434820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200" dirty="0"/>
              <a:t>         </a:t>
            </a:r>
            <a:r>
              <a:rPr lang="ru-RU" altLang="ru-RU" sz="1200" dirty="0">
                <a:cs typeface="Times New Roman" panose="02020603050405020304" pitchFamily="18" charset="0"/>
              </a:rPr>
              <a:t> </a:t>
            </a:r>
            <a:r>
              <a:rPr lang="ru-RU" altLang="ru-RU" dirty="0">
                <a:cs typeface="Times New Roman" panose="02020603050405020304" pitchFamily="18" charset="0"/>
              </a:rPr>
              <a:t>- коэффициент  сходимости,</a:t>
            </a:r>
            <a:endParaRPr lang="ru-RU" altLang="ru-RU" dirty="0"/>
          </a:p>
          <a:p>
            <a:r>
              <a:rPr lang="ru-RU" altLang="ru-RU" dirty="0"/>
              <a:t>     </a:t>
            </a:r>
            <a:r>
              <a:rPr lang="ru-RU" altLang="ru-RU" dirty="0">
                <a:cs typeface="Times New Roman" panose="02020603050405020304" pitchFamily="18" charset="0"/>
              </a:rPr>
              <a:t> – линейная сходимость, </a:t>
            </a:r>
            <a:endParaRPr lang="ru-RU" altLang="ru-RU" dirty="0"/>
          </a:p>
        </p:txBody>
      </p:sp>
      <p:sp>
        <p:nvSpPr>
          <p:cNvPr id="12313" name="Rectangle 44">
            <a:extLst>
              <a:ext uri="{FF2B5EF4-FFF2-40B4-BE49-F238E27FC236}">
                <a16:creationId xmlns:a16="http://schemas.microsoft.com/office/drawing/2014/main" id="{17C12AB4-A7AC-4A4C-84CF-E91D6838F1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716338"/>
            <a:ext cx="717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(2.)   </a:t>
            </a:r>
          </a:p>
        </p:txBody>
      </p:sp>
      <p:sp>
        <p:nvSpPr>
          <p:cNvPr id="12314" name="Rectangle 46">
            <a:extLst>
              <a:ext uri="{FF2B5EF4-FFF2-40B4-BE49-F238E27FC236}">
                <a16:creationId xmlns:a16="http://schemas.microsoft.com/office/drawing/2014/main" id="{E7921C21-93C6-476F-A3C8-A281F01F7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41338" y="4437063"/>
            <a:ext cx="91440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2315" name="Object 45">
            <a:extLst>
              <a:ext uri="{FF2B5EF4-FFF2-40B4-BE49-F238E27FC236}">
                <a16:creationId xmlns:a16="http://schemas.microsoft.com/office/drawing/2014/main" id="{590661A1-5F58-4E34-99DA-B7641E52E0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3500438"/>
          <a:ext cx="4176712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10" name="Формула" r:id="rId11" imgW="1777229" imgH="393529" progId="Equation.3">
                  <p:embed/>
                </p:oleObj>
              </mc:Choice>
              <mc:Fallback>
                <p:oleObj name="Формула" r:id="rId11" imgW="1777229" imgH="393529" progId="Equation.3">
                  <p:embed/>
                  <p:pic>
                    <p:nvPicPr>
                      <p:cNvPr id="12315" name="Object 45">
                        <a:extLst>
                          <a:ext uri="{FF2B5EF4-FFF2-40B4-BE49-F238E27FC236}">
                            <a16:creationId xmlns:a16="http://schemas.microsoft.com/office/drawing/2014/main" id="{590661A1-5F58-4E34-99DA-B7641E52E0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500438"/>
                        <a:ext cx="4176712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16" name="Rectangle 48">
            <a:extLst>
              <a:ext uri="{FF2B5EF4-FFF2-40B4-BE49-F238E27FC236}">
                <a16:creationId xmlns:a16="http://schemas.microsoft.com/office/drawing/2014/main" id="{440492F0-260C-4A34-969B-C3223F7D84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0100" y="3835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2317" name="Object 47">
            <a:extLst>
              <a:ext uri="{FF2B5EF4-FFF2-40B4-BE49-F238E27FC236}">
                <a16:creationId xmlns:a16="http://schemas.microsoft.com/office/drawing/2014/main" id="{31950E64-5EDF-4BC6-91CE-FB7AEB6D4D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03800" y="3644900"/>
          <a:ext cx="863600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11" name="Формула" r:id="rId13" imgW="330057" imgH="203112" progId="Equation.3">
                  <p:embed/>
                </p:oleObj>
              </mc:Choice>
              <mc:Fallback>
                <p:oleObj name="Формула" r:id="rId13" imgW="330057" imgH="203112" progId="Equation.3">
                  <p:embed/>
                  <p:pic>
                    <p:nvPicPr>
                      <p:cNvPr id="12317" name="Object 47">
                        <a:extLst>
                          <a:ext uri="{FF2B5EF4-FFF2-40B4-BE49-F238E27FC236}">
                            <a16:creationId xmlns:a16="http://schemas.microsoft.com/office/drawing/2014/main" id="{31950E64-5EDF-4BC6-91CE-FB7AEB6D4D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3644900"/>
                        <a:ext cx="863600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18" name="Rectangle 49">
            <a:extLst>
              <a:ext uri="{FF2B5EF4-FFF2-40B4-BE49-F238E27FC236}">
                <a16:creationId xmlns:a16="http://schemas.microsoft.com/office/drawing/2014/main" id="{83F12C28-EA2F-4CAA-81DD-AD29C74483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3643313"/>
            <a:ext cx="268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/>
              <a:t>,</a:t>
            </a:r>
          </a:p>
        </p:txBody>
      </p:sp>
      <p:sp>
        <p:nvSpPr>
          <p:cNvPr id="12319" name="Rectangle 50">
            <a:extLst>
              <a:ext uri="{FF2B5EF4-FFF2-40B4-BE49-F238E27FC236}">
                <a16:creationId xmlns:a16="http://schemas.microsoft.com/office/drawing/2014/main" id="{4B050925-DC6B-49C3-8E72-AE0B949C6A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2492375"/>
            <a:ext cx="268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/>
              <a:t>,</a:t>
            </a:r>
          </a:p>
        </p:txBody>
      </p:sp>
      <p:sp>
        <p:nvSpPr>
          <p:cNvPr id="12320" name="Rectangle 51">
            <a:extLst>
              <a:ext uri="{FF2B5EF4-FFF2-40B4-BE49-F238E27FC236}">
                <a16:creationId xmlns:a16="http://schemas.microsoft.com/office/drawing/2014/main" id="{4799511A-30FF-464B-96E8-66EDA12D6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573463"/>
            <a:ext cx="32766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3200" i="1">
                <a:sym typeface="Symbol" panose="05050102010706020507" pitchFamily="18" charset="2"/>
              </a:rPr>
              <a:t></a:t>
            </a:r>
            <a:r>
              <a:rPr lang="ru-RU" altLang="ru-RU">
                <a:sym typeface="Symbol" panose="05050102010706020507" pitchFamily="18" charset="2"/>
              </a:rPr>
              <a:t> </a:t>
            </a:r>
            <a:r>
              <a:rPr lang="ru-RU" altLang="ru-RU"/>
              <a:t>- порядок сходимости,</a:t>
            </a:r>
          </a:p>
        </p:txBody>
      </p:sp>
      <p:sp>
        <p:nvSpPr>
          <p:cNvPr id="12321" name="Rectangle 52">
            <a:extLst>
              <a:ext uri="{FF2B5EF4-FFF2-40B4-BE49-F238E27FC236}">
                <a16:creationId xmlns:a16="http://schemas.microsoft.com/office/drawing/2014/main" id="{974BFDCF-BBB7-4F98-A51A-5813AEB5DD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3716338"/>
            <a:ext cx="268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/>
              <a:t>,</a:t>
            </a:r>
          </a:p>
        </p:txBody>
      </p:sp>
      <p:sp>
        <p:nvSpPr>
          <p:cNvPr id="12322" name="Rectangle 53">
            <a:extLst>
              <a:ext uri="{FF2B5EF4-FFF2-40B4-BE49-F238E27FC236}">
                <a16:creationId xmlns:a16="http://schemas.microsoft.com/office/drawing/2014/main" id="{B707A0E0-5449-45A2-A6BC-A8D9A0D2D8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4221163"/>
            <a:ext cx="34417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Times New Roman" panose="02020603050405020304" pitchFamily="18" charset="0"/>
              <a:buChar char="-"/>
            </a:pPr>
            <a:r>
              <a:rPr lang="ru-RU" altLang="ru-RU"/>
              <a:t>   суперлинейная сходимость.</a:t>
            </a:r>
          </a:p>
        </p:txBody>
      </p:sp>
      <p:sp>
        <p:nvSpPr>
          <p:cNvPr id="12323" name="Rectangle 54">
            <a:extLst>
              <a:ext uri="{FF2B5EF4-FFF2-40B4-BE49-F238E27FC236}">
                <a16:creationId xmlns:a16="http://schemas.microsoft.com/office/drawing/2014/main" id="{F5F10B65-16A2-4FE0-9A90-B9BDB364B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938713"/>
            <a:ext cx="48244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При    </a:t>
            </a:r>
            <a:r>
              <a:rPr lang="ru-RU" altLang="ru-RU" sz="2800" i="1">
                <a:sym typeface="Symbol" panose="05050102010706020507" pitchFamily="18" charset="2"/>
              </a:rPr>
              <a:t></a:t>
            </a:r>
            <a:r>
              <a:rPr lang="ru-RU" altLang="ru-RU"/>
              <a:t> = 2 – квадратичная сходимость.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Оформление по умолчанию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Оформление по умолчанию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604</TotalTime>
  <Words>1576</Words>
  <Application>Microsoft Office PowerPoint</Application>
  <PresentationFormat>Экран (4:3)</PresentationFormat>
  <Paragraphs>281</Paragraphs>
  <Slides>24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2</vt:i4>
      </vt:variant>
      <vt:variant>
        <vt:lpstr>Заголовки слайдов</vt:lpstr>
      </vt:variant>
      <vt:variant>
        <vt:i4>24</vt:i4>
      </vt:variant>
    </vt:vector>
  </HeadingPairs>
  <TitlesOfParts>
    <vt:vector size="29" baseType="lpstr">
      <vt:lpstr>Arial</vt:lpstr>
      <vt:lpstr>Times New Roman</vt:lpstr>
      <vt:lpstr>Оформление по умолчанию</vt:lpstr>
      <vt:lpstr>Формула</vt:lpstr>
      <vt:lpstr>Microsoft Equation 3.0</vt:lpstr>
      <vt:lpstr>ЛЕКЦИЯ № 3</vt:lpstr>
      <vt:lpstr>Дифференцирование функций</vt:lpstr>
      <vt:lpstr>Дифференцирование функций</vt:lpstr>
      <vt:lpstr>Дифференцирование функций</vt:lpstr>
      <vt:lpstr>Дифференцирование функций</vt:lpstr>
      <vt:lpstr>Дифференцирование функций</vt:lpstr>
      <vt:lpstr>Дифференцирование функций</vt:lpstr>
      <vt:lpstr>Дифференцирование функций</vt:lpstr>
      <vt:lpstr>Необходимые и достаточные условия существования экстремума функции</vt:lpstr>
      <vt:lpstr>Необходимые и достаточные условия существования экстремума функции</vt:lpstr>
      <vt:lpstr>Необходимые и достаточные условия существования экстремума функции</vt:lpstr>
      <vt:lpstr>Необходимые и достаточные условия существования экстремума функции</vt:lpstr>
      <vt:lpstr>Необходимые и достаточные условия существования экстремума функции</vt:lpstr>
      <vt:lpstr>Необходимые и достаточные условия существования экстремума функци</vt:lpstr>
      <vt:lpstr>3. Задачи выпуклого программирования</vt:lpstr>
      <vt:lpstr>3. Задачи выпуклого программирования.</vt:lpstr>
      <vt:lpstr>3.2. Функция Куна-Таккера (функция Лагранжа) для задач выпуклого программирования (1951г.)</vt:lpstr>
      <vt:lpstr>3.3. Теорема Куна-Таккера.</vt:lpstr>
      <vt:lpstr>3.4. Теория двойственности</vt:lpstr>
      <vt:lpstr>3.4. Теория двойственности.</vt:lpstr>
      <vt:lpstr>4. Алгоритм и сходимость алгоритмов</vt:lpstr>
      <vt:lpstr>4. Алгоритм и сходимость алгоритмов</vt:lpstr>
      <vt:lpstr>4. Алгоритм и сходимость алгоритмов</vt:lpstr>
      <vt:lpstr>4. Алгоритм и сходимость алгоритмов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№ 3</dc:title>
  <dc:creator>Yura</dc:creator>
  <cp:lastModifiedBy>Yuriy Kaganov</cp:lastModifiedBy>
  <cp:revision>27</cp:revision>
  <dcterms:created xsi:type="dcterms:W3CDTF">2015-10-05T05:25:32Z</dcterms:created>
  <dcterms:modified xsi:type="dcterms:W3CDTF">2024-09-20T10:22:50Z</dcterms:modified>
</cp:coreProperties>
</file>