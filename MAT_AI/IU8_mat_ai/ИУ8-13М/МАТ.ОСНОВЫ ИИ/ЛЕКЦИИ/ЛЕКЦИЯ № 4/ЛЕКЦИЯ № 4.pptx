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4" r:id="rId4"/>
    <p:sldId id="281" r:id="rId5"/>
    <p:sldId id="282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8" r:id="rId15"/>
    <p:sldId id="299" r:id="rId16"/>
    <p:sldId id="300" r:id="rId17"/>
    <p:sldId id="292" r:id="rId18"/>
    <p:sldId id="301" r:id="rId19"/>
    <p:sldId id="293" r:id="rId20"/>
    <p:sldId id="294" r:id="rId21"/>
    <p:sldId id="295" r:id="rId22"/>
    <p:sldId id="296" r:id="rId23"/>
    <p:sldId id="297" r:id="rId24"/>
    <p:sldId id="302" r:id="rId25"/>
    <p:sldId id="303" r:id="rId2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2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11" Type="http://schemas.openxmlformats.org/officeDocument/2006/relationships/image" Target="../media/image36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12" Type="http://schemas.openxmlformats.org/officeDocument/2006/relationships/image" Target="../media/image58.wmf"/><Relationship Id="rId2" Type="http://schemas.openxmlformats.org/officeDocument/2006/relationships/image" Target="../media/image48.wmf"/><Relationship Id="rId1" Type="http://schemas.openxmlformats.org/officeDocument/2006/relationships/image" Target="../media/image1.w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51.wmf"/><Relationship Id="rId10" Type="http://schemas.openxmlformats.org/officeDocument/2006/relationships/image" Target="../media/image56.wmf"/><Relationship Id="rId4" Type="http://schemas.openxmlformats.org/officeDocument/2006/relationships/image" Target="../media/image50.wmf"/><Relationship Id="rId9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12" Type="http://schemas.openxmlformats.org/officeDocument/2006/relationships/image" Target="../media/image104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w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4D725-04D8-497F-BE5A-33BB815C9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AD6CBC-A5CD-4C7D-9D3A-7A88DB52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C5B20-32D3-4153-A61A-F9095FA1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AF43D-0605-4AAC-93C7-16F10B27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7E396-3AF0-45B5-8E6E-EF0D855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FF3CD-C761-47C9-977D-6E5C272B577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294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DE890-0EEA-4A06-9A42-FDC89B28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8494F-A600-4F5E-9B84-EA84C678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C3B4E2-B982-4B67-8BD8-3FA6E674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CF44C-2FC6-46D1-8FA2-03BD277A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0122E-E77D-4E0F-8196-2857B7C6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23F95-43B0-4DD0-907F-54E571AC803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3565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69159-D4C0-439B-8457-5CF7DDB7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936128-5869-4080-BEF6-7983D54D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CA622E-8ACD-4866-83B5-9332ECC9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273BD-F19A-48A0-86D0-8BD31767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7A9B68-B248-4467-9DC0-8E63D4F0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00765-8A44-4E08-A739-3C7C6A04A4D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754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2468E-A404-4206-8DBB-5F9CFA4F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9F61B-B992-4D6E-A49F-00D683D27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4AB944-E8D0-4DEA-92ED-03C65B821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843F9-0D7C-4DEB-89A4-D375A42B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70E1DF-5226-4EDD-9BBE-C49EEC76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341FBB-8C67-4CE4-90BC-D2492300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D3D74-032D-41C7-A3D6-9BA2965F225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7372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CD922-EF8B-41B6-BFBE-A4D4F1C5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8F6CE-A719-4017-98AB-3AEAC90D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7AB482-47B0-4206-B1E8-C3E83943F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60DDAB-B0F3-4386-B17D-FBA77DA05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0BDACA-EEBE-4075-8AB7-CA52D4570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61F370-E436-4F07-8340-8A7E6CDE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3FCAD0-538B-43B9-8AD9-CB5EAF16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B8606C-C386-46D2-8B09-B533FF15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9E84F-A4D4-4B23-8CCA-DABF60A678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360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D82C3-C030-42C0-9C26-0A1B3CBC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24624B-CB1C-4917-B57F-9CECAEE7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50FD5E-A1C7-4F12-8584-8372CA0A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F9A599-D476-43BA-8901-6F504759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A3274-F9C1-4608-8D09-0EE3E681FD8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16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62BD45-3F15-4F1A-87E8-C8FCA150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C1B4AA-A68B-42AC-BF0C-167DC576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37B8F-4946-47EC-841F-F36B5A34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DDD29-983E-4001-87D8-A12D5B1A418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127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B2C36-78C0-473B-9D75-4164E61F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8BF9-62EF-49B9-8EFB-677FD2AF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65DCDF-22AB-4254-AFF7-3279A681A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8D79B9-9179-46A5-8980-871C65BB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368356-A163-4EFB-B12A-E09AEA01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D7C46-251E-40F2-89B6-59C942CF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93B7F-3F17-44F7-BC4C-195B1426CDD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223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CF8BB-7CD4-43FE-BF37-DF640698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C5F9BB-ED9A-4AAB-94CF-987A2C49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0AEEA0-A12A-4675-8F40-E14EE72AF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EDDB5-A15E-4D4A-B643-41B972E9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073BC-7857-46B2-8C06-2FA6F8B3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96849F-EDAF-4838-B720-18F9FCB4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2F4AF-F953-4A0C-8693-B54F633973F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2825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73843-291C-4CA3-B6F9-BD280E5C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9E376-A9B4-45BC-80CF-3C52D65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6C169-CD9B-4921-A1EC-694514B1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464BE-B5CD-49C3-8537-261B9BD4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FF72D3-75AA-4CEA-84B7-6322D3A7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DDEA8-45A9-45CF-A3EE-0453883C67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247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DF1A1-7211-461F-B7E3-184AEA3F6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AE385B-647D-4A30-8648-B2E58F9D9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AEC98F-D59A-4F3D-9CC3-8FB1FD0B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A663D-EE85-4BBE-B615-BC593AA6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509F1B-A19F-430F-B90C-D70ABA3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CAA4D-2880-46AD-8DB5-FE3B2F2CB1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6235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991BD-EC32-4F1B-AD58-0CFD2A82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C9D365-3C2B-455C-B9B7-89D6C7E8B8A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58236B-9F36-44D5-ACE9-84DB59FDB9D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F68AAA0-21BB-4A5B-85AA-339C85F2CA0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944ABDD-F259-4621-B119-CA2A27BC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430BC31-C8C2-438C-9DDB-C6CA063A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A66B32C-7F44-4804-B4B5-DD08423F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D9DE1BC-39F8-4174-B27A-A8F6EFAE0EE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5649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14ADE-3D69-41B8-90BE-F3D8FE7CF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200B7-E5BD-4822-946C-14A9E66FFF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AB14D1-9BA0-49F2-8CD5-1BAAABDD04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6BFF6F-FFE9-4324-84FD-A7D9172CDB4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3148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1073E4-7487-46D0-8A66-FBDB949B7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F5EA90-B18F-47FB-8611-649164823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332E41-8B46-4A6B-AD39-118744AF4A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F12A3D-04F1-4224-B0BE-3C92A7B592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846EF8-62A2-4F73-A81E-E9EC961B9C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C2192E-B02F-4308-8304-FB54E84C667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6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44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4.wmf"/><Relationship Id="rId26" Type="http://schemas.openxmlformats.org/officeDocument/2006/relationships/image" Target="../media/image58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oleObject5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57.w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28" Type="http://schemas.openxmlformats.org/officeDocument/2006/relationships/image" Target="../media/image59.wmf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2.wmf"/><Relationship Id="rId22" Type="http://schemas.openxmlformats.org/officeDocument/2006/relationships/image" Target="../media/image56.wmf"/><Relationship Id="rId27" Type="http://schemas.openxmlformats.org/officeDocument/2006/relationships/oleObject" Target="../embeddings/oleObject57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image" Target="../media/image63.png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6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7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8.wmf"/><Relationship Id="rId18" Type="http://schemas.openxmlformats.org/officeDocument/2006/relationships/oleObject" Target="../embeddings/oleObject89.bin"/><Relationship Id="rId3" Type="http://schemas.openxmlformats.org/officeDocument/2006/relationships/oleObject" Target="../embeddings/oleObject81.bin"/><Relationship Id="rId21" Type="http://schemas.openxmlformats.org/officeDocument/2006/relationships/image" Target="../media/image92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7.wmf"/><Relationship Id="rId5" Type="http://schemas.openxmlformats.org/officeDocument/2006/relationships/oleObject" Target="../embeddings/oleObject82.bin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91.wmf"/><Relationship Id="rId4" Type="http://schemas.openxmlformats.org/officeDocument/2006/relationships/image" Target="../media/image84.wmf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8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0.wmf"/><Relationship Id="rId26" Type="http://schemas.openxmlformats.org/officeDocument/2006/relationships/image" Target="../media/image104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103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98.wmf"/><Relationship Id="rId22" Type="http://schemas.openxmlformats.org/officeDocument/2006/relationships/image" Target="../media/image10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0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7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1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9E1077-39CB-4060-89BA-DD2EFD2DF7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ru-RU" altLang="ru-RU" sz="4400" b="1" dirty="0"/>
              <a:t>ЛЕКЦИЯ № 4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35A48F4-9D72-4CDB-A51E-6277F3910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351112"/>
          </a:xfrm>
        </p:spPr>
        <p:txBody>
          <a:bodyPr/>
          <a:lstStyle/>
          <a:p>
            <a:r>
              <a:rPr lang="ru-RU" altLang="ru-RU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оптимизации</a:t>
            </a:r>
          </a:p>
          <a:p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(ПРОДОЛЖЕНИЕ)</a:t>
            </a:r>
          </a:p>
          <a:p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многомерной оптимизации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E5E58C1-11D0-41D8-A275-A73CCDFD2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1282700"/>
          </a:xfrm>
        </p:spPr>
        <p:txBody>
          <a:bodyPr/>
          <a:lstStyle/>
          <a:p>
            <a:pPr marL="838200" indent="-838200" eaLnBrk="1" hangingPunct="1"/>
            <a:r>
              <a:rPr lang="ru-RU" altLang="ru-RU" sz="3600" b="1"/>
              <a:t>Методы</a:t>
            </a:r>
            <a:br>
              <a:rPr lang="en-US" altLang="ru-RU" sz="3600" b="1"/>
            </a:br>
            <a:r>
              <a:rPr lang="ru-RU" altLang="ru-RU" sz="3600" b="1"/>
              <a:t>одномерной оптимизации</a:t>
            </a:r>
            <a:br>
              <a:rPr lang="ru-RU" altLang="ru-RU" sz="3600" b="1"/>
            </a:br>
            <a:endParaRPr lang="ru-RU" altLang="ru-RU" sz="3600" b="1"/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7ABA323E-7338-48C6-ACEA-56A26A589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076" name="Object 10">
            <a:extLst>
              <a:ext uri="{FF2B5EF4-FFF2-40B4-BE49-F238E27FC236}">
                <a16:creationId xmlns:a16="http://schemas.microsoft.com/office/drawing/2014/main" id="{D49831E4-D35A-453F-B398-D8CA48F6D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0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3076" name="Object 10">
                        <a:extLst>
                          <a:ext uri="{FF2B5EF4-FFF2-40B4-BE49-F238E27FC236}">
                            <a16:creationId xmlns:a16="http://schemas.microsoft.com/office/drawing/2014/main" id="{D49831E4-D35A-453F-B398-D8CA48F6D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4">
            <a:extLst>
              <a:ext uri="{FF2B5EF4-FFF2-40B4-BE49-F238E27FC236}">
                <a16:creationId xmlns:a16="http://schemas.microsoft.com/office/drawing/2014/main" id="{ADD085FB-6D80-4E3F-A392-76BECEAB1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8" name="Rectangle 26">
            <a:extLst>
              <a:ext uri="{FF2B5EF4-FFF2-40B4-BE49-F238E27FC236}">
                <a16:creationId xmlns:a16="http://schemas.microsoft.com/office/drawing/2014/main" id="{528F5871-77B1-4822-B9BF-9B92986A9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9" name="Rectangle 38">
            <a:extLst>
              <a:ext uri="{FF2B5EF4-FFF2-40B4-BE49-F238E27FC236}">
                <a16:creationId xmlns:a16="http://schemas.microsoft.com/office/drawing/2014/main" id="{DC2A7E33-0124-4D9A-99B0-94C034DC0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0" name="Rectangle 40">
            <a:extLst>
              <a:ext uri="{FF2B5EF4-FFF2-40B4-BE49-F238E27FC236}">
                <a16:creationId xmlns:a16="http://schemas.microsoft.com/office/drawing/2014/main" id="{71AA4B6F-3E6B-493C-AFCE-36C5983D6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1" name="Rectangle 63">
            <a:extLst>
              <a:ext uri="{FF2B5EF4-FFF2-40B4-BE49-F238E27FC236}">
                <a16:creationId xmlns:a16="http://schemas.microsoft.com/office/drawing/2014/main" id="{463BB0CD-21E4-4DE2-8959-84F77EC3A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2" name="Rectangle 67">
            <a:extLst>
              <a:ext uri="{FF2B5EF4-FFF2-40B4-BE49-F238E27FC236}">
                <a16:creationId xmlns:a16="http://schemas.microsoft.com/office/drawing/2014/main" id="{0808253D-7B14-4B58-82BF-246D3E73E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3" name="Rectangle 68">
            <a:extLst>
              <a:ext uri="{FF2B5EF4-FFF2-40B4-BE49-F238E27FC236}">
                <a16:creationId xmlns:a16="http://schemas.microsoft.com/office/drawing/2014/main" id="{A6B8AE4F-2B8D-4A02-929D-97CB25F47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4" name="Rectangle 72">
            <a:extLst>
              <a:ext uri="{FF2B5EF4-FFF2-40B4-BE49-F238E27FC236}">
                <a16:creationId xmlns:a16="http://schemas.microsoft.com/office/drawing/2014/main" id="{35857948-0D89-4B04-98EA-B6583B996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5" name="Rectangle 75">
            <a:extLst>
              <a:ext uri="{FF2B5EF4-FFF2-40B4-BE49-F238E27FC236}">
                <a16:creationId xmlns:a16="http://schemas.microsoft.com/office/drawing/2014/main" id="{9D9DBFCD-2945-4111-9F7A-9BBF313A9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6" name="Rectangle 89">
            <a:extLst>
              <a:ext uri="{FF2B5EF4-FFF2-40B4-BE49-F238E27FC236}">
                <a16:creationId xmlns:a16="http://schemas.microsoft.com/office/drawing/2014/main" id="{D9922335-375E-4F87-BC5F-6D5AAC077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7" name="Rectangle 92">
            <a:extLst>
              <a:ext uri="{FF2B5EF4-FFF2-40B4-BE49-F238E27FC236}">
                <a16:creationId xmlns:a16="http://schemas.microsoft.com/office/drawing/2014/main" id="{2911EF6F-549A-4FCE-BE10-F66A7CA09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8" name="Rectangle 94">
            <a:extLst>
              <a:ext uri="{FF2B5EF4-FFF2-40B4-BE49-F238E27FC236}">
                <a16:creationId xmlns:a16="http://schemas.microsoft.com/office/drawing/2014/main" id="{82BC289A-3EEC-40B3-9723-F3F29DEAC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089" name="Rectangle 99">
            <a:extLst>
              <a:ext uri="{FF2B5EF4-FFF2-40B4-BE49-F238E27FC236}">
                <a16:creationId xmlns:a16="http://schemas.microsoft.com/office/drawing/2014/main" id="{2E5130B1-DF21-4E67-AD22-69151D812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00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0" name="Rectangle 104">
            <a:extLst>
              <a:ext uri="{FF2B5EF4-FFF2-40B4-BE49-F238E27FC236}">
                <a16:creationId xmlns:a16="http://schemas.microsoft.com/office/drawing/2014/main" id="{45455954-5275-4076-98F1-7D3ED4435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1" name="Rectangle 119">
            <a:extLst>
              <a:ext uri="{FF2B5EF4-FFF2-40B4-BE49-F238E27FC236}">
                <a16:creationId xmlns:a16="http://schemas.microsoft.com/office/drawing/2014/main" id="{CB811D25-2C97-490D-84D1-6E0CEDCFD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2" name="Rectangle 122">
            <a:extLst>
              <a:ext uri="{FF2B5EF4-FFF2-40B4-BE49-F238E27FC236}">
                <a16:creationId xmlns:a16="http://schemas.microsoft.com/office/drawing/2014/main" id="{9B398F44-6647-443B-A6E4-33615C384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3" name="Rectangle 125">
            <a:extLst>
              <a:ext uri="{FF2B5EF4-FFF2-40B4-BE49-F238E27FC236}">
                <a16:creationId xmlns:a16="http://schemas.microsoft.com/office/drawing/2014/main" id="{6CF12B03-7CFB-4EDA-B8DE-72F071643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4" name="Rectangle 126">
            <a:extLst>
              <a:ext uri="{FF2B5EF4-FFF2-40B4-BE49-F238E27FC236}">
                <a16:creationId xmlns:a16="http://schemas.microsoft.com/office/drawing/2014/main" id="{1724372C-6D6F-41F1-A97A-10C1D127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5" name="Rectangle 128">
            <a:extLst>
              <a:ext uri="{FF2B5EF4-FFF2-40B4-BE49-F238E27FC236}">
                <a16:creationId xmlns:a16="http://schemas.microsoft.com/office/drawing/2014/main" id="{9F80C0D7-94B4-4082-A829-FEDAEA0D9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6" name="Rectangle 132">
            <a:extLst>
              <a:ext uri="{FF2B5EF4-FFF2-40B4-BE49-F238E27FC236}">
                <a16:creationId xmlns:a16="http://schemas.microsoft.com/office/drawing/2014/main" id="{A2CA95E3-524F-4F9A-A8CD-A92FDE32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7" name="Rectangle 133">
            <a:extLst>
              <a:ext uri="{FF2B5EF4-FFF2-40B4-BE49-F238E27FC236}">
                <a16:creationId xmlns:a16="http://schemas.microsoft.com/office/drawing/2014/main" id="{21B469FB-CEC7-4D99-A70D-8EA89C607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8" name="Rectangle 139">
            <a:extLst>
              <a:ext uri="{FF2B5EF4-FFF2-40B4-BE49-F238E27FC236}">
                <a16:creationId xmlns:a16="http://schemas.microsoft.com/office/drawing/2014/main" id="{0F483DFF-8874-4CA3-82C8-FAD0A43E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9" name="Rectangle 141">
            <a:extLst>
              <a:ext uri="{FF2B5EF4-FFF2-40B4-BE49-F238E27FC236}">
                <a16:creationId xmlns:a16="http://schemas.microsoft.com/office/drawing/2014/main" id="{3C6DC110-D4C5-4902-9035-2C49DCC50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0" name="Object 157">
            <a:extLst>
              <a:ext uri="{FF2B5EF4-FFF2-40B4-BE49-F238E27FC236}">
                <a16:creationId xmlns:a16="http://schemas.microsoft.com/office/drawing/2014/main" id="{595AC418-5229-4FED-8736-6D20D9074E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7790" y="1379537"/>
          <a:ext cx="4318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1" name="Формула" r:id="rId5" imgW="266469" imgH="203024" progId="Equation.3">
                  <p:embed/>
                </p:oleObj>
              </mc:Choice>
              <mc:Fallback>
                <p:oleObj name="Формула" r:id="rId5" imgW="266469" imgH="203024" progId="Equation.3">
                  <p:embed/>
                  <p:pic>
                    <p:nvPicPr>
                      <p:cNvPr id="3100" name="Object 157">
                        <a:extLst>
                          <a:ext uri="{FF2B5EF4-FFF2-40B4-BE49-F238E27FC236}">
                            <a16:creationId xmlns:a16="http://schemas.microsoft.com/office/drawing/2014/main" id="{595AC418-5229-4FED-8736-6D20D9074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790" y="1379537"/>
                        <a:ext cx="4318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1" name="Object 156">
            <a:extLst>
              <a:ext uri="{FF2B5EF4-FFF2-40B4-BE49-F238E27FC236}">
                <a16:creationId xmlns:a16="http://schemas.microsoft.com/office/drawing/2014/main" id="{BED9BAF2-27C7-42F9-A9DC-341FC9B4F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844675"/>
          <a:ext cx="468312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2" name="Формула" r:id="rId7" imgW="317225" imgH="203024" progId="Equation.3">
                  <p:embed/>
                </p:oleObj>
              </mc:Choice>
              <mc:Fallback>
                <p:oleObj name="Формула" r:id="rId7" imgW="317225" imgH="203024" progId="Equation.3">
                  <p:embed/>
                  <p:pic>
                    <p:nvPicPr>
                      <p:cNvPr id="3101" name="Object 156">
                        <a:extLst>
                          <a:ext uri="{FF2B5EF4-FFF2-40B4-BE49-F238E27FC236}">
                            <a16:creationId xmlns:a16="http://schemas.microsoft.com/office/drawing/2014/main" id="{BED9BAF2-27C7-42F9-A9DC-341FC9B4F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44675"/>
                        <a:ext cx="468312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" name="Object 155">
            <a:extLst>
              <a:ext uri="{FF2B5EF4-FFF2-40B4-BE49-F238E27FC236}">
                <a16:creationId xmlns:a16="http://schemas.microsoft.com/office/drawing/2014/main" id="{A5E57FAA-741A-4EB7-9D18-977C495A6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5325" y="1878013"/>
          <a:ext cx="7207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3" name="Формула" r:id="rId9" imgW="495085" imgH="228501" progId="Equation.3">
                  <p:embed/>
                </p:oleObj>
              </mc:Choice>
              <mc:Fallback>
                <p:oleObj name="Формула" r:id="rId9" imgW="495085" imgH="228501" progId="Equation.3">
                  <p:embed/>
                  <p:pic>
                    <p:nvPicPr>
                      <p:cNvPr id="3102" name="Object 155">
                        <a:extLst>
                          <a:ext uri="{FF2B5EF4-FFF2-40B4-BE49-F238E27FC236}">
                            <a16:creationId xmlns:a16="http://schemas.microsoft.com/office/drawing/2014/main" id="{A5E57FAA-741A-4EB7-9D18-977C495A67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325" y="1878013"/>
                        <a:ext cx="7207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3" name="Object 154">
            <a:extLst>
              <a:ext uri="{FF2B5EF4-FFF2-40B4-BE49-F238E27FC236}">
                <a16:creationId xmlns:a16="http://schemas.microsoft.com/office/drawing/2014/main" id="{98C8F8E6-DB4F-4834-8815-9A67B8C8B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997200"/>
          <a:ext cx="67691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4" name="Формула" r:id="rId11" imgW="3797300" imgH="254000" progId="Equation.3">
                  <p:embed/>
                </p:oleObj>
              </mc:Choice>
              <mc:Fallback>
                <p:oleObj name="Формула" r:id="rId11" imgW="3797300" imgH="254000" progId="Equation.3">
                  <p:embed/>
                  <p:pic>
                    <p:nvPicPr>
                      <p:cNvPr id="3103" name="Object 154">
                        <a:extLst>
                          <a:ext uri="{FF2B5EF4-FFF2-40B4-BE49-F238E27FC236}">
                            <a16:creationId xmlns:a16="http://schemas.microsoft.com/office/drawing/2014/main" id="{98C8F8E6-DB4F-4834-8815-9A67B8C8B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997200"/>
                        <a:ext cx="67691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Rectangle 158">
            <a:extLst>
              <a:ext uri="{FF2B5EF4-FFF2-40B4-BE49-F238E27FC236}">
                <a16:creationId xmlns:a16="http://schemas.microsoft.com/office/drawing/2014/main" id="{15A19BBA-B94A-4A41-95F5-202F2DE6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12875"/>
            <a:ext cx="4686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После того, как выбрано направление поиска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105" name="Rectangle 159">
            <a:extLst>
              <a:ext uri="{FF2B5EF4-FFF2-40B4-BE49-F238E27FC236}">
                <a16:creationId xmlns:a16="http://schemas.microsoft.com/office/drawing/2014/main" id="{D2A4DEB5-D0F2-4286-B013-ED46FBA8D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690" y="1466055"/>
            <a:ext cx="3178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, определяется величина шага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3106" name="Rectangle 160">
            <a:extLst>
              <a:ext uri="{FF2B5EF4-FFF2-40B4-BE49-F238E27FC236}">
                <a16:creationId xmlns:a16="http://schemas.microsoft.com/office/drawing/2014/main" id="{A2917ABF-39CD-4DBB-973C-6F91B11F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844675"/>
            <a:ext cx="316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– минимизирующая функцию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107" name="Rectangle 161">
            <a:extLst>
              <a:ext uri="{FF2B5EF4-FFF2-40B4-BE49-F238E27FC236}">
                <a16:creationId xmlns:a16="http://schemas.microsoft.com/office/drawing/2014/main" id="{37042456-D258-4F01-ACAC-21B095696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1563"/>
            <a:ext cx="81375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Таким образом отрабатывается композиция 2-х алгоритмов. Мы рассмотрим работу второго алгоритма – выбор величины шага в заданном направлении:</a:t>
            </a:r>
            <a:endParaRPr lang="ru-RU" altLang="ru-RU">
              <a:latin typeface="Arial" panose="020B0604020202020204" pitchFamily="34" charset="0"/>
            </a:endParaRPr>
          </a:p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108" name="Rectangle 162">
            <a:extLst>
              <a:ext uri="{FF2B5EF4-FFF2-40B4-BE49-F238E27FC236}">
                <a16:creationId xmlns:a16="http://schemas.microsoft.com/office/drawing/2014/main" id="{E7F49230-72C3-4353-A458-F2EE8BB7B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500438"/>
            <a:ext cx="87852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В этом случае также могут быть использованы методы, основанные на вычислении производных. Однако в реальных алгоритмах они используются редко. Вместо них широкое применение нашли методы одномерного поиска и методы интерполяции.</a:t>
            </a:r>
            <a:endParaRPr lang="ru-RU" altLang="ru-RU">
              <a:latin typeface="Arial" panose="020B0604020202020204" pitchFamily="34" charset="0"/>
            </a:endParaRPr>
          </a:p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109" name="Rectangle 163">
            <a:extLst>
              <a:ext uri="{FF2B5EF4-FFF2-40B4-BE49-F238E27FC236}">
                <a16:creationId xmlns:a16="http://schemas.microsoft.com/office/drawing/2014/main" id="{4D65D304-A60F-4139-BAD1-A210E8C28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844675"/>
            <a:ext cx="2378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в этом направлении.</a:t>
            </a:r>
          </a:p>
        </p:txBody>
      </p:sp>
      <p:sp>
        <p:nvSpPr>
          <p:cNvPr id="3110" name="Rectangle 164">
            <a:extLst>
              <a:ext uri="{FF2B5EF4-FFF2-40B4-BE49-F238E27FC236}">
                <a16:creationId xmlns:a16="http://schemas.microsoft.com/office/drawing/2014/main" id="{BA65691C-B98D-4869-9A2D-9276C21AC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65625"/>
            <a:ext cx="797242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Мы рассмотрим три основных класса методов одномерной оптимизации:</a:t>
            </a:r>
          </a:p>
          <a:p>
            <a:pPr eaLnBrk="1" hangingPunct="1">
              <a:buFontTx/>
              <a:buAutoNum type="arabicPeriod"/>
            </a:pPr>
            <a:r>
              <a:rPr lang="ru-RU" altLang="ru-RU"/>
              <a:t>Методы стягивающихся отрезков.</a:t>
            </a:r>
          </a:p>
          <a:p>
            <a:pPr eaLnBrk="1" hangingPunct="1">
              <a:buFontTx/>
              <a:buAutoNum type="arabicPeriod"/>
            </a:pPr>
            <a:r>
              <a:rPr lang="ru-RU" altLang="ru-RU"/>
              <a:t>Методы интерполяции.</a:t>
            </a:r>
          </a:p>
          <a:p>
            <a:pPr eaLnBrk="1" hangingPunct="1">
              <a:buFontTx/>
              <a:buAutoNum type="arabicPeriod"/>
            </a:pPr>
            <a:r>
              <a:rPr lang="ru-RU" altLang="ru-RU"/>
              <a:t>Упрощенные («неточные») методы.</a:t>
            </a:r>
          </a:p>
          <a:p>
            <a:endParaRPr lang="ru-RU" altLang="ru-RU"/>
          </a:p>
        </p:txBody>
      </p:sp>
      <p:sp>
        <p:nvSpPr>
          <p:cNvPr id="3111" name="Rectangle 165">
            <a:extLst>
              <a:ext uri="{FF2B5EF4-FFF2-40B4-BE49-F238E27FC236}">
                <a16:creationId xmlns:a16="http://schemas.microsoft.com/office/drawing/2014/main" id="{5F45AF3B-DE8A-436A-A4B0-19DD8E999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516563"/>
            <a:ext cx="8704263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локализации точки экстремума необходимо определение начального интервала неопределенности. Чаще всего для этой цели используется алгоритм </a:t>
            </a:r>
            <a:r>
              <a:rPr lang="ru-RU" altLang="ru-RU">
                <a:latin typeface="Arial" panose="020B0604020202020204" pitchFamily="34" charset="0"/>
              </a:rPr>
              <a:t>Forward-Backward Method</a:t>
            </a:r>
            <a:r>
              <a:rPr lang="ru-RU" altLang="ru-RU"/>
              <a:t> или  алгоритм Свенна.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E07786D-7720-47EC-BBA7-D40A5BCD0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</a:t>
            </a:r>
            <a:b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(одномерная оптимизация)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72A6759-7BF2-40D1-A7BF-EB9C71F13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507412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включает в себя три этапа</a:t>
            </a:r>
            <a:r>
              <a:rPr lang="ru-RU" altLang="ru-RU" b="1" dirty="0"/>
              <a:t>: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ru-RU" altLang="ru-RU" sz="2000" b="1" dirty="0"/>
              <a:t>Выбор начального интервала неопределенности. При этом границы        и         должны быть такими, чтобы функция                                      была унимодальной.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ru-RU" altLang="ru-RU" sz="2000" b="1" dirty="0"/>
              <a:t>Уменьшение интервала неопределенности.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2000" b="1" dirty="0"/>
              <a:t>3.      Проверка условия окончания алгоритма. Поиск заканчивается, когда длина текущего интервала неопределенности                   окажется меньше установленной величины.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2000" b="1" dirty="0"/>
              <a:t>В этом интервале и определяется точка                                          .</a:t>
            </a:r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A0F891BB-E945-470D-AAE3-D1025BE22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1" name="Object 4">
            <a:extLst>
              <a:ext uri="{FF2B5EF4-FFF2-40B4-BE49-F238E27FC236}">
                <a16:creationId xmlns:a16="http://schemas.microsoft.com/office/drawing/2014/main" id="{5EBC9556-633E-49AC-87AB-BBD840ABBE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2924175"/>
          <a:ext cx="4191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9" name="Формула" r:id="rId3" imgW="177646" imgH="228402" progId="Equation.3">
                  <p:embed/>
                </p:oleObj>
              </mc:Choice>
              <mc:Fallback>
                <p:oleObj name="Формула" r:id="rId3" imgW="177646" imgH="228402" progId="Equation.3">
                  <p:embed/>
                  <p:pic>
                    <p:nvPicPr>
                      <p:cNvPr id="4101" name="Object 4">
                        <a:extLst>
                          <a:ext uri="{FF2B5EF4-FFF2-40B4-BE49-F238E27FC236}">
                            <a16:creationId xmlns:a16="http://schemas.microsoft.com/office/drawing/2014/main" id="{5EBC9556-633E-49AC-87AB-BBD840ABBE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924175"/>
                        <a:ext cx="4191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7">
            <a:extLst>
              <a:ext uri="{FF2B5EF4-FFF2-40B4-BE49-F238E27FC236}">
                <a16:creationId xmlns:a16="http://schemas.microsoft.com/office/drawing/2014/main" id="{8C146A85-C637-470A-BADD-72B93EFFB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3" name="Object 6">
            <a:extLst>
              <a:ext uri="{FF2B5EF4-FFF2-40B4-BE49-F238E27FC236}">
                <a16:creationId xmlns:a16="http://schemas.microsoft.com/office/drawing/2014/main" id="{C2099049-5DE7-43B8-9DB8-68B33A5B7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924175"/>
          <a:ext cx="412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0" name="Формула" r:id="rId5" imgW="165028" imgH="228501" progId="Equation.3">
                  <p:embed/>
                </p:oleObj>
              </mc:Choice>
              <mc:Fallback>
                <p:oleObj name="Формула" r:id="rId5" imgW="165028" imgH="228501" progId="Equation.3">
                  <p:embed/>
                  <p:pic>
                    <p:nvPicPr>
                      <p:cNvPr id="4103" name="Object 6">
                        <a:extLst>
                          <a:ext uri="{FF2B5EF4-FFF2-40B4-BE49-F238E27FC236}">
                            <a16:creationId xmlns:a16="http://schemas.microsoft.com/office/drawing/2014/main" id="{C2099049-5DE7-43B8-9DB8-68B33A5B7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924175"/>
                        <a:ext cx="4127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9">
            <a:extLst>
              <a:ext uri="{FF2B5EF4-FFF2-40B4-BE49-F238E27FC236}">
                <a16:creationId xmlns:a16="http://schemas.microsoft.com/office/drawing/2014/main" id="{66E09064-028C-41A6-8909-5B6087EF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5" name="Object 8">
            <a:extLst>
              <a:ext uri="{FF2B5EF4-FFF2-40B4-BE49-F238E27FC236}">
                <a16:creationId xmlns:a16="http://schemas.microsoft.com/office/drawing/2014/main" id="{46E69D37-C3F1-430C-83A4-392713E0D6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8350" y="2924175"/>
          <a:ext cx="8651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1" name="Формула" r:id="rId7" imgW="355292" imgH="203024" progId="Equation.3">
                  <p:embed/>
                </p:oleObj>
              </mc:Choice>
              <mc:Fallback>
                <p:oleObj name="Формула" r:id="rId7" imgW="355292" imgH="203024" progId="Equation.3">
                  <p:embed/>
                  <p:pic>
                    <p:nvPicPr>
                      <p:cNvPr id="4105" name="Object 8">
                        <a:extLst>
                          <a:ext uri="{FF2B5EF4-FFF2-40B4-BE49-F238E27FC236}">
                            <a16:creationId xmlns:a16="http://schemas.microsoft.com/office/drawing/2014/main" id="{46E69D37-C3F1-430C-83A4-392713E0D6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2924175"/>
                        <a:ext cx="865188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11">
            <a:extLst>
              <a:ext uri="{FF2B5EF4-FFF2-40B4-BE49-F238E27FC236}">
                <a16:creationId xmlns:a16="http://schemas.microsoft.com/office/drawing/2014/main" id="{DA2EBC52-63C2-470A-AAAF-793AB2317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7" name="Object 10">
            <a:extLst>
              <a:ext uri="{FF2B5EF4-FFF2-40B4-BE49-F238E27FC236}">
                <a16:creationId xmlns:a16="http://schemas.microsoft.com/office/drawing/2014/main" id="{74EEE25A-A57D-40D8-BA26-A0195911E5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4581525"/>
          <a:ext cx="863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2" name="Формула" r:id="rId9" imgW="431613" imgH="241195" progId="Equation.3">
                  <p:embed/>
                </p:oleObj>
              </mc:Choice>
              <mc:Fallback>
                <p:oleObj name="Формула" r:id="rId9" imgW="431613" imgH="241195" progId="Equation.3">
                  <p:embed/>
                  <p:pic>
                    <p:nvPicPr>
                      <p:cNvPr id="4107" name="Object 10">
                        <a:extLst>
                          <a:ext uri="{FF2B5EF4-FFF2-40B4-BE49-F238E27FC236}">
                            <a16:creationId xmlns:a16="http://schemas.microsoft.com/office/drawing/2014/main" id="{74EEE25A-A57D-40D8-BA26-A0195911E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81525"/>
                        <a:ext cx="8636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" name="Rectangle 13">
            <a:extLst>
              <a:ext uri="{FF2B5EF4-FFF2-40B4-BE49-F238E27FC236}">
                <a16:creationId xmlns:a16="http://schemas.microsoft.com/office/drawing/2014/main" id="{A134B03A-7102-4326-B77C-3C7BEA0B0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58165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9" name="Object 12">
            <a:extLst>
              <a:ext uri="{FF2B5EF4-FFF2-40B4-BE49-F238E27FC236}">
                <a16:creationId xmlns:a16="http://schemas.microsoft.com/office/drawing/2014/main" id="{16BB7292-B5BB-4463-A1EC-2E22C3706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3425" y="5229225"/>
          <a:ext cx="26304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3" name="Формула" r:id="rId11" imgW="1689100" imgH="228600" progId="Equation.3">
                  <p:embed/>
                </p:oleObj>
              </mc:Choice>
              <mc:Fallback>
                <p:oleObj name="Формула" r:id="rId11" imgW="1689100" imgH="228600" progId="Equation.3">
                  <p:embed/>
                  <p:pic>
                    <p:nvPicPr>
                      <p:cNvPr id="4109" name="Object 12">
                        <a:extLst>
                          <a:ext uri="{FF2B5EF4-FFF2-40B4-BE49-F238E27FC236}">
                            <a16:creationId xmlns:a16="http://schemas.microsoft.com/office/drawing/2014/main" id="{16BB7292-B5BB-4463-A1EC-2E22C3706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5229225"/>
                        <a:ext cx="26304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EE40033-273A-4075-B6C1-0F50C7D69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200" b="1" u="sng"/>
              <a:t>Методы одномерного поиска  (методы стягивающихся отрезков).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AF2DA37-F689-4ACD-A594-8324944A6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«золотого сечения» (один из наиболее популярных методов).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66B7FB42-ACAB-4941-8DCA-E033481E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45" name="Rectangle 10">
            <a:extLst>
              <a:ext uri="{FF2B5EF4-FFF2-40B4-BE49-F238E27FC236}">
                <a16:creationId xmlns:a16="http://schemas.microsoft.com/office/drawing/2014/main" id="{9CA7E3AF-B476-44F6-B0DB-C53F65CD3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3" y="377983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0246" name="Rectangle 13">
            <a:extLst>
              <a:ext uri="{FF2B5EF4-FFF2-40B4-BE49-F238E27FC236}">
                <a16:creationId xmlns:a16="http://schemas.microsoft.com/office/drawing/2014/main" id="{E2AE3743-9827-41FD-93E5-E7A67FC6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47" name="Rectangle 15">
            <a:extLst>
              <a:ext uri="{FF2B5EF4-FFF2-40B4-BE49-F238E27FC236}">
                <a16:creationId xmlns:a16="http://schemas.microsoft.com/office/drawing/2014/main" id="{B6E1FB24-5833-48DA-9B03-A12B103AD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4923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10248" name="Rectangle 17">
            <a:extLst>
              <a:ext uri="{FF2B5EF4-FFF2-40B4-BE49-F238E27FC236}">
                <a16:creationId xmlns:a16="http://schemas.microsoft.com/office/drawing/2014/main" id="{870A6E72-4EE8-40B8-981C-97D4C78ED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49" name="Rectangle 19">
            <a:extLst>
              <a:ext uri="{FF2B5EF4-FFF2-40B4-BE49-F238E27FC236}">
                <a16:creationId xmlns:a16="http://schemas.microsoft.com/office/drawing/2014/main" id="{825BFBA3-8AB6-462D-84E9-BC655F54F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50" name="Rectangle 22">
            <a:extLst>
              <a:ext uri="{FF2B5EF4-FFF2-40B4-BE49-F238E27FC236}">
                <a16:creationId xmlns:a16="http://schemas.microsoft.com/office/drawing/2014/main" id="{44C681FC-8342-406E-9BD9-65FC1D087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3055938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0251" name="Rectangle 27">
            <a:extLst>
              <a:ext uri="{FF2B5EF4-FFF2-40B4-BE49-F238E27FC236}">
                <a16:creationId xmlns:a16="http://schemas.microsoft.com/office/drawing/2014/main" id="{9253BE2C-C35D-485D-8854-B3EEEB01C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6195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0252" name="Rectangle 29">
            <a:extLst>
              <a:ext uri="{FF2B5EF4-FFF2-40B4-BE49-F238E27FC236}">
                <a16:creationId xmlns:a16="http://schemas.microsoft.com/office/drawing/2014/main" id="{3C00037E-93E1-4D29-B511-EF258B7E7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53" name="Rectangle 36">
            <a:extLst>
              <a:ext uri="{FF2B5EF4-FFF2-40B4-BE49-F238E27FC236}">
                <a16:creationId xmlns:a16="http://schemas.microsoft.com/office/drawing/2014/main" id="{D38A32A1-0C9C-4579-A9F1-52557D935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415448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0254" name="Rectangle 38">
            <a:extLst>
              <a:ext uri="{FF2B5EF4-FFF2-40B4-BE49-F238E27FC236}">
                <a16:creationId xmlns:a16="http://schemas.microsoft.com/office/drawing/2014/main" id="{F6A2982C-F12F-4249-9406-391DBA249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55" name="Line 50">
            <a:extLst>
              <a:ext uri="{FF2B5EF4-FFF2-40B4-BE49-F238E27FC236}">
                <a16:creationId xmlns:a16="http://schemas.microsoft.com/office/drawing/2014/main" id="{CB812675-DB4B-4542-A94B-6CB1DFE7A7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750" y="1663700"/>
            <a:ext cx="0" cy="1943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56" name="Line 45">
            <a:extLst>
              <a:ext uri="{FF2B5EF4-FFF2-40B4-BE49-F238E27FC236}">
                <a16:creationId xmlns:a16="http://schemas.microsoft.com/office/drawing/2014/main" id="{DF014145-AF7A-4F11-8000-098D412CF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-57150" y="2628900"/>
            <a:ext cx="3314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57" name="Freeform 46">
            <a:extLst>
              <a:ext uri="{FF2B5EF4-FFF2-40B4-BE49-F238E27FC236}">
                <a16:creationId xmlns:a16="http://schemas.microsoft.com/office/drawing/2014/main" id="{A3D61D56-53E1-4249-935A-48A9BDA0BE79}"/>
              </a:ext>
            </a:extLst>
          </p:cNvPr>
          <p:cNvSpPr>
            <a:spLocks/>
          </p:cNvSpPr>
          <p:nvPr/>
        </p:nvSpPr>
        <p:spPr bwMode="auto">
          <a:xfrm>
            <a:off x="285750" y="2630488"/>
            <a:ext cx="2743200" cy="1028700"/>
          </a:xfrm>
          <a:custGeom>
            <a:avLst/>
            <a:gdLst>
              <a:gd name="T0" fmla="*/ 0 w 4320"/>
              <a:gd name="T1" fmla="*/ 0 h 1620"/>
              <a:gd name="T2" fmla="*/ 1714500 w 4320"/>
              <a:gd name="T3" fmla="*/ 1028700 h 1620"/>
              <a:gd name="T4" fmla="*/ 2743200 w 4320"/>
              <a:gd name="T5" fmla="*/ 0 h 16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1620">
                <a:moveTo>
                  <a:pt x="0" y="0"/>
                </a:moveTo>
                <a:cubicBezTo>
                  <a:pt x="990" y="810"/>
                  <a:pt x="1980" y="1620"/>
                  <a:pt x="2700" y="1620"/>
                </a:cubicBezTo>
                <a:cubicBezTo>
                  <a:pt x="3420" y="1620"/>
                  <a:pt x="4050" y="270"/>
                  <a:pt x="432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58" name="Line 47">
            <a:extLst>
              <a:ext uri="{FF2B5EF4-FFF2-40B4-BE49-F238E27FC236}">
                <a16:creationId xmlns:a16="http://schemas.microsoft.com/office/drawing/2014/main" id="{5F0B3BDC-091C-4174-A9EB-1C9FCBF331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2516188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59" name="Line 48">
            <a:extLst>
              <a:ext uri="{FF2B5EF4-FFF2-40B4-BE49-F238E27FC236}">
                <a16:creationId xmlns:a16="http://schemas.microsoft.com/office/drawing/2014/main" id="{F4C4529F-AD6E-4975-A352-85D58CCC4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4550" y="2516188"/>
            <a:ext cx="0" cy="12573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0" name="Line 49">
            <a:extLst>
              <a:ext uri="{FF2B5EF4-FFF2-40B4-BE49-F238E27FC236}">
                <a16:creationId xmlns:a16="http://schemas.microsoft.com/office/drawing/2014/main" id="{53F82B0A-2962-4D90-862F-7554EA7F3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950" y="2616200"/>
            <a:ext cx="0" cy="148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1" name="Line 40">
            <a:extLst>
              <a:ext uri="{FF2B5EF4-FFF2-40B4-BE49-F238E27FC236}">
                <a16:creationId xmlns:a16="http://schemas.microsoft.com/office/drawing/2014/main" id="{09600A04-4A7A-443C-A8B9-BEDD5CC73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3789363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2" name="Line 41">
            <a:extLst>
              <a:ext uri="{FF2B5EF4-FFF2-40B4-BE49-F238E27FC236}">
                <a16:creationId xmlns:a16="http://schemas.microsoft.com/office/drawing/2014/main" id="{B6F1C553-A58F-4B2E-83D1-F6F0C054E2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3573463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3" name="Line 42">
            <a:extLst>
              <a:ext uri="{FF2B5EF4-FFF2-40B4-BE49-F238E27FC236}">
                <a16:creationId xmlns:a16="http://schemas.microsoft.com/office/drawing/2014/main" id="{AFA457B3-3015-4F4C-9F1B-11BB015BB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3573463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4" name="Line 44">
            <a:extLst>
              <a:ext uri="{FF2B5EF4-FFF2-40B4-BE49-F238E27FC236}">
                <a16:creationId xmlns:a16="http://schemas.microsoft.com/office/drawing/2014/main" id="{D69E6E07-0D7F-4E3D-B1D4-8BFAB4F13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163" y="3359150"/>
            <a:ext cx="800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5" name="Line 43">
            <a:extLst>
              <a:ext uri="{FF2B5EF4-FFF2-40B4-BE49-F238E27FC236}">
                <a16:creationId xmlns:a16="http://schemas.microsoft.com/office/drawing/2014/main" id="{F7AB24C0-CA07-46CE-A977-22BFD3944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3359150"/>
            <a:ext cx="1943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266" name="Rectangle 51">
            <a:extLst>
              <a:ext uri="{FF2B5EF4-FFF2-40B4-BE49-F238E27FC236}">
                <a16:creationId xmlns:a16="http://schemas.microsoft.com/office/drawing/2014/main" id="{F4FF45CC-8A91-4A71-88DC-75904563C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150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67" name="Rectangle 52">
            <a:extLst>
              <a:ext uri="{FF2B5EF4-FFF2-40B4-BE49-F238E27FC236}">
                <a16:creationId xmlns:a16="http://schemas.microsoft.com/office/drawing/2014/main" id="{A0F95598-53BF-499B-8CCE-15272FA28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54" y="438944"/>
            <a:ext cx="619125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br>
              <a:rPr lang="ru-RU" altLang="ru-RU">
                <a:latin typeface="Arial" panose="020B060402020202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  <a:p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ru-RU">
                <a:cs typeface="Times New Roman" panose="02020603050405020304" pitchFamily="18" charset="0"/>
              </a:rPr>
              <a:t>(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ru-RU">
                <a:cs typeface="Times New Roman" panose="02020603050405020304" pitchFamily="18" charset="0"/>
              </a:rPr>
              <a:t>)</a:t>
            </a:r>
            <a:endParaRPr lang="ru-RU" altLang="ru-RU">
              <a:sym typeface="Symbol" panose="05050102010706020507" pitchFamily="18" charset="2"/>
            </a:endParaRPr>
          </a:p>
          <a:p>
            <a:endParaRPr lang="ru-RU" altLang="ru-RU" sz="120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268" name="Rectangle 53">
            <a:extLst>
              <a:ext uri="{FF2B5EF4-FFF2-40B4-BE49-F238E27FC236}">
                <a16:creationId xmlns:a16="http://schemas.microsoft.com/office/drawing/2014/main" id="{15472AD2-84DC-4C25-9EA7-03F590063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7563"/>
            <a:ext cx="3779838" cy="137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ru-RU" sz="1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A	c                      d		   </a:t>
            </a:r>
            <a:r>
              <a:rPr lang="ru-RU" altLang="ru-RU" sz="1200">
                <a:latin typeface="Arial" panose="020B0604020202020204" pitchFamily="34" charset="0"/>
              </a:rPr>
              <a:t>                                           </a:t>
            </a:r>
            <a:r>
              <a:rPr lang="en-US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b	   </a:t>
            </a:r>
            <a:r>
              <a:rPr lang="ru-RU" altLang="ru-RU" sz="1200">
                <a:latin typeface="Arial" panose="020B0604020202020204" pitchFamily="34" charset="0"/>
              </a:rPr>
              <a:t>                         </a:t>
            </a:r>
            <a:r>
              <a:rPr lang="en-US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200">
                <a:latin typeface="Arial" panose="020B0604020202020204" pitchFamily="34" charset="0"/>
              </a:rPr>
              <a:t>                        </a:t>
            </a:r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ru-RU" altLang="ru-RU" sz="600"/>
          </a:p>
          <a:p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	    </a:t>
            </a:r>
            <a:r>
              <a:rPr lang="en-US" altLang="ru-RU" sz="1200">
                <a:cs typeface="Times New Roman" panose="02020603050405020304" pitchFamily="18" charset="0"/>
              </a:rPr>
              <a:t>			</a:t>
            </a:r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ru-RU" altLang="ru-RU" sz="600"/>
          </a:p>
          <a:p>
            <a:endParaRPr lang="ru-RU" altLang="ru-RU" sz="120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269" name="Rectangle 54">
            <a:extLst>
              <a:ext uri="{FF2B5EF4-FFF2-40B4-BE49-F238E27FC236}">
                <a16:creationId xmlns:a16="http://schemas.microsoft.com/office/drawing/2014/main" id="{418AB2D4-3AAA-4608-BD97-96C0E5C61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3336925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br>
              <a:rPr lang="ru-RU" altLang="ru-RU">
                <a:latin typeface="Arial" panose="020B060402020202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0270" name="Rectangle 55">
            <a:extLst>
              <a:ext uri="{FF2B5EF4-FFF2-40B4-BE49-F238E27FC236}">
                <a16:creationId xmlns:a16="http://schemas.microsoft.com/office/drawing/2014/main" id="{8FAE4D12-1DA8-48F7-B198-219AA4EA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3059113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			</a:t>
            </a:r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ru-RU" sz="1200">
                <a:cs typeface="Times New Roman" panose="02020603050405020304" pitchFamily="18" charset="0"/>
              </a:rPr>
              <a:t>		</a:t>
            </a:r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1-</a:t>
            </a:r>
            <a:endParaRPr lang="ru-RU" altLang="ru-RU" sz="600"/>
          </a:p>
          <a:p>
            <a:endParaRPr lang="ru-RU" altLang="ru-RU" sz="120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271" name="Rectangle 56">
            <a:extLst>
              <a:ext uri="{FF2B5EF4-FFF2-40B4-BE49-F238E27FC236}">
                <a16:creationId xmlns:a16="http://schemas.microsoft.com/office/drawing/2014/main" id="{877790BC-EE7F-4797-AA8D-D6A6CFA0C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429000"/>
            <a:ext cx="2786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ru-RU" sz="1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				</a:t>
            </a:r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endParaRPr lang="ru-RU" altLang="ru-RU" sz="600"/>
          </a:p>
          <a:p>
            <a:r>
              <a:rPr lang="en-US" altLang="ru-RU" sz="120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</p:txBody>
      </p:sp>
      <p:sp>
        <p:nvSpPr>
          <p:cNvPr id="10272" name="Rectangle 58">
            <a:extLst>
              <a:ext uri="{FF2B5EF4-FFF2-40B4-BE49-F238E27FC236}">
                <a16:creationId xmlns:a16="http://schemas.microsoft.com/office/drawing/2014/main" id="{F04AB3A4-9FA9-4FBA-A80A-17CC57611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1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73" name="Object 57">
            <a:extLst>
              <a:ext uri="{FF2B5EF4-FFF2-40B4-BE49-F238E27FC236}">
                <a16:creationId xmlns:a16="http://schemas.microsoft.com/office/drawing/2014/main" id="{32768AA9-0F68-46EC-A2BA-1EF57EACA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708275"/>
          <a:ext cx="4248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Формула" r:id="rId3" imgW="2730500" imgH="431800" progId="Equation.3">
                  <p:embed/>
                </p:oleObj>
              </mc:Choice>
              <mc:Fallback>
                <p:oleObj name="Формула" r:id="rId3" imgW="2730500" imgH="431800" progId="Equation.3">
                  <p:embed/>
                  <p:pic>
                    <p:nvPicPr>
                      <p:cNvPr id="10273" name="Object 57">
                        <a:extLst>
                          <a:ext uri="{FF2B5EF4-FFF2-40B4-BE49-F238E27FC236}">
                            <a16:creationId xmlns:a16="http://schemas.microsoft.com/office/drawing/2014/main" id="{32768AA9-0F68-46EC-A2BA-1EF57EACA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708275"/>
                        <a:ext cx="42481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4" name="Rectangle 60">
            <a:extLst>
              <a:ext uri="{FF2B5EF4-FFF2-40B4-BE49-F238E27FC236}">
                <a16:creationId xmlns:a16="http://schemas.microsoft.com/office/drawing/2014/main" id="{FF298B9B-2A91-4171-AC0F-B3B9649EA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494088"/>
            <a:ext cx="3759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Используем положительный корень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0275" name="Object 59">
            <a:extLst>
              <a:ext uri="{FF2B5EF4-FFF2-40B4-BE49-F238E27FC236}">
                <a16:creationId xmlns:a16="http://schemas.microsoft.com/office/drawing/2014/main" id="{F2F98213-8C38-4BEC-8743-785A26C21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3500438"/>
          <a:ext cx="3698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Формула" r:id="rId5" imgW="139579" imgH="215713" progId="Equation.3">
                  <p:embed/>
                </p:oleObj>
              </mc:Choice>
              <mc:Fallback>
                <p:oleObj name="Формула" r:id="rId5" imgW="139579" imgH="215713" progId="Equation.3">
                  <p:embed/>
                  <p:pic>
                    <p:nvPicPr>
                      <p:cNvPr id="10275" name="Object 59">
                        <a:extLst>
                          <a:ext uri="{FF2B5EF4-FFF2-40B4-BE49-F238E27FC236}">
                            <a16:creationId xmlns:a16="http://schemas.microsoft.com/office/drawing/2014/main" id="{F2F98213-8C38-4BEC-8743-785A26C211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500438"/>
                        <a:ext cx="369888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6" name="Rectangle 61">
            <a:extLst>
              <a:ext uri="{FF2B5EF4-FFF2-40B4-BE49-F238E27FC236}">
                <a16:creationId xmlns:a16="http://schemas.microsoft.com/office/drawing/2014/main" id="{13A4637F-7CEC-4271-8D29-B886DE6F4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221163"/>
            <a:ext cx="18415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600">
              <a:latin typeface="Arial" panose="020B0604020202020204" pitchFamily="34" charset="0"/>
            </a:endParaRPr>
          </a:p>
          <a:p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0277" name="Rectangle 63">
            <a:extLst>
              <a:ext uri="{FF2B5EF4-FFF2-40B4-BE49-F238E27FC236}">
                <a16:creationId xmlns:a16="http://schemas.microsoft.com/office/drawing/2014/main" id="{509371E3-BBBE-4964-B39D-A7BE6E71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1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78" name="Object 62">
            <a:extLst>
              <a:ext uri="{FF2B5EF4-FFF2-40B4-BE49-F238E27FC236}">
                <a16:creationId xmlns:a16="http://schemas.microsoft.com/office/drawing/2014/main" id="{624B30B4-6F9E-4AD5-A601-8852F19419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3933825"/>
          <a:ext cx="20161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0" name="Формула" r:id="rId7" imgW="1625600" imgH="431800" progId="Equation.3">
                  <p:embed/>
                </p:oleObj>
              </mc:Choice>
              <mc:Fallback>
                <p:oleObj name="Формула" r:id="rId7" imgW="1625600" imgH="431800" progId="Equation.3">
                  <p:embed/>
                  <p:pic>
                    <p:nvPicPr>
                      <p:cNvPr id="10278" name="Object 62">
                        <a:extLst>
                          <a:ext uri="{FF2B5EF4-FFF2-40B4-BE49-F238E27FC236}">
                            <a16:creationId xmlns:a16="http://schemas.microsoft.com/office/drawing/2014/main" id="{624B30B4-6F9E-4AD5-A601-8852F19419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933825"/>
                        <a:ext cx="20161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9" name="Rectangle 65">
            <a:extLst>
              <a:ext uri="{FF2B5EF4-FFF2-40B4-BE49-F238E27FC236}">
                <a16:creationId xmlns:a16="http://schemas.microsoft.com/office/drawing/2014/main" id="{E846A75C-3B2D-4235-B310-1D6549411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80" name="Object 64">
            <a:extLst>
              <a:ext uri="{FF2B5EF4-FFF2-40B4-BE49-F238E27FC236}">
                <a16:creationId xmlns:a16="http://schemas.microsoft.com/office/drawing/2014/main" id="{80143F0C-DEA1-4F20-B3B6-C54E57366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4149725"/>
          <a:ext cx="1152525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1" name="Формула" r:id="rId9" imgW="850531" imgH="203112" progId="Equation.3">
                  <p:embed/>
                </p:oleObj>
              </mc:Choice>
              <mc:Fallback>
                <p:oleObj name="Формула" r:id="rId9" imgW="850531" imgH="203112" progId="Equation.3">
                  <p:embed/>
                  <p:pic>
                    <p:nvPicPr>
                      <p:cNvPr id="10280" name="Object 64">
                        <a:extLst>
                          <a:ext uri="{FF2B5EF4-FFF2-40B4-BE49-F238E27FC236}">
                            <a16:creationId xmlns:a16="http://schemas.microsoft.com/office/drawing/2014/main" id="{80143F0C-DEA1-4F20-B3B6-C54E573665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149725"/>
                        <a:ext cx="1152525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" name="Rectangle 67">
            <a:extLst>
              <a:ext uri="{FF2B5EF4-FFF2-40B4-BE49-F238E27FC236}">
                <a16:creationId xmlns:a16="http://schemas.microsoft.com/office/drawing/2014/main" id="{33A25013-17F4-48DF-8613-82983716F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82" name="Object 66">
            <a:extLst>
              <a:ext uri="{FF2B5EF4-FFF2-40B4-BE49-F238E27FC236}">
                <a16:creationId xmlns:a16="http://schemas.microsoft.com/office/drawing/2014/main" id="{FF741917-6109-4D9C-B223-B2EB7C990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079875"/>
          <a:ext cx="25209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2" name="Формула" r:id="rId11" imgW="1574800" imgH="482600" progId="Equation.3">
                  <p:embed/>
                </p:oleObj>
              </mc:Choice>
              <mc:Fallback>
                <p:oleObj name="Формула" r:id="rId11" imgW="1574800" imgH="482600" progId="Equation.3">
                  <p:embed/>
                  <p:pic>
                    <p:nvPicPr>
                      <p:cNvPr id="10282" name="Object 66">
                        <a:extLst>
                          <a:ext uri="{FF2B5EF4-FFF2-40B4-BE49-F238E27FC236}">
                            <a16:creationId xmlns:a16="http://schemas.microsoft.com/office/drawing/2014/main" id="{FF741917-6109-4D9C-B223-B2EB7C990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079875"/>
                        <a:ext cx="25209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>
            <a:extLst>
              <a:ext uri="{FF2B5EF4-FFF2-40B4-BE49-F238E27FC236}">
                <a16:creationId xmlns:a16="http://schemas.microsoft.com/office/drawing/2014/main" id="{932803FC-6896-47D2-9C8E-5AF673DB8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u="sng"/>
              <a:t>Методы одномерного поиска  (методы стягивающихся отрезков).</a:t>
            </a:r>
          </a:p>
        </p:txBody>
      </p:sp>
      <p:sp>
        <p:nvSpPr>
          <p:cNvPr id="11267" name="Rectangle 6">
            <a:extLst>
              <a:ext uri="{FF2B5EF4-FFF2-40B4-BE49-F238E27FC236}">
                <a16:creationId xmlns:a16="http://schemas.microsoft.com/office/drawing/2014/main" id="{2E509DF7-AD3E-4DE1-849E-5C3649F893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5138" y="1801813"/>
            <a:ext cx="8147050" cy="48133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ru-RU" altLang="ru-RU" sz="1800" b="1" i="1" u="sng"/>
              <a:t>Алгоритм:</a:t>
            </a:r>
          </a:p>
        </p:txBody>
      </p:sp>
      <p:sp>
        <p:nvSpPr>
          <p:cNvPr id="11268" name="Rectangle 8">
            <a:extLst>
              <a:ext uri="{FF2B5EF4-FFF2-40B4-BE49-F238E27FC236}">
                <a16:creationId xmlns:a16="http://schemas.microsoft.com/office/drawing/2014/main" id="{82718428-961F-4675-828D-FE39C3E53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085975"/>
            <a:ext cx="7461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arenR"/>
            </a:pP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Алгоритм обладает сублинейной скоростью  сходимости.</a:t>
            </a:r>
            <a:endParaRPr lang="ru-RU" altLang="ru-RU">
              <a:latin typeface="Arial" panose="020B0604020202020204" pitchFamily="34" charset="0"/>
            </a:endParaRPr>
          </a:p>
          <a:p>
            <a:pPr>
              <a:buFontTx/>
              <a:buAutoNum type="arabicParenR"/>
            </a:pP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На каждой итерации требуется 1-кратное вычисление  функции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69" name="Object 7">
            <a:extLst>
              <a:ext uri="{FF2B5EF4-FFF2-40B4-BE49-F238E27FC236}">
                <a16:creationId xmlns:a16="http://schemas.microsoft.com/office/drawing/2014/main" id="{90E38C08-4FC8-4C49-A96D-D2DAC3239C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2379663"/>
          <a:ext cx="5762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Формула" r:id="rId3" imgW="330057" imgH="215806" progId="Equation.3">
                  <p:embed/>
                </p:oleObj>
              </mc:Choice>
              <mc:Fallback>
                <p:oleObj name="Формула" r:id="rId3" imgW="330057" imgH="215806" progId="Equation.3">
                  <p:embed/>
                  <p:pic>
                    <p:nvPicPr>
                      <p:cNvPr id="11269" name="Object 7">
                        <a:extLst>
                          <a:ext uri="{FF2B5EF4-FFF2-40B4-BE49-F238E27FC236}">
                            <a16:creationId xmlns:a16="http://schemas.microsoft.com/office/drawing/2014/main" id="{90E38C08-4FC8-4C49-A96D-D2DAC3239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379663"/>
                        <a:ext cx="5762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11">
            <a:extLst>
              <a:ext uri="{FF2B5EF4-FFF2-40B4-BE49-F238E27FC236}">
                <a16:creationId xmlns:a16="http://schemas.microsoft.com/office/drawing/2014/main" id="{56D9BF5F-FD67-4E6A-81BF-30BF76D1E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662238"/>
            <a:ext cx="1665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Ш1.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  Задание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71" name="Object 10">
            <a:extLst>
              <a:ext uri="{FF2B5EF4-FFF2-40B4-BE49-F238E27FC236}">
                <a16:creationId xmlns:a16="http://schemas.microsoft.com/office/drawing/2014/main" id="{8EFDE3F3-EBAD-417B-8A50-2139834235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2708275"/>
          <a:ext cx="9366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1" name="Формула" r:id="rId5" imgW="647419" imgH="203112" progId="Equation.3">
                  <p:embed/>
                </p:oleObj>
              </mc:Choice>
              <mc:Fallback>
                <p:oleObj name="Формула" r:id="rId5" imgW="647419" imgH="203112" progId="Equation.3">
                  <p:embed/>
                  <p:pic>
                    <p:nvPicPr>
                      <p:cNvPr id="11271" name="Object 10">
                        <a:extLst>
                          <a:ext uri="{FF2B5EF4-FFF2-40B4-BE49-F238E27FC236}">
                            <a16:creationId xmlns:a16="http://schemas.microsoft.com/office/drawing/2014/main" id="{8EFDE3F3-EBAD-417B-8A50-2139834235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08275"/>
                        <a:ext cx="936625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12">
            <a:extLst>
              <a:ext uri="{FF2B5EF4-FFF2-40B4-BE49-F238E27FC236}">
                <a16:creationId xmlns:a16="http://schemas.microsoft.com/office/drawing/2014/main" id="{D9EBF633-1BB9-4FD5-9BFC-DD5A3B537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636838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graphicFrame>
        <p:nvGraphicFramePr>
          <p:cNvPr id="11273" name="Object 18">
            <a:extLst>
              <a:ext uri="{FF2B5EF4-FFF2-40B4-BE49-F238E27FC236}">
                <a16:creationId xmlns:a16="http://schemas.microsoft.com/office/drawing/2014/main" id="{86FE7EF2-2272-4EFA-BBC9-34A4D358E1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5388" y="2706687"/>
          <a:ext cx="10795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2" name="Формула" r:id="rId7" imgW="761669" imgH="228501" progId="Equation.3">
                  <p:embed/>
                </p:oleObj>
              </mc:Choice>
              <mc:Fallback>
                <p:oleObj name="Формула" r:id="rId7" imgW="761669" imgH="228501" progId="Equation.3">
                  <p:embed/>
                  <p:pic>
                    <p:nvPicPr>
                      <p:cNvPr id="11273" name="Object 18">
                        <a:extLst>
                          <a:ext uri="{FF2B5EF4-FFF2-40B4-BE49-F238E27FC236}">
                            <a16:creationId xmlns:a16="http://schemas.microsoft.com/office/drawing/2014/main" id="{86FE7EF2-2272-4EFA-BBC9-34A4D358E1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8" y="2706687"/>
                        <a:ext cx="10795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5">
            <a:extLst>
              <a:ext uri="{FF2B5EF4-FFF2-40B4-BE49-F238E27FC236}">
                <a16:creationId xmlns:a16="http://schemas.microsoft.com/office/drawing/2014/main" id="{85C8E397-4EB5-414A-B772-63405BD62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3016250"/>
          <a:ext cx="180022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name="Формула" r:id="rId9" imgW="1460500" imgH="228600" progId="Equation.3">
                  <p:embed/>
                </p:oleObj>
              </mc:Choice>
              <mc:Fallback>
                <p:oleObj name="Формула" r:id="rId9" imgW="1460500" imgH="228600" progId="Equation.3">
                  <p:embed/>
                  <p:pic>
                    <p:nvPicPr>
                      <p:cNvPr id="11274" name="Object 15">
                        <a:extLst>
                          <a:ext uri="{FF2B5EF4-FFF2-40B4-BE49-F238E27FC236}">
                            <a16:creationId xmlns:a16="http://schemas.microsoft.com/office/drawing/2014/main" id="{85C8E397-4EB5-414A-B772-63405BD629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016250"/>
                        <a:ext cx="1800225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4">
            <a:extLst>
              <a:ext uri="{FF2B5EF4-FFF2-40B4-BE49-F238E27FC236}">
                <a16:creationId xmlns:a16="http://schemas.microsoft.com/office/drawing/2014/main" id="{4F04F707-9AD9-4EC9-93EE-DDC201E46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997200"/>
          <a:ext cx="17272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4" name="Формула" r:id="rId11" imgW="1206500" imgH="228600" progId="Equation.3">
                  <p:embed/>
                </p:oleObj>
              </mc:Choice>
              <mc:Fallback>
                <p:oleObj name="Формула" r:id="rId11" imgW="1206500" imgH="228600" progId="Equation.3">
                  <p:embed/>
                  <p:pic>
                    <p:nvPicPr>
                      <p:cNvPr id="11275" name="Object 14">
                        <a:extLst>
                          <a:ext uri="{FF2B5EF4-FFF2-40B4-BE49-F238E27FC236}">
                            <a16:creationId xmlns:a16="http://schemas.microsoft.com/office/drawing/2014/main" id="{4F04F707-9AD9-4EC9-93EE-DDC201E46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997200"/>
                        <a:ext cx="17272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3">
            <a:extLst>
              <a:ext uri="{FF2B5EF4-FFF2-40B4-BE49-F238E27FC236}">
                <a16:creationId xmlns:a16="http://schemas.microsoft.com/office/drawing/2014/main" id="{85C583BC-09B8-419B-B05D-7E35FB006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284538"/>
          <a:ext cx="194468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5" name="Формула" r:id="rId13" imgW="1498600" imgH="228600" progId="Equation.3">
                  <p:embed/>
                </p:oleObj>
              </mc:Choice>
              <mc:Fallback>
                <p:oleObj name="Формула" r:id="rId13" imgW="1498600" imgH="228600" progId="Equation.3">
                  <p:embed/>
                  <p:pic>
                    <p:nvPicPr>
                      <p:cNvPr id="11276" name="Object 13">
                        <a:extLst>
                          <a:ext uri="{FF2B5EF4-FFF2-40B4-BE49-F238E27FC236}">
                            <a16:creationId xmlns:a16="http://schemas.microsoft.com/office/drawing/2014/main" id="{85C583BC-09B8-419B-B05D-7E35FB0060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284538"/>
                        <a:ext cx="1944688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AutoShape 16">
            <a:extLst>
              <a:ext uri="{FF2B5EF4-FFF2-40B4-BE49-F238E27FC236}">
                <a16:creationId xmlns:a16="http://schemas.microsoft.com/office/drawing/2014/main" id="{018D449A-FC05-4B3C-A309-88C0B2F5858E}"/>
              </a:ext>
            </a:extLst>
          </p:cNvPr>
          <p:cNvSpPr>
            <a:spLocks/>
          </p:cNvSpPr>
          <p:nvPr/>
        </p:nvSpPr>
        <p:spPr bwMode="auto">
          <a:xfrm>
            <a:off x="827088" y="2997200"/>
            <a:ext cx="114300" cy="228600"/>
          </a:xfrm>
          <a:prstGeom prst="leftBrace">
            <a:avLst>
              <a:gd name="adj1" fmla="val 1666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78" name="AutoShape 17">
            <a:extLst>
              <a:ext uri="{FF2B5EF4-FFF2-40B4-BE49-F238E27FC236}">
                <a16:creationId xmlns:a16="http://schemas.microsoft.com/office/drawing/2014/main" id="{8504B93D-DEA1-41BA-B25C-EC466A4ABEEA}"/>
              </a:ext>
            </a:extLst>
          </p:cNvPr>
          <p:cNvSpPr>
            <a:spLocks/>
          </p:cNvSpPr>
          <p:nvPr/>
        </p:nvSpPr>
        <p:spPr bwMode="auto">
          <a:xfrm>
            <a:off x="4140200" y="3284538"/>
            <a:ext cx="114300" cy="228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79" name="Rectangle 19">
            <a:extLst>
              <a:ext uri="{FF2B5EF4-FFF2-40B4-BE49-F238E27FC236}">
                <a16:creationId xmlns:a16="http://schemas.microsoft.com/office/drawing/2014/main" id="{2D7DA721-75BE-4C1C-8AF4-504A8494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662238"/>
            <a:ext cx="2662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Выбор длины интервала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80" name="Rectangle 20">
            <a:extLst>
              <a:ext uri="{FF2B5EF4-FFF2-40B4-BE49-F238E27FC236}">
                <a16:creationId xmlns:a16="http://schemas.microsoft.com/office/drawing/2014/main" id="{B9136B43-E19C-41CD-953E-FC4CEFF73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5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1" name="Rectangle 21">
            <a:extLst>
              <a:ext uri="{FF2B5EF4-FFF2-40B4-BE49-F238E27FC236}">
                <a16:creationId xmlns:a16="http://schemas.microsoft.com/office/drawing/2014/main" id="{D9688232-4ADE-4A51-A7AB-7DFF55D57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2227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82" name="Rectangle 22">
            <a:extLst>
              <a:ext uri="{FF2B5EF4-FFF2-40B4-BE49-F238E27FC236}">
                <a16:creationId xmlns:a16="http://schemas.microsoft.com/office/drawing/2014/main" id="{219EE827-177E-4BB3-8055-B41DC3E39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951163"/>
            <a:ext cx="460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; 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83" name="Rectangle 23">
            <a:extLst>
              <a:ext uri="{FF2B5EF4-FFF2-40B4-BE49-F238E27FC236}">
                <a16:creationId xmlns:a16="http://schemas.microsoft.com/office/drawing/2014/main" id="{86489BBE-7DA7-48FE-A2B1-1ECCD797F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213100"/>
            <a:ext cx="1368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Вычислить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84" name="Rectangle 25">
            <a:extLst>
              <a:ext uri="{FF2B5EF4-FFF2-40B4-BE49-F238E27FC236}">
                <a16:creationId xmlns:a16="http://schemas.microsoft.com/office/drawing/2014/main" id="{99DDC691-CD3B-4FCB-BDBB-73FFCA87F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2349500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11285" name="Rectangle 27">
            <a:extLst>
              <a:ext uri="{FF2B5EF4-FFF2-40B4-BE49-F238E27FC236}">
                <a16:creationId xmlns:a16="http://schemas.microsoft.com/office/drawing/2014/main" id="{8AC9FC0B-9D63-4B0C-B416-FF63E9481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636838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11286" name="Rectangle 28">
            <a:extLst>
              <a:ext uri="{FF2B5EF4-FFF2-40B4-BE49-F238E27FC236}">
                <a16:creationId xmlns:a16="http://schemas.microsoft.com/office/drawing/2014/main" id="{9BFD7755-7463-4994-ADEB-BFD15C131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92417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11287" name="Rectangle 30">
            <a:extLst>
              <a:ext uri="{FF2B5EF4-FFF2-40B4-BE49-F238E27FC236}">
                <a16:creationId xmlns:a16="http://schemas.microsoft.com/office/drawing/2014/main" id="{216BFF68-F347-4B38-9CEE-C5947DF4B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578225"/>
            <a:ext cx="129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 i="1" u="sng"/>
              <a:t>Ш2. </a:t>
            </a:r>
            <a:r>
              <a:rPr lang="ru-RU" altLang="ru-RU"/>
              <a:t>Если </a:t>
            </a:r>
          </a:p>
          <a:p>
            <a:pPr algn="ctr" eaLnBrk="1" hangingPunct="1"/>
            <a:endParaRPr lang="ru-RU" altLang="ru-RU" b="1" i="1" u="sng"/>
          </a:p>
        </p:txBody>
      </p:sp>
      <p:sp>
        <p:nvSpPr>
          <p:cNvPr id="11288" name="Rectangle 32">
            <a:extLst>
              <a:ext uri="{FF2B5EF4-FFF2-40B4-BE49-F238E27FC236}">
                <a16:creationId xmlns:a16="http://schemas.microsoft.com/office/drawing/2014/main" id="{9312FEAD-65AD-4C16-8A4D-F53460092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9" name="Rectangle 41">
            <a:extLst>
              <a:ext uri="{FF2B5EF4-FFF2-40B4-BE49-F238E27FC236}">
                <a16:creationId xmlns:a16="http://schemas.microsoft.com/office/drawing/2014/main" id="{8304A532-C689-4D03-B3F4-CB4392B7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90" name="Object 40">
            <a:extLst>
              <a:ext uri="{FF2B5EF4-FFF2-40B4-BE49-F238E27FC236}">
                <a16:creationId xmlns:a16="http://schemas.microsoft.com/office/drawing/2014/main" id="{67330BF8-29A9-4B20-91B4-7075523DB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3" y="3933825"/>
          <a:ext cx="81232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name="Формула" r:id="rId15" imgW="5194300" imgH="241300" progId="Equation.3">
                  <p:embed/>
                </p:oleObj>
              </mc:Choice>
              <mc:Fallback>
                <p:oleObj name="Формула" r:id="rId15" imgW="5194300" imgH="241300" progId="Equation.3">
                  <p:embed/>
                  <p:pic>
                    <p:nvPicPr>
                      <p:cNvPr id="11290" name="Object 40">
                        <a:extLst>
                          <a:ext uri="{FF2B5EF4-FFF2-40B4-BE49-F238E27FC236}">
                            <a16:creationId xmlns:a16="http://schemas.microsoft.com/office/drawing/2014/main" id="{67330BF8-29A9-4B20-91B4-7075523DBD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3933825"/>
                        <a:ext cx="81232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1" name="Rectangle 43">
            <a:extLst>
              <a:ext uri="{FF2B5EF4-FFF2-40B4-BE49-F238E27FC236}">
                <a16:creationId xmlns:a16="http://schemas.microsoft.com/office/drawing/2014/main" id="{AEEEE85B-6B49-4245-AE69-B8A6C9769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37063"/>
            <a:ext cx="13350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Ш3.</a:t>
            </a:r>
            <a:r>
              <a:rPr lang="ru-RU" altLang="ru-RU"/>
              <a:t>  Если  </a:t>
            </a:r>
          </a:p>
        </p:txBody>
      </p:sp>
      <p:sp>
        <p:nvSpPr>
          <p:cNvPr id="11292" name="Rectangle 45">
            <a:extLst>
              <a:ext uri="{FF2B5EF4-FFF2-40B4-BE49-F238E27FC236}">
                <a16:creationId xmlns:a16="http://schemas.microsoft.com/office/drawing/2014/main" id="{2CA2B680-56BE-4218-A4FB-F7B902FA3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93" name="Object 44">
            <a:extLst>
              <a:ext uri="{FF2B5EF4-FFF2-40B4-BE49-F238E27FC236}">
                <a16:creationId xmlns:a16="http://schemas.microsoft.com/office/drawing/2014/main" id="{B78F4E74-4727-4A04-B06C-DE683ABE9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1363" y="4365625"/>
          <a:ext cx="454501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7" name="Формула" r:id="rId17" imgW="2184400" imgH="330200" progId="Equation.3">
                  <p:embed/>
                </p:oleObj>
              </mc:Choice>
              <mc:Fallback>
                <p:oleObj name="Формула" r:id="rId17" imgW="2184400" imgH="330200" progId="Equation.3">
                  <p:embed/>
                  <p:pic>
                    <p:nvPicPr>
                      <p:cNvPr id="11293" name="Object 44">
                        <a:extLst>
                          <a:ext uri="{FF2B5EF4-FFF2-40B4-BE49-F238E27FC236}">
                            <a16:creationId xmlns:a16="http://schemas.microsoft.com/office/drawing/2014/main" id="{B78F4E74-4727-4A04-B06C-DE683ABE9D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365625"/>
                        <a:ext cx="454501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4" name="Rectangle 47">
            <a:extLst>
              <a:ext uri="{FF2B5EF4-FFF2-40B4-BE49-F238E27FC236}">
                <a16:creationId xmlns:a16="http://schemas.microsoft.com/office/drawing/2014/main" id="{CD975C2A-3B7A-4F86-8990-777FF282A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95" name="Object 46">
            <a:extLst>
              <a:ext uri="{FF2B5EF4-FFF2-40B4-BE49-F238E27FC236}">
                <a16:creationId xmlns:a16="http://schemas.microsoft.com/office/drawing/2014/main" id="{BF0431BA-40E1-4B18-8D19-D6923AEC7D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849813"/>
          <a:ext cx="62642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8" name="Формула" r:id="rId19" imgW="3340100" imgH="266700" progId="Equation.3">
                  <p:embed/>
                </p:oleObj>
              </mc:Choice>
              <mc:Fallback>
                <p:oleObj name="Формула" r:id="rId19" imgW="3340100" imgH="266700" progId="Equation.3">
                  <p:embed/>
                  <p:pic>
                    <p:nvPicPr>
                      <p:cNvPr id="11295" name="Object 46">
                        <a:extLst>
                          <a:ext uri="{FF2B5EF4-FFF2-40B4-BE49-F238E27FC236}">
                            <a16:creationId xmlns:a16="http://schemas.microsoft.com/office/drawing/2014/main" id="{BF0431BA-40E1-4B18-8D19-D6923AEC7D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849813"/>
                        <a:ext cx="62642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6" name="Rectangle 48">
            <a:extLst>
              <a:ext uri="{FF2B5EF4-FFF2-40B4-BE49-F238E27FC236}">
                <a16:creationId xmlns:a16="http://schemas.microsoft.com/office/drawing/2014/main" id="{6674AEAE-1D97-44EB-AEAC-F01015822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341438"/>
            <a:ext cx="5329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u="sng" dirty="0"/>
              <a:t>Метод «золотого сечения»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14B286C-C893-45A8-9103-92DE5D382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многомерной оптимизации без ограничений</a:t>
            </a:r>
            <a:r>
              <a:rPr lang="ru-RU" altLang="ru-RU" sz="4000" b="1" u="sng" dirty="0"/>
              <a:t>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4979EA8-99D2-4592-88A7-F40601594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ctr" eaLnBrk="1" hangingPunct="1"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Хука-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Дживса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(Х-Д)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3ABA6B8-2502-4B02-A138-BF9253FA5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133600"/>
            <a:ext cx="842486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5">
            <a:extLst>
              <a:ext uri="{FF2B5EF4-FFF2-40B4-BE49-F238E27FC236}">
                <a16:creationId xmlns:a16="http://schemas.microsoft.com/office/drawing/2014/main" id="{2272852F-C399-4908-811F-A66FEB1DB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805488"/>
            <a:ext cx="84963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Геометрическая интерпретация метода Хука-Дживса в случае двухпараметрической задачи</a:t>
            </a:r>
          </a:p>
          <a:p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B562431-5499-4A95-801B-46D92BC66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993775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Хука-</a:t>
            </a:r>
            <a:r>
              <a:rPr lang="ru-RU" alt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Дживса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(Х-Д)</a:t>
            </a:r>
            <a:b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9D4F2FE-1DEE-4BB9-B2BE-4F83FEF1D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51022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u="sng"/>
              <a:t>Алгоритм:</a:t>
            </a:r>
            <a:r>
              <a:rPr lang="ru-RU" altLang="ru-RU"/>
              <a:t> </a:t>
            </a:r>
          </a:p>
          <a:p>
            <a:pPr eaLnBrk="1" hangingPunct="1">
              <a:buFontTx/>
              <a:buNone/>
            </a:pPr>
            <a:r>
              <a:rPr lang="ru-RU" altLang="ru-RU" sz="1800" b="1" i="1"/>
              <a:t>Ш.0.</a:t>
            </a:r>
            <a:r>
              <a:rPr lang="ru-RU" altLang="ru-RU" sz="1800"/>
              <a:t> Выбор:                   (стартовая точка),             ,              (счётчик точек).</a:t>
            </a:r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10DDF2E8-24F3-4412-9262-248C060A8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1" name="Object 4">
            <a:extLst>
              <a:ext uri="{FF2B5EF4-FFF2-40B4-BE49-F238E27FC236}">
                <a16:creationId xmlns:a16="http://schemas.microsoft.com/office/drawing/2014/main" id="{2409A812-DC4E-4BB8-83B6-F37D13987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628775"/>
          <a:ext cx="5032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8" name="Формула" r:id="rId3" imgW="279279" imgH="203112" progId="Equation.3">
                  <p:embed/>
                </p:oleObj>
              </mc:Choice>
              <mc:Fallback>
                <p:oleObj name="Формула" r:id="rId3" imgW="279279" imgH="203112" progId="Equation.3">
                  <p:embed/>
                  <p:pic>
                    <p:nvPicPr>
                      <p:cNvPr id="4101" name="Object 4">
                        <a:extLst>
                          <a:ext uri="{FF2B5EF4-FFF2-40B4-BE49-F238E27FC236}">
                            <a16:creationId xmlns:a16="http://schemas.microsoft.com/office/drawing/2014/main" id="{2409A812-DC4E-4BB8-83B6-F37D13987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628775"/>
                        <a:ext cx="50323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7">
            <a:extLst>
              <a:ext uri="{FF2B5EF4-FFF2-40B4-BE49-F238E27FC236}">
                <a16:creationId xmlns:a16="http://schemas.microsoft.com/office/drawing/2014/main" id="{84C87C8D-7B2F-45A4-8488-9D31D2212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4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3" name="Object 6">
            <a:extLst>
              <a:ext uri="{FF2B5EF4-FFF2-40B4-BE49-F238E27FC236}">
                <a16:creationId xmlns:a16="http://schemas.microsoft.com/office/drawing/2014/main" id="{9668978C-2722-4602-A5F1-759C4D187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1628775"/>
          <a:ext cx="576262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9" name="Формула" r:id="rId5" imgW="329771" imgH="177569" progId="Equation.3">
                  <p:embed/>
                </p:oleObj>
              </mc:Choice>
              <mc:Fallback>
                <p:oleObj name="Формула" r:id="rId5" imgW="329771" imgH="177569" progId="Equation.3">
                  <p:embed/>
                  <p:pic>
                    <p:nvPicPr>
                      <p:cNvPr id="4103" name="Object 6">
                        <a:extLst>
                          <a:ext uri="{FF2B5EF4-FFF2-40B4-BE49-F238E27FC236}">
                            <a16:creationId xmlns:a16="http://schemas.microsoft.com/office/drawing/2014/main" id="{9668978C-2722-4602-A5F1-759C4D187D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628775"/>
                        <a:ext cx="576262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9">
            <a:extLst>
              <a:ext uri="{FF2B5EF4-FFF2-40B4-BE49-F238E27FC236}">
                <a16:creationId xmlns:a16="http://schemas.microsoft.com/office/drawing/2014/main" id="{1EDD0FA3-B029-48C4-89B5-FABF198C7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5" name="Object 8">
            <a:extLst>
              <a:ext uri="{FF2B5EF4-FFF2-40B4-BE49-F238E27FC236}">
                <a16:creationId xmlns:a16="http://schemas.microsoft.com/office/drawing/2014/main" id="{66E744F3-0CD8-45E6-89FE-940E6AEE8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576388"/>
          <a:ext cx="12239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0" name="Формула" r:id="rId7" imgW="800100" imgH="228600" progId="Equation.3">
                  <p:embed/>
                </p:oleObj>
              </mc:Choice>
              <mc:Fallback>
                <p:oleObj name="Формула" r:id="rId7" imgW="800100" imgH="228600" progId="Equation.3">
                  <p:embed/>
                  <p:pic>
                    <p:nvPicPr>
                      <p:cNvPr id="4105" name="Object 8">
                        <a:extLst>
                          <a:ext uri="{FF2B5EF4-FFF2-40B4-BE49-F238E27FC236}">
                            <a16:creationId xmlns:a16="http://schemas.microsoft.com/office/drawing/2014/main" id="{66E744F3-0CD8-45E6-89FE-940E6AEE8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576388"/>
                        <a:ext cx="12239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2">
            <a:extLst>
              <a:ext uri="{FF2B5EF4-FFF2-40B4-BE49-F238E27FC236}">
                <a16:creationId xmlns:a16="http://schemas.microsoft.com/office/drawing/2014/main" id="{DA8C4691-B20D-4175-9C34-1FF2B5A6F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060575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1" name="Формула" r:id="rId9" imgW="482810" imgH="228699" progId="Equation.3">
                  <p:embed/>
                </p:oleObj>
              </mc:Choice>
              <mc:Fallback>
                <p:oleObj name="Формула" r:id="rId9" imgW="482810" imgH="228699" progId="Equation.3">
                  <p:embed/>
                  <p:pic>
                    <p:nvPicPr>
                      <p:cNvPr id="4106" name="Object 12">
                        <a:extLst>
                          <a:ext uri="{FF2B5EF4-FFF2-40B4-BE49-F238E27FC236}">
                            <a16:creationId xmlns:a16="http://schemas.microsoft.com/office/drawing/2014/main" id="{DA8C4691-B20D-4175-9C34-1FF2B5A6F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060575"/>
                        <a:ext cx="647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>
            <a:extLst>
              <a:ext uri="{FF2B5EF4-FFF2-40B4-BE49-F238E27FC236}">
                <a16:creationId xmlns:a16="http://schemas.microsoft.com/office/drawing/2014/main" id="{DD81F927-44DE-4223-B5B8-D974FA3C3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060575"/>
          <a:ext cx="1008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2" name="Формула" r:id="rId11" imgW="711509" imgH="254110" progId="Equation.3">
                  <p:embed/>
                </p:oleObj>
              </mc:Choice>
              <mc:Fallback>
                <p:oleObj name="Формула" r:id="rId11" imgW="711509" imgH="254110" progId="Equation.3">
                  <p:embed/>
                  <p:pic>
                    <p:nvPicPr>
                      <p:cNvPr id="4107" name="Object 11">
                        <a:extLst>
                          <a:ext uri="{FF2B5EF4-FFF2-40B4-BE49-F238E27FC236}">
                            <a16:creationId xmlns:a16="http://schemas.microsoft.com/office/drawing/2014/main" id="{DD81F927-44DE-4223-B5B8-D974FA3C3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060575"/>
                        <a:ext cx="1008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0">
            <a:extLst>
              <a:ext uri="{FF2B5EF4-FFF2-40B4-BE49-F238E27FC236}">
                <a16:creationId xmlns:a16="http://schemas.microsoft.com/office/drawing/2014/main" id="{90552E79-A808-4803-8B50-1EB7E15DF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2060575"/>
          <a:ext cx="304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name="Формула" r:id="rId13" imgW="177415" imgH="202760" progId="Equation.3">
                  <p:embed/>
                </p:oleObj>
              </mc:Choice>
              <mc:Fallback>
                <p:oleObj name="Формула" r:id="rId13" imgW="177415" imgH="202760" progId="Equation.3">
                  <p:embed/>
                  <p:pic>
                    <p:nvPicPr>
                      <p:cNvPr id="4108" name="Object 10">
                        <a:extLst>
                          <a:ext uri="{FF2B5EF4-FFF2-40B4-BE49-F238E27FC236}">
                            <a16:creationId xmlns:a16="http://schemas.microsoft.com/office/drawing/2014/main" id="{90552E79-A808-4803-8B50-1EB7E15DF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060575"/>
                        <a:ext cx="3048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Rectangle 13">
            <a:extLst>
              <a:ext uri="{FF2B5EF4-FFF2-40B4-BE49-F238E27FC236}">
                <a16:creationId xmlns:a16="http://schemas.microsoft.com/office/drawing/2014/main" id="{3AF28A56-C038-495F-9B16-B4EECB4F4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44675"/>
            <a:ext cx="820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>
                <a:latin typeface="Arial" panose="020B0604020202020204" pitchFamily="34" charset="0"/>
              </a:rPr>
              <a:t>Ш.1.</a:t>
            </a:r>
            <a:r>
              <a:rPr lang="ru-RU" altLang="ru-RU">
                <a:latin typeface="Arial" panose="020B0604020202020204" pitchFamily="34" charset="0"/>
              </a:rPr>
              <a:t> Выполняется покоординатный спуск – однократный проход: от точки 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9E95C6C3-EC1D-4157-BA4F-7DB6BD0F2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74863"/>
            <a:ext cx="4105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</a:rPr>
              <a:t> </a:t>
            </a:r>
            <a:r>
              <a:rPr lang="ru-RU" altLang="ru-RU">
                <a:latin typeface="Arial" panose="020B0604020202020204" pitchFamily="34" charset="0"/>
              </a:rPr>
              <a:t>поочередно по каждой координате </a:t>
            </a:r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23F01D44-37C3-45F1-A8A4-69F7FA69C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060575"/>
            <a:ext cx="103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</a:rPr>
              <a:t> </a:t>
            </a:r>
            <a:r>
              <a:rPr lang="ru-RU" altLang="ru-RU">
                <a:latin typeface="Arial" panose="020B0604020202020204" pitchFamily="34" charset="0"/>
              </a:rPr>
              <a:t>к точке</a:t>
            </a:r>
            <a:r>
              <a:rPr lang="ru-RU" altLang="ru-RU" sz="20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9DF79D8D-707A-4E09-B683-55CECC1B1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405130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55225850-346E-4738-AD59-8F702F501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349500"/>
            <a:ext cx="5100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/>
              <a:t>Ш.2.</a:t>
            </a:r>
            <a:r>
              <a:rPr lang="ru-RU" altLang="ru-RU"/>
              <a:t> Осуществляется движение «по образцу»:</a:t>
            </a:r>
          </a:p>
        </p:txBody>
      </p:sp>
      <p:sp>
        <p:nvSpPr>
          <p:cNvPr id="4114" name="Rectangle 19">
            <a:extLst>
              <a:ext uri="{FF2B5EF4-FFF2-40B4-BE49-F238E27FC236}">
                <a16:creationId xmlns:a16="http://schemas.microsoft.com/office/drawing/2014/main" id="{AE818FEE-FAE9-49E6-A073-92AA5EE7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5" name="Object 18">
            <a:extLst>
              <a:ext uri="{FF2B5EF4-FFF2-40B4-BE49-F238E27FC236}">
                <a16:creationId xmlns:a16="http://schemas.microsoft.com/office/drawing/2014/main" id="{2038D50C-850C-45F4-9859-B69EF2524A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416175"/>
          <a:ext cx="30241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" name="Формула" r:id="rId15" imgW="2273300" imgH="228600" progId="Equation.3">
                  <p:embed/>
                </p:oleObj>
              </mc:Choice>
              <mc:Fallback>
                <p:oleObj name="Формула" r:id="rId15" imgW="2273300" imgH="228600" progId="Equation.3">
                  <p:embed/>
                  <p:pic>
                    <p:nvPicPr>
                      <p:cNvPr id="4115" name="Object 18">
                        <a:extLst>
                          <a:ext uri="{FF2B5EF4-FFF2-40B4-BE49-F238E27FC236}">
                            <a16:creationId xmlns:a16="http://schemas.microsoft.com/office/drawing/2014/main" id="{2038D50C-850C-45F4-9859-B69EF2524A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416175"/>
                        <a:ext cx="30241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Rectangle 21">
            <a:extLst>
              <a:ext uri="{FF2B5EF4-FFF2-40B4-BE49-F238E27FC236}">
                <a16:creationId xmlns:a16="http://schemas.microsoft.com/office/drawing/2014/main" id="{2665767B-94E3-4513-86FE-F5DD52BA9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7" name="Object 20">
            <a:extLst>
              <a:ext uri="{FF2B5EF4-FFF2-40B4-BE49-F238E27FC236}">
                <a16:creationId xmlns:a16="http://schemas.microsoft.com/office/drawing/2014/main" id="{6BF7E255-5206-42C6-BE65-650C874D89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90813"/>
          <a:ext cx="295116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name="Формула" r:id="rId17" imgW="2108200" imgH="228600" progId="Equation.3">
                  <p:embed/>
                </p:oleObj>
              </mc:Choice>
              <mc:Fallback>
                <p:oleObj name="Формула" r:id="rId17" imgW="2108200" imgH="228600" progId="Equation.3">
                  <p:embed/>
                  <p:pic>
                    <p:nvPicPr>
                      <p:cNvPr id="4117" name="Object 20">
                        <a:extLst>
                          <a:ext uri="{FF2B5EF4-FFF2-40B4-BE49-F238E27FC236}">
                            <a16:creationId xmlns:a16="http://schemas.microsoft.com/office/drawing/2014/main" id="{6BF7E255-5206-42C6-BE65-650C874D8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90813"/>
                        <a:ext cx="2951162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8" name="Rectangle 22">
            <a:extLst>
              <a:ext uri="{FF2B5EF4-FFF2-40B4-BE49-F238E27FC236}">
                <a16:creationId xmlns:a16="http://schemas.microsoft.com/office/drawing/2014/main" id="{86ED4C49-5108-40D8-B3BB-C1902E573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924175"/>
            <a:ext cx="3025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Ш3.</a:t>
            </a:r>
            <a:r>
              <a:rPr lang="ru-RU" altLang="ru-RU"/>
              <a:t> Проверка сходимости:</a:t>
            </a:r>
          </a:p>
        </p:txBody>
      </p:sp>
      <p:graphicFrame>
        <p:nvGraphicFramePr>
          <p:cNvPr id="4119" name="Object 25">
            <a:extLst>
              <a:ext uri="{FF2B5EF4-FFF2-40B4-BE49-F238E27FC236}">
                <a16:creationId xmlns:a16="http://schemas.microsoft.com/office/drawing/2014/main" id="{DF6A5705-92F8-417F-8F21-DD91EB41E7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284538"/>
          <a:ext cx="34559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6" name="Формула" r:id="rId19" imgW="2743200" imgH="279400" progId="Equation.3">
                  <p:embed/>
                </p:oleObj>
              </mc:Choice>
              <mc:Fallback>
                <p:oleObj name="Формула" r:id="rId19" imgW="2743200" imgH="279400" progId="Equation.3">
                  <p:embed/>
                  <p:pic>
                    <p:nvPicPr>
                      <p:cNvPr id="4119" name="Object 25">
                        <a:extLst>
                          <a:ext uri="{FF2B5EF4-FFF2-40B4-BE49-F238E27FC236}">
                            <a16:creationId xmlns:a16="http://schemas.microsoft.com/office/drawing/2014/main" id="{DF6A5705-92F8-417F-8F21-DD91EB41E7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284538"/>
                        <a:ext cx="34559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Object 24">
            <a:extLst>
              <a:ext uri="{FF2B5EF4-FFF2-40B4-BE49-F238E27FC236}">
                <a16:creationId xmlns:a16="http://schemas.microsoft.com/office/drawing/2014/main" id="{8844D8DB-1BE8-45E8-BF78-62D87CC02A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3279775"/>
          <a:ext cx="15843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7" name="Формула" r:id="rId21" imgW="1181100" imgH="228600" progId="Equation.3">
                  <p:embed/>
                </p:oleObj>
              </mc:Choice>
              <mc:Fallback>
                <p:oleObj name="Формула" r:id="rId21" imgW="1181100" imgH="228600" progId="Equation.3">
                  <p:embed/>
                  <p:pic>
                    <p:nvPicPr>
                      <p:cNvPr id="4120" name="Object 24">
                        <a:extLst>
                          <a:ext uri="{FF2B5EF4-FFF2-40B4-BE49-F238E27FC236}">
                            <a16:creationId xmlns:a16="http://schemas.microsoft.com/office/drawing/2014/main" id="{8844D8DB-1BE8-45E8-BF78-62D87CC02A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279775"/>
                        <a:ext cx="15843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1" name="Object 23">
            <a:extLst>
              <a:ext uri="{FF2B5EF4-FFF2-40B4-BE49-F238E27FC236}">
                <a16:creationId xmlns:a16="http://schemas.microsoft.com/office/drawing/2014/main" id="{58CE71F6-884E-4D63-9737-AE5406953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644900"/>
          <a:ext cx="48244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8" name="Формула" r:id="rId23" imgW="3175000" imgH="228600" progId="Equation.3">
                  <p:embed/>
                </p:oleObj>
              </mc:Choice>
              <mc:Fallback>
                <p:oleObj name="Формула" r:id="rId23" imgW="3175000" imgH="228600" progId="Equation.3">
                  <p:embed/>
                  <p:pic>
                    <p:nvPicPr>
                      <p:cNvPr id="4121" name="Object 23">
                        <a:extLst>
                          <a:ext uri="{FF2B5EF4-FFF2-40B4-BE49-F238E27FC236}">
                            <a16:creationId xmlns:a16="http://schemas.microsoft.com/office/drawing/2014/main" id="{58CE71F6-884E-4D63-9737-AE5406953C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644900"/>
                        <a:ext cx="48244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2" name="Rectangle 26">
            <a:extLst>
              <a:ext uri="{FF2B5EF4-FFF2-40B4-BE49-F238E27FC236}">
                <a16:creationId xmlns:a16="http://schemas.microsoft.com/office/drawing/2014/main" id="{73598B11-7406-4124-B065-E91BC59C6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238500"/>
            <a:ext cx="831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Если 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123" name="Rectangle 27">
            <a:extLst>
              <a:ext uri="{FF2B5EF4-FFF2-40B4-BE49-F238E27FC236}">
                <a16:creationId xmlns:a16="http://schemas.microsoft.com/office/drawing/2014/main" id="{D72B9232-18BB-45F1-A164-16325CA1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23850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124" name="Rectangle 28">
            <a:extLst>
              <a:ext uri="{FF2B5EF4-FFF2-40B4-BE49-F238E27FC236}">
                <a16:creationId xmlns:a16="http://schemas.microsoft.com/office/drawing/2014/main" id="{C09EB7D2-C9DD-4CE7-9602-91069D3D6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C7FFE-0572-4F8D-8798-78B8EB4C4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Нелдера-Мида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pic>
        <p:nvPicPr>
          <p:cNvPr id="5123" name="Picture 4">
            <a:extLst>
              <a:ext uri="{FF2B5EF4-FFF2-40B4-BE49-F238E27FC236}">
                <a16:creationId xmlns:a16="http://schemas.microsoft.com/office/drawing/2014/main" id="{45630D2B-0A06-43CA-B57B-C4662D03BC0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557338"/>
            <a:ext cx="7921625" cy="2663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4" name="Rectangle 5">
            <a:extLst>
              <a:ext uri="{FF2B5EF4-FFF2-40B4-BE49-F238E27FC236}">
                <a16:creationId xmlns:a16="http://schemas.microsoft.com/office/drawing/2014/main" id="{126B9D29-FF69-4A4E-90E2-A46253D62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9363"/>
            <a:ext cx="1943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Отрезок [0 1]. </a:t>
            </a:r>
          </a:p>
        </p:txBody>
      </p:sp>
      <p:sp>
        <p:nvSpPr>
          <p:cNvPr id="5125" name="Rectangle 6">
            <a:extLst>
              <a:ext uri="{FF2B5EF4-FFF2-40B4-BE49-F238E27FC236}">
                <a16:creationId xmlns:a16="http://schemas.microsoft.com/office/drawing/2014/main" id="{0B54847E-2DE4-4695-B3FA-7ECFA7ADA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860800"/>
            <a:ext cx="15097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Треугольник</a:t>
            </a:r>
          </a:p>
        </p:txBody>
      </p:sp>
      <p:sp>
        <p:nvSpPr>
          <p:cNvPr id="5126" name="Rectangle 7">
            <a:extLst>
              <a:ext uri="{FF2B5EF4-FFF2-40B4-BE49-F238E27FC236}">
                <a16:creationId xmlns:a16="http://schemas.microsoft.com/office/drawing/2014/main" id="{9CA36BBB-5F47-4156-89B2-EA02F93A1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3860800"/>
            <a:ext cx="1185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Тетраэдр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CF402D7-B85D-4F73-B276-2093F1966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Нелдера-Мида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F5B311A-FD2F-44E9-82BC-00438D0D0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400"/>
              <a:t>Идея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/>
              <a:t>Пусть целевая функция – овражная. Число граничных точек – </a:t>
            </a:r>
            <a:r>
              <a:rPr lang="en-US" altLang="ru-RU" sz="2400"/>
              <a:t>N</a:t>
            </a:r>
            <a:r>
              <a:rPr lang="ru-RU" altLang="ru-RU" sz="2400"/>
              <a:t>+1, где </a:t>
            </a:r>
            <a:r>
              <a:rPr lang="en-US" altLang="ru-RU" sz="2400"/>
              <a:t>N </a:t>
            </a:r>
            <a:r>
              <a:rPr lang="ru-RU" altLang="ru-RU" sz="2400"/>
              <a:t>– размерность пространства варьируемых переменных. Строим симплекс из начальной точки. Ищем его центр тяжести и из наихудшей точки через центр тяжести проводим прямую и строим новый симплекс. Симплексы постепенно уменьшаются при подходе к экстремуму.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/>
              <a:t>Метод деформируемых симплексов не имеет ничего общего с симлекс-методом линейного программирования.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E9DC7C8-D2C5-473B-9E74-7B96380C2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Нелдера-Мида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pic>
        <p:nvPicPr>
          <p:cNvPr id="7171" name="Picture 4">
            <a:extLst>
              <a:ext uri="{FF2B5EF4-FFF2-40B4-BE49-F238E27FC236}">
                <a16:creationId xmlns:a16="http://schemas.microsoft.com/office/drawing/2014/main" id="{34952530-6509-4CD7-BA3A-CC0CBACCD46E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341438"/>
            <a:ext cx="8642350" cy="4752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2" name="Rectangle 5">
            <a:extLst>
              <a:ext uri="{FF2B5EF4-FFF2-40B4-BE49-F238E27FC236}">
                <a16:creationId xmlns:a16="http://schemas.microsoft.com/office/drawing/2014/main" id="{8EB14907-0B68-4D25-ABB3-E93F4295E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949950"/>
            <a:ext cx="88566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Геометрическая интерпретация метода Нелдера-Мида в случае двухпараметрической задачи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9EEC18-0D5B-40E3-9759-E771083D9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Нелдера-Мида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421E43B-8710-452A-BF24-CADA1754DF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ru-RU" altLang="ru-RU" sz="2800" u="sng"/>
              <a:t>Алгоритм</a:t>
            </a:r>
          </a:p>
          <a:p>
            <a:pPr algn="ctr" eaLnBrk="1" hangingPunct="1">
              <a:buFontTx/>
              <a:buNone/>
            </a:pPr>
            <a:r>
              <a:rPr lang="ru-RU" altLang="ru-RU" sz="2800"/>
              <a:t> </a:t>
            </a:r>
          </a:p>
        </p:txBody>
      </p:sp>
      <p:graphicFrame>
        <p:nvGraphicFramePr>
          <p:cNvPr id="8196" name="Object 5">
            <a:extLst>
              <a:ext uri="{FF2B5EF4-FFF2-40B4-BE49-F238E27FC236}">
                <a16:creationId xmlns:a16="http://schemas.microsoft.com/office/drawing/2014/main" id="{1D611BD0-04B7-4DC5-A78C-98DE38EBBEF6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5724525" y="2349500"/>
          <a:ext cx="3238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8" name="Формула" r:id="rId3" imgW="126835" imgH="139518" progId="Equation.3">
                  <p:embed/>
                </p:oleObj>
              </mc:Choice>
              <mc:Fallback>
                <p:oleObj name="Формула" r:id="rId3" imgW="126835" imgH="139518" progId="Equation.3">
                  <p:embed/>
                  <p:pic>
                    <p:nvPicPr>
                      <p:cNvPr id="8196" name="Object 5">
                        <a:extLst>
                          <a:ext uri="{FF2B5EF4-FFF2-40B4-BE49-F238E27FC236}">
                            <a16:creationId xmlns:a16="http://schemas.microsoft.com/office/drawing/2014/main" id="{1D611BD0-04B7-4DC5-A78C-98DE38EBB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349500"/>
                        <a:ext cx="3238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4">
            <a:extLst>
              <a:ext uri="{FF2B5EF4-FFF2-40B4-BE49-F238E27FC236}">
                <a16:creationId xmlns:a16="http://schemas.microsoft.com/office/drawing/2014/main" id="{8F82FCD3-9F36-49E3-A1CD-EEAF01B0D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0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Ш0.</a:t>
            </a:r>
            <a:r>
              <a:rPr lang="ru-RU" altLang="ru-RU"/>
              <a:t> Задание:  1) начального шага </a:t>
            </a:r>
            <a:r>
              <a:rPr lang="en-US" altLang="ru-RU" sz="2000" b="1" i="1"/>
              <a:t>S</a:t>
            </a:r>
            <a:r>
              <a:rPr lang="ru-RU" altLang="ru-RU"/>
              <a:t>; 2) точности      3) начальной точки</a:t>
            </a:r>
          </a:p>
        </p:txBody>
      </p:sp>
      <p:graphicFrame>
        <p:nvGraphicFramePr>
          <p:cNvPr id="8198" name="Object 7">
            <a:extLst>
              <a:ext uri="{FF2B5EF4-FFF2-40B4-BE49-F238E27FC236}">
                <a16:creationId xmlns:a16="http://schemas.microsoft.com/office/drawing/2014/main" id="{2C8BF5CC-B0E9-4F40-AA79-44966BF466A9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7956550" y="2276475"/>
          <a:ext cx="5762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9" name="Формула" r:id="rId5" imgW="241195" imgH="190417" progId="Equation.3">
                  <p:embed/>
                </p:oleObj>
              </mc:Choice>
              <mc:Fallback>
                <p:oleObj name="Формула" r:id="rId5" imgW="241195" imgH="190417" progId="Equation.3">
                  <p:embed/>
                  <p:pic>
                    <p:nvPicPr>
                      <p:cNvPr id="8198" name="Object 7">
                        <a:extLst>
                          <a:ext uri="{FF2B5EF4-FFF2-40B4-BE49-F238E27FC236}">
                            <a16:creationId xmlns:a16="http://schemas.microsoft.com/office/drawing/2014/main" id="{2C8BF5CC-B0E9-4F40-AA79-44966BF46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2276475"/>
                        <a:ext cx="5762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9">
            <a:extLst>
              <a:ext uri="{FF2B5EF4-FFF2-40B4-BE49-F238E27FC236}">
                <a16:creationId xmlns:a16="http://schemas.microsoft.com/office/drawing/2014/main" id="{E1C3DB6E-A7E5-4F4F-A321-93E8D834D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813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коэффициенты </a:t>
            </a:r>
          </a:p>
        </p:txBody>
      </p:sp>
      <p:sp>
        <p:nvSpPr>
          <p:cNvPr id="8200" name="Rectangle 11">
            <a:extLst>
              <a:ext uri="{FF2B5EF4-FFF2-40B4-BE49-F238E27FC236}">
                <a16:creationId xmlns:a16="http://schemas.microsoft.com/office/drawing/2014/main" id="{B373B805-550B-4C72-8A1E-096C74866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2949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1" name="Object 10">
            <a:extLst>
              <a:ext uri="{FF2B5EF4-FFF2-40B4-BE49-F238E27FC236}">
                <a16:creationId xmlns:a16="http://schemas.microsoft.com/office/drawing/2014/main" id="{0D1F1159-3E93-4836-9EEB-F47B4F98D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2565400"/>
          <a:ext cx="32400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Формула" r:id="rId7" imgW="1663700" imgH="711200" progId="Equation.3">
                  <p:embed/>
                </p:oleObj>
              </mc:Choice>
              <mc:Fallback>
                <p:oleObj name="Формула" r:id="rId7" imgW="1663700" imgH="711200" progId="Equation.3">
                  <p:embed/>
                  <p:pic>
                    <p:nvPicPr>
                      <p:cNvPr id="8201" name="Object 10">
                        <a:extLst>
                          <a:ext uri="{FF2B5EF4-FFF2-40B4-BE49-F238E27FC236}">
                            <a16:creationId xmlns:a16="http://schemas.microsoft.com/office/drawing/2014/main" id="{0D1F1159-3E93-4836-9EEB-F47B4F98DF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565400"/>
                        <a:ext cx="32400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12">
            <a:extLst>
              <a:ext uri="{FF2B5EF4-FFF2-40B4-BE49-F238E27FC236}">
                <a16:creationId xmlns:a16="http://schemas.microsoft.com/office/drawing/2014/main" id="{47FB2E71-E336-4E9D-86D3-A01A57412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429000"/>
            <a:ext cx="8469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Ш1.</a:t>
            </a:r>
            <a:r>
              <a:rPr lang="ru-RU" altLang="ru-RU"/>
              <a:t> Построение исходного симплекса (т.е. нахождение </a:t>
            </a:r>
            <a:r>
              <a:rPr lang="en-US" altLang="ru-RU"/>
              <a:t>n</a:t>
            </a:r>
            <a:r>
              <a:rPr lang="ru-RU" altLang="ru-RU"/>
              <a:t> + 1 граничных точек)</a:t>
            </a:r>
          </a:p>
        </p:txBody>
      </p:sp>
      <p:sp>
        <p:nvSpPr>
          <p:cNvPr id="8203" name="Rectangle 14">
            <a:extLst>
              <a:ext uri="{FF2B5EF4-FFF2-40B4-BE49-F238E27FC236}">
                <a16:creationId xmlns:a16="http://schemas.microsoft.com/office/drawing/2014/main" id="{A36DE551-3E48-4AEC-9D34-C30307D8E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4" name="Object 13">
            <a:extLst>
              <a:ext uri="{FF2B5EF4-FFF2-40B4-BE49-F238E27FC236}">
                <a16:creationId xmlns:a16="http://schemas.microsoft.com/office/drawing/2014/main" id="{477AB240-1C90-414E-BF4E-BF2550F8B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149725"/>
          <a:ext cx="16557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1" name="Формула" r:id="rId9" imgW="952087" imgH="241195" progId="Equation.3">
                  <p:embed/>
                </p:oleObj>
              </mc:Choice>
              <mc:Fallback>
                <p:oleObj name="Формула" r:id="rId9" imgW="952087" imgH="241195" progId="Equation.3">
                  <p:embed/>
                  <p:pic>
                    <p:nvPicPr>
                      <p:cNvPr id="8204" name="Object 13">
                        <a:extLst>
                          <a:ext uri="{FF2B5EF4-FFF2-40B4-BE49-F238E27FC236}">
                            <a16:creationId xmlns:a16="http://schemas.microsoft.com/office/drawing/2014/main" id="{477AB240-1C90-414E-BF4E-BF2550F8B2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149725"/>
                        <a:ext cx="16557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15">
            <a:extLst>
              <a:ext uri="{FF2B5EF4-FFF2-40B4-BE49-F238E27FC236}">
                <a16:creationId xmlns:a16="http://schemas.microsoft.com/office/drawing/2014/main" id="{8A813986-1D80-4B77-8081-6A5681E60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221163"/>
            <a:ext cx="7000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где </a:t>
            </a:r>
          </a:p>
        </p:txBody>
      </p:sp>
      <p:sp>
        <p:nvSpPr>
          <p:cNvPr id="8206" name="Rectangle 17">
            <a:extLst>
              <a:ext uri="{FF2B5EF4-FFF2-40B4-BE49-F238E27FC236}">
                <a16:creationId xmlns:a16="http://schemas.microsoft.com/office/drawing/2014/main" id="{EB3630CD-9B81-46DD-862B-F1DE87B0E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7" name="Object 16">
            <a:extLst>
              <a:ext uri="{FF2B5EF4-FFF2-40B4-BE49-F238E27FC236}">
                <a16:creationId xmlns:a16="http://schemas.microsoft.com/office/drawing/2014/main" id="{EB7FA028-2488-4DE1-9072-D94DBFB463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716338"/>
          <a:ext cx="1330325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2" name="Формула" r:id="rId11" imgW="634725" imgH="939392" progId="Equation.3">
                  <p:embed/>
                </p:oleObj>
              </mc:Choice>
              <mc:Fallback>
                <p:oleObj name="Формула" r:id="rId11" imgW="634725" imgH="939392" progId="Equation.3">
                  <p:embed/>
                  <p:pic>
                    <p:nvPicPr>
                      <p:cNvPr id="8207" name="Object 16">
                        <a:extLst>
                          <a:ext uri="{FF2B5EF4-FFF2-40B4-BE49-F238E27FC236}">
                            <a16:creationId xmlns:a16="http://schemas.microsoft.com/office/drawing/2014/main" id="{EB7FA028-2488-4DE1-9072-D94DBFB463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716338"/>
                        <a:ext cx="1330325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Rectangle 19">
            <a:extLst>
              <a:ext uri="{FF2B5EF4-FFF2-40B4-BE49-F238E27FC236}">
                <a16:creationId xmlns:a16="http://schemas.microsoft.com/office/drawing/2014/main" id="{B243B48C-7971-4085-B02C-B7F073961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9" name="Object 18">
            <a:extLst>
              <a:ext uri="{FF2B5EF4-FFF2-40B4-BE49-F238E27FC236}">
                <a16:creationId xmlns:a16="http://schemas.microsoft.com/office/drawing/2014/main" id="{0DF3D27F-125A-4A69-8DFF-864BCE673C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3716338"/>
          <a:ext cx="1030287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3" name="Формула" r:id="rId13" imgW="672808" imgH="939392" progId="Equation.3">
                  <p:embed/>
                </p:oleObj>
              </mc:Choice>
              <mc:Fallback>
                <p:oleObj name="Формула" r:id="rId13" imgW="672808" imgH="939392" progId="Equation.3">
                  <p:embed/>
                  <p:pic>
                    <p:nvPicPr>
                      <p:cNvPr id="8209" name="Object 18">
                        <a:extLst>
                          <a:ext uri="{FF2B5EF4-FFF2-40B4-BE49-F238E27FC236}">
                            <a16:creationId xmlns:a16="http://schemas.microsoft.com/office/drawing/2014/main" id="{0DF3D27F-125A-4A69-8DFF-864BCE673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716338"/>
                        <a:ext cx="1030287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20">
            <a:extLst>
              <a:ext uri="{FF2B5EF4-FFF2-40B4-BE49-F238E27FC236}">
                <a16:creationId xmlns:a16="http://schemas.microsoft.com/office/drawing/2014/main" id="{5037AC71-6543-41B3-99BE-A17B0E4EE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2211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8211" name="Rectangle 21">
            <a:extLst>
              <a:ext uri="{FF2B5EF4-FFF2-40B4-BE49-F238E27FC236}">
                <a16:creationId xmlns:a16="http://schemas.microsoft.com/office/drawing/2014/main" id="{7DE37174-45C1-4639-8276-83BC4A525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221163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,…., </a:t>
            </a:r>
          </a:p>
        </p:txBody>
      </p:sp>
      <p:sp>
        <p:nvSpPr>
          <p:cNvPr id="8212" name="Rectangle 23">
            <a:extLst>
              <a:ext uri="{FF2B5EF4-FFF2-40B4-BE49-F238E27FC236}">
                <a16:creationId xmlns:a16="http://schemas.microsoft.com/office/drawing/2014/main" id="{E64D3D5B-F0D8-42B8-A82E-EACF62E18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3" name="Object 22">
            <a:extLst>
              <a:ext uri="{FF2B5EF4-FFF2-40B4-BE49-F238E27FC236}">
                <a16:creationId xmlns:a16="http://schemas.microsoft.com/office/drawing/2014/main" id="{BC9F8E82-6ACE-486F-9E0B-075833ABA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3789363"/>
          <a:ext cx="10541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4" name="Формула" r:id="rId15" imgW="685800" imgH="939800" progId="Equation.3">
                  <p:embed/>
                </p:oleObj>
              </mc:Choice>
              <mc:Fallback>
                <p:oleObj name="Формула" r:id="rId15" imgW="685800" imgH="939800" progId="Equation.3">
                  <p:embed/>
                  <p:pic>
                    <p:nvPicPr>
                      <p:cNvPr id="8213" name="Object 22">
                        <a:extLst>
                          <a:ext uri="{FF2B5EF4-FFF2-40B4-BE49-F238E27FC236}">
                            <a16:creationId xmlns:a16="http://schemas.microsoft.com/office/drawing/2014/main" id="{BC9F8E82-6ACE-486F-9E0B-075833ABA2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789363"/>
                        <a:ext cx="105410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25">
            <a:extLst>
              <a:ext uri="{FF2B5EF4-FFF2-40B4-BE49-F238E27FC236}">
                <a16:creationId xmlns:a16="http://schemas.microsoft.com/office/drawing/2014/main" id="{B857F53E-A721-4BA2-96D5-56A57811A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5" name="Object 24">
            <a:extLst>
              <a:ext uri="{FF2B5EF4-FFF2-40B4-BE49-F238E27FC236}">
                <a16:creationId xmlns:a16="http://schemas.microsoft.com/office/drawing/2014/main" id="{F860861B-2181-4E3C-8FAD-55BE57BEC2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373688"/>
          <a:ext cx="24479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5" name="Формула" r:id="rId17" imgW="1562100" imgH="419100" progId="Equation.3">
                  <p:embed/>
                </p:oleObj>
              </mc:Choice>
              <mc:Fallback>
                <p:oleObj name="Формула" r:id="rId17" imgW="1562100" imgH="419100" progId="Equation.3">
                  <p:embed/>
                  <p:pic>
                    <p:nvPicPr>
                      <p:cNvPr id="8215" name="Object 24">
                        <a:extLst>
                          <a:ext uri="{FF2B5EF4-FFF2-40B4-BE49-F238E27FC236}">
                            <a16:creationId xmlns:a16="http://schemas.microsoft.com/office/drawing/2014/main" id="{F860861B-2181-4E3C-8FAD-55BE57BEC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73688"/>
                        <a:ext cx="244792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Rectangle 27">
            <a:extLst>
              <a:ext uri="{FF2B5EF4-FFF2-40B4-BE49-F238E27FC236}">
                <a16:creationId xmlns:a16="http://schemas.microsoft.com/office/drawing/2014/main" id="{2E413606-C82C-4C6F-9BE4-C97960BE1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7" name="Object 26">
            <a:extLst>
              <a:ext uri="{FF2B5EF4-FFF2-40B4-BE49-F238E27FC236}">
                <a16:creationId xmlns:a16="http://schemas.microsoft.com/office/drawing/2014/main" id="{3E581DFE-2006-423A-9CD1-A17CB3DB3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283200"/>
          <a:ext cx="237648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6" name="Формула" r:id="rId19" imgW="1346200" imgH="419100" progId="Equation.3">
                  <p:embed/>
                </p:oleObj>
              </mc:Choice>
              <mc:Fallback>
                <p:oleObj name="Формула" r:id="rId19" imgW="1346200" imgH="419100" progId="Equation.3">
                  <p:embed/>
                  <p:pic>
                    <p:nvPicPr>
                      <p:cNvPr id="8217" name="Object 26">
                        <a:extLst>
                          <a:ext uri="{FF2B5EF4-FFF2-40B4-BE49-F238E27FC236}">
                            <a16:creationId xmlns:a16="http://schemas.microsoft.com/office/drawing/2014/main" id="{3E581DFE-2006-423A-9CD1-A17CB3DB3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283200"/>
                        <a:ext cx="2376488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Rectangle 28">
            <a:extLst>
              <a:ext uri="{FF2B5EF4-FFF2-40B4-BE49-F238E27FC236}">
                <a16:creationId xmlns:a16="http://schemas.microsoft.com/office/drawing/2014/main" id="{9CF0DB98-54A2-4273-A453-08EDB9EB6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165850"/>
            <a:ext cx="8789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/>
              <a:t>n</a:t>
            </a:r>
            <a:r>
              <a:rPr lang="ru-RU" altLang="ru-RU"/>
              <a:t>  –  размерность пространства, </a:t>
            </a:r>
            <a:r>
              <a:rPr lang="en-US" altLang="ru-RU"/>
              <a:t>d</a:t>
            </a:r>
            <a:r>
              <a:rPr lang="ru-RU" altLang="ru-RU"/>
              <a:t>1 – смещается в соответствии с номером точки.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1F29B0B-2189-4A25-8AD1-510E277B3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1282700"/>
          </a:xfrm>
        </p:spPr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Нелдера-Мида</a:t>
            </a:r>
            <a:r>
              <a:rPr lang="ru-RU" altLang="ru-RU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01BE4248-FECE-40A1-9076-673D9336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0" name="Object 10">
            <a:extLst>
              <a:ext uri="{FF2B5EF4-FFF2-40B4-BE49-F238E27FC236}">
                <a16:creationId xmlns:a16="http://schemas.microsoft.com/office/drawing/2014/main" id="{928DCAF9-87D4-4F5F-AE26-634C441F54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9220" name="Object 10">
                        <a:extLst>
                          <a:ext uri="{FF2B5EF4-FFF2-40B4-BE49-F238E27FC236}">
                            <a16:creationId xmlns:a16="http://schemas.microsoft.com/office/drawing/2014/main" id="{928DCAF9-87D4-4F5F-AE26-634C441F5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24">
            <a:extLst>
              <a:ext uri="{FF2B5EF4-FFF2-40B4-BE49-F238E27FC236}">
                <a16:creationId xmlns:a16="http://schemas.microsoft.com/office/drawing/2014/main" id="{E4E29D6D-3892-41C0-BDC9-3C9F01D22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2" name="Rectangle 26">
            <a:extLst>
              <a:ext uri="{FF2B5EF4-FFF2-40B4-BE49-F238E27FC236}">
                <a16:creationId xmlns:a16="http://schemas.microsoft.com/office/drawing/2014/main" id="{E4B5FF65-3C39-4911-8DBC-A17FE7A4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3" name="Rectangle 38">
            <a:extLst>
              <a:ext uri="{FF2B5EF4-FFF2-40B4-BE49-F238E27FC236}">
                <a16:creationId xmlns:a16="http://schemas.microsoft.com/office/drawing/2014/main" id="{CC6CFC35-E12A-4625-AE0E-8636006B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4" name="Rectangle 40">
            <a:extLst>
              <a:ext uri="{FF2B5EF4-FFF2-40B4-BE49-F238E27FC236}">
                <a16:creationId xmlns:a16="http://schemas.microsoft.com/office/drawing/2014/main" id="{0C2E14FC-0CF7-4A8A-A6F4-96B3BCDC5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5" name="Rectangle 63">
            <a:extLst>
              <a:ext uri="{FF2B5EF4-FFF2-40B4-BE49-F238E27FC236}">
                <a16:creationId xmlns:a16="http://schemas.microsoft.com/office/drawing/2014/main" id="{654B730A-D1C3-415C-A2F7-F07BFAA9E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6" name="Rectangle 67">
            <a:extLst>
              <a:ext uri="{FF2B5EF4-FFF2-40B4-BE49-F238E27FC236}">
                <a16:creationId xmlns:a16="http://schemas.microsoft.com/office/drawing/2014/main" id="{105ABD4D-7F3E-49EC-8279-09F4B27D2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7" name="Rectangle 68">
            <a:extLst>
              <a:ext uri="{FF2B5EF4-FFF2-40B4-BE49-F238E27FC236}">
                <a16:creationId xmlns:a16="http://schemas.microsoft.com/office/drawing/2014/main" id="{9D3DC81E-B7C2-462A-96B9-207452D6C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8" name="Rectangle 72">
            <a:extLst>
              <a:ext uri="{FF2B5EF4-FFF2-40B4-BE49-F238E27FC236}">
                <a16:creationId xmlns:a16="http://schemas.microsoft.com/office/drawing/2014/main" id="{F516BE05-6E56-4138-8BDC-B3B9B5B66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9" name="Rectangle 75">
            <a:extLst>
              <a:ext uri="{FF2B5EF4-FFF2-40B4-BE49-F238E27FC236}">
                <a16:creationId xmlns:a16="http://schemas.microsoft.com/office/drawing/2014/main" id="{CC08CD38-F037-4490-BF55-5F3ED72F1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0" name="Rectangle 89">
            <a:extLst>
              <a:ext uri="{FF2B5EF4-FFF2-40B4-BE49-F238E27FC236}">
                <a16:creationId xmlns:a16="http://schemas.microsoft.com/office/drawing/2014/main" id="{4D8643CB-0578-49DD-B7EF-EC314D011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1" name="Rectangle 92">
            <a:extLst>
              <a:ext uri="{FF2B5EF4-FFF2-40B4-BE49-F238E27FC236}">
                <a16:creationId xmlns:a16="http://schemas.microsoft.com/office/drawing/2014/main" id="{9AC29C54-9ACD-4CCD-990F-145122CC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2" name="Rectangle 94">
            <a:extLst>
              <a:ext uri="{FF2B5EF4-FFF2-40B4-BE49-F238E27FC236}">
                <a16:creationId xmlns:a16="http://schemas.microsoft.com/office/drawing/2014/main" id="{DF7F1C19-F927-46B1-8B2C-221821DC9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9233" name="Rectangle 99">
            <a:extLst>
              <a:ext uri="{FF2B5EF4-FFF2-40B4-BE49-F238E27FC236}">
                <a16:creationId xmlns:a16="http://schemas.microsoft.com/office/drawing/2014/main" id="{3E717737-0A11-47E3-B2BA-0397E2552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4" name="Rectangle 104">
            <a:extLst>
              <a:ext uri="{FF2B5EF4-FFF2-40B4-BE49-F238E27FC236}">
                <a16:creationId xmlns:a16="http://schemas.microsoft.com/office/drawing/2014/main" id="{EB9C88CA-EB3F-4003-92EF-F66F0986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89038" y="2708275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5" name="Rectangle 119">
            <a:extLst>
              <a:ext uri="{FF2B5EF4-FFF2-40B4-BE49-F238E27FC236}">
                <a16:creationId xmlns:a16="http://schemas.microsoft.com/office/drawing/2014/main" id="{370A685C-6708-49DE-BA52-5A0635405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6" name="Rectangle 122">
            <a:extLst>
              <a:ext uri="{FF2B5EF4-FFF2-40B4-BE49-F238E27FC236}">
                <a16:creationId xmlns:a16="http://schemas.microsoft.com/office/drawing/2014/main" id="{855EB784-127C-45F3-A7DA-3F855BB70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7" name="Rectangle 125">
            <a:extLst>
              <a:ext uri="{FF2B5EF4-FFF2-40B4-BE49-F238E27FC236}">
                <a16:creationId xmlns:a16="http://schemas.microsoft.com/office/drawing/2014/main" id="{7F86666B-4B7C-4F9E-A33F-6C0CD1769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8" name="Rectangle 126">
            <a:extLst>
              <a:ext uri="{FF2B5EF4-FFF2-40B4-BE49-F238E27FC236}">
                <a16:creationId xmlns:a16="http://schemas.microsoft.com/office/drawing/2014/main" id="{E4FF0D04-4F9A-4CB7-B956-EFE873DE5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9" name="Rectangle 128">
            <a:extLst>
              <a:ext uri="{FF2B5EF4-FFF2-40B4-BE49-F238E27FC236}">
                <a16:creationId xmlns:a16="http://schemas.microsoft.com/office/drawing/2014/main" id="{E6963399-5F90-4EA8-841A-A2E0BC492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0" name="Rectangle 132">
            <a:extLst>
              <a:ext uri="{FF2B5EF4-FFF2-40B4-BE49-F238E27FC236}">
                <a16:creationId xmlns:a16="http://schemas.microsoft.com/office/drawing/2014/main" id="{4EA4FF86-BC31-42DA-964A-407276770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1" name="Rectangle 133">
            <a:extLst>
              <a:ext uri="{FF2B5EF4-FFF2-40B4-BE49-F238E27FC236}">
                <a16:creationId xmlns:a16="http://schemas.microsoft.com/office/drawing/2014/main" id="{DB334739-0EA0-48BB-9AD5-9C09F6FED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2" name="Rectangle 139">
            <a:extLst>
              <a:ext uri="{FF2B5EF4-FFF2-40B4-BE49-F238E27FC236}">
                <a16:creationId xmlns:a16="http://schemas.microsoft.com/office/drawing/2014/main" id="{3D8F4EA8-ADE9-436C-80D7-BB1B776D2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3" name="Rectangle 141">
            <a:extLst>
              <a:ext uri="{FF2B5EF4-FFF2-40B4-BE49-F238E27FC236}">
                <a16:creationId xmlns:a16="http://schemas.microsoft.com/office/drawing/2014/main" id="{827A4A72-3094-4B95-B8EC-2929EBF42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4" name="Rectangle 164">
            <a:extLst>
              <a:ext uri="{FF2B5EF4-FFF2-40B4-BE49-F238E27FC236}">
                <a16:creationId xmlns:a16="http://schemas.microsoft.com/office/drawing/2014/main" id="{ED489C3E-6FEA-4B15-8069-046D528E6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844675"/>
            <a:ext cx="1855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Ш2.</a:t>
            </a:r>
            <a:r>
              <a:rPr lang="ru-RU" altLang="ru-RU"/>
              <a:t> Вычислить </a:t>
            </a:r>
          </a:p>
        </p:txBody>
      </p:sp>
      <p:sp>
        <p:nvSpPr>
          <p:cNvPr id="9245" name="Rectangle 166">
            <a:extLst>
              <a:ext uri="{FF2B5EF4-FFF2-40B4-BE49-F238E27FC236}">
                <a16:creationId xmlns:a16="http://schemas.microsoft.com/office/drawing/2014/main" id="{E5A0D15A-C0C9-45CB-A151-293A4A40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6" name="Object 165">
            <a:extLst>
              <a:ext uri="{FF2B5EF4-FFF2-40B4-BE49-F238E27FC236}">
                <a16:creationId xmlns:a16="http://schemas.microsoft.com/office/drawing/2014/main" id="{968F7E31-4BBB-4989-89E0-038FE9D89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628775"/>
          <a:ext cx="24479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1" name="Формула" r:id="rId5" imgW="1473200" imgH="482600" progId="Equation.3">
                  <p:embed/>
                </p:oleObj>
              </mc:Choice>
              <mc:Fallback>
                <p:oleObj name="Формула" r:id="rId5" imgW="1473200" imgH="482600" progId="Equation.3">
                  <p:embed/>
                  <p:pic>
                    <p:nvPicPr>
                      <p:cNvPr id="9246" name="Object 165">
                        <a:extLst>
                          <a:ext uri="{FF2B5EF4-FFF2-40B4-BE49-F238E27FC236}">
                            <a16:creationId xmlns:a16="http://schemas.microsoft.com/office/drawing/2014/main" id="{968F7E31-4BBB-4989-89E0-038FE9D89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628775"/>
                        <a:ext cx="24479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" name="Rectangle 167">
            <a:extLst>
              <a:ext uri="{FF2B5EF4-FFF2-40B4-BE49-F238E27FC236}">
                <a16:creationId xmlns:a16="http://schemas.microsoft.com/office/drawing/2014/main" id="{521E5A61-4853-4ECB-B30E-1EF244FBD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492375"/>
            <a:ext cx="3729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Ш3.</a:t>
            </a:r>
            <a:r>
              <a:rPr lang="ru-RU" altLang="ru-RU"/>
              <a:t> Вычислить ц.т. симплекса .    </a:t>
            </a:r>
          </a:p>
        </p:txBody>
      </p:sp>
      <p:sp>
        <p:nvSpPr>
          <p:cNvPr id="9248" name="Rectangle 169">
            <a:extLst>
              <a:ext uri="{FF2B5EF4-FFF2-40B4-BE49-F238E27FC236}">
                <a16:creationId xmlns:a16="http://schemas.microsoft.com/office/drawing/2014/main" id="{6549B7C9-910D-4011-ADCE-8BA63D4D4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9" name="Object 168">
            <a:extLst>
              <a:ext uri="{FF2B5EF4-FFF2-40B4-BE49-F238E27FC236}">
                <a16:creationId xmlns:a16="http://schemas.microsoft.com/office/drawing/2014/main" id="{BF5AA101-0A4B-472F-93BC-F7B9CAB7D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276475"/>
          <a:ext cx="2592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2" name="Формула" r:id="rId7" imgW="1473200" imgH="457200" progId="Equation.3">
                  <p:embed/>
                </p:oleObj>
              </mc:Choice>
              <mc:Fallback>
                <p:oleObj name="Формула" r:id="rId7" imgW="1473200" imgH="457200" progId="Equation.3">
                  <p:embed/>
                  <p:pic>
                    <p:nvPicPr>
                      <p:cNvPr id="9249" name="Object 168">
                        <a:extLst>
                          <a:ext uri="{FF2B5EF4-FFF2-40B4-BE49-F238E27FC236}">
                            <a16:creationId xmlns:a16="http://schemas.microsoft.com/office/drawing/2014/main" id="{BF5AA101-0A4B-472F-93BC-F7B9CAB7D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276475"/>
                        <a:ext cx="2592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0" name="Rectangle 170">
            <a:extLst>
              <a:ext uri="{FF2B5EF4-FFF2-40B4-BE49-F238E27FC236}">
                <a16:creationId xmlns:a16="http://schemas.microsoft.com/office/drawing/2014/main" id="{CE3F8200-37BE-4FE8-B0A9-020765786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068638"/>
            <a:ext cx="1947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Ш4.</a:t>
            </a:r>
            <a:r>
              <a:rPr lang="ru-RU" altLang="ru-RU"/>
              <a:t> Отражение. </a:t>
            </a:r>
          </a:p>
        </p:txBody>
      </p:sp>
      <p:sp>
        <p:nvSpPr>
          <p:cNvPr id="9251" name="Rectangle 172">
            <a:extLst>
              <a:ext uri="{FF2B5EF4-FFF2-40B4-BE49-F238E27FC236}">
                <a16:creationId xmlns:a16="http://schemas.microsoft.com/office/drawing/2014/main" id="{2A64A3E8-7F14-4C0A-9639-027D768D7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52" name="Object 171">
            <a:extLst>
              <a:ext uri="{FF2B5EF4-FFF2-40B4-BE49-F238E27FC236}">
                <a16:creationId xmlns:a16="http://schemas.microsoft.com/office/drawing/2014/main" id="{AB2AE3BD-DEC1-4BE1-87FC-EA557B2024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068638"/>
          <a:ext cx="28082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name="Формула" r:id="rId9" imgW="1638300" imgH="241300" progId="Equation.3">
                  <p:embed/>
                </p:oleObj>
              </mc:Choice>
              <mc:Fallback>
                <p:oleObj name="Формула" r:id="rId9" imgW="1638300" imgH="241300" progId="Equation.3">
                  <p:embed/>
                  <p:pic>
                    <p:nvPicPr>
                      <p:cNvPr id="9252" name="Object 171">
                        <a:extLst>
                          <a:ext uri="{FF2B5EF4-FFF2-40B4-BE49-F238E27FC236}">
                            <a16:creationId xmlns:a16="http://schemas.microsoft.com/office/drawing/2014/main" id="{AB2AE3BD-DEC1-4BE1-87FC-EA557B202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068638"/>
                        <a:ext cx="28082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3" name="Rectangle 173">
            <a:extLst>
              <a:ext uri="{FF2B5EF4-FFF2-40B4-BE49-F238E27FC236}">
                <a16:creationId xmlns:a16="http://schemas.microsoft.com/office/drawing/2014/main" id="{84218A9F-C82E-49C1-84FE-EB46A4123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573463"/>
            <a:ext cx="14684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Ш5.</a:t>
            </a:r>
            <a:r>
              <a:rPr lang="ru-RU" altLang="ru-RU"/>
              <a:t> 1) Если </a:t>
            </a:r>
          </a:p>
        </p:txBody>
      </p:sp>
      <p:sp>
        <p:nvSpPr>
          <p:cNvPr id="9254" name="Rectangle 175">
            <a:extLst>
              <a:ext uri="{FF2B5EF4-FFF2-40B4-BE49-F238E27FC236}">
                <a16:creationId xmlns:a16="http://schemas.microsoft.com/office/drawing/2014/main" id="{0043B643-36BD-4CEF-884C-E99E5E4A9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55" name="Object 174">
            <a:extLst>
              <a:ext uri="{FF2B5EF4-FFF2-40B4-BE49-F238E27FC236}">
                <a16:creationId xmlns:a16="http://schemas.microsoft.com/office/drawing/2014/main" id="{E6C45C88-736B-4252-BC75-88960DB66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573463"/>
          <a:ext cx="21590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4" name="Формула" r:id="rId11" imgW="1129810" imgH="241195" progId="Equation.3">
                  <p:embed/>
                </p:oleObj>
              </mc:Choice>
              <mc:Fallback>
                <p:oleObj name="Формула" r:id="rId11" imgW="1129810" imgH="241195" progId="Equation.3">
                  <p:embed/>
                  <p:pic>
                    <p:nvPicPr>
                      <p:cNvPr id="9255" name="Object 174">
                        <a:extLst>
                          <a:ext uri="{FF2B5EF4-FFF2-40B4-BE49-F238E27FC236}">
                            <a16:creationId xmlns:a16="http://schemas.microsoft.com/office/drawing/2014/main" id="{E6C45C88-736B-4252-BC75-88960DB66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73463"/>
                        <a:ext cx="21590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6" name="Rectangle 176">
            <a:extLst>
              <a:ext uri="{FF2B5EF4-FFF2-40B4-BE49-F238E27FC236}">
                <a16:creationId xmlns:a16="http://schemas.microsoft.com/office/drawing/2014/main" id="{3E3A9753-CD7D-4DEB-9566-82D8A82D7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573463"/>
            <a:ext cx="58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57" name="Rectangle 178">
            <a:extLst>
              <a:ext uri="{FF2B5EF4-FFF2-40B4-BE49-F238E27FC236}">
                <a16:creationId xmlns:a16="http://schemas.microsoft.com/office/drawing/2014/main" id="{B44B0E2B-3F2D-4F40-ADFD-1028B828E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58" name="Object 177">
            <a:extLst>
              <a:ext uri="{FF2B5EF4-FFF2-40B4-BE49-F238E27FC236}">
                <a16:creationId xmlns:a16="http://schemas.microsoft.com/office/drawing/2014/main" id="{00C3ABF8-64E6-4359-8F38-9657D5E310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3573463"/>
          <a:ext cx="33829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5" name="Формула" r:id="rId13" imgW="1638300" imgH="241300" progId="Equation.3">
                  <p:embed/>
                </p:oleObj>
              </mc:Choice>
              <mc:Fallback>
                <p:oleObj name="Формула" r:id="rId13" imgW="1638300" imgH="241300" progId="Equation.3">
                  <p:embed/>
                  <p:pic>
                    <p:nvPicPr>
                      <p:cNvPr id="9258" name="Object 177">
                        <a:extLst>
                          <a:ext uri="{FF2B5EF4-FFF2-40B4-BE49-F238E27FC236}">
                            <a16:creationId xmlns:a16="http://schemas.microsoft.com/office/drawing/2014/main" id="{00C3ABF8-64E6-4359-8F38-9657D5E310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573463"/>
                        <a:ext cx="338296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9" name="Rectangle 179">
            <a:extLst>
              <a:ext uri="{FF2B5EF4-FFF2-40B4-BE49-F238E27FC236}">
                <a16:creationId xmlns:a16="http://schemas.microsoft.com/office/drawing/2014/main" id="{38249C10-4127-4FD1-85E6-F1B2C6A48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0767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2) Если </a:t>
            </a:r>
          </a:p>
        </p:txBody>
      </p:sp>
      <p:sp>
        <p:nvSpPr>
          <p:cNvPr id="9260" name="Rectangle 181">
            <a:extLst>
              <a:ext uri="{FF2B5EF4-FFF2-40B4-BE49-F238E27FC236}">
                <a16:creationId xmlns:a16="http://schemas.microsoft.com/office/drawing/2014/main" id="{8BB1EA0B-59FF-4469-B5E4-66E82025C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61" name="Object 180">
            <a:extLst>
              <a:ext uri="{FF2B5EF4-FFF2-40B4-BE49-F238E27FC236}">
                <a16:creationId xmlns:a16="http://schemas.microsoft.com/office/drawing/2014/main" id="{7C77F7AE-232F-4764-AF38-C782B042AF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076700"/>
          <a:ext cx="23764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6" name="Формула" r:id="rId15" imgW="1574800" imgH="241300" progId="Equation.3">
                  <p:embed/>
                </p:oleObj>
              </mc:Choice>
              <mc:Fallback>
                <p:oleObj name="Формула" r:id="rId15" imgW="1574800" imgH="241300" progId="Equation.3">
                  <p:embed/>
                  <p:pic>
                    <p:nvPicPr>
                      <p:cNvPr id="9261" name="Object 180">
                        <a:extLst>
                          <a:ext uri="{FF2B5EF4-FFF2-40B4-BE49-F238E27FC236}">
                            <a16:creationId xmlns:a16="http://schemas.microsoft.com/office/drawing/2014/main" id="{7C77F7AE-232F-4764-AF38-C782B042A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076700"/>
                        <a:ext cx="23764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2" name="Rectangle 182">
            <a:extLst>
              <a:ext uri="{FF2B5EF4-FFF2-40B4-BE49-F238E27FC236}">
                <a16:creationId xmlns:a16="http://schemas.microsoft.com/office/drawing/2014/main" id="{A92E4AB2-ED74-4DF5-9BBD-FF16818C2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076700"/>
            <a:ext cx="58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63" name="Rectangle 184">
            <a:extLst>
              <a:ext uri="{FF2B5EF4-FFF2-40B4-BE49-F238E27FC236}">
                <a16:creationId xmlns:a16="http://schemas.microsoft.com/office/drawing/2014/main" id="{AEA706B8-A6B8-41A8-B9EA-567C7D82B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64" name="Object 183">
            <a:extLst>
              <a:ext uri="{FF2B5EF4-FFF2-40B4-BE49-F238E27FC236}">
                <a16:creationId xmlns:a16="http://schemas.microsoft.com/office/drawing/2014/main" id="{71351A41-1F1D-4274-9B49-04C0891B12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4005263"/>
          <a:ext cx="31686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7" name="Формула" r:id="rId17" imgW="1651000" imgH="241300" progId="Equation.3">
                  <p:embed/>
                </p:oleObj>
              </mc:Choice>
              <mc:Fallback>
                <p:oleObj name="Формула" r:id="rId17" imgW="1651000" imgH="241300" progId="Equation.3">
                  <p:embed/>
                  <p:pic>
                    <p:nvPicPr>
                      <p:cNvPr id="9264" name="Object 183">
                        <a:extLst>
                          <a:ext uri="{FF2B5EF4-FFF2-40B4-BE49-F238E27FC236}">
                            <a16:creationId xmlns:a16="http://schemas.microsoft.com/office/drawing/2014/main" id="{71351A41-1F1D-4274-9B49-04C0891B12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005263"/>
                        <a:ext cx="31686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5" name="Rectangle 185">
            <a:extLst>
              <a:ext uri="{FF2B5EF4-FFF2-40B4-BE49-F238E27FC236}">
                <a16:creationId xmlns:a16="http://schemas.microsoft.com/office/drawing/2014/main" id="{474AFCF5-4EB3-4944-883C-195E3B1D6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5085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3) Если </a:t>
            </a:r>
          </a:p>
        </p:txBody>
      </p:sp>
      <p:sp>
        <p:nvSpPr>
          <p:cNvPr id="9266" name="Rectangle 187">
            <a:extLst>
              <a:ext uri="{FF2B5EF4-FFF2-40B4-BE49-F238E27FC236}">
                <a16:creationId xmlns:a16="http://schemas.microsoft.com/office/drawing/2014/main" id="{E96D5773-3BEF-45FD-B53B-DBC68F39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67" name="Object 186">
            <a:extLst>
              <a:ext uri="{FF2B5EF4-FFF2-40B4-BE49-F238E27FC236}">
                <a16:creationId xmlns:a16="http://schemas.microsoft.com/office/drawing/2014/main" id="{0249E5CA-C2FB-4253-9D68-664B783E8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508500"/>
          <a:ext cx="25193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8" name="Формула" r:id="rId19" imgW="1129810" imgH="241195" progId="Equation.3">
                  <p:embed/>
                </p:oleObj>
              </mc:Choice>
              <mc:Fallback>
                <p:oleObj name="Формула" r:id="rId19" imgW="1129810" imgH="241195" progId="Equation.3">
                  <p:embed/>
                  <p:pic>
                    <p:nvPicPr>
                      <p:cNvPr id="9267" name="Object 186">
                        <a:extLst>
                          <a:ext uri="{FF2B5EF4-FFF2-40B4-BE49-F238E27FC236}">
                            <a16:creationId xmlns:a16="http://schemas.microsoft.com/office/drawing/2014/main" id="{0249E5CA-C2FB-4253-9D68-664B783E8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508500"/>
                        <a:ext cx="25193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8" name="Rectangle 188">
            <a:extLst>
              <a:ext uri="{FF2B5EF4-FFF2-40B4-BE49-F238E27FC236}">
                <a16:creationId xmlns:a16="http://schemas.microsoft.com/office/drawing/2014/main" id="{8FAFD6E5-D09D-4B82-8FF8-68110E724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08500"/>
            <a:ext cx="58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69" name="Rectangle 190">
            <a:extLst>
              <a:ext uri="{FF2B5EF4-FFF2-40B4-BE49-F238E27FC236}">
                <a16:creationId xmlns:a16="http://schemas.microsoft.com/office/drawing/2014/main" id="{ACE06D48-EA05-4EC1-BA83-9F1E8C7E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70" name="Object 189">
            <a:extLst>
              <a:ext uri="{FF2B5EF4-FFF2-40B4-BE49-F238E27FC236}">
                <a16:creationId xmlns:a16="http://schemas.microsoft.com/office/drawing/2014/main" id="{2E31E672-8E03-465F-A240-8ACAD3214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4437063"/>
          <a:ext cx="30972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9" name="Формула" r:id="rId21" imgW="1663700" imgH="241300" progId="Equation.3">
                  <p:embed/>
                </p:oleObj>
              </mc:Choice>
              <mc:Fallback>
                <p:oleObj name="Формула" r:id="rId21" imgW="1663700" imgH="241300" progId="Equation.3">
                  <p:embed/>
                  <p:pic>
                    <p:nvPicPr>
                      <p:cNvPr id="9270" name="Object 189">
                        <a:extLst>
                          <a:ext uri="{FF2B5EF4-FFF2-40B4-BE49-F238E27FC236}">
                            <a16:creationId xmlns:a16="http://schemas.microsoft.com/office/drawing/2014/main" id="{2E31E672-8E03-465F-A240-8ACAD3214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437063"/>
                        <a:ext cx="309721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1" name="Rectangle 191">
            <a:extLst>
              <a:ext uri="{FF2B5EF4-FFF2-40B4-BE49-F238E27FC236}">
                <a16:creationId xmlns:a16="http://schemas.microsoft.com/office/drawing/2014/main" id="{FCC60F52-396E-4734-951F-A670A8399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013325"/>
            <a:ext cx="428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– редукция всего симплекса в сторону </a:t>
            </a:r>
          </a:p>
        </p:txBody>
      </p:sp>
      <p:sp>
        <p:nvSpPr>
          <p:cNvPr id="9272" name="Rectangle 192">
            <a:extLst>
              <a:ext uri="{FF2B5EF4-FFF2-40B4-BE49-F238E27FC236}">
                <a16:creationId xmlns:a16="http://schemas.microsoft.com/office/drawing/2014/main" id="{8A500B4D-6410-4E32-914F-EB2232FF2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013325"/>
            <a:ext cx="2511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наилучшего решения.</a:t>
            </a:r>
          </a:p>
        </p:txBody>
      </p:sp>
      <p:sp>
        <p:nvSpPr>
          <p:cNvPr id="9273" name="Rectangle 193">
            <a:extLst>
              <a:ext uri="{FF2B5EF4-FFF2-40B4-BE49-F238E27FC236}">
                <a16:creationId xmlns:a16="http://schemas.microsoft.com/office/drawing/2014/main" id="{EAC350E2-D75C-4C1F-8CC0-2FB2B7FE0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445125"/>
            <a:ext cx="12207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Ш6</a:t>
            </a:r>
            <a:r>
              <a:rPr lang="ru-RU" altLang="ru-RU"/>
              <a:t>. Если </a:t>
            </a:r>
          </a:p>
        </p:txBody>
      </p:sp>
      <p:sp>
        <p:nvSpPr>
          <p:cNvPr id="9274" name="Rectangle 195">
            <a:extLst>
              <a:ext uri="{FF2B5EF4-FFF2-40B4-BE49-F238E27FC236}">
                <a16:creationId xmlns:a16="http://schemas.microsoft.com/office/drawing/2014/main" id="{DADBAF75-57F2-486E-A273-3C88FAF3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75" name="Object 194">
            <a:extLst>
              <a:ext uri="{FF2B5EF4-FFF2-40B4-BE49-F238E27FC236}">
                <a16:creationId xmlns:a16="http://schemas.microsoft.com/office/drawing/2014/main" id="{13AD2D8B-BC68-4C62-896C-41DFF6A5C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264150"/>
          <a:ext cx="33829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0" name="Формула" r:id="rId23" imgW="2222500" imgH="482600" progId="Equation.3">
                  <p:embed/>
                </p:oleObj>
              </mc:Choice>
              <mc:Fallback>
                <p:oleObj name="Формула" r:id="rId23" imgW="2222500" imgH="482600" progId="Equation.3">
                  <p:embed/>
                  <p:pic>
                    <p:nvPicPr>
                      <p:cNvPr id="9275" name="Object 194">
                        <a:extLst>
                          <a:ext uri="{FF2B5EF4-FFF2-40B4-BE49-F238E27FC236}">
                            <a16:creationId xmlns:a16="http://schemas.microsoft.com/office/drawing/2014/main" id="{13AD2D8B-BC68-4C62-896C-41DFF6A5C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264150"/>
                        <a:ext cx="3382962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6" name="Rectangle 196">
            <a:extLst>
              <a:ext uri="{FF2B5EF4-FFF2-40B4-BE49-F238E27FC236}">
                <a16:creationId xmlns:a16="http://schemas.microsoft.com/office/drawing/2014/main" id="{450B8D37-A549-4320-8639-3FC794E49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445125"/>
            <a:ext cx="58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77" name="Rectangle 198">
            <a:extLst>
              <a:ext uri="{FF2B5EF4-FFF2-40B4-BE49-F238E27FC236}">
                <a16:creationId xmlns:a16="http://schemas.microsoft.com/office/drawing/2014/main" id="{3B71BA2E-62FA-44A2-9306-96A14142F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78" name="Object 197">
            <a:extLst>
              <a:ext uri="{FF2B5EF4-FFF2-40B4-BE49-F238E27FC236}">
                <a16:creationId xmlns:a16="http://schemas.microsoft.com/office/drawing/2014/main" id="{7D070220-0DB6-4BC2-BAD1-3143E2576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5462588"/>
          <a:ext cx="17287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1" name="Формула" r:id="rId25" imgW="977900" imgH="241300" progId="Equation.3">
                  <p:embed/>
                </p:oleObj>
              </mc:Choice>
              <mc:Fallback>
                <p:oleObj name="Формула" r:id="rId25" imgW="977900" imgH="241300" progId="Equation.3">
                  <p:embed/>
                  <p:pic>
                    <p:nvPicPr>
                      <p:cNvPr id="9278" name="Object 197">
                        <a:extLst>
                          <a:ext uri="{FF2B5EF4-FFF2-40B4-BE49-F238E27FC236}">
                            <a16:creationId xmlns:a16="http://schemas.microsoft.com/office/drawing/2014/main" id="{7D070220-0DB6-4BC2-BAD1-3143E25767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462588"/>
                        <a:ext cx="172878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9" name="Rectangle 200">
            <a:extLst>
              <a:ext uri="{FF2B5EF4-FFF2-40B4-BE49-F238E27FC236}">
                <a16:creationId xmlns:a16="http://schemas.microsoft.com/office/drawing/2014/main" id="{56059245-A903-42F0-89C8-36DDA0A2B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2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80" name="Object 199">
            <a:extLst>
              <a:ext uri="{FF2B5EF4-FFF2-40B4-BE49-F238E27FC236}">
                <a16:creationId xmlns:a16="http://schemas.microsoft.com/office/drawing/2014/main" id="{9E8EB2B7-D4C7-4986-B81E-0697716BC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6092825"/>
          <a:ext cx="38893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2" name="Формула" r:id="rId27" imgW="2070100" imgH="215900" progId="Equation.3">
                  <p:embed/>
                </p:oleObj>
              </mc:Choice>
              <mc:Fallback>
                <p:oleObj name="Формула" r:id="rId27" imgW="2070100" imgH="215900" progId="Equation.3">
                  <p:embed/>
                  <p:pic>
                    <p:nvPicPr>
                      <p:cNvPr id="9280" name="Object 199">
                        <a:extLst>
                          <a:ext uri="{FF2B5EF4-FFF2-40B4-BE49-F238E27FC236}">
                            <a16:creationId xmlns:a16="http://schemas.microsoft.com/office/drawing/2014/main" id="{9E8EB2B7-D4C7-4986-B81E-0697716BC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092825"/>
                        <a:ext cx="38893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8D9A25-8581-4336-8A19-59D31C335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Методы, использующие производные</a:t>
            </a:r>
            <a:r>
              <a:rPr lang="ru-RU" altLang="ru-RU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743935C-7653-4EE3-828A-D35A331F4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400" dirty="0"/>
              <a:t>    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мы уже видели, простейшие методы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порядка (метод наискорейшего спуска) и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порядка (метод Ньютона) в чистом виде не очень удобны для вычислений. В связи с этим были разработаны методы, которые позволяют преодолеть их недостатки. Наиболее распространенными в настоящее время методами являются метод сопряженных градиентов (метод Флетчера-Ривза), который является усовершенствованием метода наискорейшего спуска и </a:t>
            </a:r>
            <a:r>
              <a:rPr lang="ru-RU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методы, которые представляют собой развитие метода Ньютона.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814DB57-362B-44C1-B17C-8B55F809E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сопряженных градиентов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986B62B4-99FC-43FA-B956-405734A09D00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7283450" cy="3700463"/>
          </a:xfrm>
        </p:spPr>
      </p:pic>
      <p:sp>
        <p:nvSpPr>
          <p:cNvPr id="11268" name="Rectangle 5">
            <a:extLst>
              <a:ext uri="{FF2B5EF4-FFF2-40B4-BE49-F238E27FC236}">
                <a16:creationId xmlns:a16="http://schemas.microsoft.com/office/drawing/2014/main" id="{C837CEA6-3E6C-4A3D-92C9-166320562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6A1846AE-98E9-4ECC-9CE5-9FFDD8178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229225"/>
          <a:ext cx="20161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4" name="Формула" r:id="rId4" imgW="812447" imgH="241195" progId="Equation.3">
                  <p:embed/>
                </p:oleObj>
              </mc:Choice>
              <mc:Fallback>
                <p:oleObj name="Формула" r:id="rId4" imgW="812447" imgH="241195" progId="Equation.3">
                  <p:embed/>
                  <p:pic>
                    <p:nvPicPr>
                      <p:cNvPr id="11269" name="Object 4">
                        <a:extLst>
                          <a:ext uri="{FF2B5EF4-FFF2-40B4-BE49-F238E27FC236}">
                            <a16:creationId xmlns:a16="http://schemas.microsoft.com/office/drawing/2014/main" id="{6A1846AE-98E9-4ECC-9CE5-9FFDD8178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229225"/>
                        <a:ext cx="20161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7">
            <a:extLst>
              <a:ext uri="{FF2B5EF4-FFF2-40B4-BE49-F238E27FC236}">
                <a16:creationId xmlns:a16="http://schemas.microsoft.com/office/drawing/2014/main" id="{E36B7860-9A04-4BC5-91FF-89C3DC3E1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1" name="Object 6">
            <a:extLst>
              <a:ext uri="{FF2B5EF4-FFF2-40B4-BE49-F238E27FC236}">
                <a16:creationId xmlns:a16="http://schemas.microsoft.com/office/drawing/2014/main" id="{EC2CC448-4EEE-4818-A863-6187750967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013325"/>
          <a:ext cx="4321175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5" name="Формула" r:id="rId6" imgW="1828800" imgH="685800" progId="Equation.3">
                  <p:embed/>
                </p:oleObj>
              </mc:Choice>
              <mc:Fallback>
                <p:oleObj name="Формула" r:id="rId6" imgW="1828800" imgH="685800" progId="Equation.3">
                  <p:embed/>
                  <p:pic>
                    <p:nvPicPr>
                      <p:cNvPr id="11271" name="Object 6">
                        <a:extLst>
                          <a:ext uri="{FF2B5EF4-FFF2-40B4-BE49-F238E27FC236}">
                            <a16:creationId xmlns:a16="http://schemas.microsoft.com/office/drawing/2014/main" id="{EC2CC448-4EEE-4818-A863-6187750967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013325"/>
                        <a:ext cx="4321175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9">
            <a:extLst>
              <a:ext uri="{FF2B5EF4-FFF2-40B4-BE49-F238E27FC236}">
                <a16:creationId xmlns:a16="http://schemas.microsoft.com/office/drawing/2014/main" id="{1EE1F338-AA39-4EE0-AF7A-90DD224F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3" name="Object 8">
            <a:extLst>
              <a:ext uri="{FF2B5EF4-FFF2-40B4-BE49-F238E27FC236}">
                <a16:creationId xmlns:a16="http://schemas.microsoft.com/office/drawing/2014/main" id="{C7250D47-000F-4788-872F-E4786508D1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870575"/>
          <a:ext cx="259238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6" name="Формула" r:id="rId8" imgW="1104900" imgH="241300" progId="Equation.3">
                  <p:embed/>
                </p:oleObj>
              </mc:Choice>
              <mc:Fallback>
                <p:oleObj name="Формула" r:id="rId8" imgW="1104900" imgH="241300" progId="Equation.3">
                  <p:embed/>
                  <p:pic>
                    <p:nvPicPr>
                      <p:cNvPr id="11273" name="Object 8">
                        <a:extLst>
                          <a:ext uri="{FF2B5EF4-FFF2-40B4-BE49-F238E27FC236}">
                            <a16:creationId xmlns:a16="http://schemas.microsoft.com/office/drawing/2014/main" id="{C7250D47-000F-4788-872F-E4786508D1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870575"/>
                        <a:ext cx="2592387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93781DC-714B-4C09-B0FA-8D781321C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сопряженных градиентов</a:t>
            </a:r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01A6CDE8-32E3-4575-8BB1-2E492DF3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292" name="Object 6">
            <a:extLst>
              <a:ext uri="{FF2B5EF4-FFF2-40B4-BE49-F238E27FC236}">
                <a16:creationId xmlns:a16="http://schemas.microsoft.com/office/drawing/2014/main" id="{27C89B4C-27D2-48F5-B6B7-7862EA7BC464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042988" y="1557338"/>
          <a:ext cx="7777162" cy="496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name="Формула" r:id="rId3" imgW="3606800" imgH="2311400" progId="Equation.3">
                  <p:embed/>
                </p:oleObj>
              </mc:Choice>
              <mc:Fallback>
                <p:oleObj name="Формула" r:id="rId3" imgW="3606800" imgH="2311400" progId="Equation.3">
                  <p:embed/>
                  <p:pic>
                    <p:nvPicPr>
                      <p:cNvPr id="12292" name="Object 6">
                        <a:extLst>
                          <a:ext uri="{FF2B5EF4-FFF2-40B4-BE49-F238E27FC236}">
                            <a16:creationId xmlns:a16="http://schemas.microsoft.com/office/drawing/2014/main" id="{27C89B4C-27D2-48F5-B6B7-7862EA7BC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557338"/>
                        <a:ext cx="7777162" cy="496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3512706-F587-4077-B0C2-960520BDB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Флетчера-Ривза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6D78445-445E-4A22-A65F-8608971D4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/>
              <a:t>Метод сопряженных градиентов состоит в построении матрицы сопряжения </a:t>
            </a:r>
            <a:r>
              <a:rPr lang="en-US" altLang="ru-RU" sz="2000"/>
              <a:t>Q</a:t>
            </a:r>
            <a:r>
              <a:rPr lang="ru-RU" altLang="ru-RU" sz="2000"/>
              <a:t>(</a:t>
            </a:r>
            <a:r>
              <a:rPr lang="en-US" altLang="ru-RU" sz="2000"/>
              <a:t>k</a:t>
            </a:r>
            <a:r>
              <a:rPr lang="ru-RU" altLang="ru-RU" sz="2000"/>
              <a:t>)  такой, что                                  . Флетчером-Ривзом была предложена процедура , состоящая в следующем:</a:t>
            </a:r>
            <a:r>
              <a:rPr lang="ru-RU" altLang="ru-RU"/>
              <a:t> 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8D8B6194-D345-4EF1-B734-DCF9433C8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D7338F2B-0A3F-4FCF-B389-762D18F24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989138"/>
          <a:ext cx="21605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Формула" r:id="rId3" imgW="1130300" imgH="228600" progId="Equation.3">
                  <p:embed/>
                </p:oleObj>
              </mc:Choice>
              <mc:Fallback>
                <p:oleObj name="Формула" r:id="rId3" imgW="1130300" imgH="228600" progId="Equation.3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D7338F2B-0A3F-4FCF-B389-762D18F24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989138"/>
                        <a:ext cx="21605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6">
            <a:extLst>
              <a:ext uri="{FF2B5EF4-FFF2-40B4-BE49-F238E27FC236}">
                <a16:creationId xmlns:a16="http://schemas.microsoft.com/office/drawing/2014/main" id="{FFB3AFA3-1DAE-4DA3-A63B-5A622FD4C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781300"/>
            <a:ext cx="425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Строится последовательность точек: </a:t>
            </a:r>
          </a:p>
        </p:txBody>
      </p:sp>
      <p:sp>
        <p:nvSpPr>
          <p:cNvPr id="13319" name="Rectangle 8">
            <a:extLst>
              <a:ext uri="{FF2B5EF4-FFF2-40B4-BE49-F238E27FC236}">
                <a16:creationId xmlns:a16="http://schemas.microsoft.com/office/drawing/2014/main" id="{41E296BC-27BF-4434-BA52-BB6729405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0" name="Object 7">
            <a:extLst>
              <a:ext uri="{FF2B5EF4-FFF2-40B4-BE49-F238E27FC236}">
                <a16:creationId xmlns:a16="http://schemas.microsoft.com/office/drawing/2014/main" id="{86C8EA22-1073-4C3F-B53E-24E7DBB36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2827338"/>
          <a:ext cx="20161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5" name="Формула" r:id="rId5" imgW="1371600" imgH="203200" progId="Equation.3">
                  <p:embed/>
                </p:oleObj>
              </mc:Choice>
              <mc:Fallback>
                <p:oleObj name="Формула" r:id="rId5" imgW="1371600" imgH="203200" progId="Equation.3">
                  <p:embed/>
                  <p:pic>
                    <p:nvPicPr>
                      <p:cNvPr id="13320" name="Object 7">
                        <a:extLst>
                          <a:ext uri="{FF2B5EF4-FFF2-40B4-BE49-F238E27FC236}">
                            <a16:creationId xmlns:a16="http://schemas.microsoft.com/office/drawing/2014/main" id="{86C8EA22-1073-4C3F-B53E-24E7DBB362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827338"/>
                        <a:ext cx="2016125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10">
            <a:extLst>
              <a:ext uri="{FF2B5EF4-FFF2-40B4-BE49-F238E27FC236}">
                <a16:creationId xmlns:a16="http://schemas.microsoft.com/office/drawing/2014/main" id="{17AECEED-0AEA-4AD0-A2B1-1BF78215E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2" name="Object 9">
            <a:extLst>
              <a:ext uri="{FF2B5EF4-FFF2-40B4-BE49-F238E27FC236}">
                <a16:creationId xmlns:a16="http://schemas.microsoft.com/office/drawing/2014/main" id="{50ACE67A-19C0-4FEC-B226-497EF593B3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213100"/>
          <a:ext cx="33131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6" name="Формула" r:id="rId7" imgW="1752600" imgH="228600" progId="Equation.3">
                  <p:embed/>
                </p:oleObj>
              </mc:Choice>
              <mc:Fallback>
                <p:oleObj name="Формула" r:id="rId7" imgW="1752600" imgH="228600" progId="Equation.3">
                  <p:embed/>
                  <p:pic>
                    <p:nvPicPr>
                      <p:cNvPr id="13322" name="Object 9">
                        <a:extLst>
                          <a:ext uri="{FF2B5EF4-FFF2-40B4-BE49-F238E27FC236}">
                            <a16:creationId xmlns:a16="http://schemas.microsoft.com/office/drawing/2014/main" id="{50ACE67A-19C0-4FEC-B226-497EF593B3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13100"/>
                        <a:ext cx="331311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Rectangle 12">
            <a:extLst>
              <a:ext uri="{FF2B5EF4-FFF2-40B4-BE49-F238E27FC236}">
                <a16:creationId xmlns:a16="http://schemas.microsoft.com/office/drawing/2014/main" id="{C8793271-ADE3-4CB7-B8A5-7CDB73C60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1">
            <a:extLst>
              <a:ext uri="{FF2B5EF4-FFF2-40B4-BE49-F238E27FC236}">
                <a16:creationId xmlns:a16="http://schemas.microsoft.com/office/drawing/2014/main" id="{B721E722-9EED-4858-9261-64536C515B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500438"/>
          <a:ext cx="56165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7" name="Формула" r:id="rId9" imgW="2971800" imgH="609600" progId="Equation.3">
                  <p:embed/>
                </p:oleObj>
              </mc:Choice>
              <mc:Fallback>
                <p:oleObj name="Формула" r:id="rId9" imgW="2971800" imgH="609600" progId="Equation.3">
                  <p:embed/>
                  <p:pic>
                    <p:nvPicPr>
                      <p:cNvPr id="13324" name="Object 11">
                        <a:extLst>
                          <a:ext uri="{FF2B5EF4-FFF2-40B4-BE49-F238E27FC236}">
                            <a16:creationId xmlns:a16="http://schemas.microsoft.com/office/drawing/2014/main" id="{B721E722-9EED-4858-9261-64536C515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00438"/>
                        <a:ext cx="5616575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3">
            <a:extLst>
              <a:ext uri="{FF2B5EF4-FFF2-40B4-BE49-F238E27FC236}">
                <a16:creationId xmlns:a16="http://schemas.microsoft.com/office/drawing/2014/main" id="{466E198E-3802-45E6-9B9F-5ED7D1A92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508500"/>
            <a:ext cx="3114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– поправка, формирование </a:t>
            </a:r>
          </a:p>
        </p:txBody>
      </p:sp>
      <p:sp>
        <p:nvSpPr>
          <p:cNvPr id="13326" name="Rectangle 14">
            <a:extLst>
              <a:ext uri="{FF2B5EF4-FFF2-40B4-BE49-F238E27FC236}">
                <a16:creationId xmlns:a16="http://schemas.microsoft.com/office/drawing/2014/main" id="{62BD3D81-3D2D-44CC-8A08-0C2EA4170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508500"/>
            <a:ext cx="2998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матрицы сопряжения </a:t>
            </a:r>
            <a:r>
              <a:rPr lang="en-US" altLang="ru-RU"/>
              <a:t>Q</a:t>
            </a:r>
            <a:r>
              <a:rPr lang="ru-RU" altLang="ru-RU"/>
              <a:t>(</a:t>
            </a:r>
            <a:r>
              <a:rPr lang="en-US" altLang="ru-RU"/>
              <a:t>k</a:t>
            </a:r>
            <a:r>
              <a:rPr lang="ru-RU" altLang="ru-RU"/>
              <a:t>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06676CA-92C2-4DC6-AA31-3AD8A0F4D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метода Флетчера-Ривза.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23FE760-1BC6-49D3-9FB6-FECCBC7A3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b="1" i="1" u="sng"/>
              <a:t>Ш0.</a:t>
            </a:r>
            <a:r>
              <a:rPr lang="ru-RU" altLang="ru-RU" sz="1800"/>
              <a:t> Выбор параметров точности</a:t>
            </a:r>
            <a:r>
              <a:rPr lang="ru-RU" altLang="ru-RU"/>
              <a:t> 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D605E4F5-364E-4102-BD75-63D8BCE2D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BDF5FCD8-A408-4255-85DD-6088481027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1844675"/>
          <a:ext cx="10810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0" name="Формула" r:id="rId3" imgW="672808" imgH="203112" progId="Equation.3">
                  <p:embed/>
                </p:oleObj>
              </mc:Choice>
              <mc:Fallback>
                <p:oleObj name="Формула" r:id="rId3" imgW="672808" imgH="203112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BDF5FCD8-A408-4255-85DD-6088481027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844675"/>
                        <a:ext cx="108108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8E2123DE-9E1D-4DEA-B1B9-BF06D195A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05038"/>
            <a:ext cx="3163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Ш1.</a:t>
            </a:r>
            <a:r>
              <a:rPr lang="ru-RU" altLang="ru-RU"/>
              <a:t>Выбор начальной точки </a:t>
            </a:r>
          </a:p>
        </p:txBody>
      </p:sp>
      <p:sp>
        <p:nvSpPr>
          <p:cNvPr id="14343" name="Rectangle 8">
            <a:extLst>
              <a:ext uri="{FF2B5EF4-FFF2-40B4-BE49-F238E27FC236}">
                <a16:creationId xmlns:a16="http://schemas.microsoft.com/office/drawing/2014/main" id="{A01B8B8E-4B31-4E47-8F24-1D8A4B647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4" name="Object 7">
            <a:extLst>
              <a:ext uri="{FF2B5EF4-FFF2-40B4-BE49-F238E27FC236}">
                <a16:creationId xmlns:a16="http://schemas.microsoft.com/office/drawing/2014/main" id="{4F6E2C5D-786E-4B6C-9A84-7A79D90489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205038"/>
          <a:ext cx="3952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1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14344" name="Object 7">
                        <a:extLst>
                          <a:ext uri="{FF2B5EF4-FFF2-40B4-BE49-F238E27FC236}">
                            <a16:creationId xmlns:a16="http://schemas.microsoft.com/office/drawing/2014/main" id="{4F6E2C5D-786E-4B6C-9A84-7A79D9048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205038"/>
                        <a:ext cx="395287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>
            <a:extLst>
              <a:ext uri="{FF2B5EF4-FFF2-40B4-BE49-F238E27FC236}">
                <a16:creationId xmlns:a16="http://schemas.microsoft.com/office/drawing/2014/main" id="{C84B8DB4-12FD-4C63-9279-1092EC3B3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276475"/>
          <a:ext cx="30972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2" name="Формула" r:id="rId7" imgW="2120900" imgH="228600" progId="Equation.3">
                  <p:embed/>
                </p:oleObj>
              </mc:Choice>
              <mc:Fallback>
                <p:oleObj name="Формула" r:id="rId7" imgW="2120900" imgH="228600" progId="Equation.3">
                  <p:embed/>
                  <p:pic>
                    <p:nvPicPr>
                      <p:cNvPr id="14345" name="Object 9">
                        <a:extLst>
                          <a:ext uri="{FF2B5EF4-FFF2-40B4-BE49-F238E27FC236}">
                            <a16:creationId xmlns:a16="http://schemas.microsoft.com/office/drawing/2014/main" id="{C84B8DB4-12FD-4C63-9279-1092EC3B3A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76475"/>
                        <a:ext cx="309721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1">
            <a:extLst>
              <a:ext uri="{FF2B5EF4-FFF2-40B4-BE49-F238E27FC236}">
                <a16:creationId xmlns:a16="http://schemas.microsoft.com/office/drawing/2014/main" id="{E27ECE6A-29A5-4699-BA56-21C00426D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4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47" name="Rectangle 12">
            <a:extLst>
              <a:ext uri="{FF2B5EF4-FFF2-40B4-BE49-F238E27FC236}">
                <a16:creationId xmlns:a16="http://schemas.microsoft.com/office/drawing/2014/main" id="{01E0ABB5-7665-468B-B5A8-1D5F1C00D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230438"/>
            <a:ext cx="1439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 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4348" name="Rectangle 13">
            <a:extLst>
              <a:ext uri="{FF2B5EF4-FFF2-40B4-BE49-F238E27FC236}">
                <a16:creationId xmlns:a16="http://schemas.microsoft.com/office/drawing/2014/main" id="{3250F625-ED74-4DC5-A4BF-5B1833F8A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636838"/>
            <a:ext cx="18557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Ш2.</a:t>
            </a:r>
            <a:r>
              <a:rPr lang="ru-RU" altLang="ru-RU"/>
              <a:t> Вычислить </a:t>
            </a:r>
          </a:p>
        </p:txBody>
      </p:sp>
      <p:sp>
        <p:nvSpPr>
          <p:cNvPr id="14349" name="Rectangle 15">
            <a:extLst>
              <a:ext uri="{FF2B5EF4-FFF2-40B4-BE49-F238E27FC236}">
                <a16:creationId xmlns:a16="http://schemas.microsoft.com/office/drawing/2014/main" id="{BAC97A43-B32F-4165-81DC-C02022D59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4">
            <a:extLst>
              <a:ext uri="{FF2B5EF4-FFF2-40B4-BE49-F238E27FC236}">
                <a16:creationId xmlns:a16="http://schemas.microsoft.com/office/drawing/2014/main" id="{637F7F14-2CB0-4F1C-8C37-D0E8E59BE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678113"/>
          <a:ext cx="4967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Формула" r:id="rId9" imgW="3429000" imgH="228600" progId="Equation.3">
                  <p:embed/>
                </p:oleObj>
              </mc:Choice>
              <mc:Fallback>
                <p:oleObj name="Формула" r:id="rId9" imgW="3429000" imgH="228600" progId="Equation.3">
                  <p:embed/>
                  <p:pic>
                    <p:nvPicPr>
                      <p:cNvPr id="14350" name="Object 14">
                        <a:extLst>
                          <a:ext uri="{FF2B5EF4-FFF2-40B4-BE49-F238E27FC236}">
                            <a16:creationId xmlns:a16="http://schemas.microsoft.com/office/drawing/2014/main" id="{637F7F14-2CB0-4F1C-8C37-D0E8E59BE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78113"/>
                        <a:ext cx="4967287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7">
            <a:extLst>
              <a:ext uri="{FF2B5EF4-FFF2-40B4-BE49-F238E27FC236}">
                <a16:creationId xmlns:a16="http://schemas.microsoft.com/office/drawing/2014/main" id="{E2390A22-C6DC-428B-A0E4-111ADDD4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41663"/>
            <a:ext cx="1824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Ш3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 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4352" name="Object 16">
            <a:extLst>
              <a:ext uri="{FF2B5EF4-FFF2-40B4-BE49-F238E27FC236}">
                <a16:creationId xmlns:a16="http://schemas.microsoft.com/office/drawing/2014/main" id="{D458D640-2621-42BB-BBF5-A5259E7EE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852738"/>
          <a:ext cx="568801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4" name="Формула" r:id="rId11" imgW="3429000" imgH="609600" progId="Equation.3">
                  <p:embed/>
                </p:oleObj>
              </mc:Choice>
              <mc:Fallback>
                <p:oleObj name="Формула" r:id="rId11" imgW="3429000" imgH="609600" progId="Equation.3">
                  <p:embed/>
                  <p:pic>
                    <p:nvPicPr>
                      <p:cNvPr id="14352" name="Object 16">
                        <a:extLst>
                          <a:ext uri="{FF2B5EF4-FFF2-40B4-BE49-F238E27FC236}">
                            <a16:creationId xmlns:a16="http://schemas.microsoft.com/office/drawing/2014/main" id="{D458D640-2621-42BB-BBF5-A5259E7EE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852738"/>
                        <a:ext cx="5688012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Rectangle 18">
            <a:extLst>
              <a:ext uri="{FF2B5EF4-FFF2-40B4-BE49-F238E27FC236}">
                <a16:creationId xmlns:a16="http://schemas.microsoft.com/office/drawing/2014/main" id="{6B540A39-D687-468F-B603-FA4A52FE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33825"/>
            <a:ext cx="3025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Ш4.</a:t>
            </a:r>
            <a:r>
              <a:rPr lang="ru-RU" altLang="ru-RU"/>
              <a:t> Проверка сходимости:</a:t>
            </a:r>
          </a:p>
        </p:txBody>
      </p:sp>
      <p:sp>
        <p:nvSpPr>
          <p:cNvPr id="14354" name="Rectangle 19">
            <a:extLst>
              <a:ext uri="{FF2B5EF4-FFF2-40B4-BE49-F238E27FC236}">
                <a16:creationId xmlns:a16="http://schemas.microsoft.com/office/drawing/2014/main" id="{E8DAD747-1287-4729-9161-9B5B257D0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37063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4355" name="Rectangle 21">
            <a:extLst>
              <a:ext uri="{FF2B5EF4-FFF2-40B4-BE49-F238E27FC236}">
                <a16:creationId xmlns:a16="http://schemas.microsoft.com/office/drawing/2014/main" id="{73DFB64B-F928-4461-9C68-52A183BE4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6" name="Object 20">
            <a:extLst>
              <a:ext uri="{FF2B5EF4-FFF2-40B4-BE49-F238E27FC236}">
                <a16:creationId xmlns:a16="http://schemas.microsoft.com/office/drawing/2014/main" id="{8EA484E2-6823-40CA-A524-7A6D69A0EA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65625"/>
          <a:ext cx="41767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5" name="Формула" r:id="rId13" imgW="2298700" imgH="279400" progId="Equation.3">
                  <p:embed/>
                </p:oleObj>
              </mc:Choice>
              <mc:Fallback>
                <p:oleObj name="Формула" r:id="rId13" imgW="2298700" imgH="279400" progId="Equation.3">
                  <p:embed/>
                  <p:pic>
                    <p:nvPicPr>
                      <p:cNvPr id="14356" name="Object 20">
                        <a:extLst>
                          <a:ext uri="{FF2B5EF4-FFF2-40B4-BE49-F238E27FC236}">
                            <a16:creationId xmlns:a16="http://schemas.microsoft.com/office/drawing/2014/main" id="{8EA484E2-6823-40CA-A524-7A6D69A0EA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65625"/>
                        <a:ext cx="417671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22">
            <a:extLst>
              <a:ext uri="{FF2B5EF4-FFF2-40B4-BE49-F238E27FC236}">
                <a16:creationId xmlns:a16="http://schemas.microsoft.com/office/drawing/2014/main" id="{FE38E372-9070-4819-ABB1-AB866A29B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437063"/>
            <a:ext cx="58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14358" name="Rectangle 24">
            <a:extLst>
              <a:ext uri="{FF2B5EF4-FFF2-40B4-BE49-F238E27FC236}">
                <a16:creationId xmlns:a16="http://schemas.microsoft.com/office/drawing/2014/main" id="{6F7B7AE5-EEB2-4735-B22C-F4D4C2AF8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9" name="Object 23">
            <a:extLst>
              <a:ext uri="{FF2B5EF4-FFF2-40B4-BE49-F238E27FC236}">
                <a16:creationId xmlns:a16="http://schemas.microsoft.com/office/drawing/2014/main" id="{51536B06-2B61-4354-B15E-2E1993D3B3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384675"/>
          <a:ext cx="22320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6" name="Формула" r:id="rId15" imgW="1168400" imgH="228600" progId="Equation.3">
                  <p:embed/>
                </p:oleObj>
              </mc:Choice>
              <mc:Fallback>
                <p:oleObj name="Формула" r:id="rId15" imgW="1168400" imgH="228600" progId="Equation.3">
                  <p:embed/>
                  <p:pic>
                    <p:nvPicPr>
                      <p:cNvPr id="14359" name="Object 23">
                        <a:extLst>
                          <a:ext uri="{FF2B5EF4-FFF2-40B4-BE49-F238E27FC236}">
                            <a16:creationId xmlns:a16="http://schemas.microsoft.com/office/drawing/2014/main" id="{51536B06-2B61-4354-B15E-2E1993D3B3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384675"/>
                        <a:ext cx="22320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0" name="Rectangle 25">
            <a:extLst>
              <a:ext uri="{FF2B5EF4-FFF2-40B4-BE49-F238E27FC236}">
                <a16:creationId xmlns:a16="http://schemas.microsoft.com/office/drawing/2014/main" id="{B6472367-D863-4C82-AD37-1A18E4A39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084763"/>
            <a:ext cx="906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Иначе </a:t>
            </a:r>
          </a:p>
        </p:txBody>
      </p:sp>
      <p:sp>
        <p:nvSpPr>
          <p:cNvPr id="14361" name="Rectangle 27">
            <a:extLst>
              <a:ext uri="{FF2B5EF4-FFF2-40B4-BE49-F238E27FC236}">
                <a16:creationId xmlns:a16="http://schemas.microsoft.com/office/drawing/2014/main" id="{7E86E373-5683-42B0-89B5-B197987BE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111750"/>
            <a:ext cx="828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{если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4362" name="Object 26">
            <a:extLst>
              <a:ext uri="{FF2B5EF4-FFF2-40B4-BE49-F238E27FC236}">
                <a16:creationId xmlns:a16="http://schemas.microsoft.com/office/drawing/2014/main" id="{5D4968B0-28AA-4A77-8104-5DA277F14A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121275"/>
          <a:ext cx="11509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7" name="Формула" r:id="rId17" imgW="622030" imgH="215806" progId="Equation.3">
                  <p:embed/>
                </p:oleObj>
              </mc:Choice>
              <mc:Fallback>
                <p:oleObj name="Формула" r:id="rId17" imgW="622030" imgH="215806" progId="Equation.3">
                  <p:embed/>
                  <p:pic>
                    <p:nvPicPr>
                      <p:cNvPr id="14362" name="Object 26">
                        <a:extLst>
                          <a:ext uri="{FF2B5EF4-FFF2-40B4-BE49-F238E27FC236}">
                            <a16:creationId xmlns:a16="http://schemas.microsoft.com/office/drawing/2014/main" id="{5D4968B0-28AA-4A77-8104-5DA277F14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121275"/>
                        <a:ext cx="115093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Rectangle 28">
            <a:extLst>
              <a:ext uri="{FF2B5EF4-FFF2-40B4-BE49-F238E27FC236}">
                <a16:creationId xmlns:a16="http://schemas.microsoft.com/office/drawing/2014/main" id="{C75D732B-8270-4812-BEE7-6A28BB9C7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111750"/>
            <a:ext cx="631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4364" name="Rectangle 30">
            <a:extLst>
              <a:ext uri="{FF2B5EF4-FFF2-40B4-BE49-F238E27FC236}">
                <a16:creationId xmlns:a16="http://schemas.microsoft.com/office/drawing/2014/main" id="{3D0E8067-01DB-44B0-BBBA-EB3B779FE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F02BF303-5F0E-4E36-9CAE-6EA2A0EAE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157788"/>
          <a:ext cx="43910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8" name="Формула" r:id="rId19" imgW="2400300" imgH="228600" progId="Equation.3">
                  <p:embed/>
                </p:oleObj>
              </mc:Choice>
              <mc:Fallback>
                <p:oleObj name="Формула" r:id="rId19" imgW="2400300" imgH="228600" progId="Equation.3">
                  <p:embed/>
                  <p:pic>
                    <p:nvPicPr>
                      <p:cNvPr id="14365" name="Object 29">
                        <a:extLst>
                          <a:ext uri="{FF2B5EF4-FFF2-40B4-BE49-F238E27FC236}">
                            <a16:creationId xmlns:a16="http://schemas.microsoft.com/office/drawing/2014/main" id="{F02BF303-5F0E-4E36-9CAE-6EA2A0EAE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157788"/>
                        <a:ext cx="43910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1">
            <a:extLst>
              <a:ext uri="{FF2B5EF4-FFF2-40B4-BE49-F238E27FC236}">
                <a16:creationId xmlns:a16="http://schemas.microsoft.com/office/drawing/2014/main" id="{F6639AA5-FC48-4356-8C34-5F3686E32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734050"/>
            <a:ext cx="2741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                  если [</a:t>
            </a:r>
            <a:r>
              <a:rPr lang="en-US" altLang="ru-RU"/>
              <a:t>k</a:t>
            </a:r>
            <a:r>
              <a:rPr lang="ru-RU" altLang="ru-RU"/>
              <a:t>=</a:t>
            </a:r>
            <a:r>
              <a:rPr lang="en-US" altLang="ru-RU"/>
              <a:t>n</a:t>
            </a:r>
            <a:r>
              <a:rPr lang="ru-RU" altLang="ru-RU"/>
              <a:t>], то </a:t>
            </a:r>
          </a:p>
        </p:txBody>
      </p:sp>
      <p:sp>
        <p:nvSpPr>
          <p:cNvPr id="14367" name="Rectangle 33">
            <a:extLst>
              <a:ext uri="{FF2B5EF4-FFF2-40B4-BE49-F238E27FC236}">
                <a16:creationId xmlns:a16="http://schemas.microsoft.com/office/drawing/2014/main" id="{15AFACB1-147D-4216-B587-0F94B2740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8" name="Object 32">
            <a:extLst>
              <a:ext uri="{FF2B5EF4-FFF2-40B4-BE49-F238E27FC236}">
                <a16:creationId xmlns:a16="http://schemas.microsoft.com/office/drawing/2014/main" id="{8B9AF136-FB7B-4F0F-BB75-537C3DBD8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718175"/>
          <a:ext cx="42481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9" name="Формула" r:id="rId21" imgW="2184400" imgH="228600" progId="Equation.3">
                  <p:embed/>
                </p:oleObj>
              </mc:Choice>
              <mc:Fallback>
                <p:oleObj name="Формула" r:id="rId21" imgW="2184400" imgH="228600" progId="Equation.3">
                  <p:embed/>
                  <p:pic>
                    <p:nvPicPr>
                      <p:cNvPr id="14368" name="Object 32">
                        <a:extLst>
                          <a:ext uri="{FF2B5EF4-FFF2-40B4-BE49-F238E27FC236}">
                            <a16:creationId xmlns:a16="http://schemas.microsoft.com/office/drawing/2014/main" id="{8B9AF136-FB7B-4F0F-BB75-537C3DBD8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718175"/>
                        <a:ext cx="42481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7EED2E8-6789-4AFE-A8DF-6B3839E41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b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BFEC52D-340F-4067-8889-ECE9F30BF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метода для одномерного случая:</a:t>
            </a:r>
          </a:p>
          <a:p>
            <a:pPr eaLnBrk="1" hangingPunct="1">
              <a:buFontTx/>
              <a:buNone/>
            </a:pPr>
            <a:endParaRPr lang="ru-RU" altLang="ru-RU" dirty="0"/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01A969A0-340F-4AEE-AEAF-521EA467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5365" name="Object 4">
            <a:extLst>
              <a:ext uri="{FF2B5EF4-FFF2-40B4-BE49-F238E27FC236}">
                <a16:creationId xmlns:a16="http://schemas.microsoft.com/office/drawing/2014/main" id="{266C2C86-86A2-411B-B2B4-577C527C3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205038"/>
          <a:ext cx="34559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4" name="Формула" r:id="rId3" imgW="1562100" imgH="457200" progId="Equation.3">
                  <p:embed/>
                </p:oleObj>
              </mc:Choice>
              <mc:Fallback>
                <p:oleObj name="Формула" r:id="rId3" imgW="1562100" imgH="457200" progId="Equation.3">
                  <p:embed/>
                  <p:pic>
                    <p:nvPicPr>
                      <p:cNvPr id="15365" name="Object 4">
                        <a:extLst>
                          <a:ext uri="{FF2B5EF4-FFF2-40B4-BE49-F238E27FC236}">
                            <a16:creationId xmlns:a16="http://schemas.microsoft.com/office/drawing/2014/main" id="{266C2C86-86A2-411B-B2B4-577C527C3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5038"/>
                        <a:ext cx="3455987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7">
            <a:extLst>
              <a:ext uri="{FF2B5EF4-FFF2-40B4-BE49-F238E27FC236}">
                <a16:creationId xmlns:a16="http://schemas.microsoft.com/office/drawing/2014/main" id="{E4930A5E-01B7-4593-907B-223BE8AF9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474913"/>
            <a:ext cx="181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Обозначим 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graphicFrame>
        <p:nvGraphicFramePr>
          <p:cNvPr id="15367" name="Object 6">
            <a:extLst>
              <a:ext uri="{FF2B5EF4-FFF2-40B4-BE49-F238E27FC236}">
                <a16:creationId xmlns:a16="http://schemas.microsoft.com/office/drawing/2014/main" id="{2DBC350D-182A-4015-979F-E8273D659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2276475"/>
          <a:ext cx="23050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5" name="Формула" r:id="rId5" imgW="990170" imgH="431613" progId="Equation.3">
                  <p:embed/>
                </p:oleObj>
              </mc:Choice>
              <mc:Fallback>
                <p:oleObj name="Формула" r:id="rId5" imgW="990170" imgH="431613" progId="Equation.3">
                  <p:embed/>
                  <p:pic>
                    <p:nvPicPr>
                      <p:cNvPr id="15367" name="Object 6">
                        <a:extLst>
                          <a:ext uri="{FF2B5EF4-FFF2-40B4-BE49-F238E27FC236}">
                            <a16:creationId xmlns:a16="http://schemas.microsoft.com/office/drawing/2014/main" id="{2DBC350D-182A-4015-979F-E8273D659E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276475"/>
                        <a:ext cx="23050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9">
            <a:extLst>
              <a:ext uri="{FF2B5EF4-FFF2-40B4-BE49-F238E27FC236}">
                <a16:creationId xmlns:a16="http://schemas.microsoft.com/office/drawing/2014/main" id="{0813610F-0222-4737-B186-1CBF3CA44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267075"/>
            <a:ext cx="976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</a:rPr>
              <a:t>т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огда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graphicFrame>
        <p:nvGraphicFramePr>
          <p:cNvPr id="15369" name="Object 8">
            <a:extLst>
              <a:ext uri="{FF2B5EF4-FFF2-40B4-BE49-F238E27FC236}">
                <a16:creationId xmlns:a16="http://schemas.microsoft.com/office/drawing/2014/main" id="{818474C9-E2FD-45B7-BC2F-7F0E84D75D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213100"/>
          <a:ext cx="23764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6" name="Формула" r:id="rId7" imgW="1117600" imgH="241300" progId="Equation.3">
                  <p:embed/>
                </p:oleObj>
              </mc:Choice>
              <mc:Fallback>
                <p:oleObj name="Формула" r:id="rId7" imgW="1117600" imgH="241300" progId="Equation.3">
                  <p:embed/>
                  <p:pic>
                    <p:nvPicPr>
                      <p:cNvPr id="15369" name="Object 8">
                        <a:extLst>
                          <a:ext uri="{FF2B5EF4-FFF2-40B4-BE49-F238E27FC236}">
                            <a16:creationId xmlns:a16="http://schemas.microsoft.com/office/drawing/2014/main" id="{818474C9-E2FD-45B7-BC2F-7F0E84D75D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213100"/>
                        <a:ext cx="23764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>
            <a:extLst>
              <a:ext uri="{FF2B5EF4-FFF2-40B4-BE49-F238E27FC236}">
                <a16:creationId xmlns:a16="http://schemas.microsoft.com/office/drawing/2014/main" id="{BE639226-6761-48BF-B942-2A98F9B3A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355123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E84A60D3-45ED-43EA-9DE1-AE9E273D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284538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</a:t>
            </a:r>
            <a:r>
              <a:rPr lang="ru-RU" altLang="ru-RU"/>
              <a:t> </a:t>
            </a:r>
          </a:p>
        </p:txBody>
      </p:sp>
      <p:sp>
        <p:nvSpPr>
          <p:cNvPr id="15372" name="Rectangle 13">
            <a:extLst>
              <a:ext uri="{FF2B5EF4-FFF2-40B4-BE49-F238E27FC236}">
                <a16:creationId xmlns:a16="http://schemas.microsoft.com/office/drawing/2014/main" id="{5DBA1DB8-9C6A-4FF6-A78B-CB132BC5E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36975"/>
            <a:ext cx="76422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Этот метод называется «методом секущих».</a:t>
            </a:r>
            <a:endParaRPr lang="ru-RU" altLang="ru-RU" sz="2400">
              <a:latin typeface="Arial" panose="020B0604020202020204" pitchFamily="34" charset="0"/>
            </a:endParaRPr>
          </a:p>
          <a:p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Соответственно метод Ньютона для одномерного случая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graphicFrame>
        <p:nvGraphicFramePr>
          <p:cNvPr id="15373" name="Object 12">
            <a:extLst>
              <a:ext uri="{FF2B5EF4-FFF2-40B4-BE49-F238E27FC236}">
                <a16:creationId xmlns:a16="http://schemas.microsoft.com/office/drawing/2014/main" id="{C7C1DC3F-34B1-4683-B16E-DC8600D677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437063"/>
          <a:ext cx="35274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7" name="Формула" r:id="rId9" imgW="1282700" imgH="254000" progId="Equation.3">
                  <p:embed/>
                </p:oleObj>
              </mc:Choice>
              <mc:Fallback>
                <p:oleObj name="Формула" r:id="rId9" imgW="1282700" imgH="254000" progId="Equation.3">
                  <p:embed/>
                  <p:pic>
                    <p:nvPicPr>
                      <p:cNvPr id="15373" name="Object 12">
                        <a:extLst>
                          <a:ext uri="{FF2B5EF4-FFF2-40B4-BE49-F238E27FC236}">
                            <a16:creationId xmlns:a16="http://schemas.microsoft.com/office/drawing/2014/main" id="{C7C1DC3F-34B1-4683-B16E-DC8600D677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437063"/>
                        <a:ext cx="352742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Rectangle 15">
            <a:extLst>
              <a:ext uri="{FF2B5EF4-FFF2-40B4-BE49-F238E27FC236}">
                <a16:creationId xmlns:a16="http://schemas.microsoft.com/office/drawing/2014/main" id="{FD5B4BF8-8941-44F9-A578-BE0363C7D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199063"/>
            <a:ext cx="2198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Таким образом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5375" name="Object 14">
            <a:extLst>
              <a:ext uri="{FF2B5EF4-FFF2-40B4-BE49-F238E27FC236}">
                <a16:creationId xmlns:a16="http://schemas.microsoft.com/office/drawing/2014/main" id="{88379015-A131-4B45-8259-19DEF2BCA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084763"/>
          <a:ext cx="244951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8" name="Формула" r:id="rId11" imgW="761669" imgH="241195" progId="Equation.3">
                  <p:embed/>
                </p:oleObj>
              </mc:Choice>
              <mc:Fallback>
                <p:oleObj name="Формула" r:id="rId11" imgW="761669" imgH="241195" progId="Equation.3">
                  <p:embed/>
                  <p:pic>
                    <p:nvPicPr>
                      <p:cNvPr id="15375" name="Object 14">
                        <a:extLst>
                          <a:ext uri="{FF2B5EF4-FFF2-40B4-BE49-F238E27FC236}">
                            <a16:creationId xmlns:a16="http://schemas.microsoft.com/office/drawing/2014/main" id="{88379015-A131-4B45-8259-19DEF2BCA9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084763"/>
                        <a:ext cx="244951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Rectangle 16">
            <a:extLst>
              <a:ext uri="{FF2B5EF4-FFF2-40B4-BE49-F238E27FC236}">
                <a16:creationId xmlns:a16="http://schemas.microsoft.com/office/drawing/2014/main" id="{862FA059-5521-4745-ADBC-BC6157354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084763"/>
            <a:ext cx="3402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т.е. представляет собой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15377" name="Rectangle 17">
            <a:extLst>
              <a:ext uri="{FF2B5EF4-FFF2-40B4-BE49-F238E27FC236}">
                <a16:creationId xmlns:a16="http://schemas.microsoft.com/office/drawing/2014/main" id="{AA893939-6D96-47D2-BB51-87144C085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734050"/>
            <a:ext cx="544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второй производной функции спуска.</a:t>
            </a:r>
          </a:p>
        </p:txBody>
      </p:sp>
      <p:sp>
        <p:nvSpPr>
          <p:cNvPr id="15378" name="Rectangle 18">
            <a:extLst>
              <a:ext uri="{FF2B5EF4-FFF2-40B4-BE49-F238E27FC236}">
                <a16:creationId xmlns:a16="http://schemas.microsoft.com/office/drawing/2014/main" id="{47FF9785-D588-4937-B0A4-D3C2549E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81525"/>
            <a:ext cx="2509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/>
              <a:t>можно записать</a:t>
            </a:r>
            <a:r>
              <a:rPr lang="ru-RU" altLang="ru-RU"/>
              <a:t>:</a:t>
            </a:r>
          </a:p>
        </p:txBody>
      </p:sp>
      <p:sp>
        <p:nvSpPr>
          <p:cNvPr id="15379" name="Rectangle 19">
            <a:extLst>
              <a:ext uri="{FF2B5EF4-FFF2-40B4-BE49-F238E27FC236}">
                <a16:creationId xmlns:a16="http://schemas.microsoft.com/office/drawing/2014/main" id="{1145EDF8-FDA4-4EF6-8F92-540DB0466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734050"/>
            <a:ext cx="243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аппроксимацию</a:t>
            </a:r>
          </a:p>
        </p:txBody>
      </p:sp>
      <p:sp>
        <p:nvSpPr>
          <p:cNvPr id="15380" name="Rectangle 20">
            <a:extLst>
              <a:ext uri="{FF2B5EF4-FFF2-40B4-BE49-F238E27FC236}">
                <a16:creationId xmlns:a16="http://schemas.microsoft.com/office/drawing/2014/main" id="{EE0E4C00-7EF7-4485-9D12-B8939FCED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5624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/>
              <a:t>. </a:t>
            </a:r>
          </a:p>
        </p:txBody>
      </p:sp>
      <p:sp>
        <p:nvSpPr>
          <p:cNvPr id="15381" name="Rectangle 21">
            <a:extLst>
              <a:ext uri="{FF2B5EF4-FFF2-40B4-BE49-F238E27FC236}">
                <a16:creationId xmlns:a16="http://schemas.microsoft.com/office/drawing/2014/main" id="{359BE6F4-B42D-4BAB-96A3-489E88BC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42093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/>
              <a:t>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711E327-81F8-4F1C-87E6-0926F950D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b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3CC4544-C968-4E72-BD51-B85D7C0B3C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u="sng"/>
              <a:t>Идея метода:</a:t>
            </a:r>
            <a:r>
              <a:rPr lang="ru-RU" altLang="ru-RU" sz="2400"/>
              <a:t> </a:t>
            </a:r>
          </a:p>
          <a:p>
            <a:pPr eaLnBrk="1" hangingPunct="1">
              <a:buFontTx/>
              <a:buNone/>
            </a:pPr>
            <a:r>
              <a:rPr lang="ru-RU" altLang="ru-RU" sz="1800"/>
              <a:t>Продифферинцируем разложение в ряд Тейлора функцию  </a:t>
            </a:r>
            <a:r>
              <a:rPr lang="ru-RU" altLang="ru-RU" sz="1800">
                <a:sym typeface="Symbol" panose="05050102010706020507" pitchFamily="18" charset="2"/>
              </a:rPr>
              <a:t></a:t>
            </a:r>
            <a:r>
              <a:rPr lang="ru-RU" altLang="ru-RU" sz="1800"/>
              <a:t>(</a:t>
            </a:r>
            <a:r>
              <a:rPr lang="en-US" altLang="ru-RU" sz="1800"/>
              <a:t>x</a:t>
            </a:r>
            <a:r>
              <a:rPr lang="ru-RU" altLang="ru-RU" sz="1800"/>
              <a:t>)</a:t>
            </a:r>
            <a:r>
              <a:rPr lang="en-US" altLang="ru-RU" sz="1800"/>
              <a:t> </a:t>
            </a:r>
            <a:endParaRPr lang="ru-RU" altLang="ru-RU" sz="1800"/>
          </a:p>
          <a:p>
            <a:pPr eaLnBrk="1" hangingPunct="1">
              <a:buFontTx/>
              <a:buNone/>
            </a:pPr>
            <a:r>
              <a:rPr lang="ru-RU" altLang="ru-RU" sz="1800"/>
              <a:t>в окрестности т.      т.е.              .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F9C3C11-DC94-40DB-80E7-A4EFF44DB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97BEA764-5DCE-44A1-8B8A-81E38AFFC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36525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8" name="Формула" r:id="rId3" imgW="139579" imgH="164957" progId="Equation.3">
                  <p:embed/>
                </p:oleObj>
              </mc:Choice>
              <mc:Fallback>
                <p:oleObj name="Формула" r:id="rId3" imgW="139579" imgH="164957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97BEA764-5DCE-44A1-8B8A-81E38AFFC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7">
            <a:extLst>
              <a:ext uri="{FF2B5EF4-FFF2-40B4-BE49-F238E27FC236}">
                <a16:creationId xmlns:a16="http://schemas.microsoft.com/office/drawing/2014/main" id="{F3DC67B4-4B3F-492B-9067-D7A072DA2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1" name="Object 6">
            <a:extLst>
              <a:ext uri="{FF2B5EF4-FFF2-40B4-BE49-F238E27FC236}">
                <a16:creationId xmlns:a16="http://schemas.microsoft.com/office/drawing/2014/main" id="{955A1CE8-9A33-41C1-8CDF-0AD5B4C2C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636838"/>
          <a:ext cx="3127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9" name="Формула" r:id="rId5" imgW="139579" imgH="164957" progId="Equation.3">
                  <p:embed/>
                </p:oleObj>
              </mc:Choice>
              <mc:Fallback>
                <p:oleObj name="Формула" r:id="rId5" imgW="139579" imgH="164957" progId="Equation.3">
                  <p:embed/>
                  <p:pic>
                    <p:nvPicPr>
                      <p:cNvPr id="16391" name="Object 6">
                        <a:extLst>
                          <a:ext uri="{FF2B5EF4-FFF2-40B4-BE49-F238E27FC236}">
                            <a16:creationId xmlns:a16="http://schemas.microsoft.com/office/drawing/2014/main" id="{955A1CE8-9A33-41C1-8CDF-0AD5B4C2C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36838"/>
                        <a:ext cx="31273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9">
            <a:extLst>
              <a:ext uri="{FF2B5EF4-FFF2-40B4-BE49-F238E27FC236}">
                <a16:creationId xmlns:a16="http://schemas.microsoft.com/office/drawing/2014/main" id="{4EE5C6B8-67EA-4A33-BF09-00BEC405D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3" name="Object 8">
            <a:extLst>
              <a:ext uri="{FF2B5EF4-FFF2-40B4-BE49-F238E27FC236}">
                <a16:creationId xmlns:a16="http://schemas.microsoft.com/office/drawing/2014/main" id="{362452CF-B00E-4E85-832B-CEBBE5407C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708275"/>
          <a:ext cx="792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0" name="Формула" r:id="rId6" imgW="419100" imgH="228600" progId="Equation.3">
                  <p:embed/>
                </p:oleObj>
              </mc:Choice>
              <mc:Fallback>
                <p:oleObj name="Формула" r:id="rId6" imgW="419100" imgH="228600" progId="Equation.3">
                  <p:embed/>
                  <p:pic>
                    <p:nvPicPr>
                      <p:cNvPr id="16393" name="Object 8">
                        <a:extLst>
                          <a:ext uri="{FF2B5EF4-FFF2-40B4-BE49-F238E27FC236}">
                            <a16:creationId xmlns:a16="http://schemas.microsoft.com/office/drawing/2014/main" id="{362452CF-B00E-4E85-832B-CEBBE5407C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708275"/>
                        <a:ext cx="7921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0">
            <a:extLst>
              <a:ext uri="{FF2B5EF4-FFF2-40B4-BE49-F238E27FC236}">
                <a16:creationId xmlns:a16="http://schemas.microsoft.com/office/drawing/2014/main" id="{7B5BF672-4619-417D-B856-615A89D35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13100"/>
            <a:ext cx="155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Обозначим:  </a:t>
            </a:r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F456E1BE-C08B-428E-A601-C868A1ED0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4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6" name="Object 11">
            <a:extLst>
              <a:ext uri="{FF2B5EF4-FFF2-40B4-BE49-F238E27FC236}">
                <a16:creationId xmlns:a16="http://schemas.microsoft.com/office/drawing/2014/main" id="{6A64E1D2-D8B0-410A-8F02-1FA39A2F3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6588" y="2995613"/>
          <a:ext cx="3529012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1" name="Формула" r:id="rId8" imgW="1917700" imgH="965200" progId="Equation.3">
                  <p:embed/>
                </p:oleObj>
              </mc:Choice>
              <mc:Fallback>
                <p:oleObj name="Формула" r:id="rId8" imgW="1917700" imgH="965200" progId="Equation.3">
                  <p:embed/>
                  <p:pic>
                    <p:nvPicPr>
                      <p:cNvPr id="16396" name="Object 11">
                        <a:extLst>
                          <a:ext uri="{FF2B5EF4-FFF2-40B4-BE49-F238E27FC236}">
                            <a16:creationId xmlns:a16="http://schemas.microsoft.com/office/drawing/2014/main" id="{6A64E1D2-D8B0-410A-8F02-1FA39A2F3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2995613"/>
                        <a:ext cx="3529012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4">
            <a:extLst>
              <a:ext uri="{FF2B5EF4-FFF2-40B4-BE49-F238E27FC236}">
                <a16:creationId xmlns:a16="http://schemas.microsoft.com/office/drawing/2014/main" id="{2766EEC5-C766-4857-B6AF-932ADF5A3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2808288"/>
            <a:ext cx="3127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: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398" name="Rectangle 16">
            <a:extLst>
              <a:ext uri="{FF2B5EF4-FFF2-40B4-BE49-F238E27FC236}">
                <a16:creationId xmlns:a16="http://schemas.microsoft.com/office/drawing/2014/main" id="{9E3F5F63-65B0-472E-A9B4-47ED4DB59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9" name="Object 15">
            <a:extLst>
              <a:ext uri="{FF2B5EF4-FFF2-40B4-BE49-F238E27FC236}">
                <a16:creationId xmlns:a16="http://schemas.microsoft.com/office/drawing/2014/main" id="{102191F8-A8CB-4705-A0F0-93C87D78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2708275"/>
          <a:ext cx="42481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2" name="Формула" r:id="rId10" imgW="2527300" imgH="279400" progId="Equation.3">
                  <p:embed/>
                </p:oleObj>
              </mc:Choice>
              <mc:Fallback>
                <p:oleObj name="Формула" r:id="rId10" imgW="2527300" imgH="279400" progId="Equation.3">
                  <p:embed/>
                  <p:pic>
                    <p:nvPicPr>
                      <p:cNvPr id="16399" name="Object 15">
                        <a:extLst>
                          <a:ext uri="{FF2B5EF4-FFF2-40B4-BE49-F238E27FC236}">
                            <a16:creationId xmlns:a16="http://schemas.microsoft.com/office/drawing/2014/main" id="{102191F8-A8CB-4705-A0F0-93C87D7877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708275"/>
                        <a:ext cx="42481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18">
            <a:extLst>
              <a:ext uri="{FF2B5EF4-FFF2-40B4-BE49-F238E27FC236}">
                <a16:creationId xmlns:a16="http://schemas.microsoft.com/office/drawing/2014/main" id="{6E74EB61-508F-4F75-92A8-8DE9579A8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1" name="Object 17">
            <a:extLst>
              <a:ext uri="{FF2B5EF4-FFF2-40B4-BE49-F238E27FC236}">
                <a16:creationId xmlns:a16="http://schemas.microsoft.com/office/drawing/2014/main" id="{804DDE9B-EDC1-44B8-89E3-833A5E140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3141663"/>
          <a:ext cx="44640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3" name="Формула" r:id="rId12" imgW="2298700" imgH="228600" progId="Equation.3">
                  <p:embed/>
                </p:oleObj>
              </mc:Choice>
              <mc:Fallback>
                <p:oleObj name="Формула" r:id="rId12" imgW="2298700" imgH="228600" progId="Equation.3">
                  <p:embed/>
                  <p:pic>
                    <p:nvPicPr>
                      <p:cNvPr id="16401" name="Object 17">
                        <a:extLst>
                          <a:ext uri="{FF2B5EF4-FFF2-40B4-BE49-F238E27FC236}">
                            <a16:creationId xmlns:a16="http://schemas.microsoft.com/office/drawing/2014/main" id="{804DDE9B-EDC1-44B8-89E3-833A5E140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141663"/>
                        <a:ext cx="44640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9">
            <a:extLst>
              <a:ext uri="{FF2B5EF4-FFF2-40B4-BE49-F238E27FC236}">
                <a16:creationId xmlns:a16="http://schemas.microsoft.com/office/drawing/2014/main" id="{4D25D651-5EEC-4A48-8B87-077C909D2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076700"/>
            <a:ext cx="852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Тогда </a:t>
            </a:r>
          </a:p>
        </p:txBody>
      </p:sp>
      <p:sp>
        <p:nvSpPr>
          <p:cNvPr id="16403" name="Rectangle 21">
            <a:extLst>
              <a:ext uri="{FF2B5EF4-FFF2-40B4-BE49-F238E27FC236}">
                <a16:creationId xmlns:a16="http://schemas.microsoft.com/office/drawing/2014/main" id="{CD1CE3C5-A407-4044-8D21-1063AAFF0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4" name="Object 20">
            <a:extLst>
              <a:ext uri="{FF2B5EF4-FFF2-40B4-BE49-F238E27FC236}">
                <a16:creationId xmlns:a16="http://schemas.microsoft.com/office/drawing/2014/main" id="{0EE88991-7634-4CC2-9B55-7FC223F4A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573463"/>
          <a:ext cx="295275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4" name="Формула" r:id="rId14" imgW="1828800" imgH="736600" progId="Equation.3">
                  <p:embed/>
                </p:oleObj>
              </mc:Choice>
              <mc:Fallback>
                <p:oleObj name="Формула" r:id="rId14" imgW="1828800" imgH="736600" progId="Equation.3">
                  <p:embed/>
                  <p:pic>
                    <p:nvPicPr>
                      <p:cNvPr id="16404" name="Object 20">
                        <a:extLst>
                          <a:ext uri="{FF2B5EF4-FFF2-40B4-BE49-F238E27FC236}">
                            <a16:creationId xmlns:a16="http://schemas.microsoft.com/office/drawing/2014/main" id="{0EE88991-7634-4CC2-9B55-7FC223F4A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573463"/>
                        <a:ext cx="295275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22">
            <a:extLst>
              <a:ext uri="{FF2B5EF4-FFF2-40B4-BE49-F238E27FC236}">
                <a16:creationId xmlns:a16="http://schemas.microsoft.com/office/drawing/2014/main" id="{9697DBFF-0682-4F8A-8E4D-4F9E37CF3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365625"/>
            <a:ext cx="1004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откуда  </a:t>
            </a:r>
          </a:p>
        </p:txBody>
      </p:sp>
      <p:sp>
        <p:nvSpPr>
          <p:cNvPr id="16406" name="Rectangle 24">
            <a:extLst>
              <a:ext uri="{FF2B5EF4-FFF2-40B4-BE49-F238E27FC236}">
                <a16:creationId xmlns:a16="http://schemas.microsoft.com/office/drawing/2014/main" id="{F554511E-5647-4DF2-8030-2B1BEB6DB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3">
            <a:extLst>
              <a:ext uri="{FF2B5EF4-FFF2-40B4-BE49-F238E27FC236}">
                <a16:creationId xmlns:a16="http://schemas.microsoft.com/office/drawing/2014/main" id="{79A16966-6135-4AEF-BB70-71BD3AE1D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365625"/>
          <a:ext cx="20875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5" name="Формула" r:id="rId16" imgW="1054100" imgH="228600" progId="Equation.3">
                  <p:embed/>
                </p:oleObj>
              </mc:Choice>
              <mc:Fallback>
                <p:oleObj name="Формула" r:id="rId16" imgW="1054100" imgH="228600" progId="Equation.3">
                  <p:embed/>
                  <p:pic>
                    <p:nvPicPr>
                      <p:cNvPr id="16407" name="Object 23">
                        <a:extLst>
                          <a:ext uri="{FF2B5EF4-FFF2-40B4-BE49-F238E27FC236}">
                            <a16:creationId xmlns:a16="http://schemas.microsoft.com/office/drawing/2014/main" id="{79A16966-6135-4AEF-BB70-71BD3AE1D7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365625"/>
                        <a:ext cx="20875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7">
            <a:extLst>
              <a:ext uri="{FF2B5EF4-FFF2-40B4-BE49-F238E27FC236}">
                <a16:creationId xmlns:a16="http://schemas.microsoft.com/office/drawing/2014/main" id="{09F5BE05-236D-4512-A526-ECAC02940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3656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</a:t>
            </a:r>
          </a:p>
        </p:txBody>
      </p:sp>
      <p:sp>
        <p:nvSpPr>
          <p:cNvPr id="16409" name="Rectangle 29">
            <a:extLst>
              <a:ext uri="{FF2B5EF4-FFF2-40B4-BE49-F238E27FC236}">
                <a16:creationId xmlns:a16="http://schemas.microsoft.com/office/drawing/2014/main" id="{1DD2A2EF-4679-4E62-A16A-EB54BF1A7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10" name="Object 28">
            <a:extLst>
              <a:ext uri="{FF2B5EF4-FFF2-40B4-BE49-F238E27FC236}">
                <a16:creationId xmlns:a16="http://schemas.microsoft.com/office/drawing/2014/main" id="{28F33BBF-EBF2-455C-BD4A-6BC6E870C5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868863"/>
          <a:ext cx="7921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6" name="Формула" r:id="rId18" imgW="406224" imgH="190417" progId="Equation.3">
                  <p:embed/>
                </p:oleObj>
              </mc:Choice>
              <mc:Fallback>
                <p:oleObj name="Формула" r:id="rId18" imgW="406224" imgH="190417" progId="Equation.3">
                  <p:embed/>
                  <p:pic>
                    <p:nvPicPr>
                      <p:cNvPr id="16410" name="Object 28">
                        <a:extLst>
                          <a:ext uri="{FF2B5EF4-FFF2-40B4-BE49-F238E27FC236}">
                            <a16:creationId xmlns:a16="http://schemas.microsoft.com/office/drawing/2014/main" id="{28F33BBF-EBF2-455C-BD4A-6BC6E870C5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868863"/>
                        <a:ext cx="7921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1" name="Rectangle 30">
            <a:extLst>
              <a:ext uri="{FF2B5EF4-FFF2-40B4-BE49-F238E27FC236}">
                <a16:creationId xmlns:a16="http://schemas.microsoft.com/office/drawing/2014/main" id="{7515869D-36CE-40B6-ADA8-C43866E58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941888"/>
            <a:ext cx="30273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– обратная матрица Гессе </a:t>
            </a:r>
          </a:p>
        </p:txBody>
      </p:sp>
      <p:sp>
        <p:nvSpPr>
          <p:cNvPr id="16412" name="Rectangle 31">
            <a:extLst>
              <a:ext uri="{FF2B5EF4-FFF2-40B4-BE49-F238E27FC236}">
                <a16:creationId xmlns:a16="http://schemas.microsoft.com/office/drawing/2014/main" id="{71F9D70A-7658-42EB-81C9-018FB3FF6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941888"/>
            <a:ext cx="4608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требующая вычисления 2-х частных производных. </a:t>
            </a:r>
          </a:p>
        </p:txBody>
      </p:sp>
      <p:sp>
        <p:nvSpPr>
          <p:cNvPr id="16413" name="Rectangle 32">
            <a:extLst>
              <a:ext uri="{FF2B5EF4-FFF2-40B4-BE49-F238E27FC236}">
                <a16:creationId xmlns:a16="http://schemas.microsoft.com/office/drawing/2014/main" id="{45C5B9F0-9C4E-4DCE-828C-718C08DA3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589588"/>
            <a:ext cx="82804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Идея квазиньютоновских методов состоит в аппроксимации матрицы Гессе матрицами, корректирующими на каждой итерации исходную матрицу так, чтобы через </a:t>
            </a:r>
            <a:r>
              <a:rPr lang="en-US" altLang="ru-RU"/>
              <a:t>n</a:t>
            </a:r>
            <a:r>
              <a:rPr lang="ru-RU" altLang="ru-RU"/>
              <a:t>-итераций получить матрицу близкую к матрице Гессе.</a:t>
            </a:r>
          </a:p>
        </p:txBody>
      </p:sp>
      <p:sp>
        <p:nvSpPr>
          <p:cNvPr id="16414" name="Rectangle 34">
            <a:extLst>
              <a:ext uri="{FF2B5EF4-FFF2-40B4-BE49-F238E27FC236}">
                <a16:creationId xmlns:a16="http://schemas.microsoft.com/office/drawing/2014/main" id="{812C6854-FA18-48C7-890B-4CD0CB24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15" name="Object 33">
            <a:extLst>
              <a:ext uri="{FF2B5EF4-FFF2-40B4-BE49-F238E27FC236}">
                <a16:creationId xmlns:a16="http://schemas.microsoft.com/office/drawing/2014/main" id="{33AB26D6-5D48-4C06-AC1F-A81127281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2276475"/>
          <a:ext cx="8651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7" name="Формула" r:id="rId20" imgW="444307" imgH="203112" progId="Equation.3">
                  <p:embed/>
                </p:oleObj>
              </mc:Choice>
              <mc:Fallback>
                <p:oleObj name="Формула" r:id="rId20" imgW="444307" imgH="203112" progId="Equation.3">
                  <p:embed/>
                  <p:pic>
                    <p:nvPicPr>
                      <p:cNvPr id="16415" name="Object 33">
                        <a:extLst>
                          <a:ext uri="{FF2B5EF4-FFF2-40B4-BE49-F238E27FC236}">
                            <a16:creationId xmlns:a16="http://schemas.microsoft.com/office/drawing/2014/main" id="{33AB26D6-5D48-4C06-AC1F-A81127281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2276475"/>
                        <a:ext cx="8651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7252645-0F5F-4D2B-B4C9-745D62908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2EFA5C0-2848-44CF-8985-71144CDBA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/>
              <a:t>Обозначим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1A1EA848-7F24-477F-942A-E6D71FFDA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13" name="Object 4">
            <a:extLst>
              <a:ext uri="{FF2B5EF4-FFF2-40B4-BE49-F238E27FC236}">
                <a16:creationId xmlns:a16="http://schemas.microsoft.com/office/drawing/2014/main" id="{87FCC6ED-7F2D-45D6-A1CA-7AFC299C1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566863"/>
          <a:ext cx="19446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6" name="Формула" r:id="rId3" imgW="1168400" imgH="241300" progId="Equation.3">
                  <p:embed/>
                </p:oleObj>
              </mc:Choice>
              <mc:Fallback>
                <p:oleObj name="Формула" r:id="rId3" imgW="1168400" imgH="241300" progId="Equation.3">
                  <p:embed/>
                  <p:pic>
                    <p:nvPicPr>
                      <p:cNvPr id="17413" name="Object 4">
                        <a:extLst>
                          <a:ext uri="{FF2B5EF4-FFF2-40B4-BE49-F238E27FC236}">
                            <a16:creationId xmlns:a16="http://schemas.microsoft.com/office/drawing/2014/main" id="{87FCC6ED-7F2D-45D6-A1CA-7AFC299C11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566863"/>
                        <a:ext cx="19446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>
            <a:extLst>
              <a:ext uri="{FF2B5EF4-FFF2-40B4-BE49-F238E27FC236}">
                <a16:creationId xmlns:a16="http://schemas.microsoft.com/office/drawing/2014/main" id="{0B5DF9B9-CC82-4B67-83B9-B266538C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28775"/>
            <a:ext cx="700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где </a:t>
            </a:r>
          </a:p>
        </p:txBody>
      </p:sp>
      <p:sp>
        <p:nvSpPr>
          <p:cNvPr id="17415" name="Rectangle 8">
            <a:extLst>
              <a:ext uri="{FF2B5EF4-FFF2-40B4-BE49-F238E27FC236}">
                <a16:creationId xmlns:a16="http://schemas.microsoft.com/office/drawing/2014/main" id="{6E474FB5-7409-4424-8DBB-B45139CD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16" name="Object 7">
            <a:extLst>
              <a:ext uri="{FF2B5EF4-FFF2-40B4-BE49-F238E27FC236}">
                <a16:creationId xmlns:a16="http://schemas.microsoft.com/office/drawing/2014/main" id="{C9E8ADFB-9255-4853-BF48-1899A88DD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1557338"/>
          <a:ext cx="7207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" name="Формула" r:id="rId5" imgW="393529" imgH="203112" progId="Equation.3">
                  <p:embed/>
                </p:oleObj>
              </mc:Choice>
              <mc:Fallback>
                <p:oleObj name="Формула" r:id="rId5" imgW="393529" imgH="203112" progId="Equation.3">
                  <p:embed/>
                  <p:pic>
                    <p:nvPicPr>
                      <p:cNvPr id="17416" name="Object 7">
                        <a:extLst>
                          <a:ext uri="{FF2B5EF4-FFF2-40B4-BE49-F238E27FC236}">
                            <a16:creationId xmlns:a16="http://schemas.microsoft.com/office/drawing/2014/main" id="{C9E8ADFB-9255-4853-BF48-1899A88DD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557338"/>
                        <a:ext cx="7207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9">
            <a:extLst>
              <a:ext uri="{FF2B5EF4-FFF2-40B4-BE49-F238E27FC236}">
                <a16:creationId xmlns:a16="http://schemas.microsoft.com/office/drawing/2014/main" id="{65EF3237-92ED-4F38-9AD7-6C7275B40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557338"/>
            <a:ext cx="3816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- аппроксимация обратной матрицы Гессе. </a:t>
            </a:r>
          </a:p>
        </p:txBody>
      </p:sp>
      <p:sp>
        <p:nvSpPr>
          <p:cNvPr id="17418" name="Rectangle 11">
            <a:extLst>
              <a:ext uri="{FF2B5EF4-FFF2-40B4-BE49-F238E27FC236}">
                <a16:creationId xmlns:a16="http://schemas.microsoft.com/office/drawing/2014/main" id="{68784307-6658-4358-80F9-618B6B244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30438"/>
            <a:ext cx="8334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Пусть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7419" name="Object 10">
            <a:extLst>
              <a:ext uri="{FF2B5EF4-FFF2-40B4-BE49-F238E27FC236}">
                <a16:creationId xmlns:a16="http://schemas.microsoft.com/office/drawing/2014/main" id="{AEDF8C46-1D8E-45D3-9E59-53A8BF1B5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133600"/>
          <a:ext cx="22336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" name="Формула" r:id="rId7" imgW="1333500" imgH="203200" progId="Equation.3">
                  <p:embed/>
                </p:oleObj>
              </mc:Choice>
              <mc:Fallback>
                <p:oleObj name="Формула" r:id="rId7" imgW="1333500" imgH="203200" progId="Equation.3">
                  <p:embed/>
                  <p:pic>
                    <p:nvPicPr>
                      <p:cNvPr id="17419" name="Object 10">
                        <a:extLst>
                          <a:ext uri="{FF2B5EF4-FFF2-40B4-BE49-F238E27FC236}">
                            <a16:creationId xmlns:a16="http://schemas.microsoft.com/office/drawing/2014/main" id="{AEDF8C46-1D8E-45D3-9E59-53A8BF1B58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33600"/>
                        <a:ext cx="22336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Rectangle 12">
            <a:extLst>
              <a:ext uri="{FF2B5EF4-FFF2-40B4-BE49-F238E27FC236}">
                <a16:creationId xmlns:a16="http://schemas.microsoft.com/office/drawing/2014/main" id="{419C2C32-3B29-4B7C-9E51-DC51969F8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205038"/>
            <a:ext cx="96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тогда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7421" name="Rectangle 14">
            <a:extLst>
              <a:ext uri="{FF2B5EF4-FFF2-40B4-BE49-F238E27FC236}">
                <a16:creationId xmlns:a16="http://schemas.microsoft.com/office/drawing/2014/main" id="{E236BC67-4DB3-415C-A7CA-64FA4AE56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22" name="Object 13">
            <a:extLst>
              <a:ext uri="{FF2B5EF4-FFF2-40B4-BE49-F238E27FC236}">
                <a16:creationId xmlns:a16="http://schemas.microsoft.com/office/drawing/2014/main" id="{FDD0D093-A51F-4296-8341-53257FA44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133600"/>
          <a:ext cx="33131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9" name="Формула" r:id="rId9" imgW="1714500" imgH="241300" progId="Equation.3">
                  <p:embed/>
                </p:oleObj>
              </mc:Choice>
              <mc:Fallback>
                <p:oleObj name="Формула" r:id="rId9" imgW="1714500" imgH="241300" progId="Equation.3">
                  <p:embed/>
                  <p:pic>
                    <p:nvPicPr>
                      <p:cNvPr id="17422" name="Object 13">
                        <a:extLst>
                          <a:ext uri="{FF2B5EF4-FFF2-40B4-BE49-F238E27FC236}">
                            <a16:creationId xmlns:a16="http://schemas.microsoft.com/office/drawing/2014/main" id="{FDD0D093-A51F-4296-8341-53257FA44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133600"/>
                        <a:ext cx="33131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Rectangle 16">
            <a:extLst>
              <a:ext uri="{FF2B5EF4-FFF2-40B4-BE49-F238E27FC236}">
                <a16:creationId xmlns:a16="http://schemas.microsoft.com/office/drawing/2014/main" id="{BC8A9331-37A8-4218-95C3-EFB62A60E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35263"/>
            <a:ext cx="669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или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7424" name="Object 15">
            <a:extLst>
              <a:ext uri="{FF2B5EF4-FFF2-40B4-BE49-F238E27FC236}">
                <a16:creationId xmlns:a16="http://schemas.microsoft.com/office/drawing/2014/main" id="{2E124429-52E1-4A27-9860-9F6F04FB4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708275"/>
          <a:ext cx="27368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0" name="Формула" r:id="rId11" imgW="1905000" imgH="241300" progId="Equation.3">
                  <p:embed/>
                </p:oleObj>
              </mc:Choice>
              <mc:Fallback>
                <p:oleObj name="Формула" r:id="rId11" imgW="1905000" imgH="241300" progId="Equation.3">
                  <p:embed/>
                  <p:pic>
                    <p:nvPicPr>
                      <p:cNvPr id="17424" name="Object 15">
                        <a:extLst>
                          <a:ext uri="{FF2B5EF4-FFF2-40B4-BE49-F238E27FC236}">
                            <a16:creationId xmlns:a16="http://schemas.microsoft.com/office/drawing/2014/main" id="{2E124429-52E1-4A27-9860-9F6F04FB4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708275"/>
                        <a:ext cx="27368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Rectangle 17">
            <a:extLst>
              <a:ext uri="{FF2B5EF4-FFF2-40B4-BE49-F238E27FC236}">
                <a16:creationId xmlns:a16="http://schemas.microsoft.com/office/drawing/2014/main" id="{378F90DE-F418-489E-96E6-1DADB0675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551238"/>
            <a:ext cx="312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7426" name="Rectangle 18">
            <a:extLst>
              <a:ext uri="{FF2B5EF4-FFF2-40B4-BE49-F238E27FC236}">
                <a16:creationId xmlns:a16="http://schemas.microsoft.com/office/drawing/2014/main" id="{9BDB0D87-C7AF-451D-A417-EC7A12A73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708275"/>
            <a:ext cx="1373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Выразим </a:t>
            </a:r>
          </a:p>
        </p:txBody>
      </p:sp>
      <p:sp>
        <p:nvSpPr>
          <p:cNvPr id="17427" name="Rectangle 20">
            <a:extLst>
              <a:ext uri="{FF2B5EF4-FFF2-40B4-BE49-F238E27FC236}">
                <a16:creationId xmlns:a16="http://schemas.microsoft.com/office/drawing/2014/main" id="{F08757FF-FDC5-4C6A-905A-4586DFCE5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28" name="Object 19">
            <a:extLst>
              <a:ext uri="{FF2B5EF4-FFF2-40B4-BE49-F238E27FC236}">
                <a16:creationId xmlns:a16="http://schemas.microsoft.com/office/drawing/2014/main" id="{053782EB-F635-4AC8-92D6-6BCA53895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708275"/>
          <a:ext cx="647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1" name="Формула" r:id="rId13" imgW="393529" imgH="203112" progId="Equation.3">
                  <p:embed/>
                </p:oleObj>
              </mc:Choice>
              <mc:Fallback>
                <p:oleObj name="Формула" r:id="rId13" imgW="393529" imgH="203112" progId="Equation.3">
                  <p:embed/>
                  <p:pic>
                    <p:nvPicPr>
                      <p:cNvPr id="17428" name="Object 19">
                        <a:extLst>
                          <a:ext uri="{FF2B5EF4-FFF2-40B4-BE49-F238E27FC236}">
                            <a16:creationId xmlns:a16="http://schemas.microsoft.com/office/drawing/2014/main" id="{053782EB-F635-4AC8-92D6-6BCA538958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08275"/>
                        <a:ext cx="6477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Rectangle 22">
            <a:extLst>
              <a:ext uri="{FF2B5EF4-FFF2-40B4-BE49-F238E27FC236}">
                <a16:creationId xmlns:a16="http://schemas.microsoft.com/office/drawing/2014/main" id="{CD61ECD1-6E68-40D6-ADCD-777E49EF2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30" name="Object 21">
            <a:extLst>
              <a:ext uri="{FF2B5EF4-FFF2-40B4-BE49-F238E27FC236}">
                <a16:creationId xmlns:a16="http://schemas.microsoft.com/office/drawing/2014/main" id="{081987C7-42ED-4198-B5E8-D3809CDC7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708275"/>
          <a:ext cx="10810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2" name="Формула" r:id="rId15" imgW="685800" imgH="241300" progId="Equation.3">
                  <p:embed/>
                </p:oleObj>
              </mc:Choice>
              <mc:Fallback>
                <p:oleObj name="Формула" r:id="rId15" imgW="685800" imgH="241300" progId="Equation.3">
                  <p:embed/>
                  <p:pic>
                    <p:nvPicPr>
                      <p:cNvPr id="17430" name="Object 21">
                        <a:extLst>
                          <a:ext uri="{FF2B5EF4-FFF2-40B4-BE49-F238E27FC236}">
                            <a16:creationId xmlns:a16="http://schemas.microsoft.com/office/drawing/2014/main" id="{081987C7-42ED-4198-B5E8-D3809CDC7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08275"/>
                        <a:ext cx="10810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1" name="Rectangle 23">
            <a:extLst>
              <a:ext uri="{FF2B5EF4-FFF2-40B4-BE49-F238E27FC236}">
                <a16:creationId xmlns:a16="http://schemas.microsoft.com/office/drawing/2014/main" id="{0430B2F9-1D85-4969-825C-88456143F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781300"/>
            <a:ext cx="846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через </a:t>
            </a:r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id="{D9349981-DF8D-4DB0-8041-6FBEB1AF4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213100"/>
            <a:ext cx="424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 вспомогательные векторы   </a:t>
            </a:r>
            <a:r>
              <a:rPr lang="en-US" altLang="ru-RU" i="1"/>
              <a:t>y</a:t>
            </a:r>
            <a:r>
              <a:rPr lang="ru-RU" altLang="ru-RU"/>
              <a:t>    и   </a:t>
            </a:r>
            <a:r>
              <a:rPr lang="ru-RU" altLang="ru-RU" i="1"/>
              <a:t>z</a:t>
            </a:r>
            <a:r>
              <a:rPr lang="ru-RU" altLang="ru-RU"/>
              <a:t>   </a:t>
            </a:r>
          </a:p>
        </p:txBody>
      </p:sp>
      <p:sp>
        <p:nvSpPr>
          <p:cNvPr id="17433" name="Rectangle 25">
            <a:extLst>
              <a:ext uri="{FF2B5EF4-FFF2-40B4-BE49-F238E27FC236}">
                <a16:creationId xmlns:a16="http://schemas.microsoft.com/office/drawing/2014/main" id="{44623FAC-4163-44B3-8129-E1A3003C1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10874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Тогда:  </a:t>
            </a:r>
          </a:p>
        </p:txBody>
      </p:sp>
      <p:sp>
        <p:nvSpPr>
          <p:cNvPr id="17434" name="Rectangle 27">
            <a:extLst>
              <a:ext uri="{FF2B5EF4-FFF2-40B4-BE49-F238E27FC236}">
                <a16:creationId xmlns:a16="http://schemas.microsoft.com/office/drawing/2014/main" id="{ED27626B-138F-4ABC-9BDA-5E47F32EF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35" name="Object 26">
            <a:extLst>
              <a:ext uri="{FF2B5EF4-FFF2-40B4-BE49-F238E27FC236}">
                <a16:creationId xmlns:a16="http://schemas.microsoft.com/office/drawing/2014/main" id="{4C00C624-22D5-4132-A1DF-CC4C9961A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3078163"/>
          <a:ext cx="30956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3" name="Формула" r:id="rId17" imgW="1981200" imgH="444500" progId="Equation.3">
                  <p:embed/>
                </p:oleObj>
              </mc:Choice>
              <mc:Fallback>
                <p:oleObj name="Формула" r:id="rId17" imgW="1981200" imgH="444500" progId="Equation.3">
                  <p:embed/>
                  <p:pic>
                    <p:nvPicPr>
                      <p:cNvPr id="17435" name="Object 26">
                        <a:extLst>
                          <a:ext uri="{FF2B5EF4-FFF2-40B4-BE49-F238E27FC236}">
                            <a16:creationId xmlns:a16="http://schemas.microsoft.com/office/drawing/2014/main" id="{4C00C624-22D5-4132-A1DF-CC4C9961A8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078163"/>
                        <a:ext cx="30956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Rectangle 28">
            <a:extLst>
              <a:ext uri="{FF2B5EF4-FFF2-40B4-BE49-F238E27FC236}">
                <a16:creationId xmlns:a16="http://schemas.microsoft.com/office/drawing/2014/main" id="{71B202ED-C058-4E6D-829C-AB66F418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860800"/>
            <a:ext cx="995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7437" name="Rectangle 29">
            <a:extLst>
              <a:ext uri="{FF2B5EF4-FFF2-40B4-BE49-F238E27FC236}">
                <a16:creationId xmlns:a16="http://schemas.microsoft.com/office/drawing/2014/main" id="{F67E91EF-2BAA-4116-AF99-010836A42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0" y="3141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</a:t>
            </a:r>
          </a:p>
        </p:txBody>
      </p:sp>
      <p:sp>
        <p:nvSpPr>
          <p:cNvPr id="17438" name="Rectangle 31">
            <a:extLst>
              <a:ext uri="{FF2B5EF4-FFF2-40B4-BE49-F238E27FC236}">
                <a16:creationId xmlns:a16="http://schemas.microsoft.com/office/drawing/2014/main" id="{FFAA7D88-A919-4651-AB0F-C44DA6EBD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39" name="Object 30">
            <a:extLst>
              <a:ext uri="{FF2B5EF4-FFF2-40B4-BE49-F238E27FC236}">
                <a16:creationId xmlns:a16="http://schemas.microsoft.com/office/drawing/2014/main" id="{61C43194-3AA9-40D4-B868-C488C951B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871913"/>
          <a:ext cx="19446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4" name="Формула" r:id="rId19" imgW="1180588" imgH="203112" progId="Equation.3">
                  <p:embed/>
                </p:oleObj>
              </mc:Choice>
              <mc:Fallback>
                <p:oleObj name="Формула" r:id="rId19" imgW="1180588" imgH="203112" progId="Equation.3">
                  <p:embed/>
                  <p:pic>
                    <p:nvPicPr>
                      <p:cNvPr id="17439" name="Object 30">
                        <a:extLst>
                          <a:ext uri="{FF2B5EF4-FFF2-40B4-BE49-F238E27FC236}">
                            <a16:creationId xmlns:a16="http://schemas.microsoft.com/office/drawing/2014/main" id="{61C43194-3AA9-40D4-B868-C488C951B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871913"/>
                        <a:ext cx="194468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0" name="Rectangle 32">
            <a:extLst>
              <a:ext uri="{FF2B5EF4-FFF2-40B4-BE49-F238E27FC236}">
                <a16:creationId xmlns:a16="http://schemas.microsoft.com/office/drawing/2014/main" id="{F46A2AD4-4007-48F6-AFCC-BB4EDF0BE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860800"/>
            <a:ext cx="3495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Необходимо, чтобы векторы   </a:t>
            </a:r>
          </a:p>
        </p:txBody>
      </p:sp>
      <p:sp>
        <p:nvSpPr>
          <p:cNvPr id="17441" name="Rectangle 33">
            <a:extLst>
              <a:ext uri="{FF2B5EF4-FFF2-40B4-BE49-F238E27FC236}">
                <a16:creationId xmlns:a16="http://schemas.microsoft.com/office/drawing/2014/main" id="{F1074485-1ED4-4446-AF45-BE176C47C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860800"/>
            <a:ext cx="958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i="1"/>
              <a:t>y</a:t>
            </a:r>
            <a:r>
              <a:rPr lang="ru-RU" altLang="ru-RU"/>
              <a:t>   и   </a:t>
            </a:r>
            <a:r>
              <a:rPr lang="en-US" altLang="ru-RU" i="1"/>
              <a:t>z</a:t>
            </a:r>
            <a:r>
              <a:rPr lang="ru-RU" altLang="ru-RU"/>
              <a:t>  </a:t>
            </a:r>
          </a:p>
        </p:txBody>
      </p:sp>
      <p:sp>
        <p:nvSpPr>
          <p:cNvPr id="17442" name="Rectangle 35">
            <a:extLst>
              <a:ext uri="{FF2B5EF4-FFF2-40B4-BE49-F238E27FC236}">
                <a16:creationId xmlns:a16="http://schemas.microsoft.com/office/drawing/2014/main" id="{FB35B1C9-1DDF-480B-B91B-CACF5A7D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391025"/>
            <a:ext cx="2125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имели размерность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7443" name="Object 34">
            <a:extLst>
              <a:ext uri="{FF2B5EF4-FFF2-40B4-BE49-F238E27FC236}">
                <a16:creationId xmlns:a16="http://schemas.microsoft.com/office/drawing/2014/main" id="{ABDA6900-327E-4D08-B2F3-A6811BE210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4437063"/>
          <a:ext cx="86518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5" name="Формула" r:id="rId21" imgW="444307" imgH="203112" progId="Equation.3">
                  <p:embed/>
                </p:oleObj>
              </mc:Choice>
              <mc:Fallback>
                <p:oleObj name="Формула" r:id="rId21" imgW="444307" imgH="203112" progId="Equation.3">
                  <p:embed/>
                  <p:pic>
                    <p:nvPicPr>
                      <p:cNvPr id="17443" name="Object 34">
                        <a:extLst>
                          <a:ext uri="{FF2B5EF4-FFF2-40B4-BE49-F238E27FC236}">
                            <a16:creationId xmlns:a16="http://schemas.microsoft.com/office/drawing/2014/main" id="{ABDA6900-327E-4D08-B2F3-A6811BE210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437063"/>
                        <a:ext cx="865187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4" name="Rectangle 36">
            <a:extLst>
              <a:ext uri="{FF2B5EF4-FFF2-40B4-BE49-F238E27FC236}">
                <a16:creationId xmlns:a16="http://schemas.microsoft.com/office/drawing/2014/main" id="{928A2676-BABD-44E4-8094-3099C454F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644900"/>
            <a:ext cx="247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7445" name="Rectangle 37">
            <a:extLst>
              <a:ext uri="{FF2B5EF4-FFF2-40B4-BE49-F238E27FC236}">
                <a16:creationId xmlns:a16="http://schemas.microsoft.com/office/drawing/2014/main" id="{2F989252-8C59-479F-A148-689F1D770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3656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17446" name="Rectangle 38">
            <a:extLst>
              <a:ext uri="{FF2B5EF4-FFF2-40B4-BE49-F238E27FC236}">
                <a16:creationId xmlns:a16="http://schemas.microsoft.com/office/drawing/2014/main" id="{D30A41E5-D9D0-48A9-BA5F-9D9EEECD6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868863"/>
            <a:ext cx="8867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зависимости от подбора векторов  </a:t>
            </a:r>
            <a:r>
              <a:rPr lang="en-US" altLang="ru-RU" i="1"/>
              <a:t>y</a:t>
            </a:r>
            <a:r>
              <a:rPr lang="ru-RU" altLang="ru-RU"/>
              <a:t>  и  </a:t>
            </a:r>
            <a:r>
              <a:rPr lang="en-US" altLang="ru-RU" i="1"/>
              <a:t>z</a:t>
            </a:r>
            <a:r>
              <a:rPr lang="ru-RU" altLang="ru-RU"/>
              <a:t>  получим различные варианты метода </a:t>
            </a:r>
          </a:p>
        </p:txBody>
      </p:sp>
      <p:sp>
        <p:nvSpPr>
          <p:cNvPr id="17447" name="Rectangle 39">
            <a:extLst>
              <a:ext uri="{FF2B5EF4-FFF2-40B4-BE49-F238E27FC236}">
                <a16:creationId xmlns:a16="http://schemas.microsoft.com/office/drawing/2014/main" id="{0819863B-5A79-408E-8F35-D8C80E86F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373688"/>
            <a:ext cx="25225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переменной метрики. </a:t>
            </a:r>
          </a:p>
        </p:txBody>
      </p:sp>
      <p:sp>
        <p:nvSpPr>
          <p:cNvPr id="17448" name="Rectangle 41">
            <a:extLst>
              <a:ext uri="{FF2B5EF4-FFF2-40B4-BE49-F238E27FC236}">
                <a16:creationId xmlns:a16="http://schemas.microsoft.com/office/drawing/2014/main" id="{9A3244A4-1C2D-4686-A073-76133B2E8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49" name="Object 40">
            <a:extLst>
              <a:ext uri="{FF2B5EF4-FFF2-40B4-BE49-F238E27FC236}">
                <a16:creationId xmlns:a16="http://schemas.microsoft.com/office/drawing/2014/main" id="{C9443CEA-3F23-4E0D-A265-AA32F511D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300663"/>
          <a:ext cx="16573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6" name="Формула" r:id="rId23" imgW="939392" imgH="444307" progId="Equation.3">
                  <p:embed/>
                </p:oleObj>
              </mc:Choice>
              <mc:Fallback>
                <p:oleObj name="Формула" r:id="rId23" imgW="939392" imgH="444307" progId="Equation.3">
                  <p:embed/>
                  <p:pic>
                    <p:nvPicPr>
                      <p:cNvPr id="17449" name="Object 40">
                        <a:extLst>
                          <a:ext uri="{FF2B5EF4-FFF2-40B4-BE49-F238E27FC236}">
                            <a16:creationId xmlns:a16="http://schemas.microsoft.com/office/drawing/2014/main" id="{C9443CEA-3F23-4E0D-A265-AA32F511DE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300663"/>
                        <a:ext cx="16573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Rectangle 42">
            <a:extLst>
              <a:ext uri="{FF2B5EF4-FFF2-40B4-BE49-F238E27FC236}">
                <a16:creationId xmlns:a16="http://schemas.microsoft.com/office/drawing/2014/main" id="{2D6E8442-101A-4E74-A7F4-33C34DEE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516563"/>
            <a:ext cx="3540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, </a:t>
            </a:r>
          </a:p>
        </p:txBody>
      </p:sp>
      <p:sp>
        <p:nvSpPr>
          <p:cNvPr id="17451" name="Rectangle 44">
            <a:extLst>
              <a:ext uri="{FF2B5EF4-FFF2-40B4-BE49-F238E27FC236}">
                <a16:creationId xmlns:a16="http://schemas.microsoft.com/office/drawing/2014/main" id="{D240B153-9971-41FA-8704-B1AEE68E7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52" name="Object 43">
            <a:extLst>
              <a:ext uri="{FF2B5EF4-FFF2-40B4-BE49-F238E27FC236}">
                <a16:creationId xmlns:a16="http://schemas.microsoft.com/office/drawing/2014/main" id="{2F732688-7F7D-47CB-BBD1-5F862BBCC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300663"/>
          <a:ext cx="20161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7" name="Формула" r:id="rId25" imgW="1205977" imgH="444307" progId="Equation.3">
                  <p:embed/>
                </p:oleObj>
              </mc:Choice>
              <mc:Fallback>
                <p:oleObj name="Формула" r:id="rId25" imgW="1205977" imgH="444307" progId="Equation.3">
                  <p:embed/>
                  <p:pic>
                    <p:nvPicPr>
                      <p:cNvPr id="17452" name="Object 43">
                        <a:extLst>
                          <a:ext uri="{FF2B5EF4-FFF2-40B4-BE49-F238E27FC236}">
                            <a16:creationId xmlns:a16="http://schemas.microsoft.com/office/drawing/2014/main" id="{2F732688-7F7D-47CB-BBD1-5F862BBCC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300663"/>
                        <a:ext cx="20161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3" name="Rectangle 45">
            <a:extLst>
              <a:ext uri="{FF2B5EF4-FFF2-40B4-BE49-F238E27FC236}">
                <a16:creationId xmlns:a16="http://schemas.microsoft.com/office/drawing/2014/main" id="{B8658122-AE86-47E4-BC4F-7EFF85C7E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4451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4347D93-7E2F-435E-AA40-92CBE87DD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Метод  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Девидона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Флетчера – Пауэлла (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DFP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ru-RU" altLang="ru-RU" sz="2400" b="1" u="sng" dirty="0"/>
            </a:br>
            <a:endParaRPr lang="ru-RU" altLang="ru-RU" sz="2400" b="1" u="sng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F687D90-BE18-4E3A-BA22-6F4745D77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u-RU" altLang="ru-RU" sz="2000" b="1" u="sng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1D9A19F6-EFED-4011-B86D-656C332C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2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8437" name="Object 4">
            <a:extLst>
              <a:ext uri="{FF2B5EF4-FFF2-40B4-BE49-F238E27FC236}">
                <a16:creationId xmlns:a16="http://schemas.microsoft.com/office/drawing/2014/main" id="{285EF503-FD3E-4C59-A891-AE8B7FA76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390775"/>
          <a:ext cx="691197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8" name="Формула" r:id="rId3" imgW="2743200" imgH="952500" progId="Equation.3">
                  <p:embed/>
                </p:oleObj>
              </mc:Choice>
              <mc:Fallback>
                <p:oleObj name="Формула" r:id="rId3" imgW="2743200" imgH="952500" progId="Equation.3">
                  <p:embed/>
                  <p:pic>
                    <p:nvPicPr>
                      <p:cNvPr id="18437" name="Object 4">
                        <a:extLst>
                          <a:ext uri="{FF2B5EF4-FFF2-40B4-BE49-F238E27FC236}">
                            <a16:creationId xmlns:a16="http://schemas.microsoft.com/office/drawing/2014/main" id="{285EF503-FD3E-4C59-A891-AE8B7FA76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390775"/>
                        <a:ext cx="6911975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4C14AD0-7AD8-4B42-B35B-53DB0AD21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b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DFFF9F1-8A5F-4CA2-8430-D7384C32E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u-RU" altLang="ru-RU" sz="2000" b="1" u="sng"/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3654D9A1-7515-435C-970B-A54C0DAC0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438B797F-4C7C-4D4E-AF6E-FDDA6CF5B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F3E69D5C-EE5B-46E6-99B5-BECDF6AF6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036763"/>
          <a:ext cx="44640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0" name="Формула" r:id="rId3" imgW="1955800" imgH="241300" progId="Equation.3">
                  <p:embed/>
                </p:oleObj>
              </mc:Choice>
              <mc:Fallback>
                <p:oleObj name="Формула" r:id="rId3" imgW="1955800" imgH="241300" progId="Equation.3">
                  <p:embed/>
                  <p:pic>
                    <p:nvPicPr>
                      <p:cNvPr id="19462" name="Object 6">
                        <a:extLst>
                          <a:ext uri="{FF2B5EF4-FFF2-40B4-BE49-F238E27FC236}">
                            <a16:creationId xmlns:a16="http://schemas.microsoft.com/office/drawing/2014/main" id="{F3E69D5C-EE5B-46E6-99B5-BECDF6AF61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36763"/>
                        <a:ext cx="44640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9">
            <a:extLst>
              <a:ext uri="{FF2B5EF4-FFF2-40B4-BE49-F238E27FC236}">
                <a16:creationId xmlns:a16="http://schemas.microsoft.com/office/drawing/2014/main" id="{66F8F01E-F0C7-42AE-A1A1-32007B5DF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EE0AA522-E071-4135-9874-CE4B9FD4C4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852738"/>
          <a:ext cx="792003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1" name="Формула" r:id="rId5" imgW="4127500" imgH="457200" progId="Equation.3">
                  <p:embed/>
                </p:oleObj>
              </mc:Choice>
              <mc:Fallback>
                <p:oleObj name="Формула" r:id="rId5" imgW="4127500" imgH="457200" progId="Equation.3">
                  <p:embed/>
                  <p:pic>
                    <p:nvPicPr>
                      <p:cNvPr id="19464" name="Object 8">
                        <a:extLst>
                          <a:ext uri="{FF2B5EF4-FFF2-40B4-BE49-F238E27FC236}">
                            <a16:creationId xmlns:a16="http://schemas.microsoft.com/office/drawing/2014/main" id="{EE0AA522-E071-4135-9874-CE4B9FD4C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52738"/>
                        <a:ext cx="792003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10">
            <a:extLst>
              <a:ext uri="{FF2B5EF4-FFF2-40B4-BE49-F238E27FC236}">
                <a16:creationId xmlns:a16="http://schemas.microsoft.com/office/drawing/2014/main" id="{2EA3D191-143F-49F6-B207-0CE63E714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940175"/>
            <a:ext cx="8353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Здесь так же как и в методе сопряженных градиентов на каждой итерации формируется новая матрица сопряжения </a:t>
            </a:r>
          </a:p>
        </p:txBody>
      </p:sp>
      <p:sp>
        <p:nvSpPr>
          <p:cNvPr id="19466" name="Rectangle 12">
            <a:extLst>
              <a:ext uri="{FF2B5EF4-FFF2-40B4-BE49-F238E27FC236}">
                <a16:creationId xmlns:a16="http://schemas.microsoft.com/office/drawing/2014/main" id="{90E07655-9945-4422-AE77-79F760897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67" name="Object 11">
            <a:extLst>
              <a:ext uri="{FF2B5EF4-FFF2-40B4-BE49-F238E27FC236}">
                <a16:creationId xmlns:a16="http://schemas.microsoft.com/office/drawing/2014/main" id="{C701D07C-6E6E-4672-B8A4-079BBBA9C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4221163"/>
          <a:ext cx="5762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2" name="Формула" r:id="rId7" imgW="279400" imgH="228600" progId="Equation.3">
                  <p:embed/>
                </p:oleObj>
              </mc:Choice>
              <mc:Fallback>
                <p:oleObj name="Формула" r:id="rId7" imgW="279400" imgH="228600" progId="Equation.3">
                  <p:embed/>
                  <p:pic>
                    <p:nvPicPr>
                      <p:cNvPr id="19467" name="Object 11">
                        <a:extLst>
                          <a:ext uri="{FF2B5EF4-FFF2-40B4-BE49-F238E27FC236}">
                            <a16:creationId xmlns:a16="http://schemas.microsoft.com/office/drawing/2014/main" id="{C701D07C-6E6E-4672-B8A4-079BBBA9C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221163"/>
                        <a:ext cx="5762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Rectangle 13">
            <a:extLst>
              <a:ext uri="{FF2B5EF4-FFF2-40B4-BE49-F238E27FC236}">
                <a16:creationId xmlns:a16="http://schemas.microsoft.com/office/drawing/2014/main" id="{19E6D604-2110-438D-909A-BB76EC948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292600"/>
            <a:ext cx="700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где </a:t>
            </a:r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B2A43371-2C53-4353-9C56-929FFE089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70" name="Object 14">
            <a:extLst>
              <a:ext uri="{FF2B5EF4-FFF2-40B4-BE49-F238E27FC236}">
                <a16:creationId xmlns:a16="http://schemas.microsoft.com/office/drawing/2014/main" id="{9DD65890-EB88-4BA1-8385-F1BDAA0C75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581525"/>
          <a:ext cx="43211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3" name="Формула" r:id="rId9" imgW="2006600" imgH="241300" progId="Equation.3">
                  <p:embed/>
                </p:oleObj>
              </mc:Choice>
              <mc:Fallback>
                <p:oleObj name="Формула" r:id="rId9" imgW="2006600" imgH="241300" progId="Equation.3">
                  <p:embed/>
                  <p:pic>
                    <p:nvPicPr>
                      <p:cNvPr id="19470" name="Object 14">
                        <a:extLst>
                          <a:ext uri="{FF2B5EF4-FFF2-40B4-BE49-F238E27FC236}">
                            <a16:creationId xmlns:a16="http://schemas.microsoft.com/office/drawing/2014/main" id="{9DD65890-EB88-4BA1-8385-F1BDAA0C75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43211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Rectangle 16">
            <a:extLst>
              <a:ext uri="{FF2B5EF4-FFF2-40B4-BE49-F238E27FC236}">
                <a16:creationId xmlns:a16="http://schemas.microsoft.com/office/drawing/2014/main" id="{0EB30412-1DD4-4949-A829-29F6720B4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516563"/>
            <a:ext cx="1285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этом: </a:t>
            </a:r>
          </a:p>
        </p:txBody>
      </p:sp>
      <p:sp>
        <p:nvSpPr>
          <p:cNvPr id="19472" name="Rectangle 18">
            <a:extLst>
              <a:ext uri="{FF2B5EF4-FFF2-40B4-BE49-F238E27FC236}">
                <a16:creationId xmlns:a16="http://schemas.microsoft.com/office/drawing/2014/main" id="{D76C0C26-B746-47A8-ACA4-4AE38B2AF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9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73" name="Object 17">
            <a:extLst>
              <a:ext uri="{FF2B5EF4-FFF2-40B4-BE49-F238E27FC236}">
                <a16:creationId xmlns:a16="http://schemas.microsoft.com/office/drawing/2014/main" id="{3E830130-2F7A-45DE-A4EA-E69397670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013325"/>
          <a:ext cx="4176712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4" name="Формула" r:id="rId11" imgW="2057400" imgH="736600" progId="Equation.3">
                  <p:embed/>
                </p:oleObj>
              </mc:Choice>
              <mc:Fallback>
                <p:oleObj name="Формула" r:id="rId11" imgW="2057400" imgH="736600" progId="Equation.3">
                  <p:embed/>
                  <p:pic>
                    <p:nvPicPr>
                      <p:cNvPr id="19473" name="Object 17">
                        <a:extLst>
                          <a:ext uri="{FF2B5EF4-FFF2-40B4-BE49-F238E27FC236}">
                            <a16:creationId xmlns:a16="http://schemas.microsoft.com/office/drawing/2014/main" id="{3E830130-2F7A-45DE-A4EA-E69397670A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013325"/>
                        <a:ext cx="4176712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Rectangle 19">
            <a:extLst>
              <a:ext uri="{FF2B5EF4-FFF2-40B4-BE49-F238E27FC236}">
                <a16:creationId xmlns:a16="http://schemas.microsoft.com/office/drawing/2014/main" id="{42FC14F2-CF9C-46D9-BD17-70F04A531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65296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;</a:t>
            </a:r>
          </a:p>
        </p:txBody>
      </p:sp>
      <p:sp>
        <p:nvSpPr>
          <p:cNvPr id="19475" name="Rectangle 20">
            <a:extLst>
              <a:ext uri="{FF2B5EF4-FFF2-40B4-BE49-F238E27FC236}">
                <a16:creationId xmlns:a16="http://schemas.microsoft.com/office/drawing/2014/main" id="{C8DD8FB2-483E-4BE3-82F4-F6B7EABFF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589588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;</a:t>
            </a:r>
          </a:p>
        </p:txBody>
      </p:sp>
      <p:sp>
        <p:nvSpPr>
          <p:cNvPr id="19476" name="Rectangle 21">
            <a:extLst>
              <a:ext uri="{FF2B5EF4-FFF2-40B4-BE49-F238E27FC236}">
                <a16:creationId xmlns:a16="http://schemas.microsoft.com/office/drawing/2014/main" id="{9DEC1D9B-7FEC-4813-AB8F-B6954D234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8713" y="3068638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</a:t>
            </a:r>
          </a:p>
        </p:txBody>
      </p:sp>
      <p:sp>
        <p:nvSpPr>
          <p:cNvPr id="19477" name="Rectangle 22">
            <a:extLst>
              <a:ext uri="{FF2B5EF4-FFF2-40B4-BE49-F238E27FC236}">
                <a16:creationId xmlns:a16="http://schemas.microsoft.com/office/drawing/2014/main" id="{82F55F94-239E-4FA9-B7F6-97526A0F8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6165850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9B1F719-7A21-4BD9-B324-A3ACDAB85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квазиньютоновских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методов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92D95C9-1961-45F7-B5F9-5F363CF7F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ru-RU" altLang="ru-RU" sz="2000" u="sng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AD0F8E27-E4C4-4BAB-BEDD-4562AD63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7632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Ш0.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 Выбор параметров точности 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ru-RU" altLang="ru-RU">
                <a:cs typeface="Times New Roman" panose="02020603050405020304" pitchFamily="18" charset="0"/>
              </a:rPr>
              <a:t>, </a:t>
            </a:r>
            <a:r>
              <a:rPr lang="en-US" altLang="ru-RU"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=0. Выбор нач. точки </a:t>
            </a:r>
          </a:p>
        </p:txBody>
      </p:sp>
      <p:graphicFrame>
        <p:nvGraphicFramePr>
          <p:cNvPr id="20485" name="Object 4">
            <a:extLst>
              <a:ext uri="{FF2B5EF4-FFF2-40B4-BE49-F238E27FC236}">
                <a16:creationId xmlns:a16="http://schemas.microsoft.com/office/drawing/2014/main" id="{C01836E4-C4B0-4DA8-A09E-B07C206C0E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1773238"/>
          <a:ext cx="5048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8" name="Формула" r:id="rId3" imgW="253780" imgH="203024" progId="Equation.3">
                  <p:embed/>
                </p:oleObj>
              </mc:Choice>
              <mc:Fallback>
                <p:oleObj name="Формула" r:id="rId3" imgW="253780" imgH="203024" progId="Equation.3">
                  <p:embed/>
                  <p:pic>
                    <p:nvPicPr>
                      <p:cNvPr id="20485" name="Object 4">
                        <a:extLst>
                          <a:ext uri="{FF2B5EF4-FFF2-40B4-BE49-F238E27FC236}">
                            <a16:creationId xmlns:a16="http://schemas.microsoft.com/office/drawing/2014/main" id="{C01836E4-C4B0-4DA8-A09E-B07C206C0E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773238"/>
                        <a:ext cx="5048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6">
            <a:extLst>
              <a:ext uri="{FF2B5EF4-FFF2-40B4-BE49-F238E27FC236}">
                <a16:creationId xmlns:a16="http://schemas.microsoft.com/office/drawing/2014/main" id="{0D77DB4B-B4E4-4032-BFED-3C4B2EB96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1590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B3A7C077-46C8-4A6C-841C-BEB8844A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05038"/>
            <a:ext cx="1919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Ш1.</a:t>
            </a:r>
            <a:r>
              <a:rPr lang="ru-RU" altLang="ru-RU"/>
              <a:t> Вычислить: </a:t>
            </a:r>
          </a:p>
        </p:txBody>
      </p:sp>
      <p:sp>
        <p:nvSpPr>
          <p:cNvPr id="20488" name="Rectangle 9">
            <a:extLst>
              <a:ext uri="{FF2B5EF4-FFF2-40B4-BE49-F238E27FC236}">
                <a16:creationId xmlns:a16="http://schemas.microsoft.com/office/drawing/2014/main" id="{F1E619D1-84C1-470C-AB70-380BA312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89" name="Object 8">
            <a:extLst>
              <a:ext uri="{FF2B5EF4-FFF2-40B4-BE49-F238E27FC236}">
                <a16:creationId xmlns:a16="http://schemas.microsoft.com/office/drawing/2014/main" id="{B1266F12-9FC0-411E-9CA6-80093A091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205038"/>
          <a:ext cx="439261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9" name="Формула" r:id="rId5" imgW="2590800" imgH="241300" progId="Equation.3">
                  <p:embed/>
                </p:oleObj>
              </mc:Choice>
              <mc:Fallback>
                <p:oleObj name="Формула" r:id="rId5" imgW="2590800" imgH="241300" progId="Equation.3">
                  <p:embed/>
                  <p:pic>
                    <p:nvPicPr>
                      <p:cNvPr id="20489" name="Object 8">
                        <a:extLst>
                          <a:ext uri="{FF2B5EF4-FFF2-40B4-BE49-F238E27FC236}">
                            <a16:creationId xmlns:a16="http://schemas.microsoft.com/office/drawing/2014/main" id="{B1266F12-9FC0-411E-9CA6-80093A091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05038"/>
                        <a:ext cx="4392612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0">
            <a:extLst>
              <a:ext uri="{FF2B5EF4-FFF2-40B4-BE49-F238E27FC236}">
                <a16:creationId xmlns:a16="http://schemas.microsoft.com/office/drawing/2014/main" id="{78ED42AF-ADEB-4B3B-B52D-0AE9C1228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08275"/>
            <a:ext cx="1919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Ш2.</a:t>
            </a:r>
            <a:r>
              <a:rPr lang="ru-RU" altLang="ru-RU"/>
              <a:t> Вычислить: </a:t>
            </a:r>
          </a:p>
        </p:txBody>
      </p:sp>
      <p:sp>
        <p:nvSpPr>
          <p:cNvPr id="20491" name="Rectangle 12">
            <a:extLst>
              <a:ext uri="{FF2B5EF4-FFF2-40B4-BE49-F238E27FC236}">
                <a16:creationId xmlns:a16="http://schemas.microsoft.com/office/drawing/2014/main" id="{50597C86-BCF1-475A-85DD-AB1E5A25A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92" name="Object 11">
            <a:extLst>
              <a:ext uri="{FF2B5EF4-FFF2-40B4-BE49-F238E27FC236}">
                <a16:creationId xmlns:a16="http://schemas.microsoft.com/office/drawing/2014/main" id="{5F93924F-DD0C-4CF0-9C83-4329BC6CB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708275"/>
          <a:ext cx="51133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0" name="Формула" r:id="rId7" imgW="3568700" imgH="228600" progId="Equation.3">
                  <p:embed/>
                </p:oleObj>
              </mc:Choice>
              <mc:Fallback>
                <p:oleObj name="Формула" r:id="rId7" imgW="3568700" imgH="228600" progId="Equation.3">
                  <p:embed/>
                  <p:pic>
                    <p:nvPicPr>
                      <p:cNvPr id="20492" name="Object 11">
                        <a:extLst>
                          <a:ext uri="{FF2B5EF4-FFF2-40B4-BE49-F238E27FC236}">
                            <a16:creationId xmlns:a16="http://schemas.microsoft.com/office/drawing/2014/main" id="{5F93924F-DD0C-4CF0-9C83-4329BC6CB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708275"/>
                        <a:ext cx="5113337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Rectangle 13">
            <a:extLst>
              <a:ext uri="{FF2B5EF4-FFF2-40B4-BE49-F238E27FC236}">
                <a16:creationId xmlns:a16="http://schemas.microsoft.com/office/drawing/2014/main" id="{CB38DA15-A30B-4DDE-A54A-4019FE0A2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284538"/>
            <a:ext cx="1919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</a:t>
            </a:r>
            <a:r>
              <a:rPr lang="ru-RU" altLang="ru-RU"/>
              <a:t>. Вычислить: </a:t>
            </a:r>
          </a:p>
        </p:txBody>
      </p:sp>
      <p:sp>
        <p:nvSpPr>
          <p:cNvPr id="20494" name="Rectangle 15">
            <a:extLst>
              <a:ext uri="{FF2B5EF4-FFF2-40B4-BE49-F238E27FC236}">
                <a16:creationId xmlns:a16="http://schemas.microsoft.com/office/drawing/2014/main" id="{470BC571-F534-4B39-A186-86DA0D92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95" name="Object 14">
            <a:extLst>
              <a:ext uri="{FF2B5EF4-FFF2-40B4-BE49-F238E27FC236}">
                <a16:creationId xmlns:a16="http://schemas.microsoft.com/office/drawing/2014/main" id="{67EA5434-4500-492C-9DDE-CF9CB76A4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213100"/>
          <a:ext cx="37433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1" name="Формула" r:id="rId9" imgW="2260600" imgH="228600" progId="Equation.3">
                  <p:embed/>
                </p:oleObj>
              </mc:Choice>
              <mc:Fallback>
                <p:oleObj name="Формула" r:id="rId9" imgW="2260600" imgH="228600" progId="Equation.3">
                  <p:embed/>
                  <p:pic>
                    <p:nvPicPr>
                      <p:cNvPr id="20495" name="Object 14">
                        <a:extLst>
                          <a:ext uri="{FF2B5EF4-FFF2-40B4-BE49-F238E27FC236}">
                            <a16:creationId xmlns:a16="http://schemas.microsoft.com/office/drawing/2014/main" id="{67EA5434-4500-492C-9DDE-CF9CB76A49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13100"/>
                        <a:ext cx="37433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Rectangle 16">
            <a:extLst>
              <a:ext uri="{FF2B5EF4-FFF2-40B4-BE49-F238E27FC236}">
                <a16:creationId xmlns:a16="http://schemas.microsoft.com/office/drawing/2014/main" id="{5DF66809-5299-41B4-8857-A4E50A206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33825"/>
            <a:ext cx="1919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Ш4.</a:t>
            </a:r>
            <a:r>
              <a:rPr lang="ru-RU" altLang="ru-RU"/>
              <a:t> Вычислить: </a:t>
            </a:r>
          </a:p>
        </p:txBody>
      </p:sp>
      <p:sp>
        <p:nvSpPr>
          <p:cNvPr id="20497" name="Rectangle 18">
            <a:extLst>
              <a:ext uri="{FF2B5EF4-FFF2-40B4-BE49-F238E27FC236}">
                <a16:creationId xmlns:a16="http://schemas.microsoft.com/office/drawing/2014/main" id="{C6AFBD94-E9EF-4802-AADD-495634ACD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98" name="Object 17">
            <a:extLst>
              <a:ext uri="{FF2B5EF4-FFF2-40B4-BE49-F238E27FC236}">
                <a16:creationId xmlns:a16="http://schemas.microsoft.com/office/drawing/2014/main" id="{C80A1EDB-53FD-4751-85F2-86F158CCF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860800"/>
          <a:ext cx="6121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2" name="Формула" r:id="rId11" imgW="4241800" imgH="241300" progId="Equation.3">
                  <p:embed/>
                </p:oleObj>
              </mc:Choice>
              <mc:Fallback>
                <p:oleObj name="Формула" r:id="rId11" imgW="4241800" imgH="241300" progId="Equation.3">
                  <p:embed/>
                  <p:pic>
                    <p:nvPicPr>
                      <p:cNvPr id="20498" name="Object 17">
                        <a:extLst>
                          <a:ext uri="{FF2B5EF4-FFF2-40B4-BE49-F238E27FC236}">
                            <a16:creationId xmlns:a16="http://schemas.microsoft.com/office/drawing/2014/main" id="{C80A1EDB-53FD-4751-85F2-86F158CCF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860800"/>
                        <a:ext cx="6121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Rectangle 19">
            <a:extLst>
              <a:ext uri="{FF2B5EF4-FFF2-40B4-BE49-F238E27FC236}">
                <a16:creationId xmlns:a16="http://schemas.microsoft.com/office/drawing/2014/main" id="{D8E98B38-C0D1-41DF-8430-4452DC33F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652963"/>
            <a:ext cx="1220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Ш5</a:t>
            </a:r>
            <a:r>
              <a:rPr lang="ru-RU" altLang="ru-RU"/>
              <a:t>. Если </a:t>
            </a:r>
          </a:p>
        </p:txBody>
      </p:sp>
      <p:sp>
        <p:nvSpPr>
          <p:cNvPr id="20500" name="Rectangle 21">
            <a:extLst>
              <a:ext uri="{FF2B5EF4-FFF2-40B4-BE49-F238E27FC236}">
                <a16:creationId xmlns:a16="http://schemas.microsoft.com/office/drawing/2014/main" id="{009B9B84-B5AD-4C0A-A66D-C292975D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501" name="Object 20">
            <a:extLst>
              <a:ext uri="{FF2B5EF4-FFF2-40B4-BE49-F238E27FC236}">
                <a16:creationId xmlns:a16="http://schemas.microsoft.com/office/drawing/2014/main" id="{71C0477A-036E-47E3-8967-F31FCBD3D6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581525"/>
          <a:ext cx="67691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3" name="Формула" r:id="rId13" imgW="3517900" imgH="279400" progId="Equation.3">
                  <p:embed/>
                </p:oleObj>
              </mc:Choice>
              <mc:Fallback>
                <p:oleObj name="Формула" r:id="rId13" imgW="3517900" imgH="279400" progId="Equation.3">
                  <p:embed/>
                  <p:pic>
                    <p:nvPicPr>
                      <p:cNvPr id="20501" name="Object 20">
                        <a:extLst>
                          <a:ext uri="{FF2B5EF4-FFF2-40B4-BE49-F238E27FC236}">
                            <a16:creationId xmlns:a16="http://schemas.microsoft.com/office/drawing/2014/main" id="{71C0477A-036E-47E3-8967-F31FCBD3D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67691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Rectangle 22">
            <a:extLst>
              <a:ext uri="{FF2B5EF4-FFF2-40B4-BE49-F238E27FC236}">
                <a16:creationId xmlns:a16="http://schemas.microsoft.com/office/drawing/2014/main" id="{F2C62524-2A48-472D-A9AA-20DEBA5A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906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Иначе </a:t>
            </a:r>
          </a:p>
        </p:txBody>
      </p:sp>
      <p:sp>
        <p:nvSpPr>
          <p:cNvPr id="20503" name="Rectangle 24">
            <a:extLst>
              <a:ext uri="{FF2B5EF4-FFF2-40B4-BE49-F238E27FC236}">
                <a16:creationId xmlns:a16="http://schemas.microsoft.com/office/drawing/2014/main" id="{2AD0D8D6-C1A0-486E-8C1A-E7BB40898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504" name="Object 23">
            <a:extLst>
              <a:ext uri="{FF2B5EF4-FFF2-40B4-BE49-F238E27FC236}">
                <a16:creationId xmlns:a16="http://schemas.microsoft.com/office/drawing/2014/main" id="{9793B1CF-8EE4-4E9B-8A2C-12058FA229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300663"/>
          <a:ext cx="43195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4" name="Формула" r:id="rId15" imgW="2463800" imgH="228600" progId="Equation.3">
                  <p:embed/>
                </p:oleObj>
              </mc:Choice>
              <mc:Fallback>
                <p:oleObj name="Формула" r:id="rId15" imgW="2463800" imgH="228600" progId="Equation.3">
                  <p:embed/>
                  <p:pic>
                    <p:nvPicPr>
                      <p:cNvPr id="20504" name="Object 23">
                        <a:extLst>
                          <a:ext uri="{FF2B5EF4-FFF2-40B4-BE49-F238E27FC236}">
                            <a16:creationId xmlns:a16="http://schemas.microsoft.com/office/drawing/2014/main" id="{9793B1CF-8EE4-4E9B-8A2C-12058FA229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300663"/>
                        <a:ext cx="431958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D9D1EC8-8780-4308-A9DC-0A2B9DDA6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 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-Флетчера-Гольдфарба-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BFGS).</a:t>
            </a:r>
            <a:endParaRPr lang="ru-RU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1A7022D-169D-4178-BF58-F908B4BCD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/>
              <a:t>Обозначим</a:t>
            </a:r>
            <a:r>
              <a:rPr lang="ru-RU" altLang="ru-RU"/>
              <a:t> </a:t>
            </a:r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id="{EE435D93-C588-4199-9F5B-5D6ED1D8A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1509" name="Object 4">
            <a:extLst>
              <a:ext uri="{FF2B5EF4-FFF2-40B4-BE49-F238E27FC236}">
                <a16:creationId xmlns:a16="http://schemas.microsoft.com/office/drawing/2014/main" id="{E2DA8C63-451C-425C-9A0C-E09CA7B1C9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700213"/>
          <a:ext cx="50403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8" name="Формула" r:id="rId3" imgW="2895600" imgH="241300" progId="Equation.3">
                  <p:embed/>
                </p:oleObj>
              </mc:Choice>
              <mc:Fallback>
                <p:oleObj name="Формула" r:id="rId3" imgW="2895600" imgH="241300" progId="Equation.3">
                  <p:embed/>
                  <p:pic>
                    <p:nvPicPr>
                      <p:cNvPr id="21509" name="Object 4">
                        <a:extLst>
                          <a:ext uri="{FF2B5EF4-FFF2-40B4-BE49-F238E27FC236}">
                            <a16:creationId xmlns:a16="http://schemas.microsoft.com/office/drawing/2014/main" id="{E2DA8C63-451C-425C-9A0C-E09CA7B1C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00213"/>
                        <a:ext cx="50403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7">
            <a:extLst>
              <a:ext uri="{FF2B5EF4-FFF2-40B4-BE49-F238E27FC236}">
                <a16:creationId xmlns:a16="http://schemas.microsoft.com/office/drawing/2014/main" id="{F1AF324E-16A8-4207-8880-593F2D56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3045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Тогда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graphicFrame>
        <p:nvGraphicFramePr>
          <p:cNvPr id="21511" name="Object 6">
            <a:extLst>
              <a:ext uri="{FF2B5EF4-FFF2-40B4-BE49-F238E27FC236}">
                <a16:creationId xmlns:a16="http://schemas.microsoft.com/office/drawing/2014/main" id="{D7EF4701-C71E-4816-A929-83DDE4095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349500"/>
          <a:ext cx="3095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9" name="Формула" r:id="rId5" imgW="1739900" imgH="241300" progId="Equation.3">
                  <p:embed/>
                </p:oleObj>
              </mc:Choice>
              <mc:Fallback>
                <p:oleObj name="Формула" r:id="rId5" imgW="1739900" imgH="241300" progId="Equation.3">
                  <p:embed/>
                  <p:pic>
                    <p:nvPicPr>
                      <p:cNvPr id="21511" name="Object 6">
                        <a:extLst>
                          <a:ext uri="{FF2B5EF4-FFF2-40B4-BE49-F238E27FC236}">
                            <a16:creationId xmlns:a16="http://schemas.microsoft.com/office/drawing/2014/main" id="{D7EF4701-C71E-4816-A929-83DDE4095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30956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9">
            <a:extLst>
              <a:ext uri="{FF2B5EF4-FFF2-40B4-BE49-F238E27FC236}">
                <a16:creationId xmlns:a16="http://schemas.microsoft.com/office/drawing/2014/main" id="{9A43F995-F628-456B-978A-DAD3BE4E4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97200"/>
            <a:ext cx="1274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Отсюда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graphicFrame>
        <p:nvGraphicFramePr>
          <p:cNvPr id="21513" name="Object 8">
            <a:extLst>
              <a:ext uri="{FF2B5EF4-FFF2-40B4-BE49-F238E27FC236}">
                <a16:creationId xmlns:a16="http://schemas.microsoft.com/office/drawing/2014/main" id="{5CBA11BF-C8BD-42BD-89A2-3A5DF642F6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852738"/>
          <a:ext cx="331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0" name="Формула" r:id="rId7" imgW="2057400" imgH="457200" progId="Equation.3">
                  <p:embed/>
                </p:oleObj>
              </mc:Choice>
              <mc:Fallback>
                <p:oleObj name="Формула" r:id="rId7" imgW="2057400" imgH="457200" progId="Equation.3">
                  <p:embed/>
                  <p:pic>
                    <p:nvPicPr>
                      <p:cNvPr id="21513" name="Object 8">
                        <a:extLst>
                          <a:ext uri="{FF2B5EF4-FFF2-40B4-BE49-F238E27FC236}">
                            <a16:creationId xmlns:a16="http://schemas.microsoft.com/office/drawing/2014/main" id="{5CBA11BF-C8BD-42BD-89A2-3A5DF642F6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33131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>
            <a:extLst>
              <a:ext uri="{FF2B5EF4-FFF2-40B4-BE49-F238E27FC236}">
                <a16:creationId xmlns:a16="http://schemas.microsoft.com/office/drawing/2014/main" id="{C007C3AA-A491-46F0-9C41-3780F1648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365760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D19590BF-AB3C-4976-ADEC-6BC0AD8B0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924175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43AC44F5-4FD0-477C-88D0-4D7F9CD44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644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155B919B-F35E-4D73-85F1-A60912984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33788"/>
            <a:ext cx="8067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Такая замена обеспечивает более устойчивый процесс</a:t>
            </a:r>
            <a:endParaRPr lang="en-US" altLang="ru-RU" sz="2400"/>
          </a:p>
          <a:p>
            <a:pPr eaLnBrk="1" hangingPunct="1"/>
            <a:r>
              <a:rPr lang="ru-RU" altLang="ru-RU" sz="2400"/>
              <a:t> поиска экстремума.</a:t>
            </a:r>
          </a:p>
        </p:txBody>
      </p:sp>
      <p:graphicFrame>
        <p:nvGraphicFramePr>
          <p:cNvPr id="21518" name="Object 15">
            <a:extLst>
              <a:ext uri="{FF2B5EF4-FFF2-40B4-BE49-F238E27FC236}">
                <a16:creationId xmlns:a16="http://schemas.microsoft.com/office/drawing/2014/main" id="{2B6C8D6A-F4EB-48E8-B06F-C587704853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365625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1" name="Формула" r:id="rId9" imgW="330057" imgH="190417" progId="Equation.3">
                  <p:embed/>
                </p:oleObj>
              </mc:Choice>
              <mc:Fallback>
                <p:oleObj name="Формула" r:id="rId9" imgW="330057" imgH="190417" progId="Equation.3">
                  <p:embed/>
                  <p:pic>
                    <p:nvPicPr>
                      <p:cNvPr id="21518" name="Object 15">
                        <a:extLst>
                          <a:ext uri="{FF2B5EF4-FFF2-40B4-BE49-F238E27FC236}">
                            <a16:creationId xmlns:a16="http://schemas.microsoft.com/office/drawing/2014/main" id="{2B6C8D6A-F4EB-48E8-B06F-C587704853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365625"/>
                        <a:ext cx="647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4">
            <a:extLst>
              <a:ext uri="{FF2B5EF4-FFF2-40B4-BE49-F238E27FC236}">
                <a16:creationId xmlns:a16="http://schemas.microsoft.com/office/drawing/2014/main" id="{3CB8E44D-EA60-4EB2-9C98-4AFFE488F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4365625"/>
          <a:ext cx="719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Формула" r:id="rId11" imgW="330057" imgH="190417" progId="Equation.3">
                  <p:embed/>
                </p:oleObj>
              </mc:Choice>
              <mc:Fallback>
                <p:oleObj name="Формула" r:id="rId11" imgW="330057" imgH="190417" progId="Equation.3">
                  <p:embed/>
                  <p:pic>
                    <p:nvPicPr>
                      <p:cNvPr id="21519" name="Object 14">
                        <a:extLst>
                          <a:ext uri="{FF2B5EF4-FFF2-40B4-BE49-F238E27FC236}">
                            <a16:creationId xmlns:a16="http://schemas.microsoft.com/office/drawing/2014/main" id="{3CB8E44D-EA60-4EB2-9C98-4AFFE488F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365625"/>
                        <a:ext cx="7191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Rectangle 16">
            <a:extLst>
              <a:ext uri="{FF2B5EF4-FFF2-40B4-BE49-F238E27FC236}">
                <a16:creationId xmlns:a16="http://schemas.microsoft.com/office/drawing/2014/main" id="{ABF70857-E5FA-4AA7-B554-116212E5A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365625"/>
            <a:ext cx="435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Как видно из соотношений для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FB46A173-748E-4D5D-BDD0-4B0235348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365625"/>
            <a:ext cx="515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 и 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0B4BA558-5E10-4633-99DC-09ADED229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868863"/>
            <a:ext cx="684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пересчета для </a:t>
            </a:r>
            <a:r>
              <a:rPr lang="en-US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DFP 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и </a:t>
            </a:r>
            <a:r>
              <a:rPr lang="en-US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BFGS </a:t>
            </a:r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взаимнообратны.</a:t>
            </a: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2796F958-A260-4D49-AF5D-1A23B2A47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365625"/>
            <a:ext cx="1685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 формулы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4573A76-50D3-4299-B986-BE1D2EA9F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</a:t>
            </a: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 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-Флетчера-Гольдфарба-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BFGS)</a:t>
            </a:r>
            <a:endParaRPr lang="ru-RU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661B2CD-18BB-4815-AEEC-3F1015281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u-RU" altLang="ru-RU"/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88B67C51-3CA3-45EC-8C4C-45FEEA497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2533" name="Rectangle 7">
            <a:extLst>
              <a:ext uri="{FF2B5EF4-FFF2-40B4-BE49-F238E27FC236}">
                <a16:creationId xmlns:a16="http://schemas.microsoft.com/office/drawing/2014/main" id="{31F0E407-3ACB-468F-9A2B-7B6F0448A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1C77E43C-93B3-4340-85BE-2A1B5052F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844675"/>
          <a:ext cx="7920037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6" name="Формула" r:id="rId3" imgW="4432300" imgH="939800" progId="Equation.3">
                  <p:embed/>
                </p:oleObj>
              </mc:Choice>
              <mc:Fallback>
                <p:oleObj name="Формула" r:id="rId3" imgW="4432300" imgH="939800" progId="Equation.3">
                  <p:embed/>
                  <p:pic>
                    <p:nvPicPr>
                      <p:cNvPr id="22534" name="Object 6">
                        <a:extLst>
                          <a:ext uri="{FF2B5EF4-FFF2-40B4-BE49-F238E27FC236}">
                            <a16:creationId xmlns:a16="http://schemas.microsoft.com/office/drawing/2014/main" id="{1C77E43C-93B3-4340-85BE-2A1B5052F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44675"/>
                        <a:ext cx="7920037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9">
            <a:extLst>
              <a:ext uri="{FF2B5EF4-FFF2-40B4-BE49-F238E27FC236}">
                <a16:creationId xmlns:a16="http://schemas.microsoft.com/office/drawing/2014/main" id="{553AC7D3-30D5-4813-94CF-1DF34F355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6FFE6487-A04A-4320-AAB5-E762018725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860800"/>
          <a:ext cx="79914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7" name="Формула" r:id="rId5" imgW="4495800" imgH="939800" progId="Equation.3">
                  <p:embed/>
                </p:oleObj>
              </mc:Choice>
              <mc:Fallback>
                <p:oleObj name="Формула" r:id="rId5" imgW="4495800" imgH="939800" progId="Equation.3">
                  <p:embed/>
                  <p:pic>
                    <p:nvPicPr>
                      <p:cNvPr id="22536" name="Object 8">
                        <a:extLst>
                          <a:ext uri="{FF2B5EF4-FFF2-40B4-BE49-F238E27FC236}">
                            <a16:creationId xmlns:a16="http://schemas.microsoft.com/office/drawing/2014/main" id="{6FFE6487-A04A-4320-AAB5-E762018725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860800"/>
                        <a:ext cx="79914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1130</Words>
  <Application>Microsoft Office PowerPoint</Application>
  <PresentationFormat>Экран (4:3)</PresentationFormat>
  <Paragraphs>210</Paragraphs>
  <Slides>25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Times New Roman</vt:lpstr>
      <vt:lpstr>Оформление по умолчанию</vt:lpstr>
      <vt:lpstr>Microsoft Equation 3.0</vt:lpstr>
      <vt:lpstr>ЛЕКЦИЯ № 4</vt:lpstr>
      <vt:lpstr>Методы одномерной оптимизации </vt:lpstr>
      <vt:lpstr>Стратегия поиска (одномерная оптимизация)</vt:lpstr>
      <vt:lpstr>Методы одномерного поиска  (методы стягивающихся отрезков).</vt:lpstr>
      <vt:lpstr>Методы одномерного поиска  (методы стягивающихся отрезков).</vt:lpstr>
      <vt:lpstr>Методы многомерной оптимизации без ограничений.</vt:lpstr>
      <vt:lpstr>Метод Хука-Дживса (Х-Д) </vt:lpstr>
      <vt:lpstr>Метод Нелдера-Мида (деформируемых симплексов)</vt:lpstr>
      <vt:lpstr>Метод Нелдера-Мида (деформируемых симплексов)</vt:lpstr>
      <vt:lpstr>Метод Нелдера-Мида (деформируемых симплексов)</vt:lpstr>
      <vt:lpstr>Метод Нелдера-Мида (деформируемых симплексов)</vt:lpstr>
      <vt:lpstr>Метод Нелдера-Мида (деформируемых симплексов)</vt:lpstr>
      <vt:lpstr>Методы, использующие производные.</vt:lpstr>
      <vt:lpstr>Методы сопряженных градиентов</vt:lpstr>
      <vt:lpstr>Методы сопряженных градиентов</vt:lpstr>
      <vt:lpstr>Метод Флетчера-Ривза  </vt:lpstr>
      <vt:lpstr>Алгоритм метода Флетчера-Ривза.</vt:lpstr>
      <vt:lpstr>Квазиньютоновские методы  ( Методы переменной метрики)</vt:lpstr>
      <vt:lpstr>Квазиньютоновские методы  ( Методы переменной метрики). </vt:lpstr>
      <vt:lpstr>Квазиньютоновские методы  ( Методы переменной метрики).</vt:lpstr>
      <vt:lpstr>Квазиньютоновские методы  1. Метод  Девидона – Флетчера – Пауэлла (DFP). </vt:lpstr>
      <vt:lpstr>Квазиньютоновские методы  2.Метод Бройдена (B). </vt:lpstr>
      <vt:lpstr>Квазиньютоновские методы  Алгоритм квазиньютоновских методов. </vt:lpstr>
      <vt:lpstr>Квазиньютоновские методы  3. Метод Бройдена-Флетчера-Гольдфарба-Шенно.(BFGS).</vt:lpstr>
      <vt:lpstr>Квазиньютоновские методы  3. Метод Бройдена-Флетчера-Гольдфарба-Шенно.(BFGS)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3</dc:title>
  <dc:creator>Yura</dc:creator>
  <cp:lastModifiedBy>Yuriy Kaganov</cp:lastModifiedBy>
  <cp:revision>31</cp:revision>
  <dcterms:created xsi:type="dcterms:W3CDTF">2015-10-05T05:25:32Z</dcterms:created>
  <dcterms:modified xsi:type="dcterms:W3CDTF">2024-09-27T10:12:29Z</dcterms:modified>
</cp:coreProperties>
</file>