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20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2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1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9" Type="http://schemas.openxmlformats.org/officeDocument/2006/relationships/image" Target="../media/image10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9" Type="http://schemas.openxmlformats.org/officeDocument/2006/relationships/image" Target="../media/image11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4D725-04D8-497F-BE5A-33BB815C9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AD6CBC-A5CD-4C7D-9D3A-7A88DB52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C5B20-32D3-4153-A61A-F9095FA1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AF43D-0605-4AAC-93C7-16F10B27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7E396-3AF0-45B5-8E6E-EF0D8559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FF3CD-C761-47C9-977D-6E5C272B577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294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DE890-0EEA-4A06-9A42-FDC89B28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8494F-A600-4F5E-9B84-EA84C6787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C3B4E2-B982-4B67-8BD8-3FA6E674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CF44C-2FC6-46D1-8FA2-03BD277A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A0122E-E77D-4E0F-8196-2857B7C6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23F95-43B0-4DD0-907F-54E571AC803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3565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69159-D4C0-439B-8457-5CF7DDB7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936128-5869-4080-BEF6-7983D54D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CA622E-8ACD-4866-83B5-9332ECC9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7273BD-F19A-48A0-86D0-8BD31767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7A9B68-B248-4467-9DC0-8E63D4F0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00765-8A44-4E08-A739-3C7C6A04A4D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754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2468E-A404-4206-8DBB-5F9CFA4F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39F61B-B992-4D6E-A49F-00D683D27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4AB944-E8D0-4DEA-92ED-03C65B821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A843F9-0D7C-4DEB-89A4-D375A42B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70E1DF-5226-4EDD-9BBE-C49EEC76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341FBB-8C67-4CE4-90BC-D2492300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D3D74-032D-41C7-A3D6-9BA2965F225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7372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CD922-EF8B-41B6-BFBE-A4D4F1C5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98F6CE-A719-4017-98AB-3AEAC90D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7AB482-47B0-4206-B1E8-C3E83943F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60DDAB-B0F3-4386-B17D-FBA77DA05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0BDACA-EEBE-4075-8AB7-CA52D4570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61F370-E436-4F07-8340-8A7E6CDE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3FCAD0-538B-43B9-8AD9-CB5EAF16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B8606C-C386-46D2-8B09-B533FF15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9E84F-A4D4-4B23-8CCA-DABF60A6782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4360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D82C3-C030-42C0-9C26-0A1B3CBC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24624B-CB1C-4917-B57F-9CECAEE7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50FD5E-A1C7-4F12-8584-8372CA0A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F9A599-D476-43BA-8901-6F504759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A3274-F9C1-4608-8D09-0EE3E681FD8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16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62BD45-3F15-4F1A-87E8-C8FCA150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C1B4AA-A68B-42AC-BF0C-167DC576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237B8F-4946-47EC-841F-F36B5A34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DDD29-983E-4001-87D8-A12D5B1A418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6127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B2C36-78C0-473B-9D75-4164E61F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8BF9-62EF-49B9-8EFB-677FD2AF6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65DCDF-22AB-4254-AFF7-3279A681A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8D79B9-9179-46A5-8980-871C65BB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368356-A163-4EFB-B12A-E09AEA01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ED7C46-251E-40F2-89B6-59C942CF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93B7F-3F17-44F7-BC4C-195B1426CDD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223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CF8BB-7CD4-43FE-BF37-DF640698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C5F9BB-ED9A-4AAB-94CF-987A2C491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0AEEA0-A12A-4675-8F40-E14EE72AF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EDDB5-A15E-4D4A-B643-41B972E9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2073BC-7857-46B2-8C06-2FA6F8B3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96849F-EDAF-4838-B720-18F9FCB4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2F4AF-F953-4A0C-8693-B54F633973F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2825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73843-291C-4CA3-B6F9-BD280E5C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9E376-A9B4-45BC-80CF-3C52D65D3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6C169-CD9B-4921-A1EC-694514B1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464BE-B5CD-49C3-8537-261B9BD4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FF72D3-75AA-4CEA-84B7-6322D3A7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9DDEA8-45A9-45CF-A3EE-0453883C67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247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3DF1A1-7211-461F-B7E3-184AEA3F6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AE385B-647D-4A30-8648-B2E58F9D9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AEC98F-D59A-4F3D-9CC3-8FB1FD0B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A663D-EE85-4BBE-B615-BC593AA6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509F1B-A19F-430F-B90C-D70ABA3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4CAA4D-2880-46AD-8DB5-FE3B2F2CB10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6235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991BD-EC32-4F1B-AD58-0CFD2A82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C9D365-3C2B-455C-B9B7-89D6C7E8B8A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58236B-9F36-44D5-ACE9-84DB59FDB9D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F68AAA0-21BB-4A5B-85AA-339C85F2CA0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944ABDD-F259-4621-B119-CA2A27BC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0430BC31-C8C2-438C-9DDB-C6CA063A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A66B32C-7F44-4804-B4B5-DD08423F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D9DE1BC-39F8-4174-B27A-A8F6EFAE0EE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564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1073E4-7487-46D0-8A66-FBDB949B7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F5EA90-B18F-47FB-8611-649164823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3332E41-8B46-4A6B-AD39-118744AF4A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alt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F12A3D-04F1-4224-B0BE-3C92A7B592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8846EF8-62A2-4F73-A81E-E9EC961B9C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C2192E-B02F-4308-8304-FB54E84C667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1.wmf"/><Relationship Id="rId9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8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3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45.bin"/><Relationship Id="rId3" Type="http://schemas.openxmlformats.org/officeDocument/2006/relationships/oleObject" Target="../embeddings/oleObject37.bin"/><Relationship Id="rId21" Type="http://schemas.openxmlformats.org/officeDocument/2006/relationships/image" Target="../media/image44.wmf"/><Relationship Id="rId7" Type="http://schemas.openxmlformats.org/officeDocument/2006/relationships/oleObject" Target="../embeddings/oleObject39.bin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11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3.wmf"/><Relationship Id="rId4" Type="http://schemas.openxmlformats.org/officeDocument/2006/relationships/image" Target="../media/image2.wmf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48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6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2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8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3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8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89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0.wmf"/><Relationship Id="rId11" Type="http://schemas.openxmlformats.org/officeDocument/2006/relationships/image" Target="../media/image82.wmf"/><Relationship Id="rId5" Type="http://schemas.openxmlformats.org/officeDocument/2006/relationships/oleObject" Target="../embeddings/oleObject84.bin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86.bin"/><Relationship Id="rId4" Type="http://schemas.openxmlformats.org/officeDocument/2006/relationships/image" Target="../media/image79.wmf"/><Relationship Id="rId9" Type="http://schemas.openxmlformats.org/officeDocument/2006/relationships/image" Target="../media/image86.jpeg"/><Relationship Id="rId14" Type="http://schemas.openxmlformats.org/officeDocument/2006/relationships/oleObject" Target="../embeddings/oleObject8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9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5.wmf"/><Relationship Id="rId11" Type="http://schemas.openxmlformats.org/officeDocument/2006/relationships/image" Target="../media/image97.wmf"/><Relationship Id="rId5" Type="http://schemas.openxmlformats.org/officeDocument/2006/relationships/oleObject" Target="../embeddings/oleObject98.bin"/><Relationship Id="rId10" Type="http://schemas.openxmlformats.org/officeDocument/2006/relationships/oleObject" Target="../embeddings/oleObject100.bin"/><Relationship Id="rId4" Type="http://schemas.openxmlformats.org/officeDocument/2006/relationships/image" Target="../media/image94.wmf"/><Relationship Id="rId9" Type="http://schemas.openxmlformats.org/officeDocument/2006/relationships/image" Target="../media/image98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6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05.wmf"/><Relationship Id="rId20" Type="http://schemas.openxmlformats.org/officeDocument/2006/relationships/image" Target="../media/image107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4.wmf"/><Relationship Id="rId20" Type="http://schemas.openxmlformats.org/officeDocument/2006/relationships/image" Target="../media/image11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21.wmf"/><Relationship Id="rId3" Type="http://schemas.openxmlformats.org/officeDocument/2006/relationships/image" Target="../media/image123.jpeg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0.wmf"/><Relationship Id="rId5" Type="http://schemas.openxmlformats.org/officeDocument/2006/relationships/image" Target="../media/image117.wmf"/><Relationship Id="rId15" Type="http://schemas.openxmlformats.org/officeDocument/2006/relationships/image" Target="../media/image122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2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28.wmf"/><Relationship Id="rId3" Type="http://schemas.openxmlformats.org/officeDocument/2006/relationships/oleObject" Target="../embeddings/oleObject125.bin"/><Relationship Id="rId7" Type="http://schemas.openxmlformats.org/officeDocument/2006/relationships/image" Target="../media/image130.jpeg"/><Relationship Id="rId12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5.wmf"/><Relationship Id="rId11" Type="http://schemas.openxmlformats.org/officeDocument/2006/relationships/image" Target="../media/image127.wmf"/><Relationship Id="rId5" Type="http://schemas.openxmlformats.org/officeDocument/2006/relationships/oleObject" Target="../embeddings/oleObject126.bin"/><Relationship Id="rId15" Type="http://schemas.openxmlformats.org/officeDocument/2006/relationships/image" Target="../media/image129.wmf"/><Relationship Id="rId10" Type="http://schemas.openxmlformats.org/officeDocument/2006/relationships/oleObject" Target="../embeddings/oleObject128.bin"/><Relationship Id="rId4" Type="http://schemas.openxmlformats.org/officeDocument/2006/relationships/image" Target="../media/image124.wmf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13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36.bin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3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9E1077-39CB-4060-89BA-DD2EFD2DF7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ru-RU" altLang="ru-RU" sz="4400" b="1"/>
              <a:t>ЛЕКЦИЯ № </a:t>
            </a:r>
            <a:r>
              <a:rPr lang="en-US" altLang="ru-RU" sz="4400" b="1"/>
              <a:t>4</a:t>
            </a:r>
            <a:endParaRPr lang="ru-RU" altLang="ru-RU" sz="4400" b="1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35A48F4-9D72-4CDB-A51E-6277F3910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ru-RU" altLang="ru-RU" sz="4400" b="1" u="sng"/>
              <a:t>Математические основы оптимизации</a:t>
            </a:r>
            <a:endParaRPr lang="ru-RU" altLang="ru-RU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9CED389-675C-4420-A0B5-514CD18C2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1425575"/>
          </a:xfrm>
        </p:spPr>
        <p:txBody>
          <a:bodyPr/>
          <a:lstStyle/>
          <a:p>
            <a:pPr marL="838200" indent="-838200"/>
            <a:r>
              <a:rPr lang="ru-RU" altLang="ru-RU" sz="3600" b="1" i="1" u="sng"/>
              <a:t>1. Дифференцирование функций.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692A84-E3D0-4622-A811-D9C139D46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229600" cy="4608513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ru-RU" sz="2400" b="1" u="sng"/>
              <a:t>1.1. </a:t>
            </a:r>
            <a:r>
              <a:rPr lang="ru-RU" altLang="ru-RU" sz="2400" b="1" u="sng"/>
              <a:t>Градиент функции.</a:t>
            </a:r>
            <a:r>
              <a:rPr lang="ru-RU" altLang="ru-RU"/>
              <a:t> </a:t>
            </a:r>
          </a:p>
          <a:p>
            <a:pPr marL="609600" indent="-609600">
              <a:buFontTx/>
              <a:buNone/>
            </a:pPr>
            <a:endParaRPr lang="ru-RU" altLang="ru-RU" sz="1800"/>
          </a:p>
          <a:p>
            <a:pPr marL="609600" indent="-609600">
              <a:buFontTx/>
              <a:buNone/>
            </a:pPr>
            <a:endParaRPr lang="ru-RU" altLang="ru-RU" sz="1800"/>
          </a:p>
          <a:p>
            <a:pPr marL="609600" indent="-609600">
              <a:buFontTx/>
              <a:buNone/>
            </a:pPr>
            <a:r>
              <a:rPr lang="ru-RU" altLang="ru-RU" sz="1800"/>
              <a:t>Пусть </a:t>
            </a:r>
            <a:r>
              <a:rPr lang="en-US" altLang="ru-RU" sz="1800"/>
              <a:t>f</a:t>
            </a:r>
            <a:r>
              <a:rPr lang="ru-RU" altLang="ru-RU" sz="1800"/>
              <a:t>: </a:t>
            </a:r>
            <a:endParaRPr lang="en-US" altLang="ru-RU" sz="180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EFBAFFB-EB3A-4790-A838-5C5293758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84" name="Object 12">
            <a:extLst>
              <a:ext uri="{FF2B5EF4-FFF2-40B4-BE49-F238E27FC236}">
                <a16:creationId xmlns:a16="http://schemas.microsoft.com/office/drawing/2014/main" id="{AC24AD47-DC3A-49CA-9B19-4BE434C60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Rectangle 20">
            <a:extLst>
              <a:ext uri="{FF2B5EF4-FFF2-40B4-BE49-F238E27FC236}">
                <a16:creationId xmlns:a16="http://schemas.microsoft.com/office/drawing/2014/main" id="{D049C149-4FDD-436A-BF8C-1089FD6DC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59478E2D-3E1E-49CE-9C6B-53A3F51D3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8" name="Rectangle 26">
            <a:extLst>
              <a:ext uri="{FF2B5EF4-FFF2-40B4-BE49-F238E27FC236}">
                <a16:creationId xmlns:a16="http://schemas.microsoft.com/office/drawing/2014/main" id="{7D1D45D1-7FB0-4695-BA5A-B23ECD6DE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4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8ED736F3-C9F6-4E63-8D21-29A74589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5" name="Rectangle 33">
            <a:extLst>
              <a:ext uri="{FF2B5EF4-FFF2-40B4-BE49-F238E27FC236}">
                <a16:creationId xmlns:a16="http://schemas.microsoft.com/office/drawing/2014/main" id="{1A6D0F15-2BFB-4B94-A712-4EC5AB3F5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7" name="Rectangle 35">
            <a:extLst>
              <a:ext uri="{FF2B5EF4-FFF2-40B4-BE49-F238E27FC236}">
                <a16:creationId xmlns:a16="http://schemas.microsoft.com/office/drawing/2014/main" id="{E3C15A65-E284-40C6-8708-375E226F3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0" name="Rectangle 38">
            <a:extLst>
              <a:ext uri="{FF2B5EF4-FFF2-40B4-BE49-F238E27FC236}">
                <a16:creationId xmlns:a16="http://schemas.microsoft.com/office/drawing/2014/main" id="{C18B1D68-3978-455A-93AE-078A4C96A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7" name="Rectangle 45">
            <a:extLst>
              <a:ext uri="{FF2B5EF4-FFF2-40B4-BE49-F238E27FC236}">
                <a16:creationId xmlns:a16="http://schemas.microsoft.com/office/drawing/2014/main" id="{54E9D626-C1FF-4CC8-B41F-ED3D57929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116" name="Object 44">
            <a:extLst>
              <a:ext uri="{FF2B5EF4-FFF2-40B4-BE49-F238E27FC236}">
                <a16:creationId xmlns:a16="http://schemas.microsoft.com/office/drawing/2014/main" id="{01B56081-35B7-4094-819B-B66D24C496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0686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068638"/>
                        <a:ext cx="2232025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8" name="Rectangle 46">
            <a:extLst>
              <a:ext uri="{FF2B5EF4-FFF2-40B4-BE49-F238E27FC236}">
                <a16:creationId xmlns:a16="http://schemas.microsoft.com/office/drawing/2014/main" id="{A4DFEFE9-9F19-4572-8F71-99DF9AC5D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0" name="Rectangle 48">
            <a:extLst>
              <a:ext uri="{FF2B5EF4-FFF2-40B4-BE49-F238E27FC236}">
                <a16:creationId xmlns:a16="http://schemas.microsoft.com/office/drawing/2014/main" id="{F474770A-D978-4204-A759-905B04810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068638"/>
            <a:ext cx="335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– всюду гладкая функция.</a:t>
            </a:r>
          </a:p>
        </p:txBody>
      </p:sp>
      <p:pic>
        <p:nvPicPr>
          <p:cNvPr id="3121" name="Picture 49">
            <a:extLst>
              <a:ext uri="{FF2B5EF4-FFF2-40B4-BE49-F238E27FC236}">
                <a16:creationId xmlns:a16="http://schemas.microsoft.com/office/drawing/2014/main" id="{5F6DDDED-B323-42A0-B734-594CDB86D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500438"/>
            <a:ext cx="2519362" cy="288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23" name="Rectangle 51">
            <a:extLst>
              <a:ext uri="{FF2B5EF4-FFF2-40B4-BE49-F238E27FC236}">
                <a16:creationId xmlns:a16="http://schemas.microsoft.com/office/drawing/2014/main" id="{43ADB4D0-DF43-4F20-A8E4-97662D4C7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122" name="Object 50">
            <a:extLst>
              <a:ext uri="{FF2B5EF4-FFF2-40B4-BE49-F238E27FC236}">
                <a16:creationId xmlns:a16="http://schemas.microsoft.com/office/drawing/2014/main" id="{13218CBF-62B7-4883-9508-CFDC265D3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50043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Формула" r:id="rId8" imgW="3467100" imgH="330200" progId="Equation.3">
                  <p:embed/>
                </p:oleObj>
              </mc:Choice>
              <mc:Fallback>
                <p:oleObj name="Формула" r:id="rId8" imgW="3467100" imgH="3302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00438"/>
                        <a:ext cx="518477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4" name="Rectangle 52">
            <a:extLst>
              <a:ext uri="{FF2B5EF4-FFF2-40B4-BE49-F238E27FC236}">
                <a16:creationId xmlns:a16="http://schemas.microsoft.com/office/drawing/2014/main" id="{0AEF0ADD-5234-4983-BFB6-12AC489BC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005263"/>
            <a:ext cx="2690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для выпуклой функции:</a:t>
            </a:r>
          </a:p>
        </p:txBody>
      </p:sp>
      <p:sp>
        <p:nvSpPr>
          <p:cNvPr id="3126" name="Rectangle 54">
            <a:extLst>
              <a:ext uri="{FF2B5EF4-FFF2-40B4-BE49-F238E27FC236}">
                <a16:creationId xmlns:a16="http://schemas.microsoft.com/office/drawing/2014/main" id="{83068C7F-D4E2-4327-81BC-C41781794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125" name="Object 53">
            <a:extLst>
              <a:ext uri="{FF2B5EF4-FFF2-40B4-BE49-F238E27FC236}">
                <a16:creationId xmlns:a16="http://schemas.microsoft.com/office/drawing/2014/main" id="{CDF2587F-956E-471C-BB02-DC3242F4C9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437063"/>
          <a:ext cx="3816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Формула" r:id="rId10" imgW="1968500" imgH="241300" progId="Equation.3">
                  <p:embed/>
                </p:oleObj>
              </mc:Choice>
              <mc:Fallback>
                <p:oleObj name="Формула" r:id="rId10" imgW="1968500" imgH="2413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437063"/>
                        <a:ext cx="38163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7" name="Rectangle 55">
            <a:extLst>
              <a:ext uri="{FF2B5EF4-FFF2-40B4-BE49-F238E27FC236}">
                <a16:creationId xmlns:a16="http://schemas.microsoft.com/office/drawing/2014/main" id="{D30C220F-CDB1-4369-94C9-B0B75B8BE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941888"/>
            <a:ext cx="5707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фундаментальное неравенство выпуклых функций.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782184-563A-4D71-B023-DB4603F96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600" b="1" i="1" u="sng"/>
              <a:t>1. Дифференцирование функций.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8DA96CA-E06F-4880-923F-FB1F366DA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106" name="Object 10">
            <a:extLst>
              <a:ext uri="{FF2B5EF4-FFF2-40B4-BE49-F238E27FC236}">
                <a16:creationId xmlns:a16="http://schemas.microsoft.com/office/drawing/2014/main" id="{A4F00ACF-6390-4A8E-A9B1-1C6EE0527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7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0" name="Rectangle 24">
            <a:extLst>
              <a:ext uri="{FF2B5EF4-FFF2-40B4-BE49-F238E27FC236}">
                <a16:creationId xmlns:a16="http://schemas.microsoft.com/office/drawing/2014/main" id="{4DE9DE9F-C468-47B0-8963-0C46FE89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0669C41C-E5B4-455D-ACD9-A932FAE4D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38">
            <a:extLst>
              <a:ext uri="{FF2B5EF4-FFF2-40B4-BE49-F238E27FC236}">
                <a16:creationId xmlns:a16="http://schemas.microsoft.com/office/drawing/2014/main" id="{44BF97B6-BD96-492A-B0BB-5B6A351AA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91195223-AAD1-4F6E-9AB7-F514A644D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59" name="Rectangle 63">
            <a:extLst>
              <a:ext uri="{FF2B5EF4-FFF2-40B4-BE49-F238E27FC236}">
                <a16:creationId xmlns:a16="http://schemas.microsoft.com/office/drawing/2014/main" id="{E34AFAD6-5716-4741-87C0-7445231B1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3A33A50-4457-47D5-97D6-BA7D7B312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4" name="Rectangle 68">
            <a:extLst>
              <a:ext uri="{FF2B5EF4-FFF2-40B4-BE49-F238E27FC236}">
                <a16:creationId xmlns:a16="http://schemas.microsoft.com/office/drawing/2014/main" id="{3078157B-BE34-4A12-A925-6ADB20556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8" name="Rectangle 72">
            <a:extLst>
              <a:ext uri="{FF2B5EF4-FFF2-40B4-BE49-F238E27FC236}">
                <a16:creationId xmlns:a16="http://schemas.microsoft.com/office/drawing/2014/main" id="{F0AD211A-D1A7-4597-8C08-7467AC99C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71" name="Rectangle 75">
            <a:extLst>
              <a:ext uri="{FF2B5EF4-FFF2-40B4-BE49-F238E27FC236}">
                <a16:creationId xmlns:a16="http://schemas.microsoft.com/office/drawing/2014/main" id="{A46A68BD-0183-43F7-AD53-DED8F5AAA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81" name="Rectangle 85">
            <a:extLst>
              <a:ext uri="{FF2B5EF4-FFF2-40B4-BE49-F238E27FC236}">
                <a16:creationId xmlns:a16="http://schemas.microsoft.com/office/drawing/2014/main" id="{64625654-910E-4A54-83FB-5FB05FF23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689100"/>
            <a:ext cx="661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1.2. Субградиент и его субдифференциал.</a:t>
            </a:r>
          </a:p>
        </p:txBody>
      </p:sp>
      <p:sp>
        <p:nvSpPr>
          <p:cNvPr id="4182" name="Rectangle 86">
            <a:extLst>
              <a:ext uri="{FF2B5EF4-FFF2-40B4-BE49-F238E27FC236}">
                <a16:creationId xmlns:a16="http://schemas.microsoft.com/office/drawing/2014/main" id="{50BEF3DC-76F5-441D-9A8B-93FC74E43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05038"/>
            <a:ext cx="6756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Определение 1</a:t>
            </a:r>
            <a:r>
              <a:rPr lang="ru-RU" altLang="ru-RU" b="1"/>
              <a:t>.</a:t>
            </a:r>
            <a:r>
              <a:rPr lang="ru-RU" altLang="ru-RU"/>
              <a:t> Субградиентом выпуклой не всюду гладкой </a:t>
            </a:r>
          </a:p>
        </p:txBody>
      </p:sp>
      <p:sp>
        <p:nvSpPr>
          <p:cNvPr id="4183" name="Rectangle 87">
            <a:extLst>
              <a:ext uri="{FF2B5EF4-FFF2-40B4-BE49-F238E27FC236}">
                <a16:creationId xmlns:a16="http://schemas.microsoft.com/office/drawing/2014/main" id="{F2D08EE6-0D97-40DC-8415-4C1D59FA1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565400"/>
            <a:ext cx="4535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функции </a:t>
            </a:r>
            <a:r>
              <a:rPr lang="en-US" altLang="ru-RU"/>
              <a:t>f</a:t>
            </a:r>
            <a:r>
              <a:rPr lang="ru-RU" altLang="ru-RU"/>
              <a:t> в точке </a:t>
            </a:r>
            <a:r>
              <a:rPr lang="en-US" altLang="ru-RU"/>
              <a:t>Xo</a:t>
            </a:r>
            <a:r>
              <a:rPr lang="ru-RU" altLang="ru-RU"/>
              <a:t> называется вектор </a:t>
            </a:r>
          </a:p>
        </p:txBody>
      </p:sp>
      <p:sp>
        <p:nvSpPr>
          <p:cNvPr id="4185" name="Rectangle 89">
            <a:extLst>
              <a:ext uri="{FF2B5EF4-FFF2-40B4-BE49-F238E27FC236}">
                <a16:creationId xmlns:a16="http://schemas.microsoft.com/office/drawing/2014/main" id="{3B1B3A29-74B3-44CD-A87F-7D4441157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184" name="Object 88">
            <a:extLst>
              <a:ext uri="{FF2B5EF4-FFF2-40B4-BE49-F238E27FC236}">
                <a16:creationId xmlns:a16="http://schemas.microsoft.com/office/drawing/2014/main" id="{1969F4DC-63E0-46CA-AC66-B919E6F65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2492375"/>
          <a:ext cx="23050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" name="Формула" r:id="rId5" imgW="1155700" imgH="254000" progId="Equation.3">
                  <p:embed/>
                </p:oleObj>
              </mc:Choice>
              <mc:Fallback>
                <p:oleObj name="Формула" r:id="rId5" imgW="1155700" imgH="25400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492375"/>
                        <a:ext cx="2305050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6" name="Object 90">
            <a:extLst>
              <a:ext uri="{FF2B5EF4-FFF2-40B4-BE49-F238E27FC236}">
                <a16:creationId xmlns:a16="http://schemas.microsoft.com/office/drawing/2014/main" id="{2BB5CDBE-81ED-4BF0-9967-3E5453246E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852738"/>
          <a:ext cx="27368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" name="Формула" r:id="rId7" imgW="1600200" imgH="241300" progId="Equation.3">
                  <p:embed/>
                </p:oleObj>
              </mc:Choice>
              <mc:Fallback>
                <p:oleObj name="Формула" r:id="rId7" imgW="1600200" imgH="24130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52738"/>
                        <a:ext cx="273685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88" name="Rectangle 92">
            <a:extLst>
              <a:ext uri="{FF2B5EF4-FFF2-40B4-BE49-F238E27FC236}">
                <a16:creationId xmlns:a16="http://schemas.microsoft.com/office/drawing/2014/main" id="{CFE9FA67-EDA8-4AEB-8342-A124CEB9B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06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89" name="Rectangle 93">
            <a:extLst>
              <a:ext uri="{FF2B5EF4-FFF2-40B4-BE49-F238E27FC236}">
                <a16:creationId xmlns:a16="http://schemas.microsoft.com/office/drawing/2014/main" id="{6D8FB648-9C3D-4C5C-AA2B-23BC7C42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878138"/>
            <a:ext cx="3024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удовлетворяющий условию</a:t>
            </a:r>
            <a:r>
              <a:rPr lang="ru-RU" altLang="ru-RU" sz="1200">
                <a:cs typeface="Times New Roman" panose="02020603050405020304" pitchFamily="18" charset="0"/>
              </a:rPr>
              <a:t>   </a:t>
            </a:r>
            <a:endParaRPr lang="ru-RU" altLang="ru-RU"/>
          </a:p>
        </p:txBody>
      </p:sp>
      <p:sp>
        <p:nvSpPr>
          <p:cNvPr id="4190" name="Rectangle 94">
            <a:extLst>
              <a:ext uri="{FF2B5EF4-FFF2-40B4-BE49-F238E27FC236}">
                <a16:creationId xmlns:a16="http://schemas.microsoft.com/office/drawing/2014/main" id="{BB58CADB-9D87-4B68-832A-072EE21A0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4191" name="Rectangle 95">
            <a:extLst>
              <a:ext uri="{FF2B5EF4-FFF2-40B4-BE49-F238E27FC236}">
                <a16:creationId xmlns:a16="http://schemas.microsoft.com/office/drawing/2014/main" id="{ACB440D3-736F-4895-BDC2-3803DE5FA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565400"/>
            <a:ext cx="455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4192" name="Rectangle 96">
            <a:extLst>
              <a:ext uri="{FF2B5EF4-FFF2-40B4-BE49-F238E27FC236}">
                <a16:creationId xmlns:a16="http://schemas.microsoft.com/office/drawing/2014/main" id="{104A0475-A2B1-4584-8F51-7D7D0915F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924175"/>
            <a:ext cx="503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. </a:t>
            </a:r>
          </a:p>
        </p:txBody>
      </p:sp>
      <p:graphicFrame>
        <p:nvGraphicFramePr>
          <p:cNvPr id="4194" name="Object 98">
            <a:extLst>
              <a:ext uri="{FF2B5EF4-FFF2-40B4-BE49-F238E27FC236}">
                <a16:creationId xmlns:a16="http://schemas.microsoft.com/office/drawing/2014/main" id="{059BA0A6-0E86-49DF-AA54-5DBCB2242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2924175"/>
          <a:ext cx="15113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" name="Формула" r:id="rId9" imgW="1155700" imgH="228600" progId="Equation.3">
                  <p:embed/>
                </p:oleObj>
              </mc:Choice>
              <mc:Fallback>
                <p:oleObj name="Формула" r:id="rId9" imgW="1155700" imgH="228600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924175"/>
                        <a:ext cx="1511300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3" name="Object 97">
            <a:extLst>
              <a:ext uri="{FF2B5EF4-FFF2-40B4-BE49-F238E27FC236}">
                <a16:creationId xmlns:a16="http://schemas.microsoft.com/office/drawing/2014/main" id="{F7862F56-0A60-47BC-ABBC-12A5BD68E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3284538"/>
          <a:ext cx="123666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Формула" r:id="rId11" imgW="736600" imgH="190500" progId="Equation.3">
                  <p:embed/>
                </p:oleObj>
              </mc:Choice>
              <mc:Fallback>
                <p:oleObj name="Формула" r:id="rId11" imgW="736600" imgH="190500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284538"/>
                        <a:ext cx="1236662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5" name="Rectangle 99">
            <a:extLst>
              <a:ext uri="{FF2B5EF4-FFF2-40B4-BE49-F238E27FC236}">
                <a16:creationId xmlns:a16="http://schemas.microsoft.com/office/drawing/2014/main" id="{FAB8836D-EFE6-4A58-B8F8-023D533E3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4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97" name="Rectangle 101">
            <a:extLst>
              <a:ext uri="{FF2B5EF4-FFF2-40B4-BE49-F238E27FC236}">
                <a16:creationId xmlns:a16="http://schemas.microsoft.com/office/drawing/2014/main" id="{0475B6C3-3BC0-421B-BEA1-CB838FF56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28453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гиперплоскость:</a:t>
            </a:r>
            <a:endParaRPr lang="ru-RU" altLang="ru-RU"/>
          </a:p>
        </p:txBody>
      </p:sp>
      <p:sp>
        <p:nvSpPr>
          <p:cNvPr id="4198" name="Rectangle 102">
            <a:extLst>
              <a:ext uri="{FF2B5EF4-FFF2-40B4-BE49-F238E27FC236}">
                <a16:creationId xmlns:a16="http://schemas.microsoft.com/office/drawing/2014/main" id="{21688F51-6A27-401C-A2CA-1BBCD41D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46438"/>
            <a:ext cx="1909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>
                <a:latin typeface="Times New Roman" panose="02020603050405020304" pitchFamily="18" charset="0"/>
              </a:rPr>
              <a:t>В пространстве</a:t>
            </a:r>
            <a:r>
              <a:rPr lang="ru-RU" altLang="ru-RU"/>
              <a:t> </a:t>
            </a:r>
          </a:p>
        </p:txBody>
      </p:sp>
      <p:sp>
        <p:nvSpPr>
          <p:cNvPr id="4200" name="Rectangle 104">
            <a:extLst>
              <a:ext uri="{FF2B5EF4-FFF2-40B4-BE49-F238E27FC236}">
                <a16:creationId xmlns:a16="http://schemas.microsoft.com/office/drawing/2014/main" id="{A48064B2-AC77-4AE8-826A-BB89E487D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199" name="Object 103">
            <a:extLst>
              <a:ext uri="{FF2B5EF4-FFF2-40B4-BE49-F238E27FC236}">
                <a16:creationId xmlns:a16="http://schemas.microsoft.com/office/drawing/2014/main" id="{087F5964-D841-49B3-BBEB-F98C37BB4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284538"/>
          <a:ext cx="25923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" name="Формула" r:id="rId13" imgW="1384300" imgH="241300" progId="Equation.3">
                  <p:embed/>
                </p:oleObj>
              </mc:Choice>
              <mc:Fallback>
                <p:oleObj name="Формула" r:id="rId13" imgW="1384300" imgH="2413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284538"/>
                        <a:ext cx="259238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" name="Rectangle 105">
            <a:extLst>
              <a:ext uri="{FF2B5EF4-FFF2-40B4-BE49-F238E27FC236}">
                <a16:creationId xmlns:a16="http://schemas.microsoft.com/office/drawing/2014/main" id="{752E1D43-0F45-4E08-80D8-BBA896033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73463"/>
            <a:ext cx="82661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касающаяся функции f(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Xo</a:t>
            </a:r>
            <a:r>
              <a:rPr lang="ru-RU" altLang="ru-RU"/>
              <a:t> , и лежащая всюду не выше этой функции </a:t>
            </a:r>
          </a:p>
        </p:txBody>
      </p:sp>
      <p:sp>
        <p:nvSpPr>
          <p:cNvPr id="4203" name="Rectangle 107">
            <a:extLst>
              <a:ext uri="{FF2B5EF4-FFF2-40B4-BE49-F238E27FC236}">
                <a16:creationId xmlns:a16="http://schemas.microsoft.com/office/drawing/2014/main" id="{91111818-642B-4C6F-8E8D-20A654796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4204" name="Rectangle 108">
            <a:extLst>
              <a:ext uri="{FF2B5EF4-FFF2-40B4-BE49-F238E27FC236}">
                <a16:creationId xmlns:a16="http://schemas.microsoft.com/office/drawing/2014/main" id="{FB8875BC-5350-4929-9DF1-4B252797C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4206" name="Rectangle 110">
            <a:extLst>
              <a:ext uri="{FF2B5EF4-FFF2-40B4-BE49-F238E27FC236}">
                <a16:creationId xmlns:a16="http://schemas.microsoft.com/office/drawing/2014/main" id="{4A7D0103-D89A-4BB3-8EC7-98B0C8D1D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4210" name="Rectangle 114">
            <a:extLst>
              <a:ext uri="{FF2B5EF4-FFF2-40B4-BE49-F238E27FC236}">
                <a16:creationId xmlns:a16="http://schemas.microsoft.com/office/drawing/2014/main" id="{D95F8183-827B-4251-85BB-0ACA8154D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4211" name="Rectangle 115">
            <a:extLst>
              <a:ext uri="{FF2B5EF4-FFF2-40B4-BE49-F238E27FC236}">
                <a16:creationId xmlns:a16="http://schemas.microsoft.com/office/drawing/2014/main" id="{65FBC9C2-33F9-43FF-8751-6823FA94B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33825"/>
            <a:ext cx="6867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называется опорной гиперплоскостью функции f(</a:t>
            </a:r>
            <a:r>
              <a:rPr lang="en-US" altLang="ru-RU"/>
              <a:t>x</a:t>
            </a:r>
            <a:r>
              <a:rPr lang="ru-RU" altLang="ru-RU"/>
              <a:t>) в точке </a:t>
            </a:r>
            <a:r>
              <a:rPr lang="en-US" altLang="ru-RU"/>
              <a:t>Xo</a:t>
            </a:r>
            <a:r>
              <a:rPr lang="ru-RU" altLang="ru-RU"/>
              <a:t>.</a:t>
            </a:r>
          </a:p>
        </p:txBody>
      </p:sp>
      <p:sp>
        <p:nvSpPr>
          <p:cNvPr id="4212" name="Rectangle 116">
            <a:extLst>
              <a:ext uri="{FF2B5EF4-FFF2-40B4-BE49-F238E27FC236}">
                <a16:creationId xmlns:a16="http://schemas.microsoft.com/office/drawing/2014/main" id="{9016EC83-347D-488A-8498-0030947ED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365625"/>
            <a:ext cx="82184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Определение 2.</a:t>
            </a:r>
            <a:r>
              <a:rPr lang="ru-RU" altLang="ru-RU" u="sng"/>
              <a:t> </a:t>
            </a:r>
            <a:r>
              <a:rPr lang="ru-RU" altLang="ru-RU"/>
              <a:t>  Субдифференциалом выпуклой необязательно гладкой </a:t>
            </a:r>
          </a:p>
        </p:txBody>
      </p:sp>
      <p:sp>
        <p:nvSpPr>
          <p:cNvPr id="4213" name="Rectangle 117">
            <a:extLst>
              <a:ext uri="{FF2B5EF4-FFF2-40B4-BE49-F238E27FC236}">
                <a16:creationId xmlns:a16="http://schemas.microsoft.com/office/drawing/2014/main" id="{92BDC653-2920-463B-AC31-000CF904D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97425"/>
            <a:ext cx="8877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функции </a:t>
            </a:r>
            <a:r>
              <a:rPr lang="en-US" altLang="ru-RU"/>
              <a:t>f</a:t>
            </a:r>
            <a:r>
              <a:rPr lang="ru-RU" altLang="ru-RU"/>
              <a:t> в т.</a:t>
            </a:r>
            <a:r>
              <a:rPr lang="en-US" altLang="ru-RU"/>
              <a:t>Xo</a:t>
            </a:r>
            <a:r>
              <a:rPr lang="ru-RU" altLang="ru-RU"/>
              <a:t> называется множество всех субградиентов функции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Xo</a:t>
            </a:r>
            <a:r>
              <a:rPr lang="ru-RU" altLang="ru-RU"/>
              <a:t>  </a:t>
            </a:r>
          </a:p>
        </p:txBody>
      </p:sp>
      <p:sp>
        <p:nvSpPr>
          <p:cNvPr id="4215" name="Rectangle 119">
            <a:extLst>
              <a:ext uri="{FF2B5EF4-FFF2-40B4-BE49-F238E27FC236}">
                <a16:creationId xmlns:a16="http://schemas.microsoft.com/office/drawing/2014/main" id="{E3617EF5-EFFC-4AAE-9109-F07CEE1C3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214" name="Object 118">
            <a:extLst>
              <a:ext uri="{FF2B5EF4-FFF2-40B4-BE49-F238E27FC236}">
                <a16:creationId xmlns:a16="http://schemas.microsoft.com/office/drawing/2014/main" id="{17290D33-2925-4C79-A374-0A0DCCE3B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157788"/>
          <a:ext cx="15843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" name="Формула" r:id="rId15" imgW="1143000" imgH="330200" progId="Equation.3">
                  <p:embed/>
                </p:oleObj>
              </mc:Choice>
              <mc:Fallback>
                <p:oleObj name="Формула" r:id="rId15" imgW="1143000" imgH="330200" progId="Equation.3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157788"/>
                        <a:ext cx="158432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6" name="Rectangle 120">
            <a:extLst>
              <a:ext uri="{FF2B5EF4-FFF2-40B4-BE49-F238E27FC236}">
                <a16:creationId xmlns:a16="http://schemas.microsoft.com/office/drawing/2014/main" id="{FC59DDEC-8A58-4AF0-A97B-ECEE228A1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516563"/>
            <a:ext cx="8308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Обобщение: дифференциал Фреше - главная линейная часть функции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): </a:t>
            </a:r>
          </a:p>
        </p:txBody>
      </p:sp>
      <p:sp>
        <p:nvSpPr>
          <p:cNvPr id="4218" name="Rectangle 122">
            <a:extLst>
              <a:ext uri="{FF2B5EF4-FFF2-40B4-BE49-F238E27FC236}">
                <a16:creationId xmlns:a16="http://schemas.microsoft.com/office/drawing/2014/main" id="{2D5E19C7-43FA-4A3F-9A41-B0B8EAB2D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217" name="Object 121">
            <a:extLst>
              <a:ext uri="{FF2B5EF4-FFF2-40B4-BE49-F238E27FC236}">
                <a16:creationId xmlns:a16="http://schemas.microsoft.com/office/drawing/2014/main" id="{FA77E6C9-7A12-48CD-9688-B993476CF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876925"/>
          <a:ext cx="14398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Формула" r:id="rId17" imgW="825500" imgH="254000" progId="Equation.3">
                  <p:embed/>
                </p:oleObj>
              </mc:Choice>
              <mc:Fallback>
                <p:oleObj name="Формула" r:id="rId17" imgW="825500" imgH="254000" progId="Equation.3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876925"/>
                        <a:ext cx="1439862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3DFF131-E375-498D-A88D-FF0C7814C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600" b="1" i="1" u="sng"/>
              <a:t>1. Дифференцирование функций.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A2233BC-F7BF-4B04-B1CE-261EE2002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u="sng"/>
              <a:t>Теорема:</a:t>
            </a:r>
            <a:r>
              <a:rPr lang="ru-RU" altLang="ru-RU"/>
              <a:t> </a:t>
            </a:r>
            <a:r>
              <a:rPr lang="ru-RU" altLang="ru-RU" sz="1800"/>
              <a:t>Для любой точки</a:t>
            </a:r>
            <a:r>
              <a:rPr lang="ru-RU" altLang="ru-RU"/>
              <a:t> </a:t>
            </a:r>
          </a:p>
        </p:txBody>
      </p:sp>
      <p:sp>
        <p:nvSpPr>
          <p:cNvPr id="6168" name="Rectangle 24">
            <a:extLst>
              <a:ext uri="{FF2B5EF4-FFF2-40B4-BE49-F238E27FC236}">
                <a16:creationId xmlns:a16="http://schemas.microsoft.com/office/drawing/2014/main" id="{73528F43-88C2-496A-B1AC-8E239F47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0" name="Rectangle 26">
            <a:extLst>
              <a:ext uri="{FF2B5EF4-FFF2-40B4-BE49-F238E27FC236}">
                <a16:creationId xmlns:a16="http://schemas.microsoft.com/office/drawing/2014/main" id="{9DDCFE28-C542-4CDB-80EB-65ED0FE1B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1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2" name="Rectangle 28">
            <a:extLst>
              <a:ext uri="{FF2B5EF4-FFF2-40B4-BE49-F238E27FC236}">
                <a16:creationId xmlns:a16="http://schemas.microsoft.com/office/drawing/2014/main" id="{9DAD884E-7F18-4B72-8D2D-6671451AE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71" name="Object 27">
            <a:extLst>
              <a:ext uri="{FF2B5EF4-FFF2-40B4-BE49-F238E27FC236}">
                <a16:creationId xmlns:a16="http://schemas.microsoft.com/office/drawing/2014/main" id="{C17F55C8-8CF9-4D9C-9111-D0EE4F188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773238"/>
          <a:ext cx="17287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Формула" r:id="rId3" imgW="1002865" imgH="228501" progId="Equation.3">
                  <p:embed/>
                </p:oleObj>
              </mc:Choice>
              <mc:Fallback>
                <p:oleObj name="Формула" r:id="rId3" imgW="1002865" imgH="228501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773238"/>
                        <a:ext cx="1728788" cy="39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4" name="Rectangle 30">
            <a:extLst>
              <a:ext uri="{FF2B5EF4-FFF2-40B4-BE49-F238E27FC236}">
                <a16:creationId xmlns:a16="http://schemas.microsoft.com/office/drawing/2014/main" id="{3DBB7B1F-FEB1-41EC-8673-9FBFFFF4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798638"/>
            <a:ext cx="3635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элемента внутренности множества</a:t>
            </a:r>
            <a:endParaRPr lang="ru-RU" altLang="ru-RU"/>
          </a:p>
        </p:txBody>
      </p:sp>
      <p:graphicFrame>
        <p:nvGraphicFramePr>
          <p:cNvPr id="6173" name="Object 29">
            <a:extLst>
              <a:ext uri="{FF2B5EF4-FFF2-40B4-BE49-F238E27FC236}">
                <a16:creationId xmlns:a16="http://schemas.microsoft.com/office/drawing/2014/main" id="{2B933699-2416-4B1F-8E79-3544080AB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276475"/>
          <a:ext cx="7191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Формула" r:id="rId5" imgW="444307" imgH="228501" progId="Equation.3">
                  <p:embed/>
                </p:oleObj>
              </mc:Choice>
              <mc:Fallback>
                <p:oleObj name="Формула" r:id="rId5" imgW="444307" imgH="228501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276475"/>
                        <a:ext cx="719138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5" name="Rectangle 31">
            <a:extLst>
              <a:ext uri="{FF2B5EF4-FFF2-40B4-BE49-F238E27FC236}">
                <a16:creationId xmlns:a16="http://schemas.microsoft.com/office/drawing/2014/main" id="{89097510-E45A-462F-B604-2D6C23B05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276475"/>
            <a:ext cx="2700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- компактное множество.</a:t>
            </a:r>
            <a:endParaRPr lang="ru-RU" altLang="ru-RU"/>
          </a:p>
        </p:txBody>
      </p:sp>
      <p:sp>
        <p:nvSpPr>
          <p:cNvPr id="6176" name="Rectangle 32">
            <a:extLst>
              <a:ext uri="{FF2B5EF4-FFF2-40B4-BE49-F238E27FC236}">
                <a16:creationId xmlns:a16="http://schemas.microsoft.com/office/drawing/2014/main" id="{A5BEF2A5-C4A3-4169-96D6-96C8227A2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191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сечения уровня </a:t>
            </a:r>
          </a:p>
        </p:txBody>
      </p:sp>
      <p:sp>
        <p:nvSpPr>
          <p:cNvPr id="6177" name="Rectangle 33">
            <a:extLst>
              <a:ext uri="{FF2B5EF4-FFF2-40B4-BE49-F238E27FC236}">
                <a16:creationId xmlns:a16="http://schemas.microsoft.com/office/drawing/2014/main" id="{72BB28F0-2D5C-411C-B321-AAB713D73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638" y="2697163"/>
            <a:ext cx="69215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1.3.</a:t>
            </a:r>
            <a:r>
              <a:rPr lang="ru-RU" altLang="ru-RU" sz="2400" b="1" u="sng"/>
              <a:t> Производная функции по направлению.</a:t>
            </a:r>
          </a:p>
        </p:txBody>
      </p:sp>
      <p:sp>
        <p:nvSpPr>
          <p:cNvPr id="6178" name="Rectangle 34">
            <a:extLst>
              <a:ext uri="{FF2B5EF4-FFF2-40B4-BE49-F238E27FC236}">
                <a16:creationId xmlns:a16="http://schemas.microsoft.com/office/drawing/2014/main" id="{1C9CA094-1413-42AB-B973-7FC5CF98B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284538"/>
            <a:ext cx="2905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Определение 3.</a:t>
            </a:r>
            <a:r>
              <a:rPr lang="ru-RU" altLang="ru-RU"/>
              <a:t> 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6180" name="Rectangle 36">
            <a:extLst>
              <a:ext uri="{FF2B5EF4-FFF2-40B4-BE49-F238E27FC236}">
                <a16:creationId xmlns:a16="http://schemas.microsoft.com/office/drawing/2014/main" id="{E930D79E-08A8-42C0-BD21-982671E36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79" name="Object 35">
            <a:extLst>
              <a:ext uri="{FF2B5EF4-FFF2-40B4-BE49-F238E27FC236}">
                <a16:creationId xmlns:a16="http://schemas.microsoft.com/office/drawing/2014/main" id="{46B99EF9-927D-4F79-A6C2-25C1633269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3284538"/>
          <a:ext cx="26638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name="Формула" r:id="rId7" imgW="1536700" imgH="228600" progId="Equation.3">
                  <p:embed/>
                </p:oleObj>
              </mc:Choice>
              <mc:Fallback>
                <p:oleObj name="Формула" r:id="rId7" imgW="1536700" imgH="2286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284538"/>
                        <a:ext cx="266382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1" name="Rectangle 37">
            <a:extLst>
              <a:ext uri="{FF2B5EF4-FFF2-40B4-BE49-F238E27FC236}">
                <a16:creationId xmlns:a16="http://schemas.microsoft.com/office/drawing/2014/main" id="{2EBCEFB3-A5A1-4B8C-89CD-3595E006C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284538"/>
            <a:ext cx="2197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производной</a:t>
            </a:r>
          </a:p>
        </p:txBody>
      </p:sp>
      <p:sp>
        <p:nvSpPr>
          <p:cNvPr id="6182" name="Rectangle 38">
            <a:extLst>
              <a:ext uri="{FF2B5EF4-FFF2-40B4-BE49-F238E27FC236}">
                <a16:creationId xmlns:a16="http://schemas.microsoft.com/office/drawing/2014/main" id="{03472CF8-56F9-4FD6-A3B2-1E596554E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644900"/>
            <a:ext cx="659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по направлению  </a:t>
            </a:r>
            <a:r>
              <a:rPr lang="en-US" altLang="ru-RU"/>
              <a:t>d</a:t>
            </a:r>
            <a:r>
              <a:rPr lang="ru-RU" altLang="ru-RU"/>
              <a:t> функции 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Xo</a:t>
            </a:r>
            <a:r>
              <a:rPr lang="ru-RU" altLang="ru-RU"/>
              <a:t> называется предел:</a:t>
            </a:r>
          </a:p>
        </p:txBody>
      </p:sp>
      <p:sp>
        <p:nvSpPr>
          <p:cNvPr id="6184" name="Rectangle 40">
            <a:extLst>
              <a:ext uri="{FF2B5EF4-FFF2-40B4-BE49-F238E27FC236}">
                <a16:creationId xmlns:a16="http://schemas.microsoft.com/office/drawing/2014/main" id="{1CE38054-3D2E-4A5F-B188-0FCDF0FAB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5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6" name="Rectangle 42">
            <a:extLst>
              <a:ext uri="{FF2B5EF4-FFF2-40B4-BE49-F238E27FC236}">
                <a16:creationId xmlns:a16="http://schemas.microsoft.com/office/drawing/2014/main" id="{D616D95F-786F-4EC1-8140-40F04FF2A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17512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 '</a:t>
            </a:r>
            <a:r>
              <a:rPr lang="en-US" altLang="ru-RU" baseline="-30000">
                <a:cs typeface="Times New Roman" panose="02020603050405020304" pitchFamily="18" charset="0"/>
              </a:rPr>
              <a:t>d</a:t>
            </a:r>
            <a:r>
              <a:rPr lang="ru-RU" altLang="ru-RU">
                <a:cs typeface="Times New Roman" panose="02020603050405020304" pitchFamily="18" charset="0"/>
              </a:rPr>
              <a:t>(</a:t>
            </a:r>
            <a:r>
              <a:rPr lang="en-US" altLang="ru-RU">
                <a:cs typeface="Times New Roman" panose="02020603050405020304" pitchFamily="18" charset="0"/>
              </a:rPr>
              <a:t>x</a:t>
            </a:r>
            <a:r>
              <a:rPr lang="ru-RU" altLang="ru-RU" baseline="-30000">
                <a:cs typeface="Times New Roman" panose="02020603050405020304" pitchFamily="18" charset="0"/>
              </a:rPr>
              <a:t>0</a:t>
            </a:r>
            <a:r>
              <a:rPr lang="ru-RU" altLang="ru-RU">
                <a:cs typeface="Times New Roman" panose="02020603050405020304" pitchFamily="18" charset="0"/>
              </a:rPr>
              <a:t>)=</a:t>
            </a:r>
            <a:endParaRPr lang="ru-RU" altLang="ru-RU"/>
          </a:p>
        </p:txBody>
      </p:sp>
      <p:graphicFrame>
        <p:nvGraphicFramePr>
          <p:cNvPr id="6185" name="Object 41">
            <a:extLst>
              <a:ext uri="{FF2B5EF4-FFF2-40B4-BE49-F238E27FC236}">
                <a16:creationId xmlns:a16="http://schemas.microsoft.com/office/drawing/2014/main" id="{F43EFF6A-9B0A-4F46-8D76-4B196DED8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076700"/>
          <a:ext cx="33115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Формула" r:id="rId9" imgW="2260600" imgH="393700" progId="Equation.3">
                  <p:embed/>
                </p:oleObj>
              </mc:Choice>
              <mc:Fallback>
                <p:oleObj name="Формула" r:id="rId9" imgW="2260600" imgH="3937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076700"/>
                        <a:ext cx="331152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7" name="Rectangle 43">
            <a:extLst>
              <a:ext uri="{FF2B5EF4-FFF2-40B4-BE49-F238E27FC236}">
                <a16:creationId xmlns:a16="http://schemas.microsoft.com/office/drawing/2014/main" id="{1BBF1577-B0A9-45E1-ACB1-BB1859683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3624263"/>
            <a:ext cx="2698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 </a:t>
            </a:r>
            <a:endParaRPr lang="ru-RU" altLang="ru-RU"/>
          </a:p>
        </p:txBody>
      </p:sp>
      <p:sp>
        <p:nvSpPr>
          <p:cNvPr id="6188" name="Rectangle 44">
            <a:extLst>
              <a:ext uri="{FF2B5EF4-FFF2-40B4-BE49-F238E27FC236}">
                <a16:creationId xmlns:a16="http://schemas.microsoft.com/office/drawing/2014/main" id="{62DA2B26-8501-4137-A23C-DBB14A3C7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24400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или </a:t>
            </a:r>
          </a:p>
        </p:txBody>
      </p:sp>
      <p:sp>
        <p:nvSpPr>
          <p:cNvPr id="6190" name="Rectangle 46">
            <a:extLst>
              <a:ext uri="{FF2B5EF4-FFF2-40B4-BE49-F238E27FC236}">
                <a16:creationId xmlns:a16="http://schemas.microsoft.com/office/drawing/2014/main" id="{24FCA831-517E-46D3-8E45-CF9777324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89" name="Object 45">
            <a:extLst>
              <a:ext uri="{FF2B5EF4-FFF2-40B4-BE49-F238E27FC236}">
                <a16:creationId xmlns:a16="http://schemas.microsoft.com/office/drawing/2014/main" id="{29F6DA32-F1AC-4A30-B664-AFFA35064B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652963"/>
          <a:ext cx="38163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Формула" r:id="rId11" imgW="2679700" imgH="444500" progId="Equation.3">
                  <p:embed/>
                </p:oleObj>
              </mc:Choice>
              <mc:Fallback>
                <p:oleObj name="Формула" r:id="rId11" imgW="2679700" imgH="4445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652963"/>
                        <a:ext cx="381635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1" name="Rectangle 47">
            <a:extLst>
              <a:ext uri="{FF2B5EF4-FFF2-40B4-BE49-F238E27FC236}">
                <a16:creationId xmlns:a16="http://schemas.microsoft.com/office/drawing/2014/main" id="{49CA9897-5931-41C2-B98C-B5B800F42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73688"/>
            <a:ext cx="3735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Обобщение:</a:t>
            </a:r>
            <a:r>
              <a:rPr lang="ru-RU" altLang="ru-RU"/>
              <a:t> Производная Гато: </a:t>
            </a:r>
          </a:p>
        </p:txBody>
      </p:sp>
      <p:sp>
        <p:nvSpPr>
          <p:cNvPr id="6193" name="Rectangle 49">
            <a:extLst>
              <a:ext uri="{FF2B5EF4-FFF2-40B4-BE49-F238E27FC236}">
                <a16:creationId xmlns:a16="http://schemas.microsoft.com/office/drawing/2014/main" id="{7C8C0FA9-A8E0-4EC1-B5DC-07528457E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92" name="Object 48">
            <a:extLst>
              <a:ext uri="{FF2B5EF4-FFF2-40B4-BE49-F238E27FC236}">
                <a16:creationId xmlns:a16="http://schemas.microsoft.com/office/drawing/2014/main" id="{1E791405-3854-4996-97EE-08083EDA9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229225"/>
          <a:ext cx="17272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Формула" r:id="rId13" imgW="1244600" imgH="444500" progId="Equation.3">
                  <p:embed/>
                </p:oleObj>
              </mc:Choice>
              <mc:Fallback>
                <p:oleObj name="Формула" r:id="rId13" imgW="1244600" imgH="4445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229225"/>
                        <a:ext cx="1727200" cy="62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4" name="Rectangle 50">
            <a:extLst>
              <a:ext uri="{FF2B5EF4-FFF2-40B4-BE49-F238E27FC236}">
                <a16:creationId xmlns:a16="http://schemas.microsoft.com/office/drawing/2014/main" id="{1A74959D-0823-4506-89E2-2DEF8B013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8963"/>
            <a:ext cx="8640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Из существования производной Гато не следует существование дифференциала Фреше.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8DFC304-B638-407A-8491-72F33211E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i="1" u="sng"/>
              <a:t>1. Дифференцирование функций.</a:t>
            </a:r>
          </a:p>
        </p:txBody>
      </p:sp>
      <p:pic>
        <p:nvPicPr>
          <p:cNvPr id="8218" name="Picture 26">
            <a:extLst>
              <a:ext uri="{FF2B5EF4-FFF2-40B4-BE49-F238E27FC236}">
                <a16:creationId xmlns:a16="http://schemas.microsoft.com/office/drawing/2014/main" id="{CE066405-F88F-4D1D-BAF8-EBCBF6F4C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806450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83D8FA6-E636-4CF6-8BE3-6C26F0460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i="1" u="sng"/>
              <a:t>1. Дифференцирование функций.</a:t>
            </a:r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C497543D-FA5B-47D4-9B90-44D2FCD0E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F172A0BA-53B6-48AC-9781-99E22D08E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25985DFF-22C8-4D20-A54B-9E5847828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6D4924D5-D389-484E-8FB9-A64024B74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BFACD39A-F80A-4DFD-BCAA-0189DD24D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6" name="Rectangle 22">
            <a:extLst>
              <a:ext uri="{FF2B5EF4-FFF2-40B4-BE49-F238E27FC236}">
                <a16:creationId xmlns:a16="http://schemas.microsoft.com/office/drawing/2014/main" id="{F06BDC2B-2AE6-40FC-875B-3546883D4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6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8" name="Rectangle 24">
            <a:extLst>
              <a:ext uri="{FF2B5EF4-FFF2-40B4-BE49-F238E27FC236}">
                <a16:creationId xmlns:a16="http://schemas.microsoft.com/office/drawing/2014/main" id="{FE2B1691-2922-4061-B011-3535A0B4C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1" name="Rectangle 27">
            <a:extLst>
              <a:ext uri="{FF2B5EF4-FFF2-40B4-BE49-F238E27FC236}">
                <a16:creationId xmlns:a16="http://schemas.microsoft.com/office/drawing/2014/main" id="{7F0FBEBC-24B2-4709-8798-BC9A14E4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9" name="Rectangle 35">
            <a:extLst>
              <a:ext uri="{FF2B5EF4-FFF2-40B4-BE49-F238E27FC236}">
                <a16:creationId xmlns:a16="http://schemas.microsoft.com/office/drawing/2014/main" id="{57A4ED37-3E07-4295-BFF1-684CDC3BA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511300"/>
            <a:ext cx="638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1.4.</a:t>
            </a:r>
            <a:r>
              <a:rPr lang="ru-RU" altLang="ru-RU" sz="2400" b="1" u="sng"/>
              <a:t> Разложение функции в ряд Тейлора.</a:t>
            </a:r>
          </a:p>
        </p:txBody>
      </p:sp>
      <p:sp>
        <p:nvSpPr>
          <p:cNvPr id="11300" name="Rectangle 36">
            <a:extLst>
              <a:ext uri="{FF2B5EF4-FFF2-40B4-BE49-F238E27FC236}">
                <a16:creationId xmlns:a16="http://schemas.microsoft.com/office/drawing/2014/main" id="{D0732897-1324-477D-B588-95E65A612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8324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 случае </a:t>
            </a:r>
            <a:r>
              <a:rPr lang="en-US" altLang="ru-RU"/>
              <a:t>n</a:t>
            </a:r>
            <a:r>
              <a:rPr lang="ru-RU" altLang="ru-RU"/>
              <a:t>-мерного пространства переменных - разложение в ряд Тейлора.</a:t>
            </a:r>
          </a:p>
        </p:txBody>
      </p:sp>
      <p:sp>
        <p:nvSpPr>
          <p:cNvPr id="11301" name="Rectangle 37">
            <a:extLst>
              <a:ext uri="{FF2B5EF4-FFF2-40B4-BE49-F238E27FC236}">
                <a16:creationId xmlns:a16="http://schemas.microsoft.com/office/drawing/2014/main" id="{2DB968BF-AA3F-4534-ABD8-A69EAE19F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20938"/>
            <a:ext cx="1373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    </a:t>
            </a:r>
            <a:r>
              <a:rPr lang="en-US" altLang="ru-RU"/>
              <a:t>f</a:t>
            </a:r>
            <a:r>
              <a:rPr lang="ru-RU" altLang="ru-RU"/>
              <a:t> : </a:t>
            </a:r>
          </a:p>
        </p:txBody>
      </p:sp>
      <p:sp>
        <p:nvSpPr>
          <p:cNvPr id="11303" name="Rectangle 39">
            <a:extLst>
              <a:ext uri="{FF2B5EF4-FFF2-40B4-BE49-F238E27FC236}">
                <a16:creationId xmlns:a16="http://schemas.microsoft.com/office/drawing/2014/main" id="{6BBE4706-51EC-4BDA-99FB-757D808B6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02" name="Object 38">
            <a:extLst>
              <a:ext uri="{FF2B5EF4-FFF2-40B4-BE49-F238E27FC236}">
                <a16:creationId xmlns:a16="http://schemas.microsoft.com/office/drawing/2014/main" id="{3C2E7C54-7675-41E2-9786-5BB6E76FF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420938"/>
          <a:ext cx="24479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1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20938"/>
                        <a:ext cx="244792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4" name="Rectangle 40">
            <a:extLst>
              <a:ext uri="{FF2B5EF4-FFF2-40B4-BE49-F238E27FC236}">
                <a16:creationId xmlns:a16="http://schemas.microsoft.com/office/drawing/2014/main" id="{3E20A9CA-1D4A-458B-827A-A17F68E65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420938"/>
            <a:ext cx="4638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, если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</a:t>
            </a:r>
            <a:r>
              <a:rPr lang="en-US" altLang="ru-RU"/>
              <a:t>n</a:t>
            </a:r>
            <a:r>
              <a:rPr lang="ru-RU" altLang="ru-RU"/>
              <a:t> раз дифференцируема </a:t>
            </a:r>
          </a:p>
        </p:txBody>
      </p:sp>
      <p:sp>
        <p:nvSpPr>
          <p:cNvPr id="11305" name="Rectangle 41">
            <a:extLst>
              <a:ext uri="{FF2B5EF4-FFF2-40B4-BE49-F238E27FC236}">
                <a16:creationId xmlns:a16="http://schemas.microsoft.com/office/drawing/2014/main" id="{8CBC17EE-EB81-4B5D-A9E3-F2D3C7335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81300"/>
            <a:ext cx="1519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 т. </a:t>
            </a:r>
            <a:r>
              <a:rPr lang="en-US" altLang="ru-RU"/>
              <a:t>x</a:t>
            </a:r>
            <a:r>
              <a:rPr lang="ru-RU" altLang="ru-RU"/>
              <a:t>0, то     </a:t>
            </a:r>
          </a:p>
        </p:txBody>
      </p:sp>
      <p:sp>
        <p:nvSpPr>
          <p:cNvPr id="11307" name="Rectangle 43">
            <a:extLst>
              <a:ext uri="{FF2B5EF4-FFF2-40B4-BE49-F238E27FC236}">
                <a16:creationId xmlns:a16="http://schemas.microsoft.com/office/drawing/2014/main" id="{C6ACBBAF-960B-4F03-8227-C582FB0C9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06" name="Object 42">
            <a:extLst>
              <a:ext uri="{FF2B5EF4-FFF2-40B4-BE49-F238E27FC236}">
                <a16:creationId xmlns:a16="http://schemas.microsoft.com/office/drawing/2014/main" id="{4157733C-6632-42EA-97ED-42FACAEA1B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852738"/>
          <a:ext cx="57594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2" name="Формула" r:id="rId5" imgW="4013200" imgH="279400" progId="Equation.3">
                  <p:embed/>
                </p:oleObj>
              </mc:Choice>
              <mc:Fallback>
                <p:oleObj name="Формула" r:id="rId5" imgW="4013200" imgH="2794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5759450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8" name="Rectangle 44">
            <a:extLst>
              <a:ext uri="{FF2B5EF4-FFF2-40B4-BE49-F238E27FC236}">
                <a16:creationId xmlns:a16="http://schemas.microsoft.com/office/drawing/2014/main" id="{13814172-BFAE-4441-95CE-28AB599BD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9" name="Rectangle 45">
            <a:extLst>
              <a:ext uri="{FF2B5EF4-FFF2-40B4-BE49-F238E27FC236}">
                <a16:creationId xmlns:a16="http://schemas.microsoft.com/office/drawing/2014/main" id="{1A8C8181-9491-4BEA-9049-28A791D50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141663"/>
            <a:ext cx="48148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     </a:t>
            </a:r>
            <a:r>
              <a:rPr lang="en-US" altLang="ru-RU"/>
              <a:t>O</a:t>
            </a:r>
            <a:r>
              <a:rPr lang="ru-RU" altLang="ru-RU"/>
              <a:t> - остаточный член в форме Пеано;</a:t>
            </a:r>
          </a:p>
        </p:txBody>
      </p:sp>
      <p:sp>
        <p:nvSpPr>
          <p:cNvPr id="11311" name="Rectangle 47">
            <a:extLst>
              <a:ext uri="{FF2B5EF4-FFF2-40B4-BE49-F238E27FC236}">
                <a16:creationId xmlns:a16="http://schemas.microsoft.com/office/drawing/2014/main" id="{9F7F759F-A202-4EB8-A213-7D0ABAE85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10" name="Object 46">
            <a:extLst>
              <a:ext uri="{FF2B5EF4-FFF2-40B4-BE49-F238E27FC236}">
                <a16:creationId xmlns:a16="http://schemas.microsoft.com/office/drawing/2014/main" id="{A8093B10-7C30-4549-B5C3-ECE6548004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521075"/>
          <a:ext cx="3455987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3" name="Формула" r:id="rId7" imgW="2260600" imgH="508000" progId="Equation.3">
                  <p:embed/>
                </p:oleObj>
              </mc:Choice>
              <mc:Fallback>
                <p:oleObj name="Формула" r:id="rId7" imgW="2260600" imgH="5080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21075"/>
                        <a:ext cx="3455987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2" name="Rectangle 48">
            <a:extLst>
              <a:ext uri="{FF2B5EF4-FFF2-40B4-BE49-F238E27FC236}">
                <a16:creationId xmlns:a16="http://schemas.microsoft.com/office/drawing/2014/main" id="{8EBA18D2-9B86-4304-8A0B-D03EDFBF2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13" name="Rectangle 49">
            <a:extLst>
              <a:ext uri="{FF2B5EF4-FFF2-40B4-BE49-F238E27FC236}">
                <a16:creationId xmlns:a16="http://schemas.microsoft.com/office/drawing/2014/main" id="{7375EF88-E5D5-4E0B-8D14-9F2A500F9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716338"/>
            <a:ext cx="34369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- градиент функции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</a:t>
            </a:r>
            <a:r>
              <a:rPr lang="ru-RU" altLang="ru-RU"/>
              <a:t>0;</a:t>
            </a:r>
          </a:p>
        </p:txBody>
      </p:sp>
      <p:sp>
        <p:nvSpPr>
          <p:cNvPr id="11315" name="Rectangle 51">
            <a:extLst>
              <a:ext uri="{FF2B5EF4-FFF2-40B4-BE49-F238E27FC236}">
                <a16:creationId xmlns:a16="http://schemas.microsoft.com/office/drawing/2014/main" id="{22C002D1-CBD5-4FC9-AC97-3DD055BE1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14" name="Object 50">
            <a:extLst>
              <a:ext uri="{FF2B5EF4-FFF2-40B4-BE49-F238E27FC236}">
                <a16:creationId xmlns:a16="http://schemas.microsoft.com/office/drawing/2014/main" id="{4C465320-3C29-441E-9E25-05C8A8930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4029075"/>
          <a:ext cx="21605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4" name="Формула" r:id="rId9" imgW="1459866" imgH="571252" progId="Equation.3">
                  <p:embed/>
                </p:oleObj>
              </mc:Choice>
              <mc:Fallback>
                <p:oleObj name="Формула" r:id="rId9" imgW="1459866" imgH="571252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029075"/>
                        <a:ext cx="2160587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6" name="Rectangle 52">
            <a:extLst>
              <a:ext uri="{FF2B5EF4-FFF2-40B4-BE49-F238E27FC236}">
                <a16:creationId xmlns:a16="http://schemas.microsoft.com/office/drawing/2014/main" id="{A1152622-13C8-4FBD-B86C-D216F7D8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17" name="Rectangle 53">
            <a:extLst>
              <a:ext uri="{FF2B5EF4-FFF2-40B4-BE49-F238E27FC236}">
                <a16:creationId xmlns:a16="http://schemas.microsoft.com/office/drawing/2014/main" id="{63CD13E6-6DE9-4526-92A1-E70AF6DB0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221163"/>
            <a:ext cx="5572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матрица Гессе 2-х частных производных в т. х0. </a:t>
            </a:r>
          </a:p>
        </p:txBody>
      </p:sp>
      <p:sp>
        <p:nvSpPr>
          <p:cNvPr id="11318" name="Rectangle 54">
            <a:extLst>
              <a:ext uri="{FF2B5EF4-FFF2-40B4-BE49-F238E27FC236}">
                <a16:creationId xmlns:a16="http://schemas.microsoft.com/office/drawing/2014/main" id="{8058B7EE-282D-4775-80E9-DF3F0319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97425"/>
            <a:ext cx="774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11320" name="Rectangle 56">
            <a:extLst>
              <a:ext uri="{FF2B5EF4-FFF2-40B4-BE49-F238E27FC236}">
                <a16:creationId xmlns:a16="http://schemas.microsoft.com/office/drawing/2014/main" id="{E5C520F8-647C-4A4D-925B-C90899897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19" name="Object 55">
            <a:extLst>
              <a:ext uri="{FF2B5EF4-FFF2-40B4-BE49-F238E27FC236}">
                <a16:creationId xmlns:a16="http://schemas.microsoft.com/office/drawing/2014/main" id="{C5145340-B565-4F83-B7A3-B3C9D163A6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868863"/>
          <a:ext cx="12239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5" name="Формула" r:id="rId11" imgW="876300" imgH="228600" progId="Equation.3">
                  <p:embed/>
                </p:oleObj>
              </mc:Choice>
              <mc:Fallback>
                <p:oleObj name="Формула" r:id="rId11" imgW="876300" imgH="228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868863"/>
                        <a:ext cx="1223962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1" name="Rectangle 57">
            <a:extLst>
              <a:ext uri="{FF2B5EF4-FFF2-40B4-BE49-F238E27FC236}">
                <a16:creationId xmlns:a16="http://schemas.microsoft.com/office/drawing/2014/main" id="{EEB7527E-1449-4E57-8F04-449639B3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797425"/>
            <a:ext cx="5202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функция </a:t>
            </a:r>
            <a:r>
              <a:rPr lang="en-US" altLang="ru-RU"/>
              <a:t>f</a:t>
            </a:r>
            <a:r>
              <a:rPr lang="ru-RU" altLang="ru-RU"/>
              <a:t>(x) в т. х0 выпукла (если &gt; – строго).</a:t>
            </a:r>
          </a:p>
        </p:txBody>
      </p:sp>
      <p:sp>
        <p:nvSpPr>
          <p:cNvPr id="11323" name="Rectangle 59">
            <a:extLst>
              <a:ext uri="{FF2B5EF4-FFF2-40B4-BE49-F238E27FC236}">
                <a16:creationId xmlns:a16="http://schemas.microsoft.com/office/drawing/2014/main" id="{02B8A769-289A-49C8-91F1-14AB9B514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22" name="Object 58">
            <a:extLst>
              <a:ext uri="{FF2B5EF4-FFF2-40B4-BE49-F238E27FC236}">
                <a16:creationId xmlns:a16="http://schemas.microsoft.com/office/drawing/2014/main" id="{F74D205A-4FFC-4294-BEE7-4B471028C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229225"/>
          <a:ext cx="143986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" name="Формула" r:id="rId13" imgW="876300" imgH="228600" progId="Equation.3">
                  <p:embed/>
                </p:oleObj>
              </mc:Choice>
              <mc:Fallback>
                <p:oleObj name="Формула" r:id="rId13" imgW="876300" imgH="2286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229225"/>
                        <a:ext cx="1439862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5" name="Rectangle 61">
            <a:extLst>
              <a:ext uri="{FF2B5EF4-FFF2-40B4-BE49-F238E27FC236}">
                <a16:creationId xmlns:a16="http://schemas.microsoft.com/office/drawing/2014/main" id="{125E5804-70A2-4EB1-93C5-374C4100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26" name="Rectangle 62">
            <a:extLst>
              <a:ext uri="{FF2B5EF4-FFF2-40B4-BE49-F238E27FC236}">
                <a16:creationId xmlns:a16="http://schemas.microsoft.com/office/drawing/2014/main" id="{7CE26205-E6CC-404C-8CC5-0160E6AF7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229225"/>
            <a:ext cx="4878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 </a:t>
            </a:r>
            <a:r>
              <a:rPr lang="ru-RU" altLang="ru-RU">
                <a:cs typeface="Times New Roman" panose="02020603050405020304" pitchFamily="18" charset="0"/>
              </a:rPr>
              <a:t>функция </a:t>
            </a:r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(x) в т. х</a:t>
            </a:r>
            <a:r>
              <a:rPr lang="ru-RU" altLang="ru-RU" baseline="-30000">
                <a:cs typeface="Times New Roman" panose="02020603050405020304" pitchFamily="18" charset="0"/>
              </a:rPr>
              <a:t>0 </a:t>
            </a:r>
            <a:r>
              <a:rPr lang="ru-RU" altLang="ru-RU">
                <a:cs typeface="Times New Roman" panose="02020603050405020304" pitchFamily="18" charset="0"/>
              </a:rPr>
              <a:t>вогнута (если &lt; – строго)</a:t>
            </a:r>
            <a:r>
              <a:rPr lang="ru-RU" altLang="ru-RU"/>
              <a:t>.</a:t>
            </a:r>
          </a:p>
        </p:txBody>
      </p:sp>
      <p:sp>
        <p:nvSpPr>
          <p:cNvPr id="11327" name="Rectangle 63">
            <a:extLst>
              <a:ext uri="{FF2B5EF4-FFF2-40B4-BE49-F238E27FC236}">
                <a16:creationId xmlns:a16="http://schemas.microsoft.com/office/drawing/2014/main" id="{B3ABD253-BCA9-4380-9E55-4CB3A8553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229225"/>
            <a:ext cx="774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graphicFrame>
        <p:nvGraphicFramePr>
          <p:cNvPr id="11328" name="Object 64">
            <a:extLst>
              <a:ext uri="{FF2B5EF4-FFF2-40B4-BE49-F238E27FC236}">
                <a16:creationId xmlns:a16="http://schemas.microsoft.com/office/drawing/2014/main" id="{8683C630-3FB4-4C5F-8D29-722FB6B504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589588"/>
          <a:ext cx="143986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Формула" r:id="rId15" imgW="876300" imgH="228600" progId="Equation.3">
                  <p:embed/>
                </p:oleObj>
              </mc:Choice>
              <mc:Fallback>
                <p:oleObj name="Формула" r:id="rId15" imgW="876300" imgH="2286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589588"/>
                        <a:ext cx="1439863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30" name="Rectangle 66">
            <a:extLst>
              <a:ext uri="{FF2B5EF4-FFF2-40B4-BE49-F238E27FC236}">
                <a16:creationId xmlns:a16="http://schemas.microsoft.com/office/drawing/2014/main" id="{B4A95BC0-3E91-4719-9BD5-BE17B1102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589588"/>
            <a:ext cx="774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11332" name="Rectangle 68">
            <a:extLst>
              <a:ext uri="{FF2B5EF4-FFF2-40B4-BE49-F238E27FC236}">
                <a16:creationId xmlns:a16="http://schemas.microsoft.com/office/drawing/2014/main" id="{00D83F13-FBAB-48B1-9698-A9A411F41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33" name="Rectangle 69">
            <a:extLst>
              <a:ext uri="{FF2B5EF4-FFF2-40B4-BE49-F238E27FC236}">
                <a16:creationId xmlns:a16="http://schemas.microsoft.com/office/drawing/2014/main" id="{5D87F167-8A0D-4288-9A0A-5154F9EED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5589588"/>
            <a:ext cx="41767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,</a:t>
            </a:r>
            <a:r>
              <a:rPr lang="ru-RU" altLang="ru-RU">
                <a:cs typeface="Times New Roman" panose="02020603050405020304" pitchFamily="18" charset="0"/>
              </a:rPr>
              <a:t> функция </a:t>
            </a:r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(x) в т. х</a:t>
            </a:r>
            <a:r>
              <a:rPr lang="ru-RU" altLang="ru-RU" baseline="-30000">
                <a:cs typeface="Times New Roman" panose="02020603050405020304" pitchFamily="18" charset="0"/>
              </a:rPr>
              <a:t>0 </a:t>
            </a:r>
            <a:r>
              <a:rPr lang="ru-RU" altLang="ru-RU">
                <a:cs typeface="Times New Roman" panose="02020603050405020304" pitchFamily="18" charset="0"/>
              </a:rPr>
              <a:t> имеет перегиб.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26FC71A-59AB-449C-982B-24CC6101D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i="1" u="sng"/>
              <a:t>1. Дифференцирование функций.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EE7EA230-9EF7-42F4-A5CE-0EA6394BA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E91EAAB-50A2-473C-8CFD-43C2B4223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1CCB3633-64C7-4347-86AA-6A2D41069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7D78F7CA-31B4-48E9-A473-D2FF67364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0" name="Rectangle 12">
            <a:extLst>
              <a:ext uri="{FF2B5EF4-FFF2-40B4-BE49-F238E27FC236}">
                <a16:creationId xmlns:a16="http://schemas.microsoft.com/office/drawing/2014/main" id="{D0D66A07-C179-45CB-A707-A4B258CA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915ECBB2-9D45-4315-AC91-C363B3925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7" name="Rectangle 19">
            <a:extLst>
              <a:ext uri="{FF2B5EF4-FFF2-40B4-BE49-F238E27FC236}">
                <a16:creationId xmlns:a16="http://schemas.microsoft.com/office/drawing/2014/main" id="{D7B20AAB-B31F-47BA-8C03-533025154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2" name="Rectangle 24">
            <a:extLst>
              <a:ext uri="{FF2B5EF4-FFF2-40B4-BE49-F238E27FC236}">
                <a16:creationId xmlns:a16="http://schemas.microsoft.com/office/drawing/2014/main" id="{3F4A41F3-065E-4C8D-B5CD-5D5F55382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6" name="Rectangle 28">
            <a:extLst>
              <a:ext uri="{FF2B5EF4-FFF2-40B4-BE49-F238E27FC236}">
                <a16:creationId xmlns:a16="http://schemas.microsoft.com/office/drawing/2014/main" id="{AE3D3C08-1AAA-4A48-A1C0-927A30A9D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7" name="Rectangle 29">
            <a:extLst>
              <a:ext uri="{FF2B5EF4-FFF2-40B4-BE49-F238E27FC236}">
                <a16:creationId xmlns:a16="http://schemas.microsoft.com/office/drawing/2014/main" id="{017E798A-AC66-46B3-A481-5B1A7C75F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0" name="Rectangle 32">
            <a:extLst>
              <a:ext uri="{FF2B5EF4-FFF2-40B4-BE49-F238E27FC236}">
                <a16:creationId xmlns:a16="http://schemas.microsoft.com/office/drawing/2014/main" id="{7BEC706F-4BD9-4C87-9B4C-EEFA4D5F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2" name="Rectangle 34">
            <a:extLst>
              <a:ext uri="{FF2B5EF4-FFF2-40B4-BE49-F238E27FC236}">
                <a16:creationId xmlns:a16="http://schemas.microsoft.com/office/drawing/2014/main" id="{AA02AF33-29A5-49A7-A7C0-A9A788E7C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4" name="Rectangle 36">
            <a:extLst>
              <a:ext uri="{FF2B5EF4-FFF2-40B4-BE49-F238E27FC236}">
                <a16:creationId xmlns:a16="http://schemas.microsoft.com/office/drawing/2014/main" id="{2FC13062-A087-4297-A1EA-064037CB0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484313"/>
            <a:ext cx="4637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 u="sng"/>
              <a:t>1.5. Матрица Якоби. Якобиан</a:t>
            </a:r>
            <a:r>
              <a:rPr lang="ru-RU" altLang="ru-RU" sz="2400" u="sng"/>
              <a:t>.</a:t>
            </a:r>
          </a:p>
        </p:txBody>
      </p:sp>
      <p:sp>
        <p:nvSpPr>
          <p:cNvPr id="17445" name="Rectangle 37">
            <a:extLst>
              <a:ext uri="{FF2B5EF4-FFF2-40B4-BE49-F238E27FC236}">
                <a16:creationId xmlns:a16="http://schemas.microsoft.com/office/drawing/2014/main" id="{09C962C5-CB9D-4C37-B704-08C9F635B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89138"/>
            <a:ext cx="4414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g</a:t>
            </a:r>
            <a:r>
              <a:rPr lang="ru-RU" altLang="ru-RU"/>
              <a:t> - операторное отображение: </a:t>
            </a:r>
            <a:r>
              <a:rPr lang="en-US" altLang="ru-RU"/>
              <a:t>g</a:t>
            </a:r>
            <a:r>
              <a:rPr lang="ru-RU" altLang="ru-RU"/>
              <a:t>: </a:t>
            </a:r>
          </a:p>
        </p:txBody>
      </p:sp>
      <p:sp>
        <p:nvSpPr>
          <p:cNvPr id="17447" name="Rectangle 39">
            <a:extLst>
              <a:ext uri="{FF2B5EF4-FFF2-40B4-BE49-F238E27FC236}">
                <a16:creationId xmlns:a16="http://schemas.microsoft.com/office/drawing/2014/main" id="{A4BA3D55-9E24-48D9-A93A-7C5ECAEF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46" name="Object 38">
            <a:extLst>
              <a:ext uri="{FF2B5EF4-FFF2-40B4-BE49-F238E27FC236}">
                <a16:creationId xmlns:a16="http://schemas.microsoft.com/office/drawing/2014/main" id="{5365946A-7BF8-4354-983F-DC7E44931D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989138"/>
          <a:ext cx="3024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name="Формула" r:id="rId3" imgW="1600200" imgH="228600" progId="Equation.3">
                  <p:embed/>
                </p:oleObj>
              </mc:Choice>
              <mc:Fallback>
                <p:oleObj name="Формула" r:id="rId3" imgW="16002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989138"/>
                        <a:ext cx="30241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8" name="Rectangle 40">
            <a:extLst>
              <a:ext uri="{FF2B5EF4-FFF2-40B4-BE49-F238E27FC236}">
                <a16:creationId xmlns:a16="http://schemas.microsoft.com/office/drawing/2014/main" id="{6C497804-01C6-4DD8-9B5D-3E81E1B9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9" name="Rectangle 41">
            <a:extLst>
              <a:ext uri="{FF2B5EF4-FFF2-40B4-BE49-F238E27FC236}">
                <a16:creationId xmlns:a16="http://schemas.microsoft.com/office/drawing/2014/main" id="{FE152881-87BC-4257-B445-91F7E879C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565400"/>
            <a:ext cx="4821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                                – матрица Якоби, </a:t>
            </a:r>
          </a:p>
        </p:txBody>
      </p:sp>
      <p:sp>
        <p:nvSpPr>
          <p:cNvPr id="17451" name="Rectangle 43">
            <a:extLst>
              <a:ext uri="{FF2B5EF4-FFF2-40B4-BE49-F238E27FC236}">
                <a16:creationId xmlns:a16="http://schemas.microsoft.com/office/drawing/2014/main" id="{597F6D4D-A860-4F5F-8055-E1484C6E0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50" name="Object 42">
            <a:extLst>
              <a:ext uri="{FF2B5EF4-FFF2-40B4-BE49-F238E27FC236}">
                <a16:creationId xmlns:a16="http://schemas.microsoft.com/office/drawing/2014/main" id="{9CC6D226-9B52-4030-8230-748789AD9C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565400"/>
          <a:ext cx="20161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Формула" r:id="rId5" imgW="1257300" imgH="228600" progId="Equation.3">
                  <p:embed/>
                </p:oleObj>
              </mc:Choice>
              <mc:Fallback>
                <p:oleObj name="Формула" r:id="rId5" imgW="1257300" imgH="2286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65400"/>
                        <a:ext cx="2016125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2" name="Rectangle 44">
            <a:extLst>
              <a:ext uri="{FF2B5EF4-FFF2-40B4-BE49-F238E27FC236}">
                <a16:creationId xmlns:a16="http://schemas.microsoft.com/office/drawing/2014/main" id="{88581ADF-A2C0-4F72-AC5E-3491B60F8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565400"/>
            <a:ext cx="1162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	 </a:t>
            </a:r>
          </a:p>
        </p:txBody>
      </p:sp>
      <p:sp>
        <p:nvSpPr>
          <p:cNvPr id="17454" name="Rectangle 46">
            <a:extLst>
              <a:ext uri="{FF2B5EF4-FFF2-40B4-BE49-F238E27FC236}">
                <a16:creationId xmlns:a16="http://schemas.microsoft.com/office/drawing/2014/main" id="{D874508F-0CC4-45DA-AB01-42C0DA9B8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53" name="Object 45">
            <a:extLst>
              <a:ext uri="{FF2B5EF4-FFF2-40B4-BE49-F238E27FC236}">
                <a16:creationId xmlns:a16="http://schemas.microsoft.com/office/drawing/2014/main" id="{3E143231-8A5E-42B7-BA3F-1C49572BC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2393950"/>
          <a:ext cx="25193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Формула" r:id="rId7" imgW="1396394" imgH="533169" progId="Equation.3">
                  <p:embed/>
                </p:oleObj>
              </mc:Choice>
              <mc:Fallback>
                <p:oleObj name="Формула" r:id="rId7" imgW="1396394" imgH="53316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393950"/>
                        <a:ext cx="2519362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5" name="Rectangle 47">
            <a:extLst>
              <a:ext uri="{FF2B5EF4-FFF2-40B4-BE49-F238E27FC236}">
                <a16:creationId xmlns:a16="http://schemas.microsoft.com/office/drawing/2014/main" id="{B5AFA046-BAD5-45BA-B674-121F2D0A3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924175"/>
            <a:ext cx="4945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а </a:t>
            </a:r>
            <a:r>
              <a:rPr lang="en-US" altLang="ru-RU"/>
              <a:t>det</a:t>
            </a:r>
            <a:r>
              <a:rPr lang="ru-RU" altLang="ru-RU"/>
              <a:t>(</a:t>
            </a:r>
            <a:r>
              <a:rPr lang="en-US" altLang="ru-RU"/>
              <a:t>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0)) – Якобиан.     </a:t>
            </a:r>
            <a:r>
              <a:rPr lang="en-US" altLang="ru-RU"/>
              <a:t>det</a:t>
            </a:r>
            <a:r>
              <a:rPr lang="ru-RU" altLang="ru-RU"/>
              <a:t>(</a:t>
            </a:r>
            <a:r>
              <a:rPr lang="en-US" altLang="ru-RU"/>
              <a:t>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0)) =  |</a:t>
            </a:r>
            <a:r>
              <a:rPr lang="en-US" altLang="ru-RU"/>
              <a:t>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0)|. </a:t>
            </a:r>
          </a:p>
        </p:txBody>
      </p:sp>
      <p:sp>
        <p:nvSpPr>
          <p:cNvPr id="17456" name="Rectangle 48">
            <a:extLst>
              <a:ext uri="{FF2B5EF4-FFF2-40B4-BE49-F238E27FC236}">
                <a16:creationId xmlns:a16="http://schemas.microsoft.com/office/drawing/2014/main" id="{7EE0F148-B021-487A-9906-228C1FACE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2764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17457" name="Rectangle 49">
            <a:extLst>
              <a:ext uri="{FF2B5EF4-FFF2-40B4-BE49-F238E27FC236}">
                <a16:creationId xmlns:a16="http://schemas.microsoft.com/office/drawing/2014/main" id="{6799EA03-B7BB-41EE-A4D5-447D87FCC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429000"/>
            <a:ext cx="774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17459" name="Rectangle 51">
            <a:extLst>
              <a:ext uri="{FF2B5EF4-FFF2-40B4-BE49-F238E27FC236}">
                <a16:creationId xmlns:a16="http://schemas.microsoft.com/office/drawing/2014/main" id="{F3BFB140-DBFE-491A-9491-A9EE94F32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58" name="Object 50">
            <a:extLst>
              <a:ext uri="{FF2B5EF4-FFF2-40B4-BE49-F238E27FC236}">
                <a16:creationId xmlns:a16="http://schemas.microsoft.com/office/drawing/2014/main" id="{244DAA31-D2F9-47E2-8BA6-86B953A51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500438"/>
          <a:ext cx="1079500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Формула" r:id="rId9" imgW="799753" imgH="203112" progId="Equation.3">
                  <p:embed/>
                </p:oleObj>
              </mc:Choice>
              <mc:Fallback>
                <p:oleObj name="Формула" r:id="rId9" imgW="799753" imgH="203112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500438"/>
                        <a:ext cx="1079500" cy="26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0" name="Rectangle 52">
            <a:extLst>
              <a:ext uri="{FF2B5EF4-FFF2-40B4-BE49-F238E27FC236}">
                <a16:creationId xmlns:a16="http://schemas.microsoft.com/office/drawing/2014/main" id="{6B26A61B-FB95-48D8-80D7-D7BE82B55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61" name="Rectangle 53">
            <a:extLst>
              <a:ext uri="{FF2B5EF4-FFF2-40B4-BE49-F238E27FC236}">
                <a16:creationId xmlns:a16="http://schemas.microsoft.com/office/drawing/2014/main" id="{6ECB1D5F-6EC5-4DDC-85CA-EE71B284B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429000"/>
            <a:ext cx="5443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 система уравнений  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= </a:t>
            </a:r>
            <a:r>
              <a:rPr lang="en-US" altLang="ru-RU"/>
              <a:t>C</a:t>
            </a:r>
            <a:r>
              <a:rPr lang="ru-RU" altLang="ru-RU"/>
              <a:t> имеет решение. </a:t>
            </a:r>
          </a:p>
        </p:txBody>
      </p:sp>
      <p:sp>
        <p:nvSpPr>
          <p:cNvPr id="17463" name="Rectangle 55">
            <a:extLst>
              <a:ext uri="{FF2B5EF4-FFF2-40B4-BE49-F238E27FC236}">
                <a16:creationId xmlns:a16="http://schemas.microsoft.com/office/drawing/2014/main" id="{2A1EC51B-458E-4AA6-AD44-67E9BF32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62" name="Object 54">
            <a:extLst>
              <a:ext uri="{FF2B5EF4-FFF2-40B4-BE49-F238E27FC236}">
                <a16:creationId xmlns:a16="http://schemas.microsoft.com/office/drawing/2014/main" id="{3592BC08-FB72-4592-B5D3-3172CD669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933825"/>
          <a:ext cx="865188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name="Формула" r:id="rId11" imgW="494870" imgH="177646" progId="Equation.3">
                  <p:embed/>
                </p:oleObj>
              </mc:Choice>
              <mc:Fallback>
                <p:oleObj name="Формула" r:id="rId11" imgW="494870" imgH="177646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933825"/>
                        <a:ext cx="865188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4" name="Rectangle 56">
            <a:extLst>
              <a:ext uri="{FF2B5EF4-FFF2-40B4-BE49-F238E27FC236}">
                <a16:creationId xmlns:a16="http://schemas.microsoft.com/office/drawing/2014/main" id="{C50B08DD-1341-49AE-94F7-603BF051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933825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.</a:t>
            </a:r>
          </a:p>
        </p:txBody>
      </p:sp>
      <p:sp>
        <p:nvSpPr>
          <p:cNvPr id="17465" name="Rectangle 57">
            <a:extLst>
              <a:ext uri="{FF2B5EF4-FFF2-40B4-BE49-F238E27FC236}">
                <a16:creationId xmlns:a16="http://schemas.microsoft.com/office/drawing/2014/main" id="{B5B4B400-78EB-4709-AEB3-54455C5F8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933825"/>
            <a:ext cx="5524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 этом случае существует обратное отображение</a:t>
            </a:r>
          </a:p>
        </p:txBody>
      </p:sp>
      <p:sp>
        <p:nvSpPr>
          <p:cNvPr id="17467" name="Rectangle 59">
            <a:extLst>
              <a:ext uri="{FF2B5EF4-FFF2-40B4-BE49-F238E27FC236}">
                <a16:creationId xmlns:a16="http://schemas.microsoft.com/office/drawing/2014/main" id="{D7170108-F8C0-42F8-B5FC-38066C753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66" name="Object 58">
            <a:extLst>
              <a:ext uri="{FF2B5EF4-FFF2-40B4-BE49-F238E27FC236}">
                <a16:creationId xmlns:a16="http://schemas.microsoft.com/office/drawing/2014/main" id="{1ABA0489-21AD-40A0-8D7A-4E3650693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5625"/>
          <a:ext cx="33845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Формула" r:id="rId13" imgW="1993900" imgH="241300" progId="Equation.3">
                  <p:embed/>
                </p:oleObj>
              </mc:Choice>
              <mc:Fallback>
                <p:oleObj name="Формула" r:id="rId13" imgW="1993900" imgH="2413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338455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8" name="Rectangle 60">
            <a:extLst>
              <a:ext uri="{FF2B5EF4-FFF2-40B4-BE49-F238E27FC236}">
                <a16:creationId xmlns:a16="http://schemas.microsoft.com/office/drawing/2014/main" id="{D2E403CA-3E90-45F4-A9CA-E11C5B480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69" name="Rectangle 61">
            <a:extLst>
              <a:ext uri="{FF2B5EF4-FFF2-40B4-BE49-F238E27FC236}">
                <a16:creationId xmlns:a16="http://schemas.microsoft.com/office/drawing/2014/main" id="{13BB25B2-0FC1-46C0-BC56-705DBA89B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868863"/>
            <a:ext cx="7934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Это имеет большое значение при решении задач с неявно заданными функциями.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347CC2-2CC1-4568-BFEF-16902E61E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r>
              <a:rPr lang="ru-RU" altLang="ru-RU" sz="3600" b="1" i="1" u="sng"/>
              <a:t>1. Дифференцирование функций.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C06F74D1-B8BC-413F-A6B4-8BC8883FE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17A4D91-C51E-44B6-A484-1F819AEF4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83DD777A-5B6D-4659-84CB-28C0B5C82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7A6FA7A4-5FD4-46D2-9867-3EC59CB0F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471DA97E-B781-4609-877F-CCD1DDEF3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0448D70F-A116-4426-99D8-1C07C856A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A4437ECB-D2BE-440C-B096-2C95F989B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E00CE2DC-1D75-495C-99B5-A2A25390A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3284538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CBDB8709-61C3-407A-8B16-6BBAE46C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8F19DAE3-5D00-45AC-84BF-EBB9EB24F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450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3" name="Rectangle 31">
            <a:extLst>
              <a:ext uri="{FF2B5EF4-FFF2-40B4-BE49-F238E27FC236}">
                <a16:creationId xmlns:a16="http://schemas.microsoft.com/office/drawing/2014/main" id="{11F4CA40-6FF2-4FED-8494-BE1C62AC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584325"/>
            <a:ext cx="669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1.6. </a:t>
            </a:r>
            <a:r>
              <a:rPr lang="ru-RU" altLang="ru-RU" sz="2400" b="1" u="sng"/>
              <a:t>Классы дифференцируемых функций.</a:t>
            </a:r>
          </a:p>
        </p:txBody>
      </p:sp>
      <p:sp>
        <p:nvSpPr>
          <p:cNvPr id="18464" name="Rectangle 32">
            <a:extLst>
              <a:ext uri="{FF2B5EF4-FFF2-40B4-BE49-F238E27FC236}">
                <a16:creationId xmlns:a16="http://schemas.microsoft.com/office/drawing/2014/main" id="{57B0FD22-2060-46A1-B266-EE27B294F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133600"/>
            <a:ext cx="1055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18466" name="Rectangle 34">
            <a:extLst>
              <a:ext uri="{FF2B5EF4-FFF2-40B4-BE49-F238E27FC236}">
                <a16:creationId xmlns:a16="http://schemas.microsoft.com/office/drawing/2014/main" id="{19B5B43E-7D05-4C19-A345-AE94915DA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65" name="Object 33">
            <a:extLst>
              <a:ext uri="{FF2B5EF4-FFF2-40B4-BE49-F238E27FC236}">
                <a16:creationId xmlns:a16="http://schemas.microsoft.com/office/drawing/2014/main" id="{E4523939-769E-4B23-8949-4B3EE5300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162175"/>
          <a:ext cx="2305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6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162175"/>
                        <a:ext cx="2305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7" name="Rectangle 35">
            <a:extLst>
              <a:ext uri="{FF2B5EF4-FFF2-40B4-BE49-F238E27FC236}">
                <a16:creationId xmlns:a16="http://schemas.microsoft.com/office/drawing/2014/main" id="{5D56DE33-3E41-450B-877F-579A3F9C4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133600"/>
            <a:ext cx="7604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</a:t>
            </a:r>
          </a:p>
        </p:txBody>
      </p:sp>
      <p:sp>
        <p:nvSpPr>
          <p:cNvPr id="18469" name="Rectangle 37">
            <a:extLst>
              <a:ext uri="{FF2B5EF4-FFF2-40B4-BE49-F238E27FC236}">
                <a16:creationId xmlns:a16="http://schemas.microsoft.com/office/drawing/2014/main" id="{8177917B-6814-414A-8BEB-B0518359E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68" name="Object 36">
            <a:extLst>
              <a:ext uri="{FF2B5EF4-FFF2-40B4-BE49-F238E27FC236}">
                <a16:creationId xmlns:a16="http://schemas.microsoft.com/office/drawing/2014/main" id="{20279D09-DA1C-4A64-9315-4708C45CFB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609850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7" name="Формула" r:id="rId5" imgW="901309" imgH="228501" progId="Equation.3">
                  <p:embed/>
                </p:oleObj>
              </mc:Choice>
              <mc:Fallback>
                <p:oleObj name="Формула" r:id="rId5" imgW="901309" imgH="228501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09850"/>
                        <a:ext cx="1296987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0" name="Rectangle 38">
            <a:extLst>
              <a:ext uri="{FF2B5EF4-FFF2-40B4-BE49-F238E27FC236}">
                <a16:creationId xmlns:a16="http://schemas.microsoft.com/office/drawing/2014/main" id="{76041FE4-C7A0-4D40-AEC4-3BD67DC8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636838"/>
            <a:ext cx="3519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непрерывных функций;</a:t>
            </a:r>
          </a:p>
        </p:txBody>
      </p:sp>
      <p:sp>
        <p:nvSpPr>
          <p:cNvPr id="18472" name="Rectangle 40">
            <a:extLst>
              <a:ext uri="{FF2B5EF4-FFF2-40B4-BE49-F238E27FC236}">
                <a16:creationId xmlns:a16="http://schemas.microsoft.com/office/drawing/2014/main" id="{E6A4DA4D-7A4F-4746-90FB-017A24ADC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71" name="Object 39">
            <a:extLst>
              <a:ext uri="{FF2B5EF4-FFF2-40B4-BE49-F238E27FC236}">
                <a16:creationId xmlns:a16="http://schemas.microsoft.com/office/drawing/2014/main" id="{77133F4A-A3D7-430D-878D-B2B2728E5A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141663"/>
          <a:ext cx="12954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Формула" r:id="rId7" imgW="876300" imgH="228600" progId="Equation.3">
                  <p:embed/>
                </p:oleObj>
              </mc:Choice>
              <mc:Fallback>
                <p:oleObj name="Формула" r:id="rId7" imgW="876300" imgH="2286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141663"/>
                        <a:ext cx="12954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3" name="Rectangle 41">
            <a:extLst>
              <a:ext uri="{FF2B5EF4-FFF2-40B4-BE49-F238E27FC236}">
                <a16:creationId xmlns:a16="http://schemas.microsoft.com/office/drawing/2014/main" id="{8EE8A363-D5C3-419B-BE68-E00962750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141663"/>
            <a:ext cx="4884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1 раз дифференцируемых функций;</a:t>
            </a:r>
          </a:p>
        </p:txBody>
      </p:sp>
      <p:sp>
        <p:nvSpPr>
          <p:cNvPr id="18475" name="Rectangle 43">
            <a:extLst>
              <a:ext uri="{FF2B5EF4-FFF2-40B4-BE49-F238E27FC236}">
                <a16:creationId xmlns:a16="http://schemas.microsoft.com/office/drawing/2014/main" id="{DA9D7DA4-FEC1-4F08-AB4B-0D880A230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74" name="Object 42">
            <a:extLst>
              <a:ext uri="{FF2B5EF4-FFF2-40B4-BE49-F238E27FC236}">
                <a16:creationId xmlns:a16="http://schemas.microsoft.com/office/drawing/2014/main" id="{76FF390D-C7C5-4B39-9F4E-B19EE947F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716338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9" name="Формула" r:id="rId9" imgW="901309" imgH="228501" progId="Equation.3">
                  <p:embed/>
                </p:oleObj>
              </mc:Choice>
              <mc:Fallback>
                <p:oleObj name="Формула" r:id="rId9" imgW="901309" imgH="228501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716338"/>
                        <a:ext cx="1296987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6" name="Rectangle 44">
            <a:extLst>
              <a:ext uri="{FF2B5EF4-FFF2-40B4-BE49-F238E27FC236}">
                <a16:creationId xmlns:a16="http://schemas.microsoft.com/office/drawing/2014/main" id="{5F7A47CB-FFC4-478F-ACA8-3CCCCF9E6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716338"/>
            <a:ext cx="50117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2 раза дифференцируемых функций;</a:t>
            </a:r>
          </a:p>
        </p:txBody>
      </p:sp>
      <p:sp>
        <p:nvSpPr>
          <p:cNvPr id="18477" name="Rectangle 45">
            <a:extLst>
              <a:ext uri="{FF2B5EF4-FFF2-40B4-BE49-F238E27FC236}">
                <a16:creationId xmlns:a16="http://schemas.microsoft.com/office/drawing/2014/main" id="{5C1552FA-F913-4C27-9183-533DB4125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221163"/>
            <a:ext cx="640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ru-RU"/>
              <a:t>………………………………………………………………….</a:t>
            </a:r>
          </a:p>
        </p:txBody>
      </p:sp>
      <p:sp>
        <p:nvSpPr>
          <p:cNvPr id="18479" name="Rectangle 47">
            <a:extLst>
              <a:ext uri="{FF2B5EF4-FFF2-40B4-BE49-F238E27FC236}">
                <a16:creationId xmlns:a16="http://schemas.microsoft.com/office/drawing/2014/main" id="{52408207-A0A0-41EE-9F7C-21C62BEB4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78" name="Object 46">
            <a:extLst>
              <a:ext uri="{FF2B5EF4-FFF2-40B4-BE49-F238E27FC236}">
                <a16:creationId xmlns:a16="http://schemas.microsoft.com/office/drawing/2014/main" id="{936DEC59-65C9-4C15-997F-F502DC4386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652963"/>
          <a:ext cx="13684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Формула" r:id="rId11" imgW="901309" imgH="228501" progId="Equation.3">
                  <p:embed/>
                </p:oleObj>
              </mc:Choice>
              <mc:Fallback>
                <p:oleObj name="Формула" r:id="rId11" imgW="901309" imgH="228501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652963"/>
                        <a:ext cx="136842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0" name="Rectangle 48">
            <a:extLst>
              <a:ext uri="{FF2B5EF4-FFF2-40B4-BE49-F238E27FC236}">
                <a16:creationId xmlns:a16="http://schemas.microsoft.com/office/drawing/2014/main" id="{32367B12-F167-4C6C-B7E2-51F8BBA1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652963"/>
            <a:ext cx="48847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</a:t>
            </a:r>
            <a:r>
              <a:rPr lang="en-US" altLang="ru-RU"/>
              <a:t>n</a:t>
            </a:r>
            <a:r>
              <a:rPr lang="ru-RU" altLang="ru-RU"/>
              <a:t> раз дифференцируемых функций.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07684E0-C5A7-4300-950C-DE3D0D724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i="1"/>
              <a:t>2.</a:t>
            </a:r>
            <a:r>
              <a:rPr lang="ru-RU" altLang="ru-RU" sz="2800" b="1" i="1" u="sng"/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20893543-F79D-43E0-94FE-1C52EC1E3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28132145-3761-4538-B9B7-C8B0DF0B2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C636BA15-3982-495A-9F79-CA1D99D8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555341C1-776D-449B-9722-94DAED64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30" name="Rectangle 26">
            <a:extLst>
              <a:ext uri="{FF2B5EF4-FFF2-40B4-BE49-F238E27FC236}">
                <a16:creationId xmlns:a16="http://schemas.microsoft.com/office/drawing/2014/main" id="{E1286D5A-031B-4EEC-BBAD-082AA793D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34" name="Rectangle 30">
            <a:extLst>
              <a:ext uri="{FF2B5EF4-FFF2-40B4-BE49-F238E27FC236}">
                <a16:creationId xmlns:a16="http://schemas.microsoft.com/office/drawing/2014/main" id="{12FA609A-08E2-4723-BE4D-7A54CAA92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14488"/>
            <a:ext cx="829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 b="1" u="sng"/>
              <a:t>2.1.Условия существования экстремума без учета ограничений.</a:t>
            </a:r>
          </a:p>
        </p:txBody>
      </p:sp>
      <p:sp>
        <p:nvSpPr>
          <p:cNvPr id="21535" name="Rectangle 31">
            <a:extLst>
              <a:ext uri="{FF2B5EF4-FFF2-40B4-BE49-F238E27FC236}">
                <a16:creationId xmlns:a16="http://schemas.microsoft.com/office/drawing/2014/main" id="{1FB1452D-B504-414A-BDC8-5B7A4F3D7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60575"/>
            <a:ext cx="7731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/>
              <a:t>2.1.1.</a:t>
            </a:r>
            <a:r>
              <a:rPr lang="ru-RU" altLang="ru-RU" b="1" u="sng"/>
              <a:t>Необходимые и достаточные условия выпуклости функций.</a:t>
            </a:r>
          </a:p>
        </p:txBody>
      </p:sp>
      <p:sp>
        <p:nvSpPr>
          <p:cNvPr id="21536" name="Rectangle 32">
            <a:extLst>
              <a:ext uri="{FF2B5EF4-FFF2-40B4-BE49-F238E27FC236}">
                <a16:creationId xmlns:a16="http://schemas.microsoft.com/office/drawing/2014/main" id="{641AE488-1825-42C6-9F29-F58E55701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411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Теорема1.</a:t>
            </a:r>
            <a:r>
              <a:rPr lang="ru-RU" altLang="ru-RU" u="sng"/>
              <a:t> (Необходимые условия)</a:t>
            </a:r>
            <a:r>
              <a:rPr lang="ru-RU" altLang="ru-RU"/>
              <a:t>. </a:t>
            </a:r>
          </a:p>
        </p:txBody>
      </p:sp>
      <p:sp>
        <p:nvSpPr>
          <p:cNvPr id="21537" name="Rectangle 33">
            <a:extLst>
              <a:ext uri="{FF2B5EF4-FFF2-40B4-BE49-F238E27FC236}">
                <a16:creationId xmlns:a16="http://schemas.microsoft.com/office/drawing/2014/main" id="{1759575A-3C2C-4D50-8FD0-2626C166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24175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1539" name="Rectangle 35">
            <a:extLst>
              <a:ext uri="{FF2B5EF4-FFF2-40B4-BE49-F238E27FC236}">
                <a16:creationId xmlns:a16="http://schemas.microsoft.com/office/drawing/2014/main" id="{9AD1714C-A5E9-4158-A9D4-4FE6201D3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38" name="Object 34">
            <a:extLst>
              <a:ext uri="{FF2B5EF4-FFF2-40B4-BE49-F238E27FC236}">
                <a16:creationId xmlns:a16="http://schemas.microsoft.com/office/drawing/2014/main" id="{6AFD514B-6930-4C1C-9792-D76960AEF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917825"/>
          <a:ext cx="24495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1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917825"/>
                        <a:ext cx="2449513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0" name="Rectangle 36">
            <a:extLst>
              <a:ext uri="{FF2B5EF4-FFF2-40B4-BE49-F238E27FC236}">
                <a16:creationId xmlns:a16="http://schemas.microsoft.com/office/drawing/2014/main" id="{1A533EE7-F4D4-4911-8BC0-FB0419DBE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42" name="Rectangle 38">
            <a:extLst>
              <a:ext uri="{FF2B5EF4-FFF2-40B4-BE49-F238E27FC236}">
                <a16:creationId xmlns:a16="http://schemas.microsoft.com/office/drawing/2014/main" id="{5305B55D-1A7D-4205-9535-E44C8FD1A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41" name="Object 37">
            <a:extLst>
              <a:ext uri="{FF2B5EF4-FFF2-40B4-BE49-F238E27FC236}">
                <a16:creationId xmlns:a16="http://schemas.microsoft.com/office/drawing/2014/main" id="{48EAA791-E822-4F69-A913-C213B267B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852738"/>
          <a:ext cx="10080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2" name="Формула" r:id="rId5" imgW="660113" imgH="304668" progId="Equation.3">
                  <p:embed/>
                </p:oleObj>
              </mc:Choice>
              <mc:Fallback>
                <p:oleObj name="Формула" r:id="rId5" imgW="660113" imgH="304668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852738"/>
                        <a:ext cx="1008062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4" name="Rectangle 40">
            <a:extLst>
              <a:ext uri="{FF2B5EF4-FFF2-40B4-BE49-F238E27FC236}">
                <a16:creationId xmlns:a16="http://schemas.microsoft.com/office/drawing/2014/main" id="{0A48680F-FE0B-4E32-A16A-B3C795EE4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45" name="Rectangle 41">
            <a:extLst>
              <a:ext uri="{FF2B5EF4-FFF2-40B4-BE49-F238E27FC236}">
                <a16:creationId xmlns:a16="http://schemas.microsoft.com/office/drawing/2014/main" id="{CA61117F-B61F-46B6-9086-401B5E2E9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46" name="Rectangle 42">
            <a:extLst>
              <a:ext uri="{FF2B5EF4-FFF2-40B4-BE49-F238E27FC236}">
                <a16:creationId xmlns:a16="http://schemas.microsoft.com/office/drawing/2014/main" id="{5DC1A3F1-6870-443C-B0DE-A26A69FAF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284538"/>
            <a:ext cx="3141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тогда для того, чтобы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 </a:t>
            </a:r>
          </a:p>
        </p:txBody>
      </p:sp>
      <p:sp>
        <p:nvSpPr>
          <p:cNvPr id="21547" name="Rectangle 43">
            <a:extLst>
              <a:ext uri="{FF2B5EF4-FFF2-40B4-BE49-F238E27FC236}">
                <a16:creationId xmlns:a16="http://schemas.microsoft.com/office/drawing/2014/main" id="{EF508F10-19BE-4FDD-BD7F-23FCA6BCF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2065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была выпуклой в </a:t>
            </a:r>
          </a:p>
        </p:txBody>
      </p:sp>
      <p:sp>
        <p:nvSpPr>
          <p:cNvPr id="21548" name="Rectangle 44">
            <a:extLst>
              <a:ext uri="{FF2B5EF4-FFF2-40B4-BE49-F238E27FC236}">
                <a16:creationId xmlns:a16="http://schemas.microsoft.com/office/drawing/2014/main" id="{B09381FE-890D-4206-83E8-8152AF616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789363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ru-RU"/>
              <a:t>U</a:t>
            </a:r>
            <a:r>
              <a:rPr lang="en-US" altLang="ru-RU">
                <a:sym typeface="Symbol" panose="05050102010706020507" pitchFamily="18" charset="2"/>
              </a:rPr>
              <a:t>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), </a:t>
            </a:r>
          </a:p>
        </p:txBody>
      </p:sp>
      <p:sp>
        <p:nvSpPr>
          <p:cNvPr id="21549" name="Rectangle 45">
            <a:extLst>
              <a:ext uri="{FF2B5EF4-FFF2-40B4-BE49-F238E27FC236}">
                <a16:creationId xmlns:a16="http://schemas.microsoft.com/office/drawing/2014/main" id="{D6A9F227-96B0-4914-B6C6-E4F9A5360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2317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необходимо, чтобы </a:t>
            </a:r>
          </a:p>
        </p:txBody>
      </p:sp>
      <p:sp>
        <p:nvSpPr>
          <p:cNvPr id="21551" name="Rectangle 47">
            <a:extLst>
              <a:ext uri="{FF2B5EF4-FFF2-40B4-BE49-F238E27FC236}">
                <a16:creationId xmlns:a16="http://schemas.microsoft.com/office/drawing/2014/main" id="{BC5837E7-F2C8-44D3-8EB7-0E7890A1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52" name="Rectangle 48">
            <a:extLst>
              <a:ext uri="{FF2B5EF4-FFF2-40B4-BE49-F238E27FC236}">
                <a16:creationId xmlns:a16="http://schemas.microsoft.com/office/drawing/2014/main" id="{0CF99564-2DA6-4BA2-919E-3D3B256DA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1497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21553" name="Rectangle 49">
            <a:extLst>
              <a:ext uri="{FF2B5EF4-FFF2-40B4-BE49-F238E27FC236}">
                <a16:creationId xmlns:a16="http://schemas.microsoft.com/office/drawing/2014/main" id="{D9911ACA-EA14-433C-A2FC-D44E4D420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221163"/>
            <a:ext cx="592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 </a:t>
            </a:r>
          </a:p>
        </p:txBody>
      </p:sp>
      <p:sp>
        <p:nvSpPr>
          <p:cNvPr id="21555" name="Rectangle 51">
            <a:extLst>
              <a:ext uri="{FF2B5EF4-FFF2-40B4-BE49-F238E27FC236}">
                <a16:creationId xmlns:a16="http://schemas.microsoft.com/office/drawing/2014/main" id="{C2465BEE-53E2-4827-BFD3-C48887B4A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56" name="Rectangle 52">
            <a:extLst>
              <a:ext uri="{FF2B5EF4-FFF2-40B4-BE49-F238E27FC236}">
                <a16:creationId xmlns:a16="http://schemas.microsoft.com/office/drawing/2014/main" id="{8AC2F7A7-80DB-4B69-9815-7E525BF6C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076700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/>
              <a:t>.</a:t>
            </a:r>
          </a:p>
        </p:txBody>
      </p:sp>
      <p:sp>
        <p:nvSpPr>
          <p:cNvPr id="21557" name="Rectangle 53">
            <a:extLst>
              <a:ext uri="{FF2B5EF4-FFF2-40B4-BE49-F238E27FC236}">
                <a16:creationId xmlns:a16="http://schemas.microsoft.com/office/drawing/2014/main" id="{3A6C0CB2-82A6-4F33-BD85-C4F323DC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581525"/>
            <a:ext cx="3862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Теорема2.(</a:t>
            </a:r>
            <a:r>
              <a:rPr lang="ru-RU" altLang="ru-RU" u="sng"/>
              <a:t>достаточные условия).</a:t>
            </a:r>
          </a:p>
        </p:txBody>
      </p:sp>
      <p:sp>
        <p:nvSpPr>
          <p:cNvPr id="21558" name="Rectangle 54">
            <a:extLst>
              <a:ext uri="{FF2B5EF4-FFF2-40B4-BE49-F238E27FC236}">
                <a16:creationId xmlns:a16="http://schemas.microsoft.com/office/drawing/2014/main" id="{607EF2B0-5F5E-4279-A89E-B40CAD7E9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013325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1560" name="Rectangle 56">
            <a:extLst>
              <a:ext uri="{FF2B5EF4-FFF2-40B4-BE49-F238E27FC236}">
                <a16:creationId xmlns:a16="http://schemas.microsoft.com/office/drawing/2014/main" id="{F32BF7A7-35B5-4DF1-99DA-D572F0C4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59" name="Object 55">
            <a:extLst>
              <a:ext uri="{FF2B5EF4-FFF2-40B4-BE49-F238E27FC236}">
                <a16:creationId xmlns:a16="http://schemas.microsoft.com/office/drawing/2014/main" id="{07905165-D396-463C-9482-4994DB422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013325"/>
          <a:ext cx="22320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3" name="Формула" r:id="rId7" imgW="1498600" imgH="228600" progId="Equation.3">
                  <p:embed/>
                </p:oleObj>
              </mc:Choice>
              <mc:Fallback>
                <p:oleObj name="Формула" r:id="rId7" imgW="1498600" imgH="228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013325"/>
                        <a:ext cx="223202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2" name="Rectangle 58">
            <a:extLst>
              <a:ext uri="{FF2B5EF4-FFF2-40B4-BE49-F238E27FC236}">
                <a16:creationId xmlns:a16="http://schemas.microsoft.com/office/drawing/2014/main" id="{1DB5AEC9-077A-4494-8486-44FE679BD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94188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 </a:t>
            </a:r>
          </a:p>
        </p:txBody>
      </p:sp>
      <p:sp>
        <p:nvSpPr>
          <p:cNvPr id="21564" name="Rectangle 60">
            <a:extLst>
              <a:ext uri="{FF2B5EF4-FFF2-40B4-BE49-F238E27FC236}">
                <a16:creationId xmlns:a16="http://schemas.microsoft.com/office/drawing/2014/main" id="{5E8E39ED-BD5A-405C-87E1-273FD774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9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63" name="Object 59">
            <a:extLst>
              <a:ext uri="{FF2B5EF4-FFF2-40B4-BE49-F238E27FC236}">
                <a16:creationId xmlns:a16="http://schemas.microsoft.com/office/drawing/2014/main" id="{EAA8CF9B-696F-4E22-B6DC-CDDDF41AF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5013325"/>
          <a:ext cx="431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4" name="Формула" r:id="rId8" imgW="215619" imgH="164885" progId="Equation.3">
                  <p:embed/>
                </p:oleObj>
              </mc:Choice>
              <mc:Fallback>
                <p:oleObj name="Формула" r:id="rId8" imgW="215619" imgH="164885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013325"/>
                        <a:ext cx="4318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5" name="Rectangle 61">
            <a:extLst>
              <a:ext uri="{FF2B5EF4-FFF2-40B4-BE49-F238E27FC236}">
                <a16:creationId xmlns:a16="http://schemas.microsoft.com/office/drawing/2014/main" id="{CF2F6435-EF5A-4221-81AF-1AC94D762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4941888"/>
            <a:ext cx="17319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 для которой </a:t>
            </a:r>
          </a:p>
        </p:txBody>
      </p:sp>
      <p:sp>
        <p:nvSpPr>
          <p:cNvPr id="21567" name="Rectangle 63">
            <a:extLst>
              <a:ext uri="{FF2B5EF4-FFF2-40B4-BE49-F238E27FC236}">
                <a16:creationId xmlns:a16="http://schemas.microsoft.com/office/drawing/2014/main" id="{0314927D-CA9E-411C-B321-9E2A786ED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66" name="Object 62">
            <a:extLst>
              <a:ext uri="{FF2B5EF4-FFF2-40B4-BE49-F238E27FC236}">
                <a16:creationId xmlns:a16="http://schemas.microsoft.com/office/drawing/2014/main" id="{3BB848B0-37FC-40C2-9DE0-1B9FA0CFF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941888"/>
          <a:ext cx="17287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5" name="Формула" r:id="rId10" imgW="1079032" imgH="253890" progId="Equation.3">
                  <p:embed/>
                </p:oleObj>
              </mc:Choice>
              <mc:Fallback>
                <p:oleObj name="Формула" r:id="rId10" imgW="1079032" imgH="25389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941888"/>
                        <a:ext cx="17287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8" name="Rectangle 64">
            <a:extLst>
              <a:ext uri="{FF2B5EF4-FFF2-40B4-BE49-F238E27FC236}">
                <a16:creationId xmlns:a16="http://schemas.microsoft.com/office/drawing/2014/main" id="{16E2DE62-EE04-4EAF-9E7A-131D149CF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4941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21570" name="Rectangle 66">
            <a:extLst>
              <a:ext uri="{FF2B5EF4-FFF2-40B4-BE49-F238E27FC236}">
                <a16:creationId xmlns:a16="http://schemas.microsoft.com/office/drawing/2014/main" id="{F28EFBE2-1BF7-49A3-9303-5066F0A94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69" name="Object 65">
            <a:extLst>
              <a:ext uri="{FF2B5EF4-FFF2-40B4-BE49-F238E27FC236}">
                <a16:creationId xmlns:a16="http://schemas.microsoft.com/office/drawing/2014/main" id="{EEE2EBD0-77C9-4A93-B3BA-F29121317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376863"/>
          <a:ext cx="36004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6" name="Формула" r:id="rId12" imgW="1866900" imgH="228600" progId="Equation.3">
                  <p:embed/>
                </p:oleObj>
              </mc:Choice>
              <mc:Fallback>
                <p:oleObj name="Формула" r:id="rId12" imgW="1866900" imgH="2286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76863"/>
                        <a:ext cx="360045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1" name="Rectangle 67">
            <a:extLst>
              <a:ext uri="{FF2B5EF4-FFF2-40B4-BE49-F238E27FC236}">
                <a16:creationId xmlns:a16="http://schemas.microsoft.com/office/drawing/2014/main" id="{78B135F1-280D-4551-8626-BB7450541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4451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21572" name="Rectangle 68">
            <a:extLst>
              <a:ext uri="{FF2B5EF4-FFF2-40B4-BE49-F238E27FC236}">
                <a16:creationId xmlns:a16="http://schemas.microsoft.com/office/drawing/2014/main" id="{77A16111-1424-45A3-AFA5-C10B3CC72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373688"/>
            <a:ext cx="3697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для того, чтобы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</a:t>
            </a:r>
            <a:r>
              <a:rPr lang="en-US" altLang="ru-RU"/>
              <a:t>,</a:t>
            </a:r>
            <a:r>
              <a:rPr lang="ru-RU" altLang="ru-RU"/>
              <a:t> была </a:t>
            </a:r>
          </a:p>
        </p:txBody>
      </p:sp>
      <p:sp>
        <p:nvSpPr>
          <p:cNvPr id="21573" name="Rectangle 69">
            <a:extLst>
              <a:ext uri="{FF2B5EF4-FFF2-40B4-BE49-F238E27FC236}">
                <a16:creationId xmlns:a16="http://schemas.microsoft.com/office/drawing/2014/main" id="{FEBE0E1F-8338-4E66-870B-B1D7119B8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76925"/>
            <a:ext cx="4446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выпуклой в </a:t>
            </a:r>
            <a:r>
              <a:rPr lang="en-US" altLang="ru-RU"/>
              <a:t>               </a:t>
            </a:r>
            <a:r>
              <a:rPr lang="ru-RU" altLang="ru-RU"/>
              <a:t>достаточно, чтобы </a:t>
            </a:r>
          </a:p>
        </p:txBody>
      </p:sp>
      <p:sp>
        <p:nvSpPr>
          <p:cNvPr id="21575" name="Rectangle 71">
            <a:extLst>
              <a:ext uri="{FF2B5EF4-FFF2-40B4-BE49-F238E27FC236}">
                <a16:creationId xmlns:a16="http://schemas.microsoft.com/office/drawing/2014/main" id="{484F4AC6-3B73-4A12-842F-CC67FEB4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77" name="Rectangle 73">
            <a:extLst>
              <a:ext uri="{FF2B5EF4-FFF2-40B4-BE49-F238E27FC236}">
                <a16:creationId xmlns:a16="http://schemas.microsoft.com/office/drawing/2014/main" id="{BA2AFA59-A5DB-41E4-9747-CA008E4B8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76" name="Object 72">
            <a:extLst>
              <a:ext uri="{FF2B5EF4-FFF2-40B4-BE49-F238E27FC236}">
                <a16:creationId xmlns:a16="http://schemas.microsoft.com/office/drawing/2014/main" id="{4D8EBFE7-E3BC-488A-B7B2-A63C09B8D1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5949950"/>
          <a:ext cx="13684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" name="Формула" r:id="rId14" imgW="812447" imgH="203112" progId="Equation.3">
                  <p:embed/>
                </p:oleObj>
              </mc:Choice>
              <mc:Fallback>
                <p:oleObj name="Формула" r:id="rId14" imgW="812447" imgH="203112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949950"/>
                        <a:ext cx="1368425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8" name="Rectangle 74">
            <a:extLst>
              <a:ext uri="{FF2B5EF4-FFF2-40B4-BE49-F238E27FC236}">
                <a16:creationId xmlns:a16="http://schemas.microsoft.com/office/drawing/2014/main" id="{9C3C9B93-D87A-4849-8C0E-03052D168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5876925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/>
              <a:t>.</a:t>
            </a:r>
          </a:p>
        </p:txBody>
      </p:sp>
      <p:sp>
        <p:nvSpPr>
          <p:cNvPr id="21580" name="Rectangle 76">
            <a:extLst>
              <a:ext uri="{FF2B5EF4-FFF2-40B4-BE49-F238E27FC236}">
                <a16:creationId xmlns:a16="http://schemas.microsoft.com/office/drawing/2014/main" id="{87C9296F-280F-4243-935F-819942ECF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3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79" name="Object 75">
            <a:extLst>
              <a:ext uri="{FF2B5EF4-FFF2-40B4-BE49-F238E27FC236}">
                <a16:creationId xmlns:a16="http://schemas.microsoft.com/office/drawing/2014/main" id="{AE492C00-2ADE-4AB2-A54F-608C3C3AA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4149725"/>
          <a:ext cx="20875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" name="Формула" r:id="rId16" imgW="1104840" imgH="253800" progId="Equation.3">
                  <p:embed/>
                </p:oleObj>
              </mc:Choice>
              <mc:Fallback>
                <p:oleObj name="Формула" r:id="rId16" imgW="1104840" imgH="25380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4149725"/>
                        <a:ext cx="2087562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82" name="Rectangle 78">
            <a:extLst>
              <a:ext uri="{FF2B5EF4-FFF2-40B4-BE49-F238E27FC236}">
                <a16:creationId xmlns:a16="http://schemas.microsoft.com/office/drawing/2014/main" id="{64AA98DE-48C6-4792-A568-80F3738B8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81" name="Object 77">
            <a:extLst>
              <a:ext uri="{FF2B5EF4-FFF2-40B4-BE49-F238E27FC236}">
                <a16:creationId xmlns:a16="http://schemas.microsoft.com/office/drawing/2014/main" id="{3C47D48F-16B7-44C4-AC58-48175965C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5876925"/>
          <a:ext cx="863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" name="Формула" r:id="rId18" imgW="406224" imgH="228501" progId="Equation.3">
                  <p:embed/>
                </p:oleObj>
              </mc:Choice>
              <mc:Fallback>
                <p:oleObj name="Формула" r:id="rId18" imgW="406224" imgH="228501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876925"/>
                        <a:ext cx="8636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84" name="Rectangle 80">
            <a:extLst>
              <a:ext uri="{FF2B5EF4-FFF2-40B4-BE49-F238E27FC236}">
                <a16:creationId xmlns:a16="http://schemas.microsoft.com/office/drawing/2014/main" id="{779D3BD5-1460-41A7-9D69-E800D3C68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83" name="Object 79">
            <a:extLst>
              <a:ext uri="{FF2B5EF4-FFF2-40B4-BE49-F238E27FC236}">
                <a16:creationId xmlns:a16="http://schemas.microsoft.com/office/drawing/2014/main" id="{1944501E-4FE3-4A56-A9F8-9C6FB689C5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284538"/>
          <a:ext cx="417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0" name="Формула" r:id="rId20" imgW="2514600" imgH="228600" progId="Equation.3">
                  <p:embed/>
                </p:oleObj>
              </mc:Choice>
              <mc:Fallback>
                <p:oleObj name="Формула" r:id="rId20" imgW="2514600" imgH="22860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84538"/>
                        <a:ext cx="41767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88" name="Object 84">
            <a:extLst>
              <a:ext uri="{FF2B5EF4-FFF2-40B4-BE49-F238E27FC236}">
                <a16:creationId xmlns:a16="http://schemas.microsoft.com/office/drawing/2014/main" id="{7E78C41D-1F07-4DB1-A145-396B3E6474B6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971550" y="4149725"/>
          <a:ext cx="25923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1" name="Формула" r:id="rId22" imgW="1866600" imgH="253800" progId="Equation.3">
                  <p:embed/>
                </p:oleObj>
              </mc:Choice>
              <mc:Fallback>
                <p:oleObj name="Формула" r:id="rId22" imgW="1866600" imgH="253800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49725"/>
                        <a:ext cx="259238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ED977D3-CAA6-44F8-B9E1-3692DFB0E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i="1"/>
              <a:t>2.</a:t>
            </a:r>
            <a:r>
              <a:rPr lang="ru-RU" altLang="ru-RU" sz="2800" b="1" i="1" u="sng"/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3C831F31-768B-43CA-A498-5D0205FC0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7EB6EE80-609B-4770-8BB4-71706F6AD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EF22DA9E-8655-4087-BA12-D2556FDB4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5CFDF1B0-E87D-4A82-AEC3-8C0D2FE74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8" name="Rectangle 12">
            <a:extLst>
              <a:ext uri="{FF2B5EF4-FFF2-40B4-BE49-F238E27FC236}">
                <a16:creationId xmlns:a16="http://schemas.microsoft.com/office/drawing/2014/main" id="{B8F63C44-9BCB-489D-A10F-1221D4989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96" name="Rectangle 20">
            <a:extLst>
              <a:ext uri="{FF2B5EF4-FFF2-40B4-BE49-F238E27FC236}">
                <a16:creationId xmlns:a16="http://schemas.microsoft.com/office/drawing/2014/main" id="{37CA24C5-CFB4-4F93-8A21-82D1D2EB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601" name="Rectangle 25">
            <a:extLst>
              <a:ext uri="{FF2B5EF4-FFF2-40B4-BE49-F238E27FC236}">
                <a16:creationId xmlns:a16="http://schemas.microsoft.com/office/drawing/2014/main" id="{5C9D530F-8E50-4837-8F35-57FF82810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484313"/>
            <a:ext cx="8785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b="1"/>
              <a:t>2.1.2.</a:t>
            </a:r>
            <a:r>
              <a:rPr lang="ru-RU" altLang="ru-RU" b="1" u="sng"/>
              <a:t>Необходимые и достаточные условия существования экстремума функции без ограничений.</a:t>
            </a:r>
          </a:p>
        </p:txBody>
      </p:sp>
      <p:sp>
        <p:nvSpPr>
          <p:cNvPr id="24602" name="Rectangle 26">
            <a:extLst>
              <a:ext uri="{FF2B5EF4-FFF2-40B4-BE49-F238E27FC236}">
                <a16:creationId xmlns:a16="http://schemas.microsoft.com/office/drawing/2014/main" id="{94C8DFD3-9BB0-4C7B-B2EB-825B6EF9F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76475"/>
            <a:ext cx="2279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Теорема3.</a:t>
            </a:r>
            <a:r>
              <a:rPr lang="ru-RU" altLang="ru-RU"/>
              <a:t> 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4604" name="Rectangle 28">
            <a:extLst>
              <a:ext uri="{FF2B5EF4-FFF2-40B4-BE49-F238E27FC236}">
                <a16:creationId xmlns:a16="http://schemas.microsoft.com/office/drawing/2014/main" id="{6A200160-3D2B-41FB-A614-3BA46DADB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03" name="Object 27">
            <a:extLst>
              <a:ext uri="{FF2B5EF4-FFF2-40B4-BE49-F238E27FC236}">
                <a16:creationId xmlns:a16="http://schemas.microsoft.com/office/drawing/2014/main" id="{5AED940E-2E35-46BE-A557-0DFCD66E1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2290763"/>
          <a:ext cx="20891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7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90763"/>
                        <a:ext cx="208915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5" name="Rectangle 29">
            <a:extLst>
              <a:ext uri="{FF2B5EF4-FFF2-40B4-BE49-F238E27FC236}">
                <a16:creationId xmlns:a16="http://schemas.microsoft.com/office/drawing/2014/main" id="{E6CA05BC-334F-4320-B9F8-4ED280D5E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607" name="Rectangle 31">
            <a:extLst>
              <a:ext uri="{FF2B5EF4-FFF2-40B4-BE49-F238E27FC236}">
                <a16:creationId xmlns:a16="http://schemas.microsoft.com/office/drawing/2014/main" id="{C3EB72CC-9CFF-429B-86F6-B7BF0792B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06" name="Object 30">
            <a:extLst>
              <a:ext uri="{FF2B5EF4-FFF2-40B4-BE49-F238E27FC236}">
                <a16:creationId xmlns:a16="http://schemas.microsoft.com/office/drawing/2014/main" id="{BB5320E0-4DC8-4AAF-9205-09AB182980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276475"/>
          <a:ext cx="36004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name="Формула" r:id="rId5" imgW="2400300" imgH="228600" progId="Equation.3">
                  <p:embed/>
                </p:oleObj>
              </mc:Choice>
              <mc:Fallback>
                <p:oleObj name="Формула" r:id="rId5" imgW="240030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276475"/>
                        <a:ext cx="36004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8" name="Rectangle 32">
            <a:extLst>
              <a:ext uri="{FF2B5EF4-FFF2-40B4-BE49-F238E27FC236}">
                <a16:creationId xmlns:a16="http://schemas.microsoft.com/office/drawing/2014/main" id="{8DC6F951-2AB0-44BA-8151-B528EC6C9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609" name="Rectangle 33">
            <a:extLst>
              <a:ext uri="{FF2B5EF4-FFF2-40B4-BE49-F238E27FC236}">
                <a16:creationId xmlns:a16="http://schemas.microsoft.com/office/drawing/2014/main" id="{5110CE8D-48F0-4A63-BB61-6B273AF2D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22764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; </a:t>
            </a:r>
          </a:p>
        </p:txBody>
      </p:sp>
      <p:sp>
        <p:nvSpPr>
          <p:cNvPr id="24610" name="Rectangle 34">
            <a:extLst>
              <a:ext uri="{FF2B5EF4-FFF2-40B4-BE49-F238E27FC236}">
                <a16:creationId xmlns:a16="http://schemas.microsoft.com/office/drawing/2014/main" id="{853A8E20-5EDE-427D-916C-C166A3CBD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781300"/>
            <a:ext cx="2592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Тогда, для того чтобы </a:t>
            </a:r>
          </a:p>
        </p:txBody>
      </p:sp>
      <p:sp>
        <p:nvSpPr>
          <p:cNvPr id="24612" name="Rectangle 36">
            <a:extLst>
              <a:ext uri="{FF2B5EF4-FFF2-40B4-BE49-F238E27FC236}">
                <a16:creationId xmlns:a16="http://schemas.microsoft.com/office/drawing/2014/main" id="{84725741-58EA-42CC-A454-81DA0F23E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11" name="Object 35">
            <a:extLst>
              <a:ext uri="{FF2B5EF4-FFF2-40B4-BE49-F238E27FC236}">
                <a16:creationId xmlns:a16="http://schemas.microsoft.com/office/drawing/2014/main" id="{862CBFB6-28C8-47CD-91F1-EC49E1395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803525"/>
          <a:ext cx="17287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Формула" r:id="rId7" imgW="1282700" imgH="241300" progId="Equation.3">
                  <p:embed/>
                </p:oleObj>
              </mc:Choice>
              <mc:Fallback>
                <p:oleObj name="Формула" r:id="rId7" imgW="1282700" imgH="2413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803525"/>
                        <a:ext cx="172878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Rectangle 37">
            <a:extLst>
              <a:ext uri="{FF2B5EF4-FFF2-40B4-BE49-F238E27FC236}">
                <a16:creationId xmlns:a16="http://schemas.microsoft.com/office/drawing/2014/main" id="{2BD6EDDD-16E3-4BC4-9A7B-4A9136FC0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781300"/>
            <a:ext cx="3783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необходимо и достаточно, чтобы </a:t>
            </a:r>
          </a:p>
        </p:txBody>
      </p:sp>
      <p:sp>
        <p:nvSpPr>
          <p:cNvPr id="24614" name="Rectangle 38">
            <a:extLst>
              <a:ext uri="{FF2B5EF4-FFF2-40B4-BE49-F238E27FC236}">
                <a16:creationId xmlns:a16="http://schemas.microsoft.com/office/drawing/2014/main" id="{36178C56-E7C7-45C1-8A6E-11FBD71A3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284538"/>
            <a:ext cx="307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были выполнены условия: </a:t>
            </a:r>
          </a:p>
        </p:txBody>
      </p:sp>
      <p:sp>
        <p:nvSpPr>
          <p:cNvPr id="24616" name="Rectangle 40">
            <a:extLst>
              <a:ext uri="{FF2B5EF4-FFF2-40B4-BE49-F238E27FC236}">
                <a16:creationId xmlns:a16="http://schemas.microsoft.com/office/drawing/2014/main" id="{548698C8-8F37-4EA7-B3EE-7E8C52666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15" name="Object 39">
            <a:extLst>
              <a:ext uri="{FF2B5EF4-FFF2-40B4-BE49-F238E27FC236}">
                <a16:creationId xmlns:a16="http://schemas.microsoft.com/office/drawing/2014/main" id="{F3DD7618-F99D-408F-84A7-9A8CFB537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098800"/>
          <a:ext cx="143986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Формула" r:id="rId9" imgW="965200" imgH="508000" progId="Equation.3">
                  <p:embed/>
                </p:oleObj>
              </mc:Choice>
              <mc:Fallback>
                <p:oleObj name="Формула" r:id="rId9" imgW="965200" imgH="5080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098800"/>
                        <a:ext cx="1439863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7" name="Rectangle 41">
            <a:extLst>
              <a:ext uri="{FF2B5EF4-FFF2-40B4-BE49-F238E27FC236}">
                <a16:creationId xmlns:a16="http://schemas.microsoft.com/office/drawing/2014/main" id="{7C9BCA21-E090-4DC2-8B42-FDBDAB1CF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05263"/>
            <a:ext cx="14255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 этом:   </a:t>
            </a:r>
          </a:p>
        </p:txBody>
      </p:sp>
      <p:graphicFrame>
        <p:nvGraphicFramePr>
          <p:cNvPr id="24618" name="Object 42">
            <a:extLst>
              <a:ext uri="{FF2B5EF4-FFF2-40B4-BE49-F238E27FC236}">
                <a16:creationId xmlns:a16="http://schemas.microsoft.com/office/drawing/2014/main" id="{41E9DAAD-1495-4192-8BFF-1858CF63AC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857625"/>
          <a:ext cx="13684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Формула" r:id="rId11" imgW="965200" imgH="508000" progId="Equation.3">
                  <p:embed/>
                </p:oleObj>
              </mc:Choice>
              <mc:Fallback>
                <p:oleObj name="Формула" r:id="rId11" imgW="965200" imgH="5080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857625"/>
                        <a:ext cx="1368425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0" name="Rectangle 44">
            <a:extLst>
              <a:ext uri="{FF2B5EF4-FFF2-40B4-BE49-F238E27FC236}">
                <a16:creationId xmlns:a16="http://schemas.microsoft.com/office/drawing/2014/main" id="{0E21161D-B14F-466E-AB58-31FE32303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3684588"/>
            <a:ext cx="2905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24621" name="Rectangle 45">
            <a:extLst>
              <a:ext uri="{FF2B5EF4-FFF2-40B4-BE49-F238E27FC236}">
                <a16:creationId xmlns:a16="http://schemas.microsoft.com/office/drawing/2014/main" id="{3DC18F10-C5D1-4020-8158-7921D1921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076700"/>
            <a:ext cx="165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приводит к     </a:t>
            </a:r>
          </a:p>
        </p:txBody>
      </p:sp>
      <p:sp>
        <p:nvSpPr>
          <p:cNvPr id="24623" name="Rectangle 47">
            <a:extLst>
              <a:ext uri="{FF2B5EF4-FFF2-40B4-BE49-F238E27FC236}">
                <a16:creationId xmlns:a16="http://schemas.microsoft.com/office/drawing/2014/main" id="{31217700-7E5A-4F71-831B-008B972E3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22" name="Object 46">
            <a:extLst>
              <a:ext uri="{FF2B5EF4-FFF2-40B4-BE49-F238E27FC236}">
                <a16:creationId xmlns:a16="http://schemas.microsoft.com/office/drawing/2014/main" id="{60C5F705-4440-4B48-B17A-A7C2F18EA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4076700"/>
          <a:ext cx="25908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2" name="Формула" r:id="rId13" imgW="1358310" imgH="241195" progId="Equation.3">
                  <p:embed/>
                </p:oleObj>
              </mc:Choice>
              <mc:Fallback>
                <p:oleObj name="Формула" r:id="rId13" imgW="1358310" imgH="241195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076700"/>
                        <a:ext cx="259080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5" name="Rectangle 49">
            <a:extLst>
              <a:ext uri="{FF2B5EF4-FFF2-40B4-BE49-F238E27FC236}">
                <a16:creationId xmlns:a16="http://schemas.microsoft.com/office/drawing/2014/main" id="{798CF2DF-403D-4D55-B187-06D3DDC8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24" name="Object 48">
            <a:extLst>
              <a:ext uri="{FF2B5EF4-FFF2-40B4-BE49-F238E27FC236}">
                <a16:creationId xmlns:a16="http://schemas.microsoft.com/office/drawing/2014/main" id="{AAD33338-7CA0-4FF4-9956-243BC7F96C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013325"/>
          <a:ext cx="143986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3" name="Формула" r:id="rId15" imgW="965200" imgH="508000" progId="Equation.3">
                  <p:embed/>
                </p:oleObj>
              </mc:Choice>
              <mc:Fallback>
                <p:oleObj name="Формула" r:id="rId15" imgW="965200" imgH="5080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013325"/>
                        <a:ext cx="1439863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6" name="Rectangle 50">
            <a:extLst>
              <a:ext uri="{FF2B5EF4-FFF2-40B4-BE49-F238E27FC236}">
                <a16:creationId xmlns:a16="http://schemas.microsoft.com/office/drawing/2014/main" id="{A2AFDCB3-390C-486C-8B2E-D47C9D37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157788"/>
            <a:ext cx="165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приводит к     </a:t>
            </a:r>
          </a:p>
        </p:txBody>
      </p:sp>
      <p:sp>
        <p:nvSpPr>
          <p:cNvPr id="24628" name="Rectangle 52">
            <a:extLst>
              <a:ext uri="{FF2B5EF4-FFF2-40B4-BE49-F238E27FC236}">
                <a16:creationId xmlns:a16="http://schemas.microsoft.com/office/drawing/2014/main" id="{7CCE9DE5-2543-4895-8B74-778E8C845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27" name="Object 51">
            <a:extLst>
              <a:ext uri="{FF2B5EF4-FFF2-40B4-BE49-F238E27FC236}">
                <a16:creationId xmlns:a16="http://schemas.microsoft.com/office/drawing/2014/main" id="{4FD9CB3F-BEDC-42ED-987C-4816938DB7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5092700"/>
          <a:ext cx="25923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4" name="Формула" r:id="rId17" imgW="1384300" imgH="241300" progId="Equation.3">
                  <p:embed/>
                </p:oleObj>
              </mc:Choice>
              <mc:Fallback>
                <p:oleObj name="Формула" r:id="rId17" imgW="1384300" imgH="2413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092700"/>
                        <a:ext cx="2592387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E706332-952F-4DF4-8E3B-868C2BFA5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i="1" u="sng"/>
              <a:t>2.Необходимые и достаточные условия существования экстремума функции.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C733E530-8898-4BBF-8BF4-5B197D80E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4AB49113-E6B5-4E88-BAD1-73A2A089B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30B4C60F-1858-4106-9041-6F17E9941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C86CB874-E3EE-43AF-ACB9-D41016168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60475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3F9C4421-34E7-4C6C-A2E8-EA305D5BB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15" name="Rectangle 15">
            <a:extLst>
              <a:ext uri="{FF2B5EF4-FFF2-40B4-BE49-F238E27FC236}">
                <a16:creationId xmlns:a16="http://schemas.microsoft.com/office/drawing/2014/main" id="{8201E188-2A16-4AEE-9165-955F0C04C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23" name="Rectangle 23">
            <a:extLst>
              <a:ext uri="{FF2B5EF4-FFF2-40B4-BE49-F238E27FC236}">
                <a16:creationId xmlns:a16="http://schemas.microsoft.com/office/drawing/2014/main" id="{72B7A7E2-ABD6-4CDD-8093-777B5C214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28" name="Rectangle 28">
            <a:extLst>
              <a:ext uri="{FF2B5EF4-FFF2-40B4-BE49-F238E27FC236}">
                <a16:creationId xmlns:a16="http://schemas.microsoft.com/office/drawing/2014/main" id="{78843541-3FB1-4759-BFC0-B6BA19CB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31" name="Rectangle 31">
            <a:extLst>
              <a:ext uri="{FF2B5EF4-FFF2-40B4-BE49-F238E27FC236}">
                <a16:creationId xmlns:a16="http://schemas.microsoft.com/office/drawing/2014/main" id="{71B10B37-7426-4F69-A852-F4A4C6BF2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28775"/>
            <a:ext cx="7496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2.2. Условия существования экстремума с учетом ограничений.</a:t>
            </a:r>
          </a:p>
        </p:txBody>
      </p:sp>
      <p:sp>
        <p:nvSpPr>
          <p:cNvPr id="25632" name="Rectangle 32">
            <a:extLst>
              <a:ext uri="{FF2B5EF4-FFF2-40B4-BE49-F238E27FC236}">
                <a16:creationId xmlns:a16="http://schemas.microsoft.com/office/drawing/2014/main" id="{D3447B5B-2125-4CE5-A570-4C5EFB63D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133600"/>
            <a:ext cx="3014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2.2.1.Постановка задачи:</a:t>
            </a:r>
          </a:p>
        </p:txBody>
      </p:sp>
      <p:sp>
        <p:nvSpPr>
          <p:cNvPr id="25633" name="Rectangle 33">
            <a:extLst>
              <a:ext uri="{FF2B5EF4-FFF2-40B4-BE49-F238E27FC236}">
                <a16:creationId xmlns:a16="http://schemas.microsoft.com/office/drawing/2014/main" id="{8B344241-C463-49E3-A6EB-9F091F814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36838"/>
            <a:ext cx="1119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5635" name="Rectangle 35">
            <a:extLst>
              <a:ext uri="{FF2B5EF4-FFF2-40B4-BE49-F238E27FC236}">
                <a16:creationId xmlns:a16="http://schemas.microsoft.com/office/drawing/2014/main" id="{EEB11CED-F1EF-4BD6-91EC-36A321C72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34" name="Object 34">
            <a:extLst>
              <a:ext uri="{FF2B5EF4-FFF2-40B4-BE49-F238E27FC236}">
                <a16:creationId xmlns:a16="http://schemas.microsoft.com/office/drawing/2014/main" id="{B899CF5A-C50E-43F7-B0A3-66D708BE7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6368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9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636838"/>
                        <a:ext cx="2232025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6" name="Rectangle 36">
            <a:extLst>
              <a:ext uri="{FF2B5EF4-FFF2-40B4-BE49-F238E27FC236}">
                <a16:creationId xmlns:a16="http://schemas.microsoft.com/office/drawing/2014/main" id="{646734DB-81CD-4A49-995F-64B79BA3D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37" name="Rectangle 37">
            <a:extLst>
              <a:ext uri="{FF2B5EF4-FFF2-40B4-BE49-F238E27FC236}">
                <a16:creationId xmlns:a16="http://schemas.microsoft.com/office/drawing/2014/main" id="{383757B4-0C1D-4639-BF0C-0282E7AA8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636838"/>
            <a:ext cx="3125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/>
              <a:t>y</a:t>
            </a:r>
            <a:r>
              <a:rPr lang="ru-RU" altLang="ru-RU"/>
              <a:t>=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– выпуклая функция; </a:t>
            </a:r>
          </a:p>
        </p:txBody>
      </p:sp>
      <p:sp>
        <p:nvSpPr>
          <p:cNvPr id="25639" name="Rectangle 39">
            <a:extLst>
              <a:ext uri="{FF2B5EF4-FFF2-40B4-BE49-F238E27FC236}">
                <a16:creationId xmlns:a16="http://schemas.microsoft.com/office/drawing/2014/main" id="{AA27FE2A-80B3-45E3-81BE-FE3FEE1A4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38" name="Object 38">
            <a:extLst>
              <a:ext uri="{FF2B5EF4-FFF2-40B4-BE49-F238E27FC236}">
                <a16:creationId xmlns:a16="http://schemas.microsoft.com/office/drawing/2014/main" id="{2579B157-6F47-431C-B77E-B739E536F7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997200"/>
          <a:ext cx="27368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" name="Формула" r:id="rId5" imgW="1676400" imgH="228600" progId="Equation.3">
                  <p:embed/>
                </p:oleObj>
              </mc:Choice>
              <mc:Fallback>
                <p:oleObj name="Формула" r:id="rId5" imgW="16764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97200"/>
                        <a:ext cx="2736850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0" name="Rectangle 40">
            <a:extLst>
              <a:ext uri="{FF2B5EF4-FFF2-40B4-BE49-F238E27FC236}">
                <a16:creationId xmlns:a16="http://schemas.microsoft.com/office/drawing/2014/main" id="{DE34A615-A200-4C16-9585-B1397CFC7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997200"/>
            <a:ext cx="1268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 пусть </a:t>
            </a:r>
            <a:r>
              <a:rPr lang="en-US" altLang="ru-RU"/>
              <a:t>g</a:t>
            </a:r>
            <a:r>
              <a:rPr lang="ru-RU" altLang="ru-RU"/>
              <a:t>: </a:t>
            </a:r>
          </a:p>
        </p:txBody>
      </p:sp>
      <p:sp>
        <p:nvSpPr>
          <p:cNvPr id="25642" name="Rectangle 42">
            <a:extLst>
              <a:ext uri="{FF2B5EF4-FFF2-40B4-BE49-F238E27FC236}">
                <a16:creationId xmlns:a16="http://schemas.microsoft.com/office/drawing/2014/main" id="{9F615CE3-5775-4CC0-8631-93E086099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41" name="Object 41">
            <a:extLst>
              <a:ext uri="{FF2B5EF4-FFF2-40B4-BE49-F238E27FC236}">
                <a16:creationId xmlns:a16="http://schemas.microsoft.com/office/drawing/2014/main" id="{15EDD7F7-6639-4265-BFA3-7164FA1E8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3068638"/>
          <a:ext cx="237648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1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068638"/>
                        <a:ext cx="2376487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4" name="Rectangle 44">
            <a:extLst>
              <a:ext uri="{FF2B5EF4-FFF2-40B4-BE49-F238E27FC236}">
                <a16:creationId xmlns:a16="http://schemas.microsoft.com/office/drawing/2014/main" id="{2AAE5DF1-1F96-4D83-83A3-D447515FC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43" name="Object 43">
            <a:extLst>
              <a:ext uri="{FF2B5EF4-FFF2-40B4-BE49-F238E27FC236}">
                <a16:creationId xmlns:a16="http://schemas.microsoft.com/office/drawing/2014/main" id="{67F1054C-68B8-4D7E-9646-C56338AC8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357563"/>
          <a:ext cx="2592387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2" name="Формула" r:id="rId9" imgW="1638300" imgH="749300" progId="Equation.3">
                  <p:embed/>
                </p:oleObj>
              </mc:Choice>
              <mc:Fallback>
                <p:oleObj name="Формула" r:id="rId9" imgW="1638300" imgH="7493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357563"/>
                        <a:ext cx="2592387" cy="1192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5" name="Rectangle 45">
            <a:extLst>
              <a:ext uri="{FF2B5EF4-FFF2-40B4-BE49-F238E27FC236}">
                <a16:creationId xmlns:a16="http://schemas.microsoft.com/office/drawing/2014/main" id="{5C6EAF15-2C8A-4A43-8072-821036A11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4078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  вогнутые или выпуклые функции,</a:t>
            </a:r>
          </a:p>
        </p:txBody>
      </p:sp>
      <p:sp>
        <p:nvSpPr>
          <p:cNvPr id="25646" name="Rectangle 46">
            <a:extLst>
              <a:ext uri="{FF2B5EF4-FFF2-40B4-BE49-F238E27FC236}">
                <a16:creationId xmlns:a16="http://schemas.microsoft.com/office/drawing/2014/main" id="{E5DDE6A3-4591-437D-AB77-1E6A3F3BC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221163"/>
            <a:ext cx="1049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а также </a:t>
            </a:r>
          </a:p>
        </p:txBody>
      </p:sp>
      <p:sp>
        <p:nvSpPr>
          <p:cNvPr id="25648" name="Rectangle 48">
            <a:extLst>
              <a:ext uri="{FF2B5EF4-FFF2-40B4-BE49-F238E27FC236}">
                <a16:creationId xmlns:a16="http://schemas.microsoft.com/office/drawing/2014/main" id="{08D566E1-B55E-410E-8379-B8F909D39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47" name="Object 47">
            <a:extLst>
              <a:ext uri="{FF2B5EF4-FFF2-40B4-BE49-F238E27FC236}">
                <a16:creationId xmlns:a16="http://schemas.microsoft.com/office/drawing/2014/main" id="{73D79E4D-EE42-4506-B7F1-91FC73EAD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221163"/>
          <a:ext cx="1079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3" name="Формула" r:id="rId11" imgW="710891" imgH="241195" progId="Equation.3">
                  <p:embed/>
                </p:oleObj>
              </mc:Choice>
              <mc:Fallback>
                <p:oleObj name="Формула" r:id="rId11" imgW="710891" imgH="241195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21163"/>
                        <a:ext cx="107950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9" name="Rectangle 49">
            <a:extLst>
              <a:ext uri="{FF2B5EF4-FFF2-40B4-BE49-F238E27FC236}">
                <a16:creationId xmlns:a16="http://schemas.microsoft.com/office/drawing/2014/main" id="{4BC11C25-64BF-4188-822D-FDF2E9065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149725"/>
            <a:ext cx="2879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– ограничения типа равенства. </a:t>
            </a:r>
          </a:p>
        </p:txBody>
      </p:sp>
      <p:sp>
        <p:nvSpPr>
          <p:cNvPr id="25650" name="Rectangle 50">
            <a:extLst>
              <a:ext uri="{FF2B5EF4-FFF2-40B4-BE49-F238E27FC236}">
                <a16:creationId xmlns:a16="http://schemas.microsoft.com/office/drawing/2014/main" id="{B0E26750-D267-4D4C-B837-4F65322D4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724400"/>
            <a:ext cx="7488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Тогда задачу поиска экстремума функции при наличии ограничений можно записать:</a:t>
            </a:r>
          </a:p>
        </p:txBody>
      </p:sp>
      <p:sp>
        <p:nvSpPr>
          <p:cNvPr id="25652" name="Rectangle 52">
            <a:extLst>
              <a:ext uri="{FF2B5EF4-FFF2-40B4-BE49-F238E27FC236}">
                <a16:creationId xmlns:a16="http://schemas.microsoft.com/office/drawing/2014/main" id="{E13D39E1-B795-4A07-A8DF-73085F26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3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51" name="Object 51">
            <a:extLst>
              <a:ext uri="{FF2B5EF4-FFF2-40B4-BE49-F238E27FC236}">
                <a16:creationId xmlns:a16="http://schemas.microsoft.com/office/drawing/2014/main" id="{A580B358-D34C-4588-9BBB-BAB9CED24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3325"/>
          <a:ext cx="2303463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4" name="Формула" r:id="rId13" imgW="1231900" imgH="736600" progId="Equation.3">
                  <p:embed/>
                </p:oleObj>
              </mc:Choice>
              <mc:Fallback>
                <p:oleObj name="Формула" r:id="rId13" imgW="1231900" imgH="736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2303463" cy="1374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208B06B-5F88-4965-8C5E-A557D271F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i="1" u="sng"/>
              <a:t>2.Необходимые и достаточные условия существования экстремума функции.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5F35E264-796E-42B5-8C4A-B8376F93E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972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ru-RU" altLang="ru-RU"/>
              <a:t>при </a:t>
            </a:r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BFEDB5A6-91BF-4B15-B4FF-7310F46D6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8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41" name="Rectangle 17">
            <a:extLst>
              <a:ext uri="{FF2B5EF4-FFF2-40B4-BE49-F238E27FC236}">
                <a16:creationId xmlns:a16="http://schemas.microsoft.com/office/drawing/2014/main" id="{0EF13D61-572B-4F87-BFEF-BF530D7B0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84313"/>
            <a:ext cx="4203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2.2.2.Метод множителей Лагранжа.</a:t>
            </a:r>
            <a:r>
              <a:rPr lang="ru-RU" altLang="ru-RU" u="sng"/>
              <a:t> </a:t>
            </a:r>
          </a:p>
        </p:txBody>
      </p:sp>
      <p:sp>
        <p:nvSpPr>
          <p:cNvPr id="26643" name="Rectangle 19">
            <a:extLst>
              <a:ext uri="{FF2B5EF4-FFF2-40B4-BE49-F238E27FC236}">
                <a16:creationId xmlns:a16="http://schemas.microsoft.com/office/drawing/2014/main" id="{3A2B53A3-35B2-4079-B05B-9CA083DA7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484313"/>
            <a:ext cx="3824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u="sng"/>
              <a:t>(1788г.”Аналитическая механика”)</a:t>
            </a:r>
          </a:p>
        </p:txBody>
      </p:sp>
      <p:sp>
        <p:nvSpPr>
          <p:cNvPr id="26646" name="Rectangle 22">
            <a:extLst>
              <a:ext uri="{FF2B5EF4-FFF2-40B4-BE49-F238E27FC236}">
                <a16:creationId xmlns:a16="http://schemas.microsoft.com/office/drawing/2014/main" id="{F3548A70-01D3-4065-9937-0BAE84DF1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45" name="Object 21">
            <a:extLst>
              <a:ext uri="{FF2B5EF4-FFF2-40B4-BE49-F238E27FC236}">
                <a16:creationId xmlns:a16="http://schemas.microsoft.com/office/drawing/2014/main" id="{A48DFF19-C93B-4A57-8077-6843FD6C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1844675"/>
          <a:ext cx="3095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7" name="Формула" r:id="rId3" imgW="1739900" imgH="444500" progId="Equation.3">
                  <p:embed/>
                </p:oleObj>
              </mc:Choice>
              <mc:Fallback>
                <p:oleObj name="Формула" r:id="rId3" imgW="1739900" imgH="4445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44675"/>
                        <a:ext cx="3095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7" name="Rectangle 23">
            <a:extLst>
              <a:ext uri="{FF2B5EF4-FFF2-40B4-BE49-F238E27FC236}">
                <a16:creationId xmlns:a16="http://schemas.microsoft.com/office/drawing/2014/main" id="{81463E86-2E0F-46D1-B49E-DBF32AE11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989138"/>
            <a:ext cx="3024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Функция вида:</a:t>
            </a: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AA64912F-AEE0-42A1-A517-1A3CD0B1C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492375"/>
            <a:ext cx="5654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взять вариацию от функции </a:t>
            </a:r>
            <a:r>
              <a:rPr lang="en-US" altLang="ru-RU"/>
              <a:t>L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,</a:t>
            </a:r>
            <a:r>
              <a:rPr lang="en-US" altLang="ru-RU">
                <a:sym typeface="Symbol" panose="05050102010706020507" pitchFamily="18" charset="2"/>
              </a:rPr>
              <a:t></a:t>
            </a:r>
            <a:r>
              <a:rPr lang="ru-RU" altLang="ru-RU"/>
              <a:t>) в</a:t>
            </a:r>
            <a:r>
              <a:rPr lang="en-US" altLang="ru-RU"/>
              <a:t>                </a:t>
            </a:r>
            <a:r>
              <a:rPr lang="ru-RU" altLang="ru-RU">
                <a:sym typeface="Symbol" panose="05050102010706020507" pitchFamily="18" charset="2"/>
              </a:rPr>
              <a:t>:</a:t>
            </a:r>
          </a:p>
        </p:txBody>
      </p:sp>
      <p:sp>
        <p:nvSpPr>
          <p:cNvPr id="26650" name="Rectangle 26">
            <a:extLst>
              <a:ext uri="{FF2B5EF4-FFF2-40B4-BE49-F238E27FC236}">
                <a16:creationId xmlns:a16="http://schemas.microsoft.com/office/drawing/2014/main" id="{D9E41EC1-7A7F-4AFF-9587-28230945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49" name="Object 25">
            <a:extLst>
              <a:ext uri="{FF2B5EF4-FFF2-40B4-BE49-F238E27FC236}">
                <a16:creationId xmlns:a16="http://schemas.microsoft.com/office/drawing/2014/main" id="{CD360FB8-4C09-4666-9DF6-C1F83B9FB0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852738"/>
          <a:ext cx="4392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" name="Формула" r:id="rId5" imgW="2743200" imgH="444500" progId="Equation.3">
                  <p:embed/>
                </p:oleObj>
              </mc:Choice>
              <mc:Fallback>
                <p:oleObj name="Формула" r:id="rId5" imgW="2743200" imgH="4445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852738"/>
                        <a:ext cx="4392612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2" name="Rectangle 28">
            <a:extLst>
              <a:ext uri="{FF2B5EF4-FFF2-40B4-BE49-F238E27FC236}">
                <a16:creationId xmlns:a16="http://schemas.microsoft.com/office/drawing/2014/main" id="{ECB0475E-3F4F-4329-98F2-E8F402107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51" name="Object 27">
            <a:extLst>
              <a:ext uri="{FF2B5EF4-FFF2-40B4-BE49-F238E27FC236}">
                <a16:creationId xmlns:a16="http://schemas.microsoft.com/office/drawing/2014/main" id="{81B9EA1A-6680-4D08-9A92-478DF32B5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2919413"/>
          <a:ext cx="936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" name="Формула" r:id="rId7" imgW="406048" imgH="203024" progId="Equation.3">
                  <p:embed/>
                </p:oleObj>
              </mc:Choice>
              <mc:Fallback>
                <p:oleObj name="Формула" r:id="rId7" imgW="406048" imgH="20302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919413"/>
                        <a:ext cx="936625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4" name="Rectangle 30">
            <a:extLst>
              <a:ext uri="{FF2B5EF4-FFF2-40B4-BE49-F238E27FC236}">
                <a16:creationId xmlns:a16="http://schemas.microsoft.com/office/drawing/2014/main" id="{CA3B086D-2BB0-4770-A765-7B0FFFD09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53" name="Object 29">
            <a:extLst>
              <a:ext uri="{FF2B5EF4-FFF2-40B4-BE49-F238E27FC236}">
                <a16:creationId xmlns:a16="http://schemas.microsoft.com/office/drawing/2014/main" id="{5A7BD6CD-0549-4E9A-953D-CA853151C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597275"/>
          <a:ext cx="35274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0" name="Формула" r:id="rId9" imgW="2578100" imgH="520700" progId="Equation.3">
                  <p:embed/>
                </p:oleObj>
              </mc:Choice>
              <mc:Fallback>
                <p:oleObj name="Формула" r:id="rId9" imgW="2578100" imgH="5207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97275"/>
                        <a:ext cx="3527425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5" name="Rectangle 31">
            <a:extLst>
              <a:ext uri="{FF2B5EF4-FFF2-40B4-BE49-F238E27FC236}">
                <a16:creationId xmlns:a16="http://schemas.microsoft.com/office/drawing/2014/main" id="{8809833C-9C5F-43DD-AFC9-6A6784708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365625"/>
            <a:ext cx="51927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Таким образом получаем систему уравнений : </a:t>
            </a:r>
          </a:p>
        </p:txBody>
      </p:sp>
      <p:sp>
        <p:nvSpPr>
          <p:cNvPr id="26657" name="Rectangle 33">
            <a:extLst>
              <a:ext uri="{FF2B5EF4-FFF2-40B4-BE49-F238E27FC236}">
                <a16:creationId xmlns:a16="http://schemas.microsoft.com/office/drawing/2014/main" id="{329FBB9F-3667-4ACC-8832-FE25D1CC5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56" name="Object 32">
            <a:extLst>
              <a:ext uri="{FF2B5EF4-FFF2-40B4-BE49-F238E27FC236}">
                <a16:creationId xmlns:a16="http://schemas.microsoft.com/office/drawing/2014/main" id="{0AC67188-5472-4B16-8F22-951F7616D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4005263"/>
          <a:ext cx="25923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1" name="Формула" r:id="rId11" imgW="1562100" imgH="520700" progId="Equation.3">
                  <p:embed/>
                </p:oleObj>
              </mc:Choice>
              <mc:Fallback>
                <p:oleObj name="Формула" r:id="rId11" imgW="1562100" imgH="5207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005263"/>
                        <a:ext cx="2592388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9" name="Object 35">
            <a:extLst>
              <a:ext uri="{FF2B5EF4-FFF2-40B4-BE49-F238E27FC236}">
                <a16:creationId xmlns:a16="http://schemas.microsoft.com/office/drawing/2014/main" id="{A40C7DAF-00E5-4C97-B455-6E5887B13A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5057775"/>
          <a:ext cx="863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2" name="Формула" r:id="rId13" imgW="596641" imgH="215806" progId="Equation.3">
                  <p:embed/>
                </p:oleObj>
              </mc:Choice>
              <mc:Fallback>
                <p:oleObj name="Формула" r:id="rId13" imgW="596641" imgH="215806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5057775"/>
                        <a:ext cx="86360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8" name="Object 34">
            <a:extLst>
              <a:ext uri="{FF2B5EF4-FFF2-40B4-BE49-F238E27FC236}">
                <a16:creationId xmlns:a16="http://schemas.microsoft.com/office/drawing/2014/main" id="{471AD95D-927D-462C-9AF4-B8F4B1158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5013325"/>
          <a:ext cx="4476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3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013325"/>
                        <a:ext cx="44767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0" name="Rectangle 36">
            <a:extLst>
              <a:ext uri="{FF2B5EF4-FFF2-40B4-BE49-F238E27FC236}">
                <a16:creationId xmlns:a16="http://schemas.microsoft.com/office/drawing/2014/main" id="{2FB02D3A-DB79-46F8-88CE-3322392FF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724400"/>
            <a:ext cx="79930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Подбором определенных значений 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baseline="-30000">
                <a:cs typeface="Times New Roman" panose="02020603050405020304" pitchFamily="18" charset="0"/>
              </a:rPr>
              <a:t>j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можно добиться того, чтобы эти уравнения удовлетворялись при </a:t>
            </a:r>
          </a:p>
        </p:txBody>
      </p:sp>
      <p:sp>
        <p:nvSpPr>
          <p:cNvPr id="26661" name="Rectangle 37">
            <a:extLst>
              <a:ext uri="{FF2B5EF4-FFF2-40B4-BE49-F238E27FC236}">
                <a16:creationId xmlns:a16="http://schemas.microsoft.com/office/drawing/2014/main" id="{149BB0CE-2CAB-4C85-8EB8-2ED8D0082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084763"/>
            <a:ext cx="1858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>
                <a:cs typeface="Times New Roman" panose="02020603050405020304" pitchFamily="18" charset="0"/>
              </a:rPr>
              <a:t>Именно в точке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26662" name="Rectangle 38">
            <a:extLst>
              <a:ext uri="{FF2B5EF4-FFF2-40B4-BE49-F238E27FC236}">
                <a16:creationId xmlns:a16="http://schemas.microsoft.com/office/drawing/2014/main" id="{E797F23B-42EC-46C5-B1C5-292C3E2F6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00663"/>
            <a:ext cx="7921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достигается стационарность функции </a:t>
            </a:r>
            <a:r>
              <a:rPr lang="en-US" altLang="ru-RU">
                <a:cs typeface="Times New Roman" panose="02020603050405020304" pitchFamily="18" charset="0"/>
              </a:rPr>
              <a:t>L</a:t>
            </a:r>
            <a:r>
              <a:rPr lang="ru-RU" altLang="ru-RU">
                <a:cs typeface="Times New Roman" panose="02020603050405020304" pitchFamily="18" charset="0"/>
              </a:rPr>
              <a:t>(</a:t>
            </a:r>
            <a:r>
              <a:rPr lang="en-US" altLang="ru-RU">
                <a:cs typeface="Times New Roman" panose="02020603050405020304" pitchFamily="18" charset="0"/>
              </a:rPr>
              <a:t>x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>
                <a:cs typeface="Times New Roman" panose="02020603050405020304" pitchFamily="18" charset="0"/>
              </a:rPr>
              <a:t>), т.е. экстремум функции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при заданных ограничениях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)=0.</a:t>
            </a:r>
          </a:p>
        </p:txBody>
      </p:sp>
      <p:sp>
        <p:nvSpPr>
          <p:cNvPr id="26664" name="Rectangle 40">
            <a:extLst>
              <a:ext uri="{FF2B5EF4-FFF2-40B4-BE49-F238E27FC236}">
                <a16:creationId xmlns:a16="http://schemas.microsoft.com/office/drawing/2014/main" id="{B8CEB2DD-3722-482B-A5B6-B26DA1CCA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66" name="Rectangle 42">
            <a:extLst>
              <a:ext uri="{FF2B5EF4-FFF2-40B4-BE49-F238E27FC236}">
                <a16:creationId xmlns:a16="http://schemas.microsoft.com/office/drawing/2014/main" id="{C6297DA4-3FDE-4D0B-AB64-9BE98E2FE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68" name="Rectangle 44">
            <a:extLst>
              <a:ext uri="{FF2B5EF4-FFF2-40B4-BE49-F238E27FC236}">
                <a16:creationId xmlns:a16="http://schemas.microsoft.com/office/drawing/2014/main" id="{0645CAE5-3A50-4452-A665-29A1F95C2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67" name="Object 43">
            <a:extLst>
              <a:ext uri="{FF2B5EF4-FFF2-40B4-BE49-F238E27FC236}">
                <a16:creationId xmlns:a16="http://schemas.microsoft.com/office/drawing/2014/main" id="{BD6555C5-8435-4E7E-AF47-F7F0D74F3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441575"/>
          <a:ext cx="8651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4" name="Формула" r:id="rId17" imgW="482391" imgH="241195" progId="Equation.3">
                  <p:embed/>
                </p:oleObj>
              </mc:Choice>
              <mc:Fallback>
                <p:oleObj name="Формула" r:id="rId17" imgW="482391" imgH="241195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441575"/>
                        <a:ext cx="865188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555E9DD-770F-46E6-9B21-C83ECF8EA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i="1" u="sng"/>
              <a:t>2.Необходимые и достаточные условия существования экстремума функции.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726BA0F5-10B0-4A91-9DAA-3885F0A54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8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FCDB5EA4-A40A-486E-81FF-85D7EE05F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557338"/>
            <a:ext cx="4203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b="1" u="sng"/>
              <a:t>2.2.2.Метод множителей Лагранжа.</a:t>
            </a:r>
            <a:r>
              <a:rPr lang="ru-RU" altLang="ru-RU"/>
              <a:t> 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EDF407AD-3AE8-48B5-AB15-3D68A425C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89138"/>
            <a:ext cx="6321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Задачу можно переформулировать следующим образом.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4DCB6429-71CD-4752-867A-2694E417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20938"/>
            <a:ext cx="203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Требуется найти:</a:t>
            </a:r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0B14D6FC-A49D-4E34-8AB1-E6A8E6AFB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7663" name="Object 15">
            <a:extLst>
              <a:ext uri="{FF2B5EF4-FFF2-40B4-BE49-F238E27FC236}">
                <a16:creationId xmlns:a16="http://schemas.microsoft.com/office/drawing/2014/main" id="{AB23FFF5-DCD1-4478-A4D4-7633C98E3F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276475"/>
          <a:ext cx="28797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6" name="Формула" r:id="rId3" imgW="1587500" imgH="508000" progId="Equation.3">
                  <p:embed/>
                </p:oleObj>
              </mc:Choice>
              <mc:Fallback>
                <p:oleObj name="Формула" r:id="rId3" imgW="1587500" imgH="508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276475"/>
                        <a:ext cx="2879725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Rectangle 17">
            <a:extLst>
              <a:ext uri="{FF2B5EF4-FFF2-40B4-BE49-F238E27FC236}">
                <a16:creationId xmlns:a16="http://schemas.microsoft.com/office/drawing/2014/main" id="{374A72F3-F932-46FA-8972-B410218E7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068638"/>
            <a:ext cx="7278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решение задачи состоит в совместном решении уравнений:</a:t>
            </a:r>
          </a:p>
        </p:txBody>
      </p:sp>
      <p:sp>
        <p:nvSpPr>
          <p:cNvPr id="27667" name="Rectangle 19">
            <a:extLst>
              <a:ext uri="{FF2B5EF4-FFF2-40B4-BE49-F238E27FC236}">
                <a16:creationId xmlns:a16="http://schemas.microsoft.com/office/drawing/2014/main" id="{A40CBC5D-5C0D-458A-9AF9-14FAF902E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68" name="Rectangle 20">
            <a:extLst>
              <a:ext uri="{FF2B5EF4-FFF2-40B4-BE49-F238E27FC236}">
                <a16:creationId xmlns:a16="http://schemas.microsoft.com/office/drawing/2014/main" id="{601A722B-33E8-457B-86AE-48252C954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3860800"/>
            <a:ext cx="552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 Составляются и решаются 2 системы уравнений:</a:t>
            </a:r>
          </a:p>
        </p:txBody>
      </p:sp>
      <p:sp>
        <p:nvSpPr>
          <p:cNvPr id="27670" name="Rectangle 22">
            <a:extLst>
              <a:ext uri="{FF2B5EF4-FFF2-40B4-BE49-F238E27FC236}">
                <a16:creationId xmlns:a16="http://schemas.microsoft.com/office/drawing/2014/main" id="{2D315EBF-9FB5-408D-87C5-83D680D9B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3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7669" name="Object 21">
            <a:extLst>
              <a:ext uri="{FF2B5EF4-FFF2-40B4-BE49-F238E27FC236}">
                <a16:creationId xmlns:a16="http://schemas.microsoft.com/office/drawing/2014/main" id="{90E7D725-3392-4240-82AB-7BD5C4573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284663"/>
          <a:ext cx="439261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Формула" r:id="rId5" imgW="2247900" imgH="736600" progId="Equation.3">
                  <p:embed/>
                </p:oleObj>
              </mc:Choice>
              <mc:Fallback>
                <p:oleObj name="Формула" r:id="rId5" imgW="2247900" imgH="736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284663"/>
                        <a:ext cx="4392612" cy="142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3">
            <a:extLst>
              <a:ext uri="{FF2B5EF4-FFF2-40B4-BE49-F238E27FC236}">
                <a16:creationId xmlns:a16="http://schemas.microsoft.com/office/drawing/2014/main" id="{00F7D15E-964D-4B9A-A482-885B5EF8B3FF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539750" y="3554413"/>
          <a:ext cx="25923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name="Формула" r:id="rId7" imgW="1434960" imgH="914400" progId="Equation.3">
                  <p:embed/>
                </p:oleObj>
              </mc:Choice>
              <mc:Fallback>
                <p:oleObj name="Формула" r:id="rId7" imgW="1434960" imgH="914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54413"/>
                        <a:ext cx="2592388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08CC5DD-BFC0-4A15-BEBD-A76E94CEB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i="1" u="sng"/>
              <a:t>2.Необходимые и достаточные условия существования экстремума функции.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6B567CF-8A31-4DAE-A9B0-2198B90D4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u="sng"/>
              <a:t>2.2.4.Область применения классического метода множителей Лагранжа.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8575F346-2ECA-4357-9EFA-313D82A69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49500"/>
            <a:ext cx="80645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Задача поиска экстремума методами классического математического анализа связана с удовлетворением следующих условий, накладываемых на функции: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ADA0707A-E76B-42E5-9222-E1EE43FA5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3246438"/>
            <a:ext cx="8334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1.Целевая функция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должна быть выпуклой (в случае поиска минимума).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2C4F3892-08A5-4806-9AEC-71DBD7C2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644900"/>
            <a:ext cx="8189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2.Функции ограничений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должны быть вогнутыми или выпуклыми функциями.</a:t>
            </a:r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49449610-1CA0-47AA-A7B4-034288BB6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65625"/>
            <a:ext cx="5083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3.Ограничения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= 0 только типа равенств.</a:t>
            </a:r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A318DD75-3501-45CB-B6B3-4698B369D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805363"/>
            <a:ext cx="8569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Последнее условие связано с тем, что если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&lt; 0, то классический метод множителей Лагранжа не дает единственного решения </a:t>
            </a:r>
          </a:p>
        </p:txBody>
      </p:sp>
      <p:sp>
        <p:nvSpPr>
          <p:cNvPr id="36874" name="Rectangle 10">
            <a:extLst>
              <a:ext uri="{FF2B5EF4-FFF2-40B4-BE49-F238E27FC236}">
                <a16:creationId xmlns:a16="http://schemas.microsoft.com/office/drawing/2014/main" id="{A06A5B44-F08F-4E68-8B8B-65045967F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5B68F929-D193-41D3-B7FE-88109570F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5057775"/>
          <a:ext cx="23764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Формула" r:id="rId3" imgW="1155700" imgH="228600" progId="Equation.3">
                  <p:embed/>
                </p:oleObj>
              </mc:Choice>
              <mc:Fallback>
                <p:oleObj name="Формула" r:id="rId3" imgW="11557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057775"/>
                        <a:ext cx="2376488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Rectangle 11">
            <a:extLst>
              <a:ext uri="{FF2B5EF4-FFF2-40B4-BE49-F238E27FC236}">
                <a16:creationId xmlns:a16="http://schemas.microsoft.com/office/drawing/2014/main" id="{52206634-E588-4F6E-A8E2-CC9E6FB69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45125"/>
            <a:ext cx="3543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и, следовательно, не работает.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A2A2ACF-B762-47BE-8308-77D7AB3E4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C66C61B5-AB87-4A6C-9365-1F657C5D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076" name="Object 10">
            <a:extLst>
              <a:ext uri="{FF2B5EF4-FFF2-40B4-BE49-F238E27FC236}">
                <a16:creationId xmlns:a16="http://schemas.microsoft.com/office/drawing/2014/main" id="{5FB12F42-E66A-4843-91BF-EDDF0B660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3076" name="Object 10">
                        <a:extLst>
                          <a:ext uri="{FF2B5EF4-FFF2-40B4-BE49-F238E27FC236}">
                            <a16:creationId xmlns:a16="http://schemas.microsoft.com/office/drawing/2014/main" id="{5FB12F42-E66A-4843-91BF-EDDF0B660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24">
            <a:extLst>
              <a:ext uri="{FF2B5EF4-FFF2-40B4-BE49-F238E27FC236}">
                <a16:creationId xmlns:a16="http://schemas.microsoft.com/office/drawing/2014/main" id="{3198E738-37B8-4622-BDCA-1E6E564F1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8" name="Rectangle 26">
            <a:extLst>
              <a:ext uri="{FF2B5EF4-FFF2-40B4-BE49-F238E27FC236}">
                <a16:creationId xmlns:a16="http://schemas.microsoft.com/office/drawing/2014/main" id="{E7A02D8F-1F42-4A06-8225-BF5467132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9" name="Rectangle 38">
            <a:extLst>
              <a:ext uri="{FF2B5EF4-FFF2-40B4-BE49-F238E27FC236}">
                <a16:creationId xmlns:a16="http://schemas.microsoft.com/office/drawing/2014/main" id="{9DE99F25-B045-4041-BE83-FD4975A06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0" name="Rectangle 40">
            <a:extLst>
              <a:ext uri="{FF2B5EF4-FFF2-40B4-BE49-F238E27FC236}">
                <a16:creationId xmlns:a16="http://schemas.microsoft.com/office/drawing/2014/main" id="{497A95CB-5446-410D-9405-63B973ADA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1" name="Rectangle 63">
            <a:extLst>
              <a:ext uri="{FF2B5EF4-FFF2-40B4-BE49-F238E27FC236}">
                <a16:creationId xmlns:a16="http://schemas.microsoft.com/office/drawing/2014/main" id="{546B0462-52FE-4786-84BE-C4D4B250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2" name="Rectangle 67">
            <a:extLst>
              <a:ext uri="{FF2B5EF4-FFF2-40B4-BE49-F238E27FC236}">
                <a16:creationId xmlns:a16="http://schemas.microsoft.com/office/drawing/2014/main" id="{48520A45-F4CB-41E4-AEB4-4A953482E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3" name="Rectangle 68">
            <a:extLst>
              <a:ext uri="{FF2B5EF4-FFF2-40B4-BE49-F238E27FC236}">
                <a16:creationId xmlns:a16="http://schemas.microsoft.com/office/drawing/2014/main" id="{BB062CDF-6597-4AC2-9302-80A01FEA4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4" name="Rectangle 72">
            <a:extLst>
              <a:ext uri="{FF2B5EF4-FFF2-40B4-BE49-F238E27FC236}">
                <a16:creationId xmlns:a16="http://schemas.microsoft.com/office/drawing/2014/main" id="{BD6FD84F-A2D4-4BFD-B3A7-B58893314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5" name="Rectangle 75">
            <a:extLst>
              <a:ext uri="{FF2B5EF4-FFF2-40B4-BE49-F238E27FC236}">
                <a16:creationId xmlns:a16="http://schemas.microsoft.com/office/drawing/2014/main" id="{0EC5BD28-F313-4A60-9933-77CB2334D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6" name="Rectangle 85">
            <a:extLst>
              <a:ext uri="{FF2B5EF4-FFF2-40B4-BE49-F238E27FC236}">
                <a16:creationId xmlns:a16="http://schemas.microsoft.com/office/drawing/2014/main" id="{1F5565D3-EEB9-47DD-8D0D-FB6E9644A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689100"/>
            <a:ext cx="4281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/>
              <a:t>3.1. Формулировка задачи </a:t>
            </a:r>
          </a:p>
        </p:txBody>
      </p:sp>
      <p:sp>
        <p:nvSpPr>
          <p:cNvPr id="3087" name="Rectangle 89">
            <a:extLst>
              <a:ext uri="{FF2B5EF4-FFF2-40B4-BE49-F238E27FC236}">
                <a16:creationId xmlns:a16="http://schemas.microsoft.com/office/drawing/2014/main" id="{B3420350-E952-48D2-92B1-5765D834F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8" name="Rectangle 92">
            <a:extLst>
              <a:ext uri="{FF2B5EF4-FFF2-40B4-BE49-F238E27FC236}">
                <a16:creationId xmlns:a16="http://schemas.microsoft.com/office/drawing/2014/main" id="{D9E0844A-B07C-4AE8-B6FB-CFA9EF8E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9" name="Rectangle 94">
            <a:extLst>
              <a:ext uri="{FF2B5EF4-FFF2-40B4-BE49-F238E27FC236}">
                <a16:creationId xmlns:a16="http://schemas.microsoft.com/office/drawing/2014/main" id="{BA7E6FAF-BEE0-4531-B004-002EEFF6D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3090" name="Rectangle 99">
            <a:extLst>
              <a:ext uri="{FF2B5EF4-FFF2-40B4-BE49-F238E27FC236}">
                <a16:creationId xmlns:a16="http://schemas.microsoft.com/office/drawing/2014/main" id="{99675904-A907-412E-A4E8-D1580AF4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1" name="Rectangle 104">
            <a:extLst>
              <a:ext uri="{FF2B5EF4-FFF2-40B4-BE49-F238E27FC236}">
                <a16:creationId xmlns:a16="http://schemas.microsoft.com/office/drawing/2014/main" id="{F8595699-FB0D-4E23-9B7B-774B8298C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2" name="Rectangle 107">
            <a:extLst>
              <a:ext uri="{FF2B5EF4-FFF2-40B4-BE49-F238E27FC236}">
                <a16:creationId xmlns:a16="http://schemas.microsoft.com/office/drawing/2014/main" id="{93212C93-9976-42F5-B87C-C9A24C3D5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2845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3" name="Rectangle 108">
            <a:extLst>
              <a:ext uri="{FF2B5EF4-FFF2-40B4-BE49-F238E27FC236}">
                <a16:creationId xmlns:a16="http://schemas.microsoft.com/office/drawing/2014/main" id="{15BF4EEA-5E74-40DE-B900-A1452B662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0686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3094" name="Rectangle 110">
            <a:extLst>
              <a:ext uri="{FF2B5EF4-FFF2-40B4-BE49-F238E27FC236}">
                <a16:creationId xmlns:a16="http://schemas.microsoft.com/office/drawing/2014/main" id="{0797FD03-6C45-49C9-B188-A4C0576B0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7082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5" name="Rectangle 114">
            <a:extLst>
              <a:ext uri="{FF2B5EF4-FFF2-40B4-BE49-F238E27FC236}">
                <a16:creationId xmlns:a16="http://schemas.microsoft.com/office/drawing/2014/main" id="{3202E962-AA51-454A-A614-5C6117B6D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6" name="Rectangle 119">
            <a:extLst>
              <a:ext uri="{FF2B5EF4-FFF2-40B4-BE49-F238E27FC236}">
                <a16:creationId xmlns:a16="http://schemas.microsoft.com/office/drawing/2014/main" id="{192C5785-86C9-420D-B3F7-85A02469E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7" name="Rectangle 122">
            <a:extLst>
              <a:ext uri="{FF2B5EF4-FFF2-40B4-BE49-F238E27FC236}">
                <a16:creationId xmlns:a16="http://schemas.microsoft.com/office/drawing/2014/main" id="{03144A42-437D-443C-AC88-439848DEB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8" name="Rectangle 123">
            <a:extLst>
              <a:ext uri="{FF2B5EF4-FFF2-40B4-BE49-F238E27FC236}">
                <a16:creationId xmlns:a16="http://schemas.microsoft.com/office/drawing/2014/main" id="{0353BD74-2F5D-4F6A-97B2-32135BB44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49500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3099" name="Rectangle 125">
            <a:extLst>
              <a:ext uri="{FF2B5EF4-FFF2-40B4-BE49-F238E27FC236}">
                <a16:creationId xmlns:a16="http://schemas.microsoft.com/office/drawing/2014/main" id="{5BDB5ACD-0AD0-4ABE-A635-D3A282A5B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0" name="Object 124">
            <a:extLst>
              <a:ext uri="{FF2B5EF4-FFF2-40B4-BE49-F238E27FC236}">
                <a16:creationId xmlns:a16="http://schemas.microsoft.com/office/drawing/2014/main" id="{14B60DB0-83B6-499D-86A3-99140E0270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349500"/>
          <a:ext cx="28082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3100" name="Object 124">
                        <a:extLst>
                          <a:ext uri="{FF2B5EF4-FFF2-40B4-BE49-F238E27FC236}">
                            <a16:creationId xmlns:a16="http://schemas.microsoft.com/office/drawing/2014/main" id="{14B60DB0-83B6-499D-86A3-99140E0270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49500"/>
                        <a:ext cx="28082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1" name="Rectangle 126">
            <a:extLst>
              <a:ext uri="{FF2B5EF4-FFF2-40B4-BE49-F238E27FC236}">
                <a16:creationId xmlns:a16="http://schemas.microsoft.com/office/drawing/2014/main" id="{6602131F-64EA-4D02-AB45-6BF9AA500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02" name="Rectangle 128">
            <a:extLst>
              <a:ext uri="{FF2B5EF4-FFF2-40B4-BE49-F238E27FC236}">
                <a16:creationId xmlns:a16="http://schemas.microsoft.com/office/drawing/2014/main" id="{98ABA860-94CF-4ECF-B56B-B5C8407C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3" name="Object 127">
            <a:extLst>
              <a:ext uri="{FF2B5EF4-FFF2-40B4-BE49-F238E27FC236}">
                <a16:creationId xmlns:a16="http://schemas.microsoft.com/office/drawing/2014/main" id="{E2194AB4-8B36-4C14-880F-62A90A7311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708275"/>
          <a:ext cx="2520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3103" name="Object 127">
                        <a:extLst>
                          <a:ext uri="{FF2B5EF4-FFF2-40B4-BE49-F238E27FC236}">
                            <a16:creationId xmlns:a16="http://schemas.microsoft.com/office/drawing/2014/main" id="{E2194AB4-8B36-4C14-880F-62A90A731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708275"/>
                        <a:ext cx="2520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Rectangle 130">
            <a:extLst>
              <a:ext uri="{FF2B5EF4-FFF2-40B4-BE49-F238E27FC236}">
                <a16:creationId xmlns:a16="http://schemas.microsoft.com/office/drawing/2014/main" id="{2CE9C80B-9DC5-491F-8BE8-C488B9B5F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706688"/>
            <a:ext cx="504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</a:t>
            </a:r>
            <a:r>
              <a:rPr lang="en-US" altLang="ru-RU"/>
              <a:t>g</a:t>
            </a:r>
            <a:r>
              <a:rPr lang="ru-RU" altLang="ru-RU"/>
              <a:t>: </a:t>
            </a:r>
          </a:p>
        </p:txBody>
      </p:sp>
      <p:sp>
        <p:nvSpPr>
          <p:cNvPr id="3105" name="Rectangle 132">
            <a:extLst>
              <a:ext uri="{FF2B5EF4-FFF2-40B4-BE49-F238E27FC236}">
                <a16:creationId xmlns:a16="http://schemas.microsoft.com/office/drawing/2014/main" id="{6A884ADD-F331-4F44-9DFA-23965D7E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6" name="Object 131">
            <a:extLst>
              <a:ext uri="{FF2B5EF4-FFF2-40B4-BE49-F238E27FC236}">
                <a16:creationId xmlns:a16="http://schemas.microsoft.com/office/drawing/2014/main" id="{F861D8FA-F6FE-4129-8113-C15744439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068638"/>
          <a:ext cx="30972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Формула" r:id="rId9" imgW="1828800" imgH="228600" progId="Equation.3">
                  <p:embed/>
                </p:oleObj>
              </mc:Choice>
              <mc:Fallback>
                <p:oleObj name="Формула" r:id="rId9" imgW="1828800" imgH="228600" progId="Equation.3">
                  <p:embed/>
                  <p:pic>
                    <p:nvPicPr>
                      <p:cNvPr id="3106" name="Object 131">
                        <a:extLst>
                          <a:ext uri="{FF2B5EF4-FFF2-40B4-BE49-F238E27FC236}">
                            <a16:creationId xmlns:a16="http://schemas.microsoft.com/office/drawing/2014/main" id="{F861D8FA-F6FE-4129-8113-C15744439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068638"/>
                        <a:ext cx="30972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7" name="Rectangle 133">
            <a:extLst>
              <a:ext uri="{FF2B5EF4-FFF2-40B4-BE49-F238E27FC236}">
                <a16:creationId xmlns:a16="http://schemas.microsoft.com/office/drawing/2014/main" id="{F381DB87-FD65-47A1-A6D6-9389E7F7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8" name="Object 134">
            <a:extLst>
              <a:ext uri="{FF2B5EF4-FFF2-40B4-BE49-F238E27FC236}">
                <a16:creationId xmlns:a16="http://schemas.microsoft.com/office/drawing/2014/main" id="{4D056BA2-F575-49EB-ABDE-DC71BB1A50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429000"/>
          <a:ext cx="39608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Формула" r:id="rId11" imgW="2019300" imgH="241300" progId="Equation.3">
                  <p:embed/>
                </p:oleObj>
              </mc:Choice>
              <mc:Fallback>
                <p:oleObj name="Формула" r:id="rId11" imgW="2019300" imgH="241300" progId="Equation.3">
                  <p:embed/>
                  <p:pic>
                    <p:nvPicPr>
                      <p:cNvPr id="3108" name="Object 134">
                        <a:extLst>
                          <a:ext uri="{FF2B5EF4-FFF2-40B4-BE49-F238E27FC236}">
                            <a16:creationId xmlns:a16="http://schemas.microsoft.com/office/drawing/2014/main" id="{4D056BA2-F575-49EB-ABDE-DC71BB1A5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429000"/>
                        <a:ext cx="39608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9" name="Rectangle 139">
            <a:extLst>
              <a:ext uri="{FF2B5EF4-FFF2-40B4-BE49-F238E27FC236}">
                <a16:creationId xmlns:a16="http://schemas.microsoft.com/office/drawing/2014/main" id="{8CB61088-F92A-4EC0-BE7E-05BE2EDA5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0" name="Object 138">
            <a:extLst>
              <a:ext uri="{FF2B5EF4-FFF2-40B4-BE49-F238E27FC236}">
                <a16:creationId xmlns:a16="http://schemas.microsoft.com/office/drawing/2014/main" id="{A5CD9C5C-E454-4670-8D1B-C20F82D0E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859213"/>
          <a:ext cx="1873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Формула" r:id="rId13" imgW="1155700" imgH="241300" progId="Equation.3">
                  <p:embed/>
                </p:oleObj>
              </mc:Choice>
              <mc:Fallback>
                <p:oleObj name="Формула" r:id="rId13" imgW="1155700" imgH="241300" progId="Equation.3">
                  <p:embed/>
                  <p:pic>
                    <p:nvPicPr>
                      <p:cNvPr id="3110" name="Object 138">
                        <a:extLst>
                          <a:ext uri="{FF2B5EF4-FFF2-40B4-BE49-F238E27FC236}">
                            <a16:creationId xmlns:a16="http://schemas.microsoft.com/office/drawing/2014/main" id="{A5CD9C5C-E454-4670-8D1B-C20F82D0EA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59213"/>
                        <a:ext cx="18732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1" name="Rectangle 141">
            <a:extLst>
              <a:ext uri="{FF2B5EF4-FFF2-40B4-BE49-F238E27FC236}">
                <a16:creationId xmlns:a16="http://schemas.microsoft.com/office/drawing/2014/main" id="{5C389563-0472-400C-A1F5-F1C45F1C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12" name="Rectangle 142">
            <a:extLst>
              <a:ext uri="{FF2B5EF4-FFF2-40B4-BE49-F238E27FC236}">
                <a16:creationId xmlns:a16="http://schemas.microsoft.com/office/drawing/2014/main" id="{F47CA825-6586-43E2-875C-DE516D61B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860800"/>
            <a:ext cx="34559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– ограничения типа равенств.</a:t>
            </a:r>
            <a:endParaRPr lang="ru-RU" altLang="ru-RU"/>
          </a:p>
        </p:txBody>
      </p:sp>
      <p:sp>
        <p:nvSpPr>
          <p:cNvPr id="3113" name="Rectangle 144">
            <a:extLst>
              <a:ext uri="{FF2B5EF4-FFF2-40B4-BE49-F238E27FC236}">
                <a16:creationId xmlns:a16="http://schemas.microsoft.com/office/drawing/2014/main" id="{BAFA2AC6-03CC-45F5-9461-F6BFB88F3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4" name="Object 143">
            <a:extLst>
              <a:ext uri="{FF2B5EF4-FFF2-40B4-BE49-F238E27FC236}">
                <a16:creationId xmlns:a16="http://schemas.microsoft.com/office/drawing/2014/main" id="{A86D380E-6D51-4094-B54F-4C0ACBEF0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221163"/>
          <a:ext cx="21669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4" name="Формула" r:id="rId15" imgW="1447800" imgH="241300" progId="Equation.3">
                  <p:embed/>
                </p:oleObj>
              </mc:Choice>
              <mc:Fallback>
                <p:oleObj name="Формула" r:id="rId15" imgW="1447800" imgH="241300" progId="Equation.3">
                  <p:embed/>
                  <p:pic>
                    <p:nvPicPr>
                      <p:cNvPr id="3114" name="Object 143">
                        <a:extLst>
                          <a:ext uri="{FF2B5EF4-FFF2-40B4-BE49-F238E27FC236}">
                            <a16:creationId xmlns:a16="http://schemas.microsoft.com/office/drawing/2014/main" id="{A86D380E-6D51-4094-B54F-4C0ACBEF0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21163"/>
                        <a:ext cx="2166937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5" name="Rectangle 145">
            <a:extLst>
              <a:ext uri="{FF2B5EF4-FFF2-40B4-BE49-F238E27FC236}">
                <a16:creationId xmlns:a16="http://schemas.microsoft.com/office/drawing/2014/main" id="{22F1C75D-B392-4922-8F61-AE7B98501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21163"/>
            <a:ext cx="3578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Times New Roman" panose="02020603050405020304" pitchFamily="18" charset="0"/>
              </a:rPr>
              <a:t>– ограничения типа неравенств.</a:t>
            </a:r>
          </a:p>
        </p:txBody>
      </p:sp>
      <p:sp>
        <p:nvSpPr>
          <p:cNvPr id="3116" name="Rectangle 147">
            <a:extLst>
              <a:ext uri="{FF2B5EF4-FFF2-40B4-BE49-F238E27FC236}">
                <a16:creationId xmlns:a16="http://schemas.microsoft.com/office/drawing/2014/main" id="{546A4F3E-E1D5-449A-8046-BBF638CDB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535488"/>
            <a:ext cx="3600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Обозначим множество индексов</a:t>
            </a:r>
            <a:r>
              <a:rPr lang="ru-RU" altLang="ru-RU"/>
              <a:t>:</a:t>
            </a:r>
            <a:r>
              <a:rPr lang="ru-RU" altLang="ru-RU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3117" name="Rectangle 149">
            <a:extLst>
              <a:ext uri="{FF2B5EF4-FFF2-40B4-BE49-F238E27FC236}">
                <a16:creationId xmlns:a16="http://schemas.microsoft.com/office/drawing/2014/main" id="{51955441-97BF-4955-AD6C-3FD06B931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8" name="Object 148">
            <a:extLst>
              <a:ext uri="{FF2B5EF4-FFF2-40B4-BE49-F238E27FC236}">
                <a16:creationId xmlns:a16="http://schemas.microsoft.com/office/drawing/2014/main" id="{91C36488-1EC7-4C87-83C1-DB701A8267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581525"/>
          <a:ext cx="18732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5" name="Формула" r:id="rId17" imgW="1231366" imgH="215806" progId="Equation.3">
                  <p:embed/>
                </p:oleObj>
              </mc:Choice>
              <mc:Fallback>
                <p:oleObj name="Формула" r:id="rId17" imgW="1231366" imgH="215806" progId="Equation.3">
                  <p:embed/>
                  <p:pic>
                    <p:nvPicPr>
                      <p:cNvPr id="3118" name="Object 148">
                        <a:extLst>
                          <a:ext uri="{FF2B5EF4-FFF2-40B4-BE49-F238E27FC236}">
                            <a16:creationId xmlns:a16="http://schemas.microsoft.com/office/drawing/2014/main" id="{91C36488-1EC7-4C87-83C1-DB701A8267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581525"/>
                        <a:ext cx="18732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9" name="Rectangle 150">
            <a:extLst>
              <a:ext uri="{FF2B5EF4-FFF2-40B4-BE49-F238E27FC236}">
                <a16:creationId xmlns:a16="http://schemas.microsoft.com/office/drawing/2014/main" id="{D795565C-C3F9-4551-8029-202F131C9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5085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B2D8F7F-69E0-4AE5-AFCE-64BB748AD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программирования.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C188B3C-CE63-4BAA-A0B2-110769A33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b="1" i="1" dirty="0"/>
              <a:t>3.1. </a:t>
            </a:r>
            <a:r>
              <a:rPr lang="ru-RU" altLang="ru-RU" sz="2800" b="1" i="1" u="sng" dirty="0"/>
              <a:t>Активные ограничения</a:t>
            </a:r>
            <a:r>
              <a:rPr lang="ru-RU" altLang="ru-RU" sz="2800" b="1" i="1" dirty="0"/>
              <a:t>.</a:t>
            </a:r>
          </a:p>
        </p:txBody>
      </p:sp>
      <p:sp>
        <p:nvSpPr>
          <p:cNvPr id="4100" name="Rectangle 24">
            <a:extLst>
              <a:ext uri="{FF2B5EF4-FFF2-40B4-BE49-F238E27FC236}">
                <a16:creationId xmlns:a16="http://schemas.microsoft.com/office/drawing/2014/main" id="{A936801E-85AF-491B-8E60-3D734FC3F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1" name="Rectangle 26">
            <a:extLst>
              <a:ext uri="{FF2B5EF4-FFF2-40B4-BE49-F238E27FC236}">
                <a16:creationId xmlns:a16="http://schemas.microsoft.com/office/drawing/2014/main" id="{963E9A91-F5C5-4475-995A-B4A4E06F5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1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2" name="Rectangle 28">
            <a:extLst>
              <a:ext uri="{FF2B5EF4-FFF2-40B4-BE49-F238E27FC236}">
                <a16:creationId xmlns:a16="http://schemas.microsoft.com/office/drawing/2014/main" id="{D66D0F26-35E5-4B44-8A03-1A7C656D2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3" name="Rectangle 36">
            <a:extLst>
              <a:ext uri="{FF2B5EF4-FFF2-40B4-BE49-F238E27FC236}">
                <a16:creationId xmlns:a16="http://schemas.microsoft.com/office/drawing/2014/main" id="{4A0B46E7-04EF-42DF-9E9F-A2A61C884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40">
            <a:extLst>
              <a:ext uri="{FF2B5EF4-FFF2-40B4-BE49-F238E27FC236}">
                <a16:creationId xmlns:a16="http://schemas.microsoft.com/office/drawing/2014/main" id="{98147FE8-69AA-4E71-91D1-F80F06469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5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Rectangle 46">
            <a:extLst>
              <a:ext uri="{FF2B5EF4-FFF2-40B4-BE49-F238E27FC236}">
                <a16:creationId xmlns:a16="http://schemas.microsoft.com/office/drawing/2014/main" id="{44A420CD-CD34-48A2-9775-27DFFE0EA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6" name="Rectangle 49">
            <a:extLst>
              <a:ext uri="{FF2B5EF4-FFF2-40B4-BE49-F238E27FC236}">
                <a16:creationId xmlns:a16="http://schemas.microsoft.com/office/drawing/2014/main" id="{94C17B7A-3E90-4D0C-93E7-7AAFE08AB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107" name="Picture 51" descr="81">
            <a:extLst>
              <a:ext uri="{FF2B5EF4-FFF2-40B4-BE49-F238E27FC236}">
                <a16:creationId xmlns:a16="http://schemas.microsoft.com/office/drawing/2014/main" id="{469861D0-180F-4FC6-8463-7F08A97A3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276475"/>
            <a:ext cx="611981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Rectangle 52">
            <a:extLst>
              <a:ext uri="{FF2B5EF4-FFF2-40B4-BE49-F238E27FC236}">
                <a16:creationId xmlns:a16="http://schemas.microsoft.com/office/drawing/2014/main" id="{4D040CA3-AB2D-4F1C-A850-B786F943C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581525"/>
            <a:ext cx="8785225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процессе решения задачи происходит перемещение текущей точки из заданной начальной точки в конечную точку. При этом возможен выход на границу области допустимых решений  Х.  Такие нарушенные ограничения носят название активных.</a:t>
            </a:r>
          </a:p>
          <a:p>
            <a:pPr eaLnBrk="1" hangingPunct="1"/>
            <a:r>
              <a:rPr lang="ru-RU" altLang="ru-RU"/>
              <a:t>	Определение множества индексов активных ограничений:</a:t>
            </a:r>
          </a:p>
        </p:txBody>
      </p:sp>
      <p:sp>
        <p:nvSpPr>
          <p:cNvPr id="4109" name="Rectangle 54">
            <a:extLst>
              <a:ext uri="{FF2B5EF4-FFF2-40B4-BE49-F238E27FC236}">
                <a16:creationId xmlns:a16="http://schemas.microsoft.com/office/drawing/2014/main" id="{C99D79E4-E585-432C-92B5-E4F1A2EF0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0" name="Object 53">
            <a:extLst>
              <a:ext uri="{FF2B5EF4-FFF2-40B4-BE49-F238E27FC236}">
                <a16:creationId xmlns:a16="http://schemas.microsoft.com/office/drawing/2014/main" id="{8BD4D20B-52E7-490B-ADF2-C017280DD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6011863"/>
          <a:ext cx="66976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Формула" r:id="rId4" imgW="3568700" imgH="254000" progId="Equation.3">
                  <p:embed/>
                </p:oleObj>
              </mc:Choice>
              <mc:Fallback>
                <p:oleObj name="Формула" r:id="rId4" imgW="3568700" imgH="254000" progId="Equation.3">
                  <p:embed/>
                  <p:pic>
                    <p:nvPicPr>
                      <p:cNvPr id="4110" name="Object 53">
                        <a:extLst>
                          <a:ext uri="{FF2B5EF4-FFF2-40B4-BE49-F238E27FC236}">
                            <a16:creationId xmlns:a16="http://schemas.microsoft.com/office/drawing/2014/main" id="{8BD4D20B-52E7-490B-ADF2-C017280DD2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6011863"/>
                        <a:ext cx="6697662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854120-7DE4-4180-979C-152ABE14E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400" b="1" i="1" u="sng" dirty="0"/>
              <a:t>3.2.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Куна-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(функция Лагранжа) для задач выпуклого программирования (1951г.)</a:t>
            </a:r>
          </a:p>
        </p:txBody>
      </p:sp>
      <p:sp>
        <p:nvSpPr>
          <p:cNvPr id="5123" name="Rectangle 28">
            <a:extLst>
              <a:ext uri="{FF2B5EF4-FFF2-40B4-BE49-F238E27FC236}">
                <a16:creationId xmlns:a16="http://schemas.microsoft.com/office/drawing/2014/main" id="{51FC24D4-AD76-4438-99D1-5F11D6E2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24" name="Object 27">
            <a:extLst>
              <a:ext uri="{FF2B5EF4-FFF2-40B4-BE49-F238E27FC236}">
                <a16:creationId xmlns:a16="http://schemas.microsoft.com/office/drawing/2014/main" id="{760E131E-0552-4971-A9F4-75AB31B7B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150938"/>
          <a:ext cx="6480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Формула" r:id="rId3" imgW="2717800" imgH="444500" progId="Equation.3">
                  <p:embed/>
                </p:oleObj>
              </mc:Choice>
              <mc:Fallback>
                <p:oleObj name="Формула" r:id="rId3" imgW="2717800" imgH="444500" progId="Equation.3">
                  <p:embed/>
                  <p:pic>
                    <p:nvPicPr>
                      <p:cNvPr id="5124" name="Object 27">
                        <a:extLst>
                          <a:ext uri="{FF2B5EF4-FFF2-40B4-BE49-F238E27FC236}">
                            <a16:creationId xmlns:a16="http://schemas.microsoft.com/office/drawing/2014/main" id="{760E131E-0552-4971-A9F4-75AB31B7B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50938"/>
                        <a:ext cx="64801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30">
            <a:extLst>
              <a:ext uri="{FF2B5EF4-FFF2-40B4-BE49-F238E27FC236}">
                <a16:creationId xmlns:a16="http://schemas.microsoft.com/office/drawing/2014/main" id="{EF5D9B79-5A84-4EFA-8E37-890F012D5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36788"/>
            <a:ext cx="828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Продифференцируем функцию </a:t>
            </a:r>
            <a:r>
              <a:rPr lang="en-US" altLang="ru-RU">
                <a:cs typeface="Times New Roman" panose="02020603050405020304" pitchFamily="18" charset="0"/>
              </a:rPr>
              <a:t>L</a:t>
            </a:r>
            <a:r>
              <a:rPr lang="ru-RU" altLang="ru-RU">
                <a:cs typeface="Times New Roman" panose="02020603050405020304" pitchFamily="18" charset="0"/>
              </a:rPr>
              <a:t>(</a:t>
            </a:r>
            <a:r>
              <a:rPr lang="en-US" altLang="ru-RU">
                <a:cs typeface="Times New Roman" panose="02020603050405020304" pitchFamily="18" charset="0"/>
              </a:rPr>
              <a:t>x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>
                <a:cs typeface="Times New Roman" panose="02020603050405020304" pitchFamily="18" charset="0"/>
              </a:rPr>
              <a:t>) по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и приравняем  0.</a:t>
            </a:r>
            <a:endParaRPr lang="ru-RU" altLang="ru-RU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Если продифференцировать по </a:t>
            </a:r>
            <a:r>
              <a:rPr lang="ru-RU" altLang="ru-RU" baseline="-30000">
                <a:cs typeface="Times New Roman" panose="02020603050405020304" pitchFamily="18" charset="0"/>
              </a:rPr>
              <a:t>к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то получим неравенства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5126" name="Rectangle 31">
            <a:extLst>
              <a:ext uri="{FF2B5EF4-FFF2-40B4-BE49-F238E27FC236}">
                <a16:creationId xmlns:a16="http://schemas.microsoft.com/office/drawing/2014/main" id="{AEB59BDD-F9BF-4C30-9F99-EBE571CFF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781300"/>
            <a:ext cx="86407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что не позволяет получить единственное решение. Противоречие состоит в том, что для ЗВП имеется единственное решение.</a:t>
            </a:r>
            <a:endParaRPr lang="ru-RU" altLang="ru-RU"/>
          </a:p>
        </p:txBody>
      </p:sp>
      <p:graphicFrame>
        <p:nvGraphicFramePr>
          <p:cNvPr id="5127" name="Object 32">
            <a:extLst>
              <a:ext uri="{FF2B5EF4-FFF2-40B4-BE49-F238E27FC236}">
                <a16:creationId xmlns:a16="http://schemas.microsoft.com/office/drawing/2014/main" id="{150CDD21-0F6F-4C39-92FA-1B0DE972D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2565400"/>
          <a:ext cx="246063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Формула" r:id="rId5" imgW="126835" imgH="152202" progId="Equation.3">
                  <p:embed/>
                </p:oleObj>
              </mc:Choice>
              <mc:Fallback>
                <p:oleObj name="Формула" r:id="rId5" imgW="126835" imgH="152202" progId="Equation.3">
                  <p:embed/>
                  <p:pic>
                    <p:nvPicPr>
                      <p:cNvPr id="5127" name="Object 32">
                        <a:extLst>
                          <a:ext uri="{FF2B5EF4-FFF2-40B4-BE49-F238E27FC236}">
                            <a16:creationId xmlns:a16="http://schemas.microsoft.com/office/drawing/2014/main" id="{150CDD21-0F6F-4C39-92FA-1B0DE972D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2565400"/>
                        <a:ext cx="246063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34">
            <a:extLst>
              <a:ext uri="{FF2B5EF4-FFF2-40B4-BE49-F238E27FC236}">
                <a16:creationId xmlns:a16="http://schemas.microsoft.com/office/drawing/2014/main" id="{B4E51A57-9DEB-4739-8A8B-A1BBC4756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492375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0 ,</a:t>
            </a:r>
            <a:r>
              <a:rPr lang="ru-RU" altLang="ru-RU"/>
              <a:t> </a:t>
            </a:r>
          </a:p>
        </p:txBody>
      </p:sp>
      <p:sp>
        <p:nvSpPr>
          <p:cNvPr id="5129" name="Rectangle 36">
            <a:extLst>
              <a:ext uri="{FF2B5EF4-FFF2-40B4-BE49-F238E27FC236}">
                <a16:creationId xmlns:a16="http://schemas.microsoft.com/office/drawing/2014/main" id="{0A7E4D5D-A446-4911-AAF8-ECD38F0F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0" name="Object 35">
            <a:extLst>
              <a:ext uri="{FF2B5EF4-FFF2-40B4-BE49-F238E27FC236}">
                <a16:creationId xmlns:a16="http://schemas.microsoft.com/office/drawing/2014/main" id="{94EF3C68-13A1-4860-9ACF-250E7E593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357563"/>
          <a:ext cx="59769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Формула" r:id="rId7" imgW="3746500" imgH="482600" progId="Equation.3">
                  <p:embed/>
                </p:oleObj>
              </mc:Choice>
              <mc:Fallback>
                <p:oleObj name="Формула" r:id="rId7" imgW="3746500" imgH="482600" progId="Equation.3">
                  <p:embed/>
                  <p:pic>
                    <p:nvPicPr>
                      <p:cNvPr id="5130" name="Object 35">
                        <a:extLst>
                          <a:ext uri="{FF2B5EF4-FFF2-40B4-BE49-F238E27FC236}">
                            <a16:creationId xmlns:a16="http://schemas.microsoft.com/office/drawing/2014/main" id="{94EF3C68-13A1-4860-9ACF-250E7E5934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59769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31" name="Picture 37" descr="82">
            <a:extLst>
              <a:ext uri="{FF2B5EF4-FFF2-40B4-BE49-F238E27FC236}">
                <a16:creationId xmlns:a16="http://schemas.microsoft.com/office/drawing/2014/main" id="{F9F9F861-CF96-4D70-86AA-6AED1D4EE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076700"/>
            <a:ext cx="38877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32" name="Object 39">
            <a:extLst>
              <a:ext uri="{FF2B5EF4-FFF2-40B4-BE49-F238E27FC236}">
                <a16:creationId xmlns:a16="http://schemas.microsoft.com/office/drawing/2014/main" id="{E6A1226F-5113-4CA6-8AA4-4304927191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4240213"/>
          <a:ext cx="9715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Формула" r:id="rId10" imgW="469900" imgH="228600" progId="Equation.3">
                  <p:embed/>
                </p:oleObj>
              </mc:Choice>
              <mc:Fallback>
                <p:oleObj name="Формула" r:id="rId10" imgW="469900" imgH="228600" progId="Equation.3">
                  <p:embed/>
                  <p:pic>
                    <p:nvPicPr>
                      <p:cNvPr id="5132" name="Object 39">
                        <a:extLst>
                          <a:ext uri="{FF2B5EF4-FFF2-40B4-BE49-F238E27FC236}">
                            <a16:creationId xmlns:a16="http://schemas.microsoft.com/office/drawing/2014/main" id="{E6A1226F-5113-4CA6-8AA4-4304927191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4240213"/>
                        <a:ext cx="9715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Rectangle 40">
            <a:extLst>
              <a:ext uri="{FF2B5EF4-FFF2-40B4-BE49-F238E27FC236}">
                <a16:creationId xmlns:a16="http://schemas.microsoft.com/office/drawing/2014/main" id="{7624DD4D-6167-4C4A-A224-16AD25F1F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246563"/>
            <a:ext cx="4465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>
                <a:cs typeface="Times New Roman" panose="02020603050405020304" pitchFamily="18" charset="0"/>
              </a:rPr>
              <a:t>Лемма</a:t>
            </a:r>
            <a:r>
              <a:rPr lang="ru-RU" altLang="ru-RU" b="1">
                <a:cs typeface="Times New Roman" panose="02020603050405020304" pitchFamily="18" charset="0"/>
              </a:rPr>
              <a:t>:</a:t>
            </a:r>
            <a:r>
              <a:rPr lang="ru-RU" altLang="ru-RU">
                <a:cs typeface="Times New Roman" panose="02020603050405020304" pitchFamily="18" charset="0"/>
              </a:rPr>
              <a:t> Градиент целевой функции </a:t>
            </a:r>
            <a:endParaRPr lang="ru-RU" altLang="ru-RU"/>
          </a:p>
        </p:txBody>
      </p:sp>
      <p:sp>
        <p:nvSpPr>
          <p:cNvPr id="5134" name="Rectangle 41">
            <a:extLst>
              <a:ext uri="{FF2B5EF4-FFF2-40B4-BE49-F238E27FC236}">
                <a16:creationId xmlns:a16="http://schemas.microsoft.com/office/drawing/2014/main" id="{22CA870C-6B83-45B2-A190-67C2B7E31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508500"/>
            <a:ext cx="47164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равен линейной комбинации градиентов функций ограничений в точке условного экстремума </a:t>
            </a:r>
            <a:endParaRPr lang="ru-RU" altLang="ru-RU"/>
          </a:p>
        </p:txBody>
      </p:sp>
      <p:sp>
        <p:nvSpPr>
          <p:cNvPr id="5135" name="Rectangle 42">
            <a:extLst>
              <a:ext uri="{FF2B5EF4-FFF2-40B4-BE49-F238E27FC236}">
                <a16:creationId xmlns:a16="http://schemas.microsoft.com/office/drawing/2014/main" id="{78964937-5E5D-4C07-9E8B-8B89BBCE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589588"/>
            <a:ext cx="287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  Множество всех векторов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5136" name="Rectangle 44">
            <a:extLst>
              <a:ext uri="{FF2B5EF4-FFF2-40B4-BE49-F238E27FC236}">
                <a16:creationId xmlns:a16="http://schemas.microsoft.com/office/drawing/2014/main" id="{0434FE0F-A7E3-4354-9D73-499301F6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7" name="Object 43">
            <a:extLst>
              <a:ext uri="{FF2B5EF4-FFF2-40B4-BE49-F238E27FC236}">
                <a16:creationId xmlns:a16="http://schemas.microsoft.com/office/drawing/2014/main" id="{B2118F42-16E9-41CC-A51F-1E3F214F4C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013325"/>
          <a:ext cx="3810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Формула" r:id="rId12" imgW="177569" imgH="202936" progId="Equation.3">
                  <p:embed/>
                </p:oleObj>
              </mc:Choice>
              <mc:Fallback>
                <p:oleObj name="Формула" r:id="rId12" imgW="177569" imgH="202936" progId="Equation.3">
                  <p:embed/>
                  <p:pic>
                    <p:nvPicPr>
                      <p:cNvPr id="5137" name="Object 43">
                        <a:extLst>
                          <a:ext uri="{FF2B5EF4-FFF2-40B4-BE49-F238E27FC236}">
                            <a16:creationId xmlns:a16="http://schemas.microsoft.com/office/drawing/2014/main" id="{B2118F42-16E9-41CC-A51F-1E3F214F4C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013325"/>
                        <a:ext cx="3810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46">
            <a:extLst>
              <a:ext uri="{FF2B5EF4-FFF2-40B4-BE49-F238E27FC236}">
                <a16:creationId xmlns:a16="http://schemas.microsoft.com/office/drawing/2014/main" id="{A9F2B5F3-9B56-44B0-8A1B-3F13CC887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9" name="Object 45">
            <a:extLst>
              <a:ext uri="{FF2B5EF4-FFF2-40B4-BE49-F238E27FC236}">
                <a16:creationId xmlns:a16="http://schemas.microsoft.com/office/drawing/2014/main" id="{B3450E0F-62A4-4F4C-B7BE-129B65EE8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5445125"/>
          <a:ext cx="3311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Формула" r:id="rId14" imgW="2114858" imgH="552388" progId="Equation.3">
                  <p:embed/>
                </p:oleObj>
              </mc:Choice>
              <mc:Fallback>
                <p:oleObj name="Формула" r:id="rId14" imgW="2114858" imgH="552388" progId="Equation.3">
                  <p:embed/>
                  <p:pic>
                    <p:nvPicPr>
                      <p:cNvPr id="5139" name="Object 45">
                        <a:extLst>
                          <a:ext uri="{FF2B5EF4-FFF2-40B4-BE49-F238E27FC236}">
                            <a16:creationId xmlns:a16="http://schemas.microsoft.com/office/drawing/2014/main" id="{B3450E0F-62A4-4F4C-B7BE-129B65EE8D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5445125"/>
                        <a:ext cx="3311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Rectangle 47">
            <a:extLst>
              <a:ext uri="{FF2B5EF4-FFF2-40B4-BE49-F238E27FC236}">
                <a16:creationId xmlns:a16="http://schemas.microsoft.com/office/drawing/2014/main" id="{975BAE6C-5F99-4657-AFA7-4BE670C62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021388"/>
            <a:ext cx="5826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называется множеством </a:t>
            </a:r>
            <a:r>
              <a:rPr lang="ru-RU" altLang="ru-RU" b="1" i="1"/>
              <a:t>возможных направлений.</a:t>
            </a:r>
          </a:p>
        </p:txBody>
      </p:sp>
      <p:sp>
        <p:nvSpPr>
          <p:cNvPr id="5141" name="Rectangle 49">
            <a:extLst>
              <a:ext uri="{FF2B5EF4-FFF2-40B4-BE49-F238E27FC236}">
                <a16:creationId xmlns:a16="http://schemas.microsoft.com/office/drawing/2014/main" id="{B67E6010-4E16-41AB-B513-B8DA8B36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42" name="Object 48">
            <a:extLst>
              <a:ext uri="{FF2B5EF4-FFF2-40B4-BE49-F238E27FC236}">
                <a16:creationId xmlns:a16="http://schemas.microsoft.com/office/drawing/2014/main" id="{A6399E9F-A5D5-461A-9E5E-5328DF5D7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4941888"/>
          <a:ext cx="30591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2" name="Формула" r:id="rId16" imgW="2590800" imgH="444500" progId="Equation.3">
                  <p:embed/>
                </p:oleObj>
              </mc:Choice>
              <mc:Fallback>
                <p:oleObj name="Формула" r:id="rId16" imgW="2590800" imgH="444500" progId="Equation.3">
                  <p:embed/>
                  <p:pic>
                    <p:nvPicPr>
                      <p:cNvPr id="5142" name="Object 48">
                        <a:extLst>
                          <a:ext uri="{FF2B5EF4-FFF2-40B4-BE49-F238E27FC236}">
                            <a16:creationId xmlns:a16="http://schemas.microsoft.com/office/drawing/2014/main" id="{A6399E9F-A5D5-461A-9E5E-5328DF5D7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941888"/>
                        <a:ext cx="30591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3" name="Rectangle 50">
            <a:extLst>
              <a:ext uri="{FF2B5EF4-FFF2-40B4-BE49-F238E27FC236}">
                <a16:creationId xmlns:a16="http://schemas.microsoft.com/office/drawing/2014/main" id="{D8AD8ECF-7EB7-4DE2-9FD0-55269567D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0847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4877596-1737-4B5F-9B66-CB6C6BC4F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 Теорема Куна-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147" name="Rectangle 12">
            <a:extLst>
              <a:ext uri="{FF2B5EF4-FFF2-40B4-BE49-F238E27FC236}">
                <a16:creationId xmlns:a16="http://schemas.microsoft.com/office/drawing/2014/main" id="{4C77A5C3-ABAE-4EFD-9131-21EBF5F33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Rectangle 13">
            <a:extLst>
              <a:ext uri="{FF2B5EF4-FFF2-40B4-BE49-F238E27FC236}">
                <a16:creationId xmlns:a16="http://schemas.microsoft.com/office/drawing/2014/main" id="{6F0A040B-4200-4AB5-AC55-B0E54CF83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Rectangle 15">
            <a:extLst>
              <a:ext uri="{FF2B5EF4-FFF2-40B4-BE49-F238E27FC236}">
                <a16:creationId xmlns:a16="http://schemas.microsoft.com/office/drawing/2014/main" id="{0BCE705A-5780-463A-AD5A-3A314B717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0" name="Rectangle 16">
            <a:extLst>
              <a:ext uri="{FF2B5EF4-FFF2-40B4-BE49-F238E27FC236}">
                <a16:creationId xmlns:a16="http://schemas.microsoft.com/office/drawing/2014/main" id="{CA7AC2C5-5F72-4A7F-AF1C-990FFEF53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1" name="Rectangle 19">
            <a:extLst>
              <a:ext uri="{FF2B5EF4-FFF2-40B4-BE49-F238E27FC236}">
                <a16:creationId xmlns:a16="http://schemas.microsoft.com/office/drawing/2014/main" id="{A7929299-1B09-4BDF-B3D2-99F30EA49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2" name="Rectangle 22">
            <a:extLst>
              <a:ext uri="{FF2B5EF4-FFF2-40B4-BE49-F238E27FC236}">
                <a16:creationId xmlns:a16="http://schemas.microsoft.com/office/drawing/2014/main" id="{EC5567A9-A7A5-49A7-A916-B07FC4F06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6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3" name="Rectangle 24">
            <a:extLst>
              <a:ext uri="{FF2B5EF4-FFF2-40B4-BE49-F238E27FC236}">
                <a16:creationId xmlns:a16="http://schemas.microsoft.com/office/drawing/2014/main" id="{38E3BEFD-98F5-45F3-82FF-ABA1B5563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4" name="Rectangle 27">
            <a:extLst>
              <a:ext uri="{FF2B5EF4-FFF2-40B4-BE49-F238E27FC236}">
                <a16:creationId xmlns:a16="http://schemas.microsoft.com/office/drawing/2014/main" id="{E8D454FD-C704-46C5-B45D-726AF5FF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5" name="Rectangle 39">
            <a:extLst>
              <a:ext uri="{FF2B5EF4-FFF2-40B4-BE49-F238E27FC236}">
                <a16:creationId xmlns:a16="http://schemas.microsoft.com/office/drawing/2014/main" id="{198A7FB4-3317-4EB6-9AD6-2F3BBC2A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6" name="Rectangle 43">
            <a:extLst>
              <a:ext uri="{FF2B5EF4-FFF2-40B4-BE49-F238E27FC236}">
                <a16:creationId xmlns:a16="http://schemas.microsoft.com/office/drawing/2014/main" id="{A7A87581-3188-486E-99D8-DAD37F7F1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Rectangle 44">
            <a:extLst>
              <a:ext uri="{FF2B5EF4-FFF2-40B4-BE49-F238E27FC236}">
                <a16:creationId xmlns:a16="http://schemas.microsoft.com/office/drawing/2014/main" id="{D8D6421C-FAA3-4476-BD17-3FA7FD85D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8" name="Rectangle 47">
            <a:extLst>
              <a:ext uri="{FF2B5EF4-FFF2-40B4-BE49-F238E27FC236}">
                <a16:creationId xmlns:a16="http://schemas.microsoft.com/office/drawing/2014/main" id="{1338FDF7-AEB7-4416-B257-142FFDD32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9" name="Rectangle 48">
            <a:extLst>
              <a:ext uri="{FF2B5EF4-FFF2-40B4-BE49-F238E27FC236}">
                <a16:creationId xmlns:a16="http://schemas.microsoft.com/office/drawing/2014/main" id="{BB0A4861-F44C-472F-AF64-F689D38FC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0" name="Rectangle 51">
            <a:extLst>
              <a:ext uri="{FF2B5EF4-FFF2-40B4-BE49-F238E27FC236}">
                <a16:creationId xmlns:a16="http://schemas.microsoft.com/office/drawing/2014/main" id="{B7D8F82F-A6BB-4F04-A31E-484CF46CC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1" name="Rectangle 52">
            <a:extLst>
              <a:ext uri="{FF2B5EF4-FFF2-40B4-BE49-F238E27FC236}">
                <a16:creationId xmlns:a16="http://schemas.microsoft.com/office/drawing/2014/main" id="{07763FCE-F3C5-46C5-B069-F44F4C0BE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2" name="Rectangle 56">
            <a:extLst>
              <a:ext uri="{FF2B5EF4-FFF2-40B4-BE49-F238E27FC236}">
                <a16:creationId xmlns:a16="http://schemas.microsoft.com/office/drawing/2014/main" id="{EF37890C-0CEB-491B-9A02-AD8CA043F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3" name="Rectangle 59">
            <a:extLst>
              <a:ext uri="{FF2B5EF4-FFF2-40B4-BE49-F238E27FC236}">
                <a16:creationId xmlns:a16="http://schemas.microsoft.com/office/drawing/2014/main" id="{D72BDE6F-A43C-4F81-A056-12234858F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4" name="Rectangle 61">
            <a:extLst>
              <a:ext uri="{FF2B5EF4-FFF2-40B4-BE49-F238E27FC236}">
                <a16:creationId xmlns:a16="http://schemas.microsoft.com/office/drawing/2014/main" id="{292B35F0-F7C5-45D2-83CD-AD310A24B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5" name="Rectangle 68">
            <a:extLst>
              <a:ext uri="{FF2B5EF4-FFF2-40B4-BE49-F238E27FC236}">
                <a16:creationId xmlns:a16="http://schemas.microsoft.com/office/drawing/2014/main" id="{D3B36A2E-F161-440C-BF41-223A9580A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6" name="Rectangle 70">
            <a:extLst>
              <a:ext uri="{FF2B5EF4-FFF2-40B4-BE49-F238E27FC236}">
                <a16:creationId xmlns:a16="http://schemas.microsoft.com/office/drawing/2014/main" id="{14B1F12A-086C-4979-B2A4-69D830A0C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268413"/>
            <a:ext cx="560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задачу выпуклого программирования </a:t>
            </a:r>
          </a:p>
        </p:txBody>
      </p:sp>
      <p:graphicFrame>
        <p:nvGraphicFramePr>
          <p:cNvPr id="6167" name="Object 72">
            <a:extLst>
              <a:ext uri="{FF2B5EF4-FFF2-40B4-BE49-F238E27FC236}">
                <a16:creationId xmlns:a16="http://schemas.microsoft.com/office/drawing/2014/main" id="{4F69FDB1-4279-47BB-89AC-1B9B65225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773238"/>
          <a:ext cx="36718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Формула" r:id="rId3" imgW="2387600" imgH="228600" progId="Equation.3">
                  <p:embed/>
                </p:oleObj>
              </mc:Choice>
              <mc:Fallback>
                <p:oleObj name="Формула" r:id="rId3" imgW="2387600" imgH="228600" progId="Equation.3">
                  <p:embed/>
                  <p:pic>
                    <p:nvPicPr>
                      <p:cNvPr id="6167" name="Object 72">
                        <a:extLst>
                          <a:ext uri="{FF2B5EF4-FFF2-40B4-BE49-F238E27FC236}">
                            <a16:creationId xmlns:a16="http://schemas.microsoft.com/office/drawing/2014/main" id="{4F69FDB1-4279-47BB-89AC-1B9B652250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73238"/>
                        <a:ext cx="367188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8" name="Object 71">
            <a:extLst>
              <a:ext uri="{FF2B5EF4-FFF2-40B4-BE49-F238E27FC236}">
                <a16:creationId xmlns:a16="http://schemas.microsoft.com/office/drawing/2014/main" id="{A52C5B37-C292-4E2B-8C51-E2BFC677CC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276475"/>
          <a:ext cx="38163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Формула" r:id="rId5" imgW="2438400" imgH="228600" progId="Equation.3">
                  <p:embed/>
                </p:oleObj>
              </mc:Choice>
              <mc:Fallback>
                <p:oleObj name="Формула" r:id="rId5" imgW="2438400" imgH="228600" progId="Equation.3">
                  <p:embed/>
                  <p:pic>
                    <p:nvPicPr>
                      <p:cNvPr id="6168" name="Object 71">
                        <a:extLst>
                          <a:ext uri="{FF2B5EF4-FFF2-40B4-BE49-F238E27FC236}">
                            <a16:creationId xmlns:a16="http://schemas.microsoft.com/office/drawing/2014/main" id="{A52C5B37-C292-4E2B-8C51-E2BFC677CC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276475"/>
                        <a:ext cx="38163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9" name="Rectangle 73">
            <a:extLst>
              <a:ext uri="{FF2B5EF4-FFF2-40B4-BE49-F238E27FC236}">
                <a16:creationId xmlns:a16="http://schemas.microsoft.com/office/drawing/2014/main" id="{86DC125F-CCB3-46FC-893A-2DA4B3F06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27200"/>
            <a:ext cx="201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Пусть    </a:t>
            </a:r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: </a:t>
            </a:r>
            <a:endParaRPr lang="ru-RU" altLang="ru-RU"/>
          </a:p>
        </p:txBody>
      </p:sp>
      <p:sp>
        <p:nvSpPr>
          <p:cNvPr id="6170" name="Rectangle 74">
            <a:extLst>
              <a:ext uri="{FF2B5EF4-FFF2-40B4-BE49-F238E27FC236}">
                <a16:creationId xmlns:a16="http://schemas.microsoft.com/office/drawing/2014/main" id="{04ACF811-4A30-40D5-BFD6-52964C17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05038"/>
            <a:ext cx="546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  </a:t>
            </a:r>
            <a:r>
              <a:rPr lang="en-US" altLang="ru-RU">
                <a:cs typeface="Times New Roman" panose="02020603050405020304" pitchFamily="18" charset="0"/>
              </a:rPr>
              <a:t>g</a:t>
            </a:r>
            <a:r>
              <a:rPr lang="ru-RU" altLang="ru-RU">
                <a:cs typeface="Times New Roman" panose="02020603050405020304" pitchFamily="18" charset="0"/>
              </a:rPr>
              <a:t>: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71" name="Rectangle 75">
            <a:extLst>
              <a:ext uri="{FF2B5EF4-FFF2-40B4-BE49-F238E27FC236}">
                <a16:creationId xmlns:a16="http://schemas.microsoft.com/office/drawing/2014/main" id="{2802FF9E-E4EC-449A-AD32-EB5D44F74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63683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Требуется найти: </a:t>
            </a:r>
          </a:p>
        </p:txBody>
      </p:sp>
      <p:sp>
        <p:nvSpPr>
          <p:cNvPr id="6172" name="Rectangle 77">
            <a:extLst>
              <a:ext uri="{FF2B5EF4-FFF2-40B4-BE49-F238E27FC236}">
                <a16:creationId xmlns:a16="http://schemas.microsoft.com/office/drawing/2014/main" id="{887CBB9E-A1C1-4B4B-8349-9D96C4B23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73" name="Object 76">
            <a:extLst>
              <a:ext uri="{FF2B5EF4-FFF2-40B4-BE49-F238E27FC236}">
                <a16:creationId xmlns:a16="http://schemas.microsoft.com/office/drawing/2014/main" id="{2EC50906-B487-4C85-B9BF-9CDB28746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636838"/>
          <a:ext cx="20891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Формула" r:id="rId7" imgW="1155700" imgH="228600" progId="Equation.3">
                  <p:embed/>
                </p:oleObj>
              </mc:Choice>
              <mc:Fallback>
                <p:oleObj name="Формула" r:id="rId7" imgW="1155700" imgH="228600" progId="Equation.3">
                  <p:embed/>
                  <p:pic>
                    <p:nvPicPr>
                      <p:cNvPr id="6173" name="Object 76">
                        <a:extLst>
                          <a:ext uri="{FF2B5EF4-FFF2-40B4-BE49-F238E27FC236}">
                            <a16:creationId xmlns:a16="http://schemas.microsoft.com/office/drawing/2014/main" id="{2EC50906-B487-4C85-B9BF-9CDB28746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36838"/>
                        <a:ext cx="20891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4" name="Rectangle 79">
            <a:extLst>
              <a:ext uri="{FF2B5EF4-FFF2-40B4-BE49-F238E27FC236}">
                <a16:creationId xmlns:a16="http://schemas.microsoft.com/office/drawing/2014/main" id="{E08072E7-EAED-4CB8-B6A4-15719019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636838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6175" name="Object 78">
            <a:extLst>
              <a:ext uri="{FF2B5EF4-FFF2-40B4-BE49-F238E27FC236}">
                <a16:creationId xmlns:a16="http://schemas.microsoft.com/office/drawing/2014/main" id="{9F2A8C97-DF5B-4ACC-8274-41E37DD51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708275"/>
          <a:ext cx="7207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Формула" r:id="rId9" imgW="405872" imgH="177569" progId="Equation.3">
                  <p:embed/>
                </p:oleObj>
              </mc:Choice>
              <mc:Fallback>
                <p:oleObj name="Формула" r:id="rId9" imgW="405872" imgH="177569" progId="Equation.3">
                  <p:embed/>
                  <p:pic>
                    <p:nvPicPr>
                      <p:cNvPr id="6175" name="Object 78">
                        <a:extLst>
                          <a:ext uri="{FF2B5EF4-FFF2-40B4-BE49-F238E27FC236}">
                            <a16:creationId xmlns:a16="http://schemas.microsoft.com/office/drawing/2014/main" id="{9F2A8C97-DF5B-4ACC-8274-41E37DD51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08275"/>
                        <a:ext cx="7207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6" name="Rectangle 81">
            <a:extLst>
              <a:ext uri="{FF2B5EF4-FFF2-40B4-BE49-F238E27FC236}">
                <a16:creationId xmlns:a16="http://schemas.microsoft.com/office/drawing/2014/main" id="{E4CD719E-4359-47BE-A9F5-E1695F342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77" name="Object 80">
            <a:extLst>
              <a:ext uri="{FF2B5EF4-FFF2-40B4-BE49-F238E27FC236}">
                <a16:creationId xmlns:a16="http://schemas.microsoft.com/office/drawing/2014/main" id="{82971F4E-2A82-4A5C-A47A-C2531B41D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997200"/>
          <a:ext cx="252095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Формула" r:id="rId11" imgW="1333500" imgH="698500" progId="Equation.3">
                  <p:embed/>
                </p:oleObj>
              </mc:Choice>
              <mc:Fallback>
                <p:oleObj name="Формула" r:id="rId11" imgW="1333500" imgH="698500" progId="Equation.3">
                  <p:embed/>
                  <p:pic>
                    <p:nvPicPr>
                      <p:cNvPr id="6177" name="Object 80">
                        <a:extLst>
                          <a:ext uri="{FF2B5EF4-FFF2-40B4-BE49-F238E27FC236}">
                            <a16:creationId xmlns:a16="http://schemas.microsoft.com/office/drawing/2014/main" id="{82971F4E-2A82-4A5C-A47A-C2531B41D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97200"/>
                        <a:ext cx="252095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8" name="Rectangle 82">
            <a:extLst>
              <a:ext uri="{FF2B5EF4-FFF2-40B4-BE49-F238E27FC236}">
                <a16:creationId xmlns:a16="http://schemas.microsoft.com/office/drawing/2014/main" id="{3599AD8F-4932-4F5A-8C97-1BD34BAF9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3860800"/>
            <a:ext cx="5329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этого решение ЗВП должно удовлетворять следующим условиям:</a:t>
            </a:r>
          </a:p>
        </p:txBody>
      </p:sp>
      <p:sp>
        <p:nvSpPr>
          <p:cNvPr id="6179" name="Rectangle 83">
            <a:extLst>
              <a:ext uri="{FF2B5EF4-FFF2-40B4-BE49-F238E27FC236}">
                <a16:creationId xmlns:a16="http://schemas.microsoft.com/office/drawing/2014/main" id="{EBFD808D-8239-4DA9-A6F8-E9F51A167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0" name="Rectangle 84">
            <a:extLst>
              <a:ext uri="{FF2B5EF4-FFF2-40B4-BE49-F238E27FC236}">
                <a16:creationId xmlns:a16="http://schemas.microsoft.com/office/drawing/2014/main" id="{C7DF737D-6133-4AEF-B877-310D36DD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1" name="Rectangle 85">
            <a:extLst>
              <a:ext uri="{FF2B5EF4-FFF2-40B4-BE49-F238E27FC236}">
                <a16:creationId xmlns:a16="http://schemas.microsoft.com/office/drawing/2014/main" id="{61D956C0-4058-4480-9376-CD29CF475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7893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2" name="Rectangle 87">
            <a:extLst>
              <a:ext uri="{FF2B5EF4-FFF2-40B4-BE49-F238E27FC236}">
                <a16:creationId xmlns:a16="http://schemas.microsoft.com/office/drawing/2014/main" id="{420FFA15-8D15-4FE3-9449-63A7DB1FF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83" name="Object 86">
            <a:extLst>
              <a:ext uri="{FF2B5EF4-FFF2-40B4-BE49-F238E27FC236}">
                <a16:creationId xmlns:a16="http://schemas.microsoft.com/office/drawing/2014/main" id="{F6456E15-C2B6-4012-BB98-B5A339BCB5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8" y="4437063"/>
          <a:ext cx="5113337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Формула" r:id="rId13" imgW="2832100" imgH="1447800" progId="Equation.3">
                  <p:embed/>
                </p:oleObj>
              </mc:Choice>
              <mc:Fallback>
                <p:oleObj name="Формула" r:id="rId13" imgW="2832100" imgH="1447800" progId="Equation.3">
                  <p:embed/>
                  <p:pic>
                    <p:nvPicPr>
                      <p:cNvPr id="6183" name="Object 86">
                        <a:extLst>
                          <a:ext uri="{FF2B5EF4-FFF2-40B4-BE49-F238E27FC236}">
                            <a16:creationId xmlns:a16="http://schemas.microsoft.com/office/drawing/2014/main" id="{F6456E15-C2B6-4012-BB98-B5A339BCB5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8" y="4437063"/>
                        <a:ext cx="5113337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4" name="Rectangle 89">
            <a:extLst>
              <a:ext uri="{FF2B5EF4-FFF2-40B4-BE49-F238E27FC236}">
                <a16:creationId xmlns:a16="http://schemas.microsoft.com/office/drawing/2014/main" id="{CA0BA2F5-03FE-4DBC-AC6A-67615C1BE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535488"/>
            <a:ext cx="3744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Если  эти условия выполнены, то </a:t>
            </a:r>
            <a:endParaRPr lang="ru-RU" altLang="ru-RU"/>
          </a:p>
        </p:txBody>
      </p:sp>
      <p:graphicFrame>
        <p:nvGraphicFramePr>
          <p:cNvPr id="6185" name="Object 88">
            <a:extLst>
              <a:ext uri="{FF2B5EF4-FFF2-40B4-BE49-F238E27FC236}">
                <a16:creationId xmlns:a16="http://schemas.microsoft.com/office/drawing/2014/main" id="{3164393E-532A-4A89-BA44-C1DF36373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797425"/>
          <a:ext cx="461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6185" name="Object 88">
                        <a:extLst>
                          <a:ext uri="{FF2B5EF4-FFF2-40B4-BE49-F238E27FC236}">
                            <a16:creationId xmlns:a16="http://schemas.microsoft.com/office/drawing/2014/main" id="{3164393E-532A-4A89-BA44-C1DF36373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797425"/>
                        <a:ext cx="461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6" name="Rectangle 90">
            <a:extLst>
              <a:ext uri="{FF2B5EF4-FFF2-40B4-BE49-F238E27FC236}">
                <a16:creationId xmlns:a16="http://schemas.microsoft.com/office/drawing/2014/main" id="{7958AB9D-9452-48FE-8165-9341676FF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868863"/>
            <a:ext cx="2592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– решение ЗВП.</a:t>
            </a:r>
            <a:endParaRPr lang="ru-RU" altLang="ru-RU"/>
          </a:p>
        </p:txBody>
      </p:sp>
      <p:sp>
        <p:nvSpPr>
          <p:cNvPr id="6187" name="Rectangle 92">
            <a:extLst>
              <a:ext uri="{FF2B5EF4-FFF2-40B4-BE49-F238E27FC236}">
                <a16:creationId xmlns:a16="http://schemas.microsoft.com/office/drawing/2014/main" id="{E50480DE-FFB4-4ECC-8F00-E2A8F530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300663"/>
            <a:ext cx="1223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Условия: </a:t>
            </a:r>
            <a:endParaRPr lang="ru-RU" altLang="ru-RU"/>
          </a:p>
        </p:txBody>
      </p:sp>
      <p:sp>
        <p:nvSpPr>
          <p:cNvPr id="6188" name="Rectangle 94">
            <a:extLst>
              <a:ext uri="{FF2B5EF4-FFF2-40B4-BE49-F238E27FC236}">
                <a16:creationId xmlns:a16="http://schemas.microsoft.com/office/drawing/2014/main" id="{DAA7363D-4245-4500-AE9C-720584F3F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740400"/>
            <a:ext cx="3744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- называются </a:t>
            </a:r>
            <a:r>
              <a:rPr lang="ru-RU" altLang="ru-RU" b="1" i="1"/>
              <a:t>условиями дополняющей нежесткости</a:t>
            </a:r>
            <a:r>
              <a:rPr lang="ru-RU" altLang="ru-RU"/>
              <a:t>.</a:t>
            </a:r>
          </a:p>
        </p:txBody>
      </p:sp>
      <p:sp>
        <p:nvSpPr>
          <p:cNvPr id="6189" name="Rectangle 95">
            <a:extLst>
              <a:ext uri="{FF2B5EF4-FFF2-40B4-BE49-F238E27FC236}">
                <a16:creationId xmlns:a16="http://schemas.microsoft.com/office/drawing/2014/main" id="{25B2819F-723E-4B3D-B97A-E95141365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4370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90" name="Rectangle 96">
            <a:extLst>
              <a:ext uri="{FF2B5EF4-FFF2-40B4-BE49-F238E27FC236}">
                <a16:creationId xmlns:a16="http://schemas.microsoft.com/office/drawing/2014/main" id="{01AE09E5-2F87-4A3C-A6DA-37C879D5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876925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91" name="Rectangle 97">
            <a:extLst>
              <a:ext uri="{FF2B5EF4-FFF2-40B4-BE49-F238E27FC236}">
                <a16:creationId xmlns:a16="http://schemas.microsoft.com/office/drawing/2014/main" id="{4CEE81D8-1F05-4326-9EF1-F2CE58CB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2372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6192" name="Rectangle 98">
            <a:extLst>
              <a:ext uri="{FF2B5EF4-FFF2-40B4-BE49-F238E27FC236}">
                <a16:creationId xmlns:a16="http://schemas.microsoft.com/office/drawing/2014/main" id="{A0216965-D712-446B-B6F0-E13A2A7C3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300663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7E2F484-340C-4023-A727-3A544E28A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Теория двойственности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07557593-855B-4B49-AA4B-E1A80A30B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2" name="Rectangle 7">
            <a:extLst>
              <a:ext uri="{FF2B5EF4-FFF2-40B4-BE49-F238E27FC236}">
                <a16:creationId xmlns:a16="http://schemas.microsoft.com/office/drawing/2014/main" id="{23C7CEA0-C362-4D00-B2A3-7A2C9EFA2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CB755540-9BCA-45F9-AC6F-8B0A2FFC4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4" name="Rectangle 10">
            <a:extLst>
              <a:ext uri="{FF2B5EF4-FFF2-40B4-BE49-F238E27FC236}">
                <a16:creationId xmlns:a16="http://schemas.microsoft.com/office/drawing/2014/main" id="{E14DC7EF-0217-446E-BF50-376AF7C22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5" name="Rectangle 12">
            <a:extLst>
              <a:ext uri="{FF2B5EF4-FFF2-40B4-BE49-F238E27FC236}">
                <a16:creationId xmlns:a16="http://schemas.microsoft.com/office/drawing/2014/main" id="{8431C3C8-CEBA-425E-8544-31128DDBA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6" name="Rectangle 15">
            <a:extLst>
              <a:ext uri="{FF2B5EF4-FFF2-40B4-BE49-F238E27FC236}">
                <a16:creationId xmlns:a16="http://schemas.microsoft.com/office/drawing/2014/main" id="{347BA7A6-6433-42AD-862C-D1EC631F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7" name="Rectangle 19">
            <a:extLst>
              <a:ext uri="{FF2B5EF4-FFF2-40B4-BE49-F238E27FC236}">
                <a16:creationId xmlns:a16="http://schemas.microsoft.com/office/drawing/2014/main" id="{7F2767D6-B247-43FC-A276-8140A210A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8" name="Rectangle 24">
            <a:extLst>
              <a:ext uri="{FF2B5EF4-FFF2-40B4-BE49-F238E27FC236}">
                <a16:creationId xmlns:a16="http://schemas.microsoft.com/office/drawing/2014/main" id="{0C5F6CD3-4A18-4005-B38C-DC1807CF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9" name="Rectangle 28">
            <a:extLst>
              <a:ext uri="{FF2B5EF4-FFF2-40B4-BE49-F238E27FC236}">
                <a16:creationId xmlns:a16="http://schemas.microsoft.com/office/drawing/2014/main" id="{D9292E6C-10FD-427C-8022-D084CEC9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0" name="Rectangle 29">
            <a:extLst>
              <a:ext uri="{FF2B5EF4-FFF2-40B4-BE49-F238E27FC236}">
                <a16:creationId xmlns:a16="http://schemas.microsoft.com/office/drawing/2014/main" id="{EE1CA3AF-B58A-4DB0-A166-1E553277B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1" name="Rectangle 32">
            <a:extLst>
              <a:ext uri="{FF2B5EF4-FFF2-40B4-BE49-F238E27FC236}">
                <a16:creationId xmlns:a16="http://schemas.microsoft.com/office/drawing/2014/main" id="{19C4CBDD-22A6-496B-BB43-D3413CDF2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2" name="Rectangle 34">
            <a:extLst>
              <a:ext uri="{FF2B5EF4-FFF2-40B4-BE49-F238E27FC236}">
                <a16:creationId xmlns:a16="http://schemas.microsoft.com/office/drawing/2014/main" id="{80381FE6-6964-4519-815E-BFD67E710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3" name="Rectangle 36">
            <a:extLst>
              <a:ext uri="{FF2B5EF4-FFF2-40B4-BE49-F238E27FC236}">
                <a16:creationId xmlns:a16="http://schemas.microsoft.com/office/drawing/2014/main" id="{25FAEDF0-49C9-4EBA-92AE-A884CF52B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4313"/>
            <a:ext cx="9069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 u="sng"/>
              <a:t>3.4.1.Седловая точка функции Лагранжа. Двойственность.</a:t>
            </a:r>
          </a:p>
        </p:txBody>
      </p:sp>
      <p:sp>
        <p:nvSpPr>
          <p:cNvPr id="7184" name="Rectangle 39">
            <a:extLst>
              <a:ext uri="{FF2B5EF4-FFF2-40B4-BE49-F238E27FC236}">
                <a16:creationId xmlns:a16="http://schemas.microsoft.com/office/drawing/2014/main" id="{EA996D49-6A03-47B2-B52E-CD318E4B4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5" name="Rectangle 40">
            <a:extLst>
              <a:ext uri="{FF2B5EF4-FFF2-40B4-BE49-F238E27FC236}">
                <a16:creationId xmlns:a16="http://schemas.microsoft.com/office/drawing/2014/main" id="{E49DD6ED-1623-49F4-855C-4125EE4F0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6" name="Rectangle 43">
            <a:extLst>
              <a:ext uri="{FF2B5EF4-FFF2-40B4-BE49-F238E27FC236}">
                <a16:creationId xmlns:a16="http://schemas.microsoft.com/office/drawing/2014/main" id="{D723A15E-9E8B-4020-9713-DE3BA5C7E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7" name="Rectangle 46">
            <a:extLst>
              <a:ext uri="{FF2B5EF4-FFF2-40B4-BE49-F238E27FC236}">
                <a16:creationId xmlns:a16="http://schemas.microsoft.com/office/drawing/2014/main" id="{F0B5D12E-51A1-4F9C-A584-FC8319054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/>
          </a:p>
        </p:txBody>
      </p:sp>
      <p:sp>
        <p:nvSpPr>
          <p:cNvPr id="7188" name="Rectangle 51">
            <a:extLst>
              <a:ext uri="{FF2B5EF4-FFF2-40B4-BE49-F238E27FC236}">
                <a16:creationId xmlns:a16="http://schemas.microsoft.com/office/drawing/2014/main" id="{F50D08EC-A32E-4136-B286-82FC2915A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9" name="Rectangle 52">
            <a:extLst>
              <a:ext uri="{FF2B5EF4-FFF2-40B4-BE49-F238E27FC236}">
                <a16:creationId xmlns:a16="http://schemas.microsoft.com/office/drawing/2014/main" id="{5CB7672E-9A60-4A5E-923B-A0F73566B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90" name="Rectangle 55">
            <a:extLst>
              <a:ext uri="{FF2B5EF4-FFF2-40B4-BE49-F238E27FC236}">
                <a16:creationId xmlns:a16="http://schemas.microsoft.com/office/drawing/2014/main" id="{4441C4CE-AC77-43ED-AEF3-A37C935A9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91" name="Rectangle 56">
            <a:extLst>
              <a:ext uri="{FF2B5EF4-FFF2-40B4-BE49-F238E27FC236}">
                <a16:creationId xmlns:a16="http://schemas.microsoft.com/office/drawing/2014/main" id="{81D5E781-9473-44EF-86E0-0B5C43853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581525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192" name="Rectangle 60">
            <a:extLst>
              <a:ext uri="{FF2B5EF4-FFF2-40B4-BE49-F238E27FC236}">
                <a16:creationId xmlns:a16="http://schemas.microsoft.com/office/drawing/2014/main" id="{5AA4268D-8959-4244-8155-800231380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54721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Тогда функция Лагранжа может быть записана:</a:t>
            </a:r>
          </a:p>
        </p:txBody>
      </p:sp>
      <p:sp>
        <p:nvSpPr>
          <p:cNvPr id="7193" name="Rectangle 62">
            <a:extLst>
              <a:ext uri="{FF2B5EF4-FFF2-40B4-BE49-F238E27FC236}">
                <a16:creationId xmlns:a16="http://schemas.microsoft.com/office/drawing/2014/main" id="{29CE9304-08BF-4B0E-BF6C-0C53DDBF8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989138"/>
            <a:ext cx="701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упрощенную задачу выпуклого программирования.</a:t>
            </a:r>
          </a:p>
          <a:p>
            <a:pPr eaLnBrk="1" hangingPunct="1"/>
            <a:r>
              <a:rPr lang="ru-RU" altLang="ru-RU"/>
              <a:t>Пусть заданы условия на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 и </a:t>
            </a:r>
            <a:r>
              <a:rPr lang="en-US" altLang="ru-RU"/>
              <a:t>g</a:t>
            </a:r>
            <a:r>
              <a:rPr lang="ru-RU" altLang="ru-RU"/>
              <a:t> (</a:t>
            </a:r>
            <a:r>
              <a:rPr lang="en-US" altLang="ru-RU"/>
              <a:t>x</a:t>
            </a:r>
            <a:r>
              <a:rPr lang="ru-RU" altLang="ru-RU"/>
              <a:t>) как и ранее.</a:t>
            </a:r>
          </a:p>
        </p:txBody>
      </p:sp>
      <p:sp>
        <p:nvSpPr>
          <p:cNvPr id="7194" name="Rectangle 64">
            <a:extLst>
              <a:ext uri="{FF2B5EF4-FFF2-40B4-BE49-F238E27FC236}">
                <a16:creationId xmlns:a16="http://schemas.microsoft.com/office/drawing/2014/main" id="{6224F8B4-4E75-42C0-A4BA-DCB213C44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195" name="Object 63">
            <a:extLst>
              <a:ext uri="{FF2B5EF4-FFF2-40B4-BE49-F238E27FC236}">
                <a16:creationId xmlns:a16="http://schemas.microsoft.com/office/drawing/2014/main" id="{EFEAAA9C-A947-4925-95A7-C658D4EF0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636838"/>
          <a:ext cx="244792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Формула" r:id="rId3" imgW="1270000" imgH="736600" progId="Equation.3">
                  <p:embed/>
                </p:oleObj>
              </mc:Choice>
              <mc:Fallback>
                <p:oleObj name="Формула" r:id="rId3" imgW="1270000" imgH="736600" progId="Equation.3">
                  <p:embed/>
                  <p:pic>
                    <p:nvPicPr>
                      <p:cNvPr id="7195" name="Object 63">
                        <a:extLst>
                          <a:ext uri="{FF2B5EF4-FFF2-40B4-BE49-F238E27FC236}">
                            <a16:creationId xmlns:a16="http://schemas.microsoft.com/office/drawing/2014/main" id="{EFEAAA9C-A947-4925-95A7-C658D4EF0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636838"/>
                        <a:ext cx="244792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Rectangle 66">
            <a:extLst>
              <a:ext uri="{FF2B5EF4-FFF2-40B4-BE49-F238E27FC236}">
                <a16:creationId xmlns:a16="http://schemas.microsoft.com/office/drawing/2014/main" id="{428CC433-532A-4368-AE93-893051F2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197" name="Object 65">
            <a:extLst>
              <a:ext uri="{FF2B5EF4-FFF2-40B4-BE49-F238E27FC236}">
                <a16:creationId xmlns:a16="http://schemas.microsoft.com/office/drawing/2014/main" id="{59EF47B7-0B7F-4DD8-BD06-E50E311C1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860800"/>
          <a:ext cx="28813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Формула" r:id="rId5" imgW="1739900" imgH="444500" progId="Equation.3">
                  <p:embed/>
                </p:oleObj>
              </mc:Choice>
              <mc:Fallback>
                <p:oleObj name="Формула" r:id="rId5" imgW="1739900" imgH="444500" progId="Equation.3">
                  <p:embed/>
                  <p:pic>
                    <p:nvPicPr>
                      <p:cNvPr id="7197" name="Object 65">
                        <a:extLst>
                          <a:ext uri="{FF2B5EF4-FFF2-40B4-BE49-F238E27FC236}">
                            <a16:creationId xmlns:a16="http://schemas.microsoft.com/office/drawing/2014/main" id="{59EF47B7-0B7F-4DD8-BD06-E50E311C1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860800"/>
                        <a:ext cx="28813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" name="Rectangle 67">
            <a:extLst>
              <a:ext uri="{FF2B5EF4-FFF2-40B4-BE49-F238E27FC236}">
                <a16:creationId xmlns:a16="http://schemas.microsoft.com/office/drawing/2014/main" id="{56C4B6E4-745A-41FF-A8B8-C8F60703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0767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199" name="Rectangle 68">
            <a:extLst>
              <a:ext uri="{FF2B5EF4-FFF2-40B4-BE49-F238E27FC236}">
                <a16:creationId xmlns:a16="http://schemas.microsoft.com/office/drawing/2014/main" id="{57C2FF4E-2620-446F-A414-623461C1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3860800"/>
            <a:ext cx="4637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случай, когда  </a:t>
            </a:r>
            <a:r>
              <a:rPr lang="en-US" altLang="ru-RU"/>
              <a:t>x </a:t>
            </a:r>
            <a:r>
              <a:rPr lang="ru-RU" altLang="ru-RU"/>
              <a:t>= </a:t>
            </a:r>
            <a:r>
              <a:rPr lang="en-US" altLang="ru-RU"/>
              <a:t>x</a:t>
            </a:r>
            <a:r>
              <a:rPr lang="ru-RU" altLang="ru-RU"/>
              <a:t>1,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 =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1</a:t>
            </a:r>
            <a:r>
              <a:rPr lang="ru-RU" altLang="ru-RU">
                <a:sym typeface="Symbol" panose="05050102010706020507" pitchFamily="18" charset="2"/>
              </a:rPr>
              <a:t> :</a:t>
            </a:r>
          </a:p>
        </p:txBody>
      </p:sp>
      <p:sp>
        <p:nvSpPr>
          <p:cNvPr id="7200" name="Rectangle 70">
            <a:extLst>
              <a:ext uri="{FF2B5EF4-FFF2-40B4-BE49-F238E27FC236}">
                <a16:creationId xmlns:a16="http://schemas.microsoft.com/office/drawing/2014/main" id="{506CD41E-FF9A-4BF3-9786-383A8DEF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201" name="Object 69">
            <a:extLst>
              <a:ext uri="{FF2B5EF4-FFF2-40B4-BE49-F238E27FC236}">
                <a16:creationId xmlns:a16="http://schemas.microsoft.com/office/drawing/2014/main" id="{B4C0EFDD-F84B-4AFA-9326-3C6B0FF42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4541838"/>
          <a:ext cx="3168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Формула" r:id="rId7" imgW="1892300" imgH="228600" progId="Equation.3">
                  <p:embed/>
                </p:oleObj>
              </mc:Choice>
              <mc:Fallback>
                <p:oleObj name="Формула" r:id="rId7" imgW="1892300" imgH="228600" progId="Equation.3">
                  <p:embed/>
                  <p:pic>
                    <p:nvPicPr>
                      <p:cNvPr id="7201" name="Object 69">
                        <a:extLst>
                          <a:ext uri="{FF2B5EF4-FFF2-40B4-BE49-F238E27FC236}">
                            <a16:creationId xmlns:a16="http://schemas.microsoft.com/office/drawing/2014/main" id="{B4C0EFDD-F84B-4AFA-9326-3C6B0FF42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41838"/>
                        <a:ext cx="3168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2" name="Rectangle 71">
            <a:extLst>
              <a:ext uri="{FF2B5EF4-FFF2-40B4-BE49-F238E27FC236}">
                <a16:creationId xmlns:a16="http://schemas.microsoft.com/office/drawing/2014/main" id="{A439F33A-40AE-4C22-A8A3-341728E0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7203" name="Picture 72" descr="83">
            <a:extLst>
              <a:ext uri="{FF2B5EF4-FFF2-40B4-BE49-F238E27FC236}">
                <a16:creationId xmlns:a16="http://schemas.microsoft.com/office/drawing/2014/main" id="{AA17AD5B-2A01-433F-93F3-D84AD8A6D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292600"/>
            <a:ext cx="4681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04" name="Rectangle 74">
            <a:extLst>
              <a:ext uri="{FF2B5EF4-FFF2-40B4-BE49-F238E27FC236}">
                <a16:creationId xmlns:a16="http://schemas.microsoft.com/office/drawing/2014/main" id="{51D4581C-AA55-4076-BF44-1F934F20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13325"/>
            <a:ext cx="352901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Таким образом седловая точка функции Лагранжа (функции Куна-Таккера) является </a:t>
            </a:r>
            <a:endParaRPr lang="ru-RU" altLang="ru-RU"/>
          </a:p>
        </p:txBody>
      </p:sp>
      <p:graphicFrame>
        <p:nvGraphicFramePr>
          <p:cNvPr id="7205" name="Object 73">
            <a:extLst>
              <a:ext uri="{FF2B5EF4-FFF2-40B4-BE49-F238E27FC236}">
                <a16:creationId xmlns:a16="http://schemas.microsoft.com/office/drawing/2014/main" id="{79346C58-939F-4B01-A15C-C40BD6D6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518150"/>
          <a:ext cx="9350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Формула" r:id="rId10" imgW="520474" imgH="266584" progId="Equation.3">
                  <p:embed/>
                </p:oleObj>
              </mc:Choice>
              <mc:Fallback>
                <p:oleObj name="Формула" r:id="rId10" imgW="520474" imgH="266584" progId="Equation.3">
                  <p:embed/>
                  <p:pic>
                    <p:nvPicPr>
                      <p:cNvPr id="7205" name="Object 73">
                        <a:extLst>
                          <a:ext uri="{FF2B5EF4-FFF2-40B4-BE49-F238E27FC236}">
                            <a16:creationId xmlns:a16="http://schemas.microsoft.com/office/drawing/2014/main" id="{79346C58-939F-4B01-A15C-C40BD6D64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518150"/>
                        <a:ext cx="93503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6" name="Rectangle 75">
            <a:extLst>
              <a:ext uri="{FF2B5EF4-FFF2-40B4-BE49-F238E27FC236}">
                <a16:creationId xmlns:a16="http://schemas.microsoft.com/office/drawing/2014/main" id="{67341186-A7ED-45BF-A0AB-37E73E7A4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3562350"/>
            <a:ext cx="269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</a:t>
            </a:r>
            <a:endParaRPr lang="ru-RU" altLang="ru-RU"/>
          </a:p>
        </p:txBody>
      </p:sp>
      <p:sp>
        <p:nvSpPr>
          <p:cNvPr id="7207" name="Rectangle 77">
            <a:extLst>
              <a:ext uri="{FF2B5EF4-FFF2-40B4-BE49-F238E27FC236}">
                <a16:creationId xmlns:a16="http://schemas.microsoft.com/office/drawing/2014/main" id="{945A978F-F382-4D03-9115-131475614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208" name="Rectangle 78">
            <a:extLst>
              <a:ext uri="{FF2B5EF4-FFF2-40B4-BE49-F238E27FC236}">
                <a16:creationId xmlns:a16="http://schemas.microsoft.com/office/drawing/2014/main" id="{BB83A39C-023B-48EC-A56F-0A4195058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5895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209" name="Rectangle 79">
            <a:extLst>
              <a:ext uri="{FF2B5EF4-FFF2-40B4-BE49-F238E27FC236}">
                <a16:creationId xmlns:a16="http://schemas.microsoft.com/office/drawing/2014/main" id="{FEBE4834-21A3-4A9F-A993-A34B1934C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9950"/>
            <a:ext cx="3529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Именно эта точка является решением ЗВП.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B360D2-22A6-4BD4-9C26-9D421FC3F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Теория двойственности.</a:t>
            </a:r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626835C1-B42E-42D3-ABE7-4961B91FE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EE92AA94-29F7-44A7-970A-94743D7DE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B9401935-60E8-4A69-BB70-1E34E57FF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7A6B7E0B-EF41-4699-AF0E-CFC97B03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9" name="Rectangle 9">
            <a:extLst>
              <a:ext uri="{FF2B5EF4-FFF2-40B4-BE49-F238E27FC236}">
                <a16:creationId xmlns:a16="http://schemas.microsoft.com/office/drawing/2014/main" id="{46A58717-E289-42F0-917C-1520515E2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0" name="Rectangle 10">
            <a:extLst>
              <a:ext uri="{FF2B5EF4-FFF2-40B4-BE49-F238E27FC236}">
                <a16:creationId xmlns:a16="http://schemas.microsoft.com/office/drawing/2014/main" id="{AD4F8C41-1325-4EA3-86BF-6700AAD26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1" name="Rectangle 12">
            <a:extLst>
              <a:ext uri="{FF2B5EF4-FFF2-40B4-BE49-F238E27FC236}">
                <a16:creationId xmlns:a16="http://schemas.microsoft.com/office/drawing/2014/main" id="{36DCEE0F-E0E9-4C75-92F9-6EF0501E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/>
          </a:p>
        </p:txBody>
      </p:sp>
      <p:sp>
        <p:nvSpPr>
          <p:cNvPr id="8202" name="Rectangle 15">
            <a:extLst>
              <a:ext uri="{FF2B5EF4-FFF2-40B4-BE49-F238E27FC236}">
                <a16:creationId xmlns:a16="http://schemas.microsoft.com/office/drawing/2014/main" id="{E97DF8ED-DD79-43F1-B80F-52867E70C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3284538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3" name="Rectangle 21">
            <a:extLst>
              <a:ext uri="{FF2B5EF4-FFF2-40B4-BE49-F238E27FC236}">
                <a16:creationId xmlns:a16="http://schemas.microsoft.com/office/drawing/2014/main" id="{69165FCE-7699-4939-90E3-ED396EBE5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4" name="Rectangle 31">
            <a:extLst>
              <a:ext uri="{FF2B5EF4-FFF2-40B4-BE49-F238E27FC236}">
                <a16:creationId xmlns:a16="http://schemas.microsoft.com/office/drawing/2014/main" id="{3875D1A9-D907-426D-962D-F9A94FE2E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92250"/>
            <a:ext cx="82089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/>
              <a:t>Задача может быть поставлена как минимаксная и может быть разбита на решение двух задач:</a:t>
            </a:r>
          </a:p>
        </p:txBody>
      </p:sp>
      <p:sp>
        <p:nvSpPr>
          <p:cNvPr id="8205" name="Rectangle 32">
            <a:extLst>
              <a:ext uri="{FF2B5EF4-FFF2-40B4-BE49-F238E27FC236}">
                <a16:creationId xmlns:a16="http://schemas.microsoft.com/office/drawing/2014/main" id="{721B6B05-89A9-4C07-B81D-798F113FB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1336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6" name="Rectangle 34">
            <a:extLst>
              <a:ext uri="{FF2B5EF4-FFF2-40B4-BE49-F238E27FC236}">
                <a16:creationId xmlns:a16="http://schemas.microsoft.com/office/drawing/2014/main" id="{4C7CE78A-D35A-41D8-91EE-87DB5581E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7" name="Rectangle 37">
            <a:extLst>
              <a:ext uri="{FF2B5EF4-FFF2-40B4-BE49-F238E27FC236}">
                <a16:creationId xmlns:a16="http://schemas.microsoft.com/office/drawing/2014/main" id="{90A6C96F-C7E0-46A4-9831-C5771620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8" name="Rectangle 40">
            <a:extLst>
              <a:ext uri="{FF2B5EF4-FFF2-40B4-BE49-F238E27FC236}">
                <a16:creationId xmlns:a16="http://schemas.microsoft.com/office/drawing/2014/main" id="{9EA4D1EF-D8DE-4C26-85D9-669B2EBA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9" name="Rectangle 43">
            <a:extLst>
              <a:ext uri="{FF2B5EF4-FFF2-40B4-BE49-F238E27FC236}">
                <a16:creationId xmlns:a16="http://schemas.microsoft.com/office/drawing/2014/main" id="{C01C0315-D76A-47F4-A868-30A29A436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10" name="Rectangle 47">
            <a:extLst>
              <a:ext uri="{FF2B5EF4-FFF2-40B4-BE49-F238E27FC236}">
                <a16:creationId xmlns:a16="http://schemas.microsoft.com/office/drawing/2014/main" id="{3A37246D-716C-4881-B8F1-92D9AF20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11" name="Rectangle 49">
            <a:extLst>
              <a:ext uri="{FF2B5EF4-FFF2-40B4-BE49-F238E27FC236}">
                <a16:creationId xmlns:a16="http://schemas.microsoft.com/office/drawing/2014/main" id="{90727774-5EC4-4465-BD76-D1FCC156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5889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ru-RU" altLang="ru-RU" b="1"/>
              <a:t>Прямая задача</a:t>
            </a:r>
            <a:r>
              <a:rPr lang="ru-RU" altLang="ru-RU"/>
              <a:t> –                                           , </a:t>
            </a:r>
          </a:p>
          <a:p>
            <a:pPr eaLnBrk="1" hangingPunct="1"/>
            <a:r>
              <a:rPr lang="ru-RU" altLang="ru-RU"/>
              <a:t>         при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=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)–множитель Лагранжа (Куна-Таккера)</a:t>
            </a:r>
          </a:p>
        </p:txBody>
      </p:sp>
      <p:sp>
        <p:nvSpPr>
          <p:cNvPr id="8212" name="Rectangle 51">
            <a:extLst>
              <a:ext uri="{FF2B5EF4-FFF2-40B4-BE49-F238E27FC236}">
                <a16:creationId xmlns:a16="http://schemas.microsoft.com/office/drawing/2014/main" id="{DEFE7394-264F-4433-A287-926FDC088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3" name="Object 50">
            <a:extLst>
              <a:ext uri="{FF2B5EF4-FFF2-40B4-BE49-F238E27FC236}">
                <a16:creationId xmlns:a16="http://schemas.microsoft.com/office/drawing/2014/main" id="{5A1800E7-D8EE-4142-9561-F49B8FD69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2051050"/>
          <a:ext cx="36004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Формула" r:id="rId3" imgW="2019300" imgH="254000" progId="Equation.3">
                  <p:embed/>
                </p:oleObj>
              </mc:Choice>
              <mc:Fallback>
                <p:oleObj name="Формула" r:id="rId3" imgW="2019300" imgH="254000" progId="Equation.3">
                  <p:embed/>
                  <p:pic>
                    <p:nvPicPr>
                      <p:cNvPr id="8213" name="Object 50">
                        <a:extLst>
                          <a:ext uri="{FF2B5EF4-FFF2-40B4-BE49-F238E27FC236}">
                            <a16:creationId xmlns:a16="http://schemas.microsoft.com/office/drawing/2014/main" id="{5A1800E7-D8EE-4142-9561-F49B8FD69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051050"/>
                        <a:ext cx="36004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52">
            <a:extLst>
              <a:ext uri="{FF2B5EF4-FFF2-40B4-BE49-F238E27FC236}">
                <a16:creationId xmlns:a16="http://schemas.microsoft.com/office/drawing/2014/main" id="{73DDCC9B-C8A8-4C71-94D8-615B65C3E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781300"/>
            <a:ext cx="328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2. </a:t>
            </a:r>
            <a:r>
              <a:rPr lang="ru-RU" altLang="ru-RU" b="1"/>
              <a:t>Двойственная задача –   </a:t>
            </a:r>
          </a:p>
        </p:txBody>
      </p:sp>
      <p:sp>
        <p:nvSpPr>
          <p:cNvPr id="8215" name="Rectangle 54">
            <a:extLst>
              <a:ext uri="{FF2B5EF4-FFF2-40B4-BE49-F238E27FC236}">
                <a16:creationId xmlns:a16="http://schemas.microsoft.com/office/drawing/2014/main" id="{FC8DCC1D-FFB5-438D-897E-3CE928ECD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6" name="Object 53">
            <a:extLst>
              <a:ext uri="{FF2B5EF4-FFF2-40B4-BE49-F238E27FC236}">
                <a16:creationId xmlns:a16="http://schemas.microsoft.com/office/drawing/2014/main" id="{D9326D59-0DCC-48E2-B446-4D0BFF828F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781300"/>
          <a:ext cx="35274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9" name="Формула" r:id="rId5" imgW="2044700" imgH="254000" progId="Equation.3">
                  <p:embed/>
                </p:oleObj>
              </mc:Choice>
              <mc:Fallback>
                <p:oleObj name="Формула" r:id="rId5" imgW="2044700" imgH="254000" progId="Equation.3">
                  <p:embed/>
                  <p:pic>
                    <p:nvPicPr>
                      <p:cNvPr id="8216" name="Object 53">
                        <a:extLst>
                          <a:ext uri="{FF2B5EF4-FFF2-40B4-BE49-F238E27FC236}">
                            <a16:creationId xmlns:a16="http://schemas.microsoft.com/office/drawing/2014/main" id="{D9326D59-0DCC-48E2-B446-4D0BFF828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781300"/>
                        <a:ext cx="35274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Rectangle 55">
            <a:extLst>
              <a:ext uri="{FF2B5EF4-FFF2-40B4-BE49-F238E27FC236}">
                <a16:creationId xmlns:a16="http://schemas.microsoft.com/office/drawing/2014/main" id="{316B0558-C8A5-4080-8CBE-32B9A294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141663"/>
            <a:ext cx="4664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</a:t>
            </a:r>
            <a:r>
              <a:rPr lang="en-US" altLang="ru-RU"/>
              <a:t>x</a:t>
            </a:r>
            <a:r>
              <a:rPr lang="ru-RU" altLang="ru-RU"/>
              <a:t>=</a:t>
            </a:r>
            <a:r>
              <a:rPr lang="en-US" altLang="ru-RU"/>
              <a:t>x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) – переменная проектирования.</a:t>
            </a:r>
          </a:p>
        </p:txBody>
      </p:sp>
      <p:sp>
        <p:nvSpPr>
          <p:cNvPr id="8218" name="Rectangle 56">
            <a:extLst>
              <a:ext uri="{FF2B5EF4-FFF2-40B4-BE49-F238E27FC236}">
                <a16:creationId xmlns:a16="http://schemas.microsoft.com/office/drawing/2014/main" id="{CA4225AE-C324-44BF-9211-B77FC30A2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5624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/>
              <a:t>Пример:</a:t>
            </a:r>
            <a:r>
              <a:rPr lang="ru-RU" altLang="ru-RU" b="1"/>
              <a:t> </a:t>
            </a:r>
            <a:r>
              <a:rPr lang="ru-RU" altLang="ru-RU" b="1" u="sng"/>
              <a:t>Задача линейного программирования.</a:t>
            </a:r>
          </a:p>
        </p:txBody>
      </p:sp>
      <p:sp>
        <p:nvSpPr>
          <p:cNvPr id="8219" name="Rectangle 57">
            <a:extLst>
              <a:ext uri="{FF2B5EF4-FFF2-40B4-BE49-F238E27FC236}">
                <a16:creationId xmlns:a16="http://schemas.microsoft.com/office/drawing/2014/main" id="{72F613CF-1200-41FE-BD06-3F269581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05263"/>
            <a:ext cx="19669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Прямая задача</a:t>
            </a:r>
            <a:r>
              <a:rPr lang="ru-RU" altLang="ru-RU" b="1" i="1"/>
              <a:t>:</a:t>
            </a:r>
          </a:p>
        </p:txBody>
      </p:sp>
      <p:sp>
        <p:nvSpPr>
          <p:cNvPr id="8220" name="Rectangle 59">
            <a:extLst>
              <a:ext uri="{FF2B5EF4-FFF2-40B4-BE49-F238E27FC236}">
                <a16:creationId xmlns:a16="http://schemas.microsoft.com/office/drawing/2014/main" id="{F40EEEF2-6CFC-4C35-8756-23CDCE010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1" name="Object 58">
            <a:extLst>
              <a:ext uri="{FF2B5EF4-FFF2-40B4-BE49-F238E27FC236}">
                <a16:creationId xmlns:a16="http://schemas.microsoft.com/office/drawing/2014/main" id="{0D4A8716-0138-49E5-A130-39EA902CD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005263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Формула" r:id="rId7" imgW="520474" imgH="203112" progId="Equation.3">
                  <p:embed/>
                </p:oleObj>
              </mc:Choice>
              <mc:Fallback>
                <p:oleObj name="Формула" r:id="rId7" imgW="520474" imgH="203112" progId="Equation.3">
                  <p:embed/>
                  <p:pic>
                    <p:nvPicPr>
                      <p:cNvPr id="8221" name="Object 58">
                        <a:extLst>
                          <a:ext uri="{FF2B5EF4-FFF2-40B4-BE49-F238E27FC236}">
                            <a16:creationId xmlns:a16="http://schemas.microsoft.com/office/drawing/2014/main" id="{0D4A8716-0138-49E5-A130-39EA902CD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005263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" name="Rectangle 60">
            <a:extLst>
              <a:ext uri="{FF2B5EF4-FFF2-40B4-BE49-F238E27FC236}">
                <a16:creationId xmlns:a16="http://schemas.microsoft.com/office/drawing/2014/main" id="{B9727DCA-0BA1-4F0F-A681-0ACDECFA3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005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23" name="Rectangle 62">
            <a:extLst>
              <a:ext uri="{FF2B5EF4-FFF2-40B4-BE49-F238E27FC236}">
                <a16:creationId xmlns:a16="http://schemas.microsoft.com/office/drawing/2014/main" id="{8A0FF580-2D7A-4664-BBCF-16B9B4EC8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4" name="Object 61">
            <a:extLst>
              <a:ext uri="{FF2B5EF4-FFF2-40B4-BE49-F238E27FC236}">
                <a16:creationId xmlns:a16="http://schemas.microsoft.com/office/drawing/2014/main" id="{0608D02B-8A55-4BA4-A80B-3634737CAC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4005263"/>
          <a:ext cx="80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name="Формула" r:id="rId9" imgW="457002" imgH="177723" progId="Equation.3">
                  <p:embed/>
                </p:oleObj>
              </mc:Choice>
              <mc:Fallback>
                <p:oleObj name="Формула" r:id="rId9" imgW="457002" imgH="177723" progId="Equation.3">
                  <p:embed/>
                  <p:pic>
                    <p:nvPicPr>
                      <p:cNvPr id="8224" name="Object 61">
                        <a:extLst>
                          <a:ext uri="{FF2B5EF4-FFF2-40B4-BE49-F238E27FC236}">
                            <a16:creationId xmlns:a16="http://schemas.microsoft.com/office/drawing/2014/main" id="{0608D02B-8A55-4BA4-A80B-3634737CA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005263"/>
                        <a:ext cx="800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Rectangle 63">
            <a:extLst>
              <a:ext uri="{FF2B5EF4-FFF2-40B4-BE49-F238E27FC236}">
                <a16:creationId xmlns:a16="http://schemas.microsoft.com/office/drawing/2014/main" id="{67DEED83-46AD-4BFB-8A29-527A85ED2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005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26" name="Rectangle 65">
            <a:extLst>
              <a:ext uri="{FF2B5EF4-FFF2-40B4-BE49-F238E27FC236}">
                <a16:creationId xmlns:a16="http://schemas.microsoft.com/office/drawing/2014/main" id="{1A54B7FD-B87C-483F-B25F-DED63187F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7" name="Object 64">
            <a:extLst>
              <a:ext uri="{FF2B5EF4-FFF2-40B4-BE49-F238E27FC236}">
                <a16:creationId xmlns:a16="http://schemas.microsoft.com/office/drawing/2014/main" id="{7B1395FD-C9F5-4CC3-949F-49266547A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3933825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2" name="Формула" r:id="rId11" imgW="406224" imgH="228501" progId="Equation.3">
                  <p:embed/>
                </p:oleObj>
              </mc:Choice>
              <mc:Fallback>
                <p:oleObj name="Формула" r:id="rId11" imgW="406224" imgH="228501" progId="Equation.3">
                  <p:embed/>
                  <p:pic>
                    <p:nvPicPr>
                      <p:cNvPr id="8227" name="Object 64">
                        <a:extLst>
                          <a:ext uri="{FF2B5EF4-FFF2-40B4-BE49-F238E27FC236}">
                            <a16:creationId xmlns:a16="http://schemas.microsoft.com/office/drawing/2014/main" id="{7B1395FD-C9F5-4CC3-949F-49266547A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933825"/>
                        <a:ext cx="1295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Rectangle 66">
            <a:extLst>
              <a:ext uri="{FF2B5EF4-FFF2-40B4-BE49-F238E27FC236}">
                <a16:creationId xmlns:a16="http://schemas.microsoft.com/office/drawing/2014/main" id="{8FDAB866-FC9E-4098-9BF9-9CCAB6A9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005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  <p:sp>
        <p:nvSpPr>
          <p:cNvPr id="8229" name="Rectangle 67">
            <a:extLst>
              <a:ext uri="{FF2B5EF4-FFF2-40B4-BE49-F238E27FC236}">
                <a16:creationId xmlns:a16="http://schemas.microsoft.com/office/drawing/2014/main" id="{053891C5-B678-4FEE-8D11-D3B05A684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581525"/>
            <a:ext cx="281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Двойственная задача:</a:t>
            </a:r>
          </a:p>
        </p:txBody>
      </p:sp>
      <p:sp>
        <p:nvSpPr>
          <p:cNvPr id="8230" name="Rectangle 69">
            <a:extLst>
              <a:ext uri="{FF2B5EF4-FFF2-40B4-BE49-F238E27FC236}">
                <a16:creationId xmlns:a16="http://schemas.microsoft.com/office/drawing/2014/main" id="{9D5854BA-45E6-4F88-9D43-C26348031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1" name="Object 68">
            <a:extLst>
              <a:ext uri="{FF2B5EF4-FFF2-40B4-BE49-F238E27FC236}">
                <a16:creationId xmlns:a16="http://schemas.microsoft.com/office/drawing/2014/main" id="{6F25696C-88B9-470A-B1A3-1CAF33222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941888"/>
          <a:ext cx="55435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" name="Формула" r:id="rId13" imgW="3276600" imgH="228600" progId="Equation.3">
                  <p:embed/>
                </p:oleObj>
              </mc:Choice>
              <mc:Fallback>
                <p:oleObj name="Формула" r:id="rId13" imgW="3276600" imgH="228600" progId="Equation.3">
                  <p:embed/>
                  <p:pic>
                    <p:nvPicPr>
                      <p:cNvPr id="8231" name="Object 68">
                        <a:extLst>
                          <a:ext uri="{FF2B5EF4-FFF2-40B4-BE49-F238E27FC236}">
                            <a16:creationId xmlns:a16="http://schemas.microsoft.com/office/drawing/2014/main" id="{6F25696C-88B9-470A-B1A3-1CAF33222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941888"/>
                        <a:ext cx="55435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2" name="Rectangle 70">
            <a:extLst>
              <a:ext uri="{FF2B5EF4-FFF2-40B4-BE49-F238E27FC236}">
                <a16:creationId xmlns:a16="http://schemas.microsoft.com/office/drawing/2014/main" id="{12E645C5-C645-4DDA-B25C-716F6E847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9418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3" name="Rectangle 72">
            <a:extLst>
              <a:ext uri="{FF2B5EF4-FFF2-40B4-BE49-F238E27FC236}">
                <a16:creationId xmlns:a16="http://schemas.microsoft.com/office/drawing/2014/main" id="{67DD202C-A69B-4363-A649-07BFE0E44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4" name="Object 71">
            <a:extLst>
              <a:ext uri="{FF2B5EF4-FFF2-40B4-BE49-F238E27FC236}">
                <a16:creationId xmlns:a16="http://schemas.microsoft.com/office/drawing/2014/main" id="{53708623-618C-41C9-8E27-B513F61B5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5383213"/>
          <a:ext cx="11509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4" name="Формула" r:id="rId15" imgW="571252" imgH="228501" progId="Equation.3">
                  <p:embed/>
                </p:oleObj>
              </mc:Choice>
              <mc:Fallback>
                <p:oleObj name="Формула" r:id="rId15" imgW="571252" imgH="228501" progId="Equation.3">
                  <p:embed/>
                  <p:pic>
                    <p:nvPicPr>
                      <p:cNvPr id="8234" name="Object 71">
                        <a:extLst>
                          <a:ext uri="{FF2B5EF4-FFF2-40B4-BE49-F238E27FC236}">
                            <a16:creationId xmlns:a16="http://schemas.microsoft.com/office/drawing/2014/main" id="{53708623-618C-41C9-8E27-B513F61B5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83213"/>
                        <a:ext cx="11509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5" name="Rectangle 73">
            <a:extLst>
              <a:ext uri="{FF2B5EF4-FFF2-40B4-BE49-F238E27FC236}">
                <a16:creationId xmlns:a16="http://schemas.microsoft.com/office/drawing/2014/main" id="{A15DDF60-77A4-4B01-B892-669D4E8D3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4451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6" name="Rectangle 75">
            <a:extLst>
              <a:ext uri="{FF2B5EF4-FFF2-40B4-BE49-F238E27FC236}">
                <a16:creationId xmlns:a16="http://schemas.microsoft.com/office/drawing/2014/main" id="{21E96CB4-81C0-4EC1-832D-03039EEB8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7" name="Object 74">
            <a:extLst>
              <a:ext uri="{FF2B5EF4-FFF2-40B4-BE49-F238E27FC236}">
                <a16:creationId xmlns:a16="http://schemas.microsoft.com/office/drawing/2014/main" id="{15C7E5AF-C5FF-4DEF-B683-D7C8CB7791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373688"/>
          <a:ext cx="14414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5" name="Формула" r:id="rId17" imgW="634725" imgH="228501" progId="Equation.3">
                  <p:embed/>
                </p:oleObj>
              </mc:Choice>
              <mc:Fallback>
                <p:oleObj name="Формула" r:id="rId17" imgW="634725" imgH="228501" progId="Equation.3">
                  <p:embed/>
                  <p:pic>
                    <p:nvPicPr>
                      <p:cNvPr id="8237" name="Object 74">
                        <a:extLst>
                          <a:ext uri="{FF2B5EF4-FFF2-40B4-BE49-F238E27FC236}">
                            <a16:creationId xmlns:a16="http://schemas.microsoft.com/office/drawing/2014/main" id="{15C7E5AF-C5FF-4DEF-B683-D7C8CB7791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373688"/>
                        <a:ext cx="14414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8" name="Rectangle 76">
            <a:extLst>
              <a:ext uri="{FF2B5EF4-FFF2-40B4-BE49-F238E27FC236}">
                <a16:creationId xmlns:a16="http://schemas.microsoft.com/office/drawing/2014/main" id="{DF22F06B-3704-4E99-8D6B-1FCB9A23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4451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9" name="Rectangle 78">
            <a:extLst>
              <a:ext uri="{FF2B5EF4-FFF2-40B4-BE49-F238E27FC236}">
                <a16:creationId xmlns:a16="http://schemas.microsoft.com/office/drawing/2014/main" id="{47B582CE-37ED-4506-88EE-D6672AAE5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40" name="Object 77">
            <a:extLst>
              <a:ext uri="{FF2B5EF4-FFF2-40B4-BE49-F238E27FC236}">
                <a16:creationId xmlns:a16="http://schemas.microsoft.com/office/drawing/2014/main" id="{3550EF4C-25E9-48F2-A0FE-7E9780988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5343525"/>
          <a:ext cx="12239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6" name="Формула" r:id="rId19" imgW="444307" imgH="241195" progId="Equation.3">
                  <p:embed/>
                </p:oleObj>
              </mc:Choice>
              <mc:Fallback>
                <p:oleObj name="Формула" r:id="rId19" imgW="444307" imgH="241195" progId="Equation.3">
                  <p:embed/>
                  <p:pic>
                    <p:nvPicPr>
                      <p:cNvPr id="8240" name="Object 77">
                        <a:extLst>
                          <a:ext uri="{FF2B5EF4-FFF2-40B4-BE49-F238E27FC236}">
                            <a16:creationId xmlns:a16="http://schemas.microsoft.com/office/drawing/2014/main" id="{3550EF4C-25E9-48F2-A0FE-7E9780988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343525"/>
                        <a:ext cx="12239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1" name="Rectangle 79">
            <a:extLst>
              <a:ext uri="{FF2B5EF4-FFF2-40B4-BE49-F238E27FC236}">
                <a16:creationId xmlns:a16="http://schemas.microsoft.com/office/drawing/2014/main" id="{FE8A2A5A-FB6B-451D-B096-3DB3BA75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3736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  <p:sp>
        <p:nvSpPr>
          <p:cNvPr id="8242" name="Rectangle 81">
            <a:extLst>
              <a:ext uri="{FF2B5EF4-FFF2-40B4-BE49-F238E27FC236}">
                <a16:creationId xmlns:a16="http://schemas.microsoft.com/office/drawing/2014/main" id="{C8C18E15-B3AC-4BFD-80F0-46A8AB50C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D53BF6-5B3F-459D-B3DB-C64671602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34546C8-5B0B-48EE-BA16-BCF8023CB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sz="2800" b="1" u="sng"/>
              <a:t>4.1. Понятие алгоритма. Алгоритмические отображения.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 b="1" u="sng"/>
              <a:t>Определение. </a:t>
            </a:r>
            <a:r>
              <a:rPr lang="ru-RU" altLang="ru-RU" sz="1800"/>
              <a:t>Алгоритмом называется итеративный процесс вычислений, который порождает последовательность точек в соответствии с предписанным набором правил, включающим критерий окончания этого процесса.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 u="sng"/>
              <a:t>Алгоритмическое отображение.</a:t>
            </a:r>
            <a:r>
              <a:rPr lang="ru-RU" altLang="ru-RU" sz="180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/>
              <a:t>Пусть А: 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1779ADF9-2DCA-4412-B8BD-FC141D9AD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B29DBC32-25B5-4F22-8934-36DB539319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005263"/>
          <a:ext cx="2447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Формула" r:id="rId3" imgW="1016000" imgH="228600" progId="Equation.3">
                  <p:embed/>
                </p:oleObj>
              </mc:Choice>
              <mc:Fallback>
                <p:oleObj name="Формула" r:id="rId3" imgW="1016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B29DBC32-25B5-4F22-8934-36DB539319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005263"/>
                        <a:ext cx="2447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7">
            <a:extLst>
              <a:ext uri="{FF2B5EF4-FFF2-40B4-BE49-F238E27FC236}">
                <a16:creationId xmlns:a16="http://schemas.microsoft.com/office/drawing/2014/main" id="{D7AF31DB-441E-43F0-B45B-FBC00B2CB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3" name="Object 6">
            <a:extLst>
              <a:ext uri="{FF2B5EF4-FFF2-40B4-BE49-F238E27FC236}">
                <a16:creationId xmlns:a16="http://schemas.microsoft.com/office/drawing/2014/main" id="{744F640B-DC87-4246-8D96-2197B9518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933825"/>
          <a:ext cx="20161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Формула" r:id="rId5" imgW="876300" imgH="228600" progId="Equation.3">
                  <p:embed/>
                </p:oleObj>
              </mc:Choice>
              <mc:Fallback>
                <p:oleObj name="Формула" r:id="rId5" imgW="876300" imgH="228600" progId="Equation.3">
                  <p:embed/>
                  <p:pic>
                    <p:nvPicPr>
                      <p:cNvPr id="9223" name="Object 6">
                        <a:extLst>
                          <a:ext uri="{FF2B5EF4-FFF2-40B4-BE49-F238E27FC236}">
                            <a16:creationId xmlns:a16="http://schemas.microsoft.com/office/drawing/2014/main" id="{744F640B-DC87-4246-8D96-2197B9518B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933825"/>
                        <a:ext cx="20161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8">
            <a:extLst>
              <a:ext uri="{FF2B5EF4-FFF2-40B4-BE49-F238E27FC236}">
                <a16:creationId xmlns:a16="http://schemas.microsoft.com/office/drawing/2014/main" id="{616BE6B6-8E2D-40C5-9BFE-50D425D45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DB732B3F-EC24-427A-96C0-D72FC6E83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933825"/>
            <a:ext cx="638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</a:t>
            </a:r>
          </a:p>
        </p:txBody>
      </p:sp>
      <p:sp>
        <p:nvSpPr>
          <p:cNvPr id="9226" name="Rectangle 11">
            <a:extLst>
              <a:ext uri="{FF2B5EF4-FFF2-40B4-BE49-F238E27FC236}">
                <a16:creationId xmlns:a16="http://schemas.microsoft.com/office/drawing/2014/main" id="{15FF6276-5C3D-4710-9685-D1C71872B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7" name="Object 10">
            <a:extLst>
              <a:ext uri="{FF2B5EF4-FFF2-40B4-BE49-F238E27FC236}">
                <a16:creationId xmlns:a16="http://schemas.microsoft.com/office/drawing/2014/main" id="{88F1F2C5-3FE2-43C0-A7FC-A0EFA4591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933825"/>
          <a:ext cx="12239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Формула" r:id="rId7" imgW="507780" imgH="177723" progId="Equation.3">
                  <p:embed/>
                </p:oleObj>
              </mc:Choice>
              <mc:Fallback>
                <p:oleObj name="Формула" r:id="rId7" imgW="507780" imgH="177723" progId="Equation.3">
                  <p:embed/>
                  <p:pic>
                    <p:nvPicPr>
                      <p:cNvPr id="9227" name="Object 10">
                        <a:extLst>
                          <a:ext uri="{FF2B5EF4-FFF2-40B4-BE49-F238E27FC236}">
                            <a16:creationId xmlns:a16="http://schemas.microsoft.com/office/drawing/2014/main" id="{88F1F2C5-3FE2-43C0-A7FC-A0EFA45910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933825"/>
                        <a:ext cx="122396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12">
            <a:extLst>
              <a:ext uri="{FF2B5EF4-FFF2-40B4-BE49-F238E27FC236}">
                <a16:creationId xmlns:a16="http://schemas.microsoft.com/office/drawing/2014/main" id="{D974B6F0-0163-4D26-AD98-4EBC66B82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0767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,</a:t>
            </a:r>
            <a:r>
              <a:rPr lang="ru-RU" altLang="ru-RU"/>
              <a:t> </a:t>
            </a:r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5B821BC1-D0CB-4A36-BCC8-F8F98A634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005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,</a:t>
            </a:r>
            <a:r>
              <a:rPr lang="ru-RU" altLang="ru-RU"/>
              <a:t> </a:t>
            </a:r>
          </a:p>
        </p:txBody>
      </p:sp>
      <p:sp>
        <p:nvSpPr>
          <p:cNvPr id="9230" name="Rectangle 15">
            <a:extLst>
              <a:ext uri="{FF2B5EF4-FFF2-40B4-BE49-F238E27FC236}">
                <a16:creationId xmlns:a16="http://schemas.microsoft.com/office/drawing/2014/main" id="{7CE16465-F127-4EDE-958B-3385E61FB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62463"/>
            <a:ext cx="1798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Таким образом</a:t>
            </a:r>
          </a:p>
        </p:txBody>
      </p:sp>
      <p:graphicFrame>
        <p:nvGraphicFramePr>
          <p:cNvPr id="9231" name="Object 14">
            <a:extLst>
              <a:ext uri="{FF2B5EF4-FFF2-40B4-BE49-F238E27FC236}">
                <a16:creationId xmlns:a16="http://schemas.microsoft.com/office/drawing/2014/main" id="{B0C85C9E-21DD-4B45-AB69-9E0CFDBD9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437063"/>
          <a:ext cx="36734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Формула" r:id="rId9" imgW="1549400" imgH="228600" progId="Equation.3">
                  <p:embed/>
                </p:oleObj>
              </mc:Choice>
              <mc:Fallback>
                <p:oleObj name="Формула" r:id="rId9" imgW="1549400" imgH="228600" progId="Equation.3">
                  <p:embed/>
                  <p:pic>
                    <p:nvPicPr>
                      <p:cNvPr id="9231" name="Object 14">
                        <a:extLst>
                          <a:ext uri="{FF2B5EF4-FFF2-40B4-BE49-F238E27FC236}">
                            <a16:creationId xmlns:a16="http://schemas.microsoft.com/office/drawing/2014/main" id="{B0C85C9E-21DD-4B45-AB69-9E0CFDBD9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437063"/>
                        <a:ext cx="36734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16">
            <a:extLst>
              <a:ext uri="{FF2B5EF4-FFF2-40B4-BE49-F238E27FC236}">
                <a16:creationId xmlns:a16="http://schemas.microsoft.com/office/drawing/2014/main" id="{8AEFF333-E572-4BE4-86CA-6AB567023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3619500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9233" name="Rectangle 18">
            <a:extLst>
              <a:ext uri="{FF2B5EF4-FFF2-40B4-BE49-F238E27FC236}">
                <a16:creationId xmlns:a16="http://schemas.microsoft.com/office/drawing/2014/main" id="{98B3618E-EF07-424C-AFA1-47BFD06A3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508500"/>
            <a:ext cx="1225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где</a:t>
            </a:r>
            <a:r>
              <a:rPr lang="ru-RU" altLang="ru-RU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9234" name="Object 17">
            <a:extLst>
              <a:ext uri="{FF2B5EF4-FFF2-40B4-BE49-F238E27FC236}">
                <a16:creationId xmlns:a16="http://schemas.microsoft.com/office/drawing/2014/main" id="{3FAA1FE9-45A2-4945-A466-63A1F8228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4508500"/>
          <a:ext cx="504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6" name="Формула" r:id="rId11" imgW="253780" imgH="203024" progId="Equation.3">
                  <p:embed/>
                </p:oleObj>
              </mc:Choice>
              <mc:Fallback>
                <p:oleObj name="Формула" r:id="rId11" imgW="253780" imgH="203024" progId="Equation.3">
                  <p:embed/>
                  <p:pic>
                    <p:nvPicPr>
                      <p:cNvPr id="9234" name="Object 17">
                        <a:extLst>
                          <a:ext uri="{FF2B5EF4-FFF2-40B4-BE49-F238E27FC236}">
                            <a16:creationId xmlns:a16="http://schemas.microsoft.com/office/drawing/2014/main" id="{3FAA1FE9-45A2-4945-A466-63A1F8228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508500"/>
                        <a:ext cx="504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19">
            <a:extLst>
              <a:ext uri="{FF2B5EF4-FFF2-40B4-BE49-F238E27FC236}">
                <a16:creationId xmlns:a16="http://schemas.microsoft.com/office/drawing/2014/main" id="{6FB06CE1-07B8-4327-8671-BD1CB17F3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4581525"/>
            <a:ext cx="1979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cs typeface="Times New Roman" panose="02020603050405020304" pitchFamily="18" charset="0"/>
              </a:rPr>
              <a:t>- начальная точка.</a:t>
            </a:r>
            <a:endParaRPr lang="ru-RU" altLang="ru-RU"/>
          </a:p>
        </p:txBody>
      </p:sp>
      <p:sp>
        <p:nvSpPr>
          <p:cNvPr id="9236" name="Rectangle 20">
            <a:extLst>
              <a:ext uri="{FF2B5EF4-FFF2-40B4-BE49-F238E27FC236}">
                <a16:creationId xmlns:a16="http://schemas.microsoft.com/office/drawing/2014/main" id="{6B7AC068-FF64-4BC0-B2DF-1D4447ABB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013325"/>
            <a:ext cx="8497887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качестве реализации алгоритмического отображения методов оптимизации может быть выбрана некоторая функция спуска, зависящая от переменных проектирования </a:t>
            </a:r>
          </a:p>
        </p:txBody>
      </p:sp>
      <p:sp>
        <p:nvSpPr>
          <p:cNvPr id="9237" name="Rectangle 22">
            <a:extLst>
              <a:ext uri="{FF2B5EF4-FFF2-40B4-BE49-F238E27FC236}">
                <a16:creationId xmlns:a16="http://schemas.microsoft.com/office/drawing/2014/main" id="{4870FD64-CCEC-4C03-90A4-A7B00710E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38" name="Object 21">
            <a:extLst>
              <a:ext uri="{FF2B5EF4-FFF2-40B4-BE49-F238E27FC236}">
                <a16:creationId xmlns:a16="http://schemas.microsoft.com/office/drawing/2014/main" id="{A2B069CF-6461-40E4-92B2-3012AA4E82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516563"/>
          <a:ext cx="11509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7" name="Формула" r:id="rId13" imgW="444307" imgH="228501" progId="Equation.3">
                  <p:embed/>
                </p:oleObj>
              </mc:Choice>
              <mc:Fallback>
                <p:oleObj name="Формула" r:id="rId13" imgW="444307" imgH="228501" progId="Equation.3">
                  <p:embed/>
                  <p:pic>
                    <p:nvPicPr>
                      <p:cNvPr id="9238" name="Object 21">
                        <a:extLst>
                          <a:ext uri="{FF2B5EF4-FFF2-40B4-BE49-F238E27FC236}">
                            <a16:creationId xmlns:a16="http://schemas.microsoft.com/office/drawing/2014/main" id="{A2B069CF-6461-40E4-92B2-3012AA4E82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516563"/>
                        <a:ext cx="11509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Rectangle 23">
            <a:extLst>
              <a:ext uri="{FF2B5EF4-FFF2-40B4-BE49-F238E27FC236}">
                <a16:creationId xmlns:a16="http://schemas.microsoft.com/office/drawing/2014/main" id="{126553F3-B20A-4866-8AB3-AD060897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805488"/>
            <a:ext cx="5168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она должна удовлетворить условию </a:t>
            </a:r>
          </a:p>
        </p:txBody>
      </p:sp>
      <p:sp>
        <p:nvSpPr>
          <p:cNvPr id="9240" name="Rectangle 24">
            <a:extLst>
              <a:ext uri="{FF2B5EF4-FFF2-40B4-BE49-F238E27FC236}">
                <a16:creationId xmlns:a16="http://schemas.microsoft.com/office/drawing/2014/main" id="{6875993F-FD70-4DC3-8481-EE3E67011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3736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</a:t>
            </a:r>
          </a:p>
        </p:txBody>
      </p:sp>
      <p:sp>
        <p:nvSpPr>
          <p:cNvPr id="9241" name="Rectangle 26">
            <a:extLst>
              <a:ext uri="{FF2B5EF4-FFF2-40B4-BE49-F238E27FC236}">
                <a16:creationId xmlns:a16="http://schemas.microsoft.com/office/drawing/2014/main" id="{778A78EE-584A-46E0-8593-62B0004CE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42" name="Object 25">
            <a:extLst>
              <a:ext uri="{FF2B5EF4-FFF2-40B4-BE49-F238E27FC236}">
                <a16:creationId xmlns:a16="http://schemas.microsoft.com/office/drawing/2014/main" id="{DC63D75D-DDFE-48A6-A8C5-C82B5155B7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761038"/>
          <a:ext cx="28797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Формула" r:id="rId15" imgW="1104900" imgH="228600" progId="Equation.3">
                  <p:embed/>
                </p:oleObj>
              </mc:Choice>
              <mc:Fallback>
                <p:oleObj name="Формула" r:id="rId15" imgW="1104900" imgH="228600" progId="Equation.3">
                  <p:embed/>
                  <p:pic>
                    <p:nvPicPr>
                      <p:cNvPr id="9242" name="Object 25">
                        <a:extLst>
                          <a:ext uri="{FF2B5EF4-FFF2-40B4-BE49-F238E27FC236}">
                            <a16:creationId xmlns:a16="http://schemas.microsoft.com/office/drawing/2014/main" id="{DC63D75D-DDFE-48A6-A8C5-C82B5155B7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761038"/>
                        <a:ext cx="28797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3" name="Object 28">
            <a:extLst>
              <a:ext uri="{FF2B5EF4-FFF2-40B4-BE49-F238E27FC236}">
                <a16:creationId xmlns:a16="http://schemas.microsoft.com/office/drawing/2014/main" id="{21803A5F-3E36-4E7E-91FD-1B670D218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1400" y="6397625"/>
          <a:ext cx="5762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9" name="Формула" r:id="rId17" imgW="342751" imgH="203112" progId="Equation.3">
                  <p:embed/>
                </p:oleObj>
              </mc:Choice>
              <mc:Fallback>
                <p:oleObj name="Формула" r:id="rId17" imgW="342751" imgH="203112" progId="Equation.3">
                  <p:embed/>
                  <p:pic>
                    <p:nvPicPr>
                      <p:cNvPr id="9243" name="Object 28">
                        <a:extLst>
                          <a:ext uri="{FF2B5EF4-FFF2-40B4-BE49-F238E27FC236}">
                            <a16:creationId xmlns:a16="http://schemas.microsoft.com/office/drawing/2014/main" id="{21803A5F-3E36-4E7E-91FD-1B670D2181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6397625"/>
                        <a:ext cx="5762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4" name="Object 27">
            <a:extLst>
              <a:ext uri="{FF2B5EF4-FFF2-40B4-BE49-F238E27FC236}">
                <a16:creationId xmlns:a16="http://schemas.microsoft.com/office/drawing/2014/main" id="{5A5BCADD-AEAC-481A-BCB4-352D6C7B1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6411913"/>
          <a:ext cx="7207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0" name="Формула" r:id="rId19" imgW="444307" imgH="203112" progId="Equation.3">
                  <p:embed/>
                </p:oleObj>
              </mc:Choice>
              <mc:Fallback>
                <p:oleObj name="Формула" r:id="rId19" imgW="444307" imgH="203112" progId="Equation.3">
                  <p:embed/>
                  <p:pic>
                    <p:nvPicPr>
                      <p:cNvPr id="9244" name="Object 27">
                        <a:extLst>
                          <a:ext uri="{FF2B5EF4-FFF2-40B4-BE49-F238E27FC236}">
                            <a16:creationId xmlns:a16="http://schemas.microsoft.com/office/drawing/2014/main" id="{5A5BCADD-AEAC-481A-BCB4-352D6C7B1A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6411913"/>
                        <a:ext cx="7207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5" name="Rectangle 29">
            <a:extLst>
              <a:ext uri="{FF2B5EF4-FFF2-40B4-BE49-F238E27FC236}">
                <a16:creationId xmlns:a16="http://schemas.microsoft.com/office/drawing/2014/main" id="{D7D3524D-3146-416E-97E1-109B796DE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13475"/>
            <a:ext cx="7567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cs typeface="Times New Roman" panose="02020603050405020304" pitchFamily="18" charset="0"/>
              </a:rPr>
              <a:t>В качестве функции спуска может быть  использована целевая функция </a:t>
            </a:r>
            <a:endParaRPr lang="ru-RU" altLang="ru-RU"/>
          </a:p>
        </p:txBody>
      </p:sp>
      <p:sp>
        <p:nvSpPr>
          <p:cNvPr id="9246" name="Rectangle 30">
            <a:extLst>
              <a:ext uri="{FF2B5EF4-FFF2-40B4-BE49-F238E27FC236}">
                <a16:creationId xmlns:a16="http://schemas.microsoft.com/office/drawing/2014/main" id="{CBB662B6-F88E-484C-8183-A70707F8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6345238"/>
            <a:ext cx="4319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en-US" altLang="ru-RU" sz="1200">
                <a:cs typeface="Times New Roman" panose="02020603050405020304" pitchFamily="18" charset="0"/>
              </a:rPr>
              <a:t>      </a:t>
            </a:r>
            <a:r>
              <a:rPr lang="ru-RU" altLang="ru-RU">
                <a:cs typeface="Times New Roman" panose="02020603050405020304" pitchFamily="18" charset="0"/>
              </a:rPr>
              <a:t>или градиент целевой функции  </a:t>
            </a:r>
            <a:endParaRPr lang="ru-RU" alt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CA0A85E-B0B5-4FAD-8EF5-A0E7FFAFD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9A4D492-C6D7-4490-BC3A-7DC0F9D3B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b="1" u="sng"/>
              <a:t>4.2.</a:t>
            </a:r>
            <a:r>
              <a:rPr lang="ru-RU" altLang="ru-RU"/>
              <a:t>  </a:t>
            </a:r>
            <a:r>
              <a:rPr lang="ru-RU" altLang="ru-RU" b="1" u="sng"/>
              <a:t>Композиция алгоритмических отображений.</a:t>
            </a:r>
          </a:p>
        </p:txBody>
      </p:sp>
      <p:pic>
        <p:nvPicPr>
          <p:cNvPr id="10244" name="Picture 4" descr="L93">
            <a:extLst>
              <a:ext uri="{FF2B5EF4-FFF2-40B4-BE49-F238E27FC236}">
                <a16:creationId xmlns:a16="http://schemas.microsoft.com/office/drawing/2014/main" id="{0904C77B-C898-4865-B954-DE9479C15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708275"/>
            <a:ext cx="3455988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5" name="Object 6">
            <a:extLst>
              <a:ext uri="{FF2B5EF4-FFF2-40B4-BE49-F238E27FC236}">
                <a16:creationId xmlns:a16="http://schemas.microsoft.com/office/drawing/2014/main" id="{9EC62A89-4DCA-4D5B-9BFD-71AD8ACDB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141663"/>
          <a:ext cx="15843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Формула" r:id="rId4" imgW="748975" imgH="215806" progId="Equation.3">
                  <p:embed/>
                </p:oleObj>
              </mc:Choice>
              <mc:Fallback>
                <p:oleObj name="Формула" r:id="rId4" imgW="748975" imgH="215806" progId="Equation.3">
                  <p:embed/>
                  <p:pic>
                    <p:nvPicPr>
                      <p:cNvPr id="10245" name="Object 6">
                        <a:extLst>
                          <a:ext uri="{FF2B5EF4-FFF2-40B4-BE49-F238E27FC236}">
                            <a16:creationId xmlns:a16="http://schemas.microsoft.com/office/drawing/2014/main" id="{9EC62A89-4DCA-4D5B-9BFD-71AD8ACDB3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141663"/>
                        <a:ext cx="158432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>
            <a:extLst>
              <a:ext uri="{FF2B5EF4-FFF2-40B4-BE49-F238E27FC236}">
                <a16:creationId xmlns:a16="http://schemas.microsoft.com/office/drawing/2014/main" id="{639875BF-5DF7-4354-970D-5A0E43CD9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3357563"/>
          <a:ext cx="10080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Формула" r:id="rId6" imgW="583947" imgH="228501" progId="Equation.3">
                  <p:embed/>
                </p:oleObj>
              </mc:Choice>
              <mc:Fallback>
                <p:oleObj name="Формула" r:id="rId6" imgW="583947" imgH="228501" progId="Equation.3">
                  <p:embed/>
                  <p:pic>
                    <p:nvPicPr>
                      <p:cNvPr id="10246" name="Object 5">
                        <a:extLst>
                          <a:ext uri="{FF2B5EF4-FFF2-40B4-BE49-F238E27FC236}">
                            <a16:creationId xmlns:a16="http://schemas.microsoft.com/office/drawing/2014/main" id="{639875BF-5DF7-4354-970D-5A0E43CD9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357563"/>
                        <a:ext cx="10080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>
            <a:extLst>
              <a:ext uri="{FF2B5EF4-FFF2-40B4-BE49-F238E27FC236}">
                <a16:creationId xmlns:a16="http://schemas.microsoft.com/office/drawing/2014/main" id="{C6A4BC44-2D85-4CC0-AFDB-DF3DF1AC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420938"/>
            <a:ext cx="49688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Tx/>
              <a:buAutoNum type="arabicPeriod"/>
            </a:pPr>
            <a:r>
              <a:rPr lang="ru-RU" altLang="ru-RU" sz="2000">
                <a:cs typeface="Times New Roman" panose="02020603050405020304" pitchFamily="18" charset="0"/>
              </a:rPr>
              <a:t>Выбор направления уменьшения функции спуска </a:t>
            </a:r>
            <a:r>
              <a:rPr lang="en-US" altLang="ru-RU" sz="2000">
                <a:cs typeface="Times New Roman" panose="02020603050405020304" pitchFamily="18" charset="0"/>
              </a:rPr>
              <a:t>d</a:t>
            </a:r>
            <a:r>
              <a:rPr lang="ru-RU" altLang="ru-RU" sz="2000">
                <a:cs typeface="Times New Roman" panose="02020603050405020304" pitchFamily="18" charset="0"/>
              </a:rPr>
              <a:t> – в области возможного направления. Например</a:t>
            </a:r>
            <a:endParaRPr lang="ru-RU" altLang="ru-RU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16CE3D82-E51A-47F1-AD14-985031C7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368675"/>
            <a:ext cx="332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Этот алгоритм  обозначим </a:t>
            </a:r>
            <a:r>
              <a:rPr lang="en-US" altLang="ru-RU" sz="2000">
                <a:cs typeface="Times New Roman" panose="02020603050405020304" pitchFamily="18" charset="0"/>
              </a:rPr>
              <a:t>D</a:t>
            </a:r>
            <a:endParaRPr lang="en-US" altLang="ru-RU" sz="2000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F21CF833-D612-42A4-8BC0-52977A76F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0250" name="Rectangle 11">
            <a:extLst>
              <a:ext uri="{FF2B5EF4-FFF2-40B4-BE49-F238E27FC236}">
                <a16:creationId xmlns:a16="http://schemas.microsoft.com/office/drawing/2014/main" id="{48F1E69B-846C-44C3-BE06-92789088B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3">
            <a:extLst>
              <a:ext uri="{FF2B5EF4-FFF2-40B4-BE49-F238E27FC236}">
                <a16:creationId xmlns:a16="http://schemas.microsoft.com/office/drawing/2014/main" id="{26E77592-A880-41D7-AB44-E61794B3C0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860800"/>
          <a:ext cx="22860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Формула" r:id="rId8" imgW="152334" imgH="139639" progId="Equation.3">
                  <p:embed/>
                </p:oleObj>
              </mc:Choice>
              <mc:Fallback>
                <p:oleObj name="Формула" r:id="rId8" imgW="152334" imgH="139639" progId="Equation.3">
                  <p:embed/>
                  <p:pic>
                    <p:nvPicPr>
                      <p:cNvPr id="10251" name="Object 13">
                        <a:extLst>
                          <a:ext uri="{FF2B5EF4-FFF2-40B4-BE49-F238E27FC236}">
                            <a16:creationId xmlns:a16="http://schemas.microsoft.com/office/drawing/2014/main" id="{26E77592-A880-41D7-AB44-E61794B3C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860800"/>
                        <a:ext cx="22860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4">
            <a:extLst>
              <a:ext uri="{FF2B5EF4-FFF2-40B4-BE49-F238E27FC236}">
                <a16:creationId xmlns:a16="http://schemas.microsoft.com/office/drawing/2014/main" id="{8C05209A-81E7-419B-B02D-191BA7398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716338"/>
            <a:ext cx="185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2. </a:t>
            </a:r>
            <a:r>
              <a:rPr lang="ru-RU" altLang="ru-RU" sz="2000">
                <a:cs typeface="Times New Roman" panose="02020603050405020304" pitchFamily="18" charset="0"/>
              </a:rPr>
              <a:t>Выбор шага </a:t>
            </a:r>
            <a:endParaRPr lang="ru-RU" altLang="ru-RU" sz="2000"/>
          </a:p>
        </p:txBody>
      </p:sp>
      <p:sp>
        <p:nvSpPr>
          <p:cNvPr id="10253" name="Rectangle 16">
            <a:extLst>
              <a:ext uri="{FF2B5EF4-FFF2-40B4-BE49-F238E27FC236}">
                <a16:creationId xmlns:a16="http://schemas.microsoft.com/office/drawing/2014/main" id="{127F3B13-65B4-4707-A01D-E19A83B0F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460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r>
              <a:rPr lang="ru-RU" altLang="ru-RU" sz="2000">
                <a:cs typeface="Times New Roman" panose="02020603050405020304" pitchFamily="18" charset="0"/>
              </a:rPr>
              <a:t>Это</a:t>
            </a:r>
            <a:r>
              <a:rPr lang="ru-RU" altLang="ru-RU" sz="2000">
                <a:latin typeface="Times New Roman" panose="02020603050405020304" pitchFamily="18" charset="0"/>
              </a:rPr>
              <a:t>т</a:t>
            </a:r>
            <a:r>
              <a:rPr lang="ru-RU" altLang="ru-RU" sz="2000">
                <a:cs typeface="Times New Roman" panose="02020603050405020304" pitchFamily="18" charset="0"/>
              </a:rPr>
              <a:t> алгоритм обозначим </a:t>
            </a:r>
            <a:r>
              <a:rPr lang="en-US" altLang="ru-RU" sz="2000">
                <a:cs typeface="Times New Roman" panose="02020603050405020304" pitchFamily="18" charset="0"/>
              </a:rPr>
              <a:t>U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endParaRPr lang="ru-RU" altLang="ru-RU" sz="2000"/>
          </a:p>
        </p:txBody>
      </p:sp>
      <p:sp>
        <p:nvSpPr>
          <p:cNvPr id="10254" name="Rectangle 18">
            <a:extLst>
              <a:ext uri="{FF2B5EF4-FFF2-40B4-BE49-F238E27FC236}">
                <a16:creationId xmlns:a16="http://schemas.microsoft.com/office/drawing/2014/main" id="{9D705EC1-5477-4781-8B58-D23A873E7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89363"/>
            <a:ext cx="5508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→     </a:t>
            </a:r>
            <a:endParaRPr lang="ru-RU" altLang="ru-RU"/>
          </a:p>
        </p:txBody>
      </p:sp>
      <p:graphicFrame>
        <p:nvGraphicFramePr>
          <p:cNvPr id="10255" name="Object 17">
            <a:extLst>
              <a:ext uri="{FF2B5EF4-FFF2-40B4-BE49-F238E27FC236}">
                <a16:creationId xmlns:a16="http://schemas.microsoft.com/office/drawing/2014/main" id="{D898E2AF-3FC2-47A7-A96E-EFEECAE84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3789363"/>
          <a:ext cx="28082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name="Формула" r:id="rId10" imgW="1778000" imgH="228600" progId="Equation.3">
                  <p:embed/>
                </p:oleObj>
              </mc:Choice>
              <mc:Fallback>
                <p:oleObj name="Формула" r:id="rId10" imgW="1778000" imgH="228600" progId="Equation.3">
                  <p:embed/>
                  <p:pic>
                    <p:nvPicPr>
                      <p:cNvPr id="10255" name="Object 17">
                        <a:extLst>
                          <a:ext uri="{FF2B5EF4-FFF2-40B4-BE49-F238E27FC236}">
                            <a16:creationId xmlns:a16="http://schemas.microsoft.com/office/drawing/2014/main" id="{D898E2AF-3FC2-47A7-A96E-EFEECAE84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789363"/>
                        <a:ext cx="28082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Rectangle 19">
            <a:extLst>
              <a:ext uri="{FF2B5EF4-FFF2-40B4-BE49-F238E27FC236}">
                <a16:creationId xmlns:a16="http://schemas.microsoft.com/office/drawing/2014/main" id="{B3671146-DD83-4EDC-B891-F80AB9D3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0257" name="Rectangle 21">
            <a:extLst>
              <a:ext uri="{FF2B5EF4-FFF2-40B4-BE49-F238E27FC236}">
                <a16:creationId xmlns:a16="http://schemas.microsoft.com/office/drawing/2014/main" id="{2A275E6F-ADC2-465F-8ACB-98992D91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8" name="Object 20">
            <a:extLst>
              <a:ext uri="{FF2B5EF4-FFF2-40B4-BE49-F238E27FC236}">
                <a16:creationId xmlns:a16="http://schemas.microsoft.com/office/drawing/2014/main" id="{FC49D156-8E2D-44EF-9B63-978F349F45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167188"/>
          <a:ext cx="38163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0" name="Формула" r:id="rId12" imgW="2159000" imgH="228600" progId="Equation.3">
                  <p:embed/>
                </p:oleObj>
              </mc:Choice>
              <mc:Fallback>
                <p:oleObj name="Формула" r:id="rId12" imgW="2159000" imgH="228600" progId="Equation.3">
                  <p:embed/>
                  <p:pic>
                    <p:nvPicPr>
                      <p:cNvPr id="10258" name="Object 20">
                        <a:extLst>
                          <a:ext uri="{FF2B5EF4-FFF2-40B4-BE49-F238E27FC236}">
                            <a16:creationId xmlns:a16="http://schemas.microsoft.com/office/drawing/2014/main" id="{FC49D156-8E2D-44EF-9B63-978F349F45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167188"/>
                        <a:ext cx="38163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Rectangle 22">
            <a:extLst>
              <a:ext uri="{FF2B5EF4-FFF2-40B4-BE49-F238E27FC236}">
                <a16:creationId xmlns:a16="http://schemas.microsoft.com/office/drawing/2014/main" id="{9C779F84-042E-4B26-877A-D22CB640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60" name="Rectangle 23">
            <a:extLst>
              <a:ext uri="{FF2B5EF4-FFF2-40B4-BE49-F238E27FC236}">
                <a16:creationId xmlns:a16="http://schemas.microsoft.com/office/drawing/2014/main" id="{8AE9522C-C2F3-4B0B-B9FD-8E36A48E3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072063"/>
            <a:ext cx="5113338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 Если решается задача с ограничениями, то необходимо ввести еще один алгоритм  </a:t>
            </a:r>
            <a:r>
              <a:rPr lang="en-US" altLang="ru-RU"/>
              <a:t>L</a:t>
            </a:r>
            <a:r>
              <a:rPr lang="ru-RU" altLang="ru-RU"/>
              <a:t> , учитывающий наличие ограничений.</a:t>
            </a:r>
          </a:p>
          <a:p>
            <a:pPr eaLnBrk="1" hangingPunct="1"/>
            <a:r>
              <a:rPr lang="ru-RU" altLang="ru-RU"/>
              <a:t>Тогда общий алгоритм будет композицией алгоритмов: </a:t>
            </a:r>
          </a:p>
        </p:txBody>
      </p:sp>
      <p:sp>
        <p:nvSpPr>
          <p:cNvPr id="10261" name="Rectangle 25">
            <a:extLst>
              <a:ext uri="{FF2B5EF4-FFF2-40B4-BE49-F238E27FC236}">
                <a16:creationId xmlns:a16="http://schemas.microsoft.com/office/drawing/2014/main" id="{7CBCEB58-F280-45AE-825B-F8C1B840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2" name="Object 24">
            <a:extLst>
              <a:ext uri="{FF2B5EF4-FFF2-40B4-BE49-F238E27FC236}">
                <a16:creationId xmlns:a16="http://schemas.microsoft.com/office/drawing/2014/main" id="{0AC38956-0863-4DD1-AFE2-DFF538A72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6165850"/>
          <a:ext cx="34575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1" name="Формула" r:id="rId14" imgW="1637589" imgH="203112" progId="Equation.3">
                  <p:embed/>
                </p:oleObj>
              </mc:Choice>
              <mc:Fallback>
                <p:oleObj name="Формула" r:id="rId14" imgW="1637589" imgH="203112" progId="Equation.3">
                  <p:embed/>
                  <p:pic>
                    <p:nvPicPr>
                      <p:cNvPr id="10262" name="Object 24">
                        <a:extLst>
                          <a:ext uri="{FF2B5EF4-FFF2-40B4-BE49-F238E27FC236}">
                            <a16:creationId xmlns:a16="http://schemas.microsoft.com/office/drawing/2014/main" id="{0AC38956-0863-4DD1-AFE2-DFF538A725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6165850"/>
                        <a:ext cx="34575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188B91-2212-41C2-B985-8A03D3565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  <a:endParaRPr lang="ru-RU" altLang="ru-RU" sz="4000" b="1" u="sng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A187B4C-2B30-476C-ABAD-D64CAF18C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b="1" u="sng"/>
              <a:t>4.2. Критерий окончания процесса оптимизации.</a:t>
            </a:r>
          </a:p>
        </p:txBody>
      </p:sp>
      <p:sp>
        <p:nvSpPr>
          <p:cNvPr id="11268" name="Rectangle 9">
            <a:extLst>
              <a:ext uri="{FF2B5EF4-FFF2-40B4-BE49-F238E27FC236}">
                <a16:creationId xmlns:a16="http://schemas.microsoft.com/office/drawing/2014/main" id="{135AF724-873C-4DE9-A953-E9B69A89E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1269" name="Rectangle 16">
            <a:extLst>
              <a:ext uri="{FF2B5EF4-FFF2-40B4-BE49-F238E27FC236}">
                <a16:creationId xmlns:a16="http://schemas.microsoft.com/office/drawing/2014/main" id="{F40B2FE6-E276-40D6-8FA1-FD5661CF2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1270" name="Rectangle 19">
            <a:extLst>
              <a:ext uri="{FF2B5EF4-FFF2-40B4-BE49-F238E27FC236}">
                <a16:creationId xmlns:a16="http://schemas.microsoft.com/office/drawing/2014/main" id="{2D68E853-41F7-4EE4-BF05-A98E17E8A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71" name="Rectangle 21">
            <a:extLst>
              <a:ext uri="{FF2B5EF4-FFF2-40B4-BE49-F238E27FC236}">
                <a16:creationId xmlns:a16="http://schemas.microsoft.com/office/drawing/2014/main" id="{0938ABDE-1276-42E5-99B0-1FA9BB030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72" name="Object 24">
            <a:extLst>
              <a:ext uri="{FF2B5EF4-FFF2-40B4-BE49-F238E27FC236}">
                <a16:creationId xmlns:a16="http://schemas.microsoft.com/office/drawing/2014/main" id="{4164DD81-6E77-4B74-8080-AB1A929C6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2276475"/>
          <a:ext cx="4619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Формула" r:id="rId3" imgW="177569" imgH="202936" progId="Equation.3">
                  <p:embed/>
                </p:oleObj>
              </mc:Choice>
              <mc:Fallback>
                <p:oleObj name="Формула" r:id="rId3" imgW="177569" imgH="202936" progId="Equation.3">
                  <p:embed/>
                  <p:pic>
                    <p:nvPicPr>
                      <p:cNvPr id="11272" name="Object 24">
                        <a:extLst>
                          <a:ext uri="{FF2B5EF4-FFF2-40B4-BE49-F238E27FC236}">
                            <a16:creationId xmlns:a16="http://schemas.microsoft.com/office/drawing/2014/main" id="{4164DD81-6E77-4B74-8080-AB1A929C6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2276475"/>
                        <a:ext cx="4619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23">
            <a:extLst>
              <a:ext uri="{FF2B5EF4-FFF2-40B4-BE49-F238E27FC236}">
                <a16:creationId xmlns:a16="http://schemas.microsoft.com/office/drawing/2014/main" id="{BB8441E1-3351-4963-8D50-8D72E639F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781300"/>
          <a:ext cx="1441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1" name="Формула" r:id="rId5" imgW="545863" imgH="228501" progId="Equation.3">
                  <p:embed/>
                </p:oleObj>
              </mc:Choice>
              <mc:Fallback>
                <p:oleObj name="Формула" r:id="rId5" imgW="545863" imgH="228501" progId="Equation.3">
                  <p:embed/>
                  <p:pic>
                    <p:nvPicPr>
                      <p:cNvPr id="11273" name="Object 23">
                        <a:extLst>
                          <a:ext uri="{FF2B5EF4-FFF2-40B4-BE49-F238E27FC236}">
                            <a16:creationId xmlns:a16="http://schemas.microsoft.com/office/drawing/2014/main" id="{BB8441E1-3351-4963-8D50-8D72E639F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781300"/>
                        <a:ext cx="1441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25">
            <a:extLst>
              <a:ext uri="{FF2B5EF4-FFF2-40B4-BE49-F238E27FC236}">
                <a16:creationId xmlns:a16="http://schemas.microsoft.com/office/drawing/2014/main" id="{2B88566F-25EA-48EE-9161-71CB532B7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49500"/>
            <a:ext cx="7531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Точка зрения  математика состоит в нахождении точного решения </a:t>
            </a:r>
            <a:endParaRPr lang="ru-RU" altLang="ru-RU" sz="2000"/>
          </a:p>
        </p:txBody>
      </p:sp>
      <p:sp>
        <p:nvSpPr>
          <p:cNvPr id="11275" name="Rectangle 26">
            <a:extLst>
              <a:ext uri="{FF2B5EF4-FFF2-40B4-BE49-F238E27FC236}">
                <a16:creationId xmlns:a16="http://schemas.microsoft.com/office/drawing/2014/main" id="{85D4C862-1CDE-49D9-940D-A21D483BD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781300"/>
            <a:ext cx="6354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altLang="ru-RU" sz="2000">
                <a:cs typeface="Times New Roman" panose="02020603050405020304" pitchFamily="18" charset="0"/>
              </a:rPr>
              <a:t>Точка зрения  инженера состоит в определение области </a:t>
            </a:r>
            <a:endParaRPr lang="ru-RU" altLang="ru-RU" sz="2000"/>
          </a:p>
        </p:txBody>
      </p:sp>
      <p:sp>
        <p:nvSpPr>
          <p:cNvPr id="11276" name="Rectangle 27">
            <a:extLst>
              <a:ext uri="{FF2B5EF4-FFF2-40B4-BE49-F238E27FC236}">
                <a16:creationId xmlns:a16="http://schemas.microsoft.com/office/drawing/2014/main" id="{D447E05B-D5DE-4501-9865-014B06492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68638"/>
            <a:ext cx="83518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cs typeface="Times New Roman" panose="02020603050405020304" pitchFamily="18" charset="0"/>
              </a:rPr>
              <a:t>близкой к оптимальной. В связи с этим существует несколько критериев останова в зависимости от точности решаемой задачи. </a:t>
            </a:r>
            <a:endParaRPr lang="ru-RU" altLang="ru-RU" sz="2000"/>
          </a:p>
          <a:p>
            <a:endParaRPr lang="ru-RU" altLang="ru-RU" sz="2000"/>
          </a:p>
        </p:txBody>
      </p:sp>
      <p:sp>
        <p:nvSpPr>
          <p:cNvPr id="11277" name="Rectangle 28">
            <a:extLst>
              <a:ext uri="{FF2B5EF4-FFF2-40B4-BE49-F238E27FC236}">
                <a16:creationId xmlns:a16="http://schemas.microsoft.com/office/drawing/2014/main" id="{C57B2952-C1E1-4BED-BFF6-6560C6142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242093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pic>
        <p:nvPicPr>
          <p:cNvPr id="11278" name="Picture 29" descr="L94">
            <a:extLst>
              <a:ext uri="{FF2B5EF4-FFF2-40B4-BE49-F238E27FC236}">
                <a16:creationId xmlns:a16="http://schemas.microsoft.com/office/drawing/2014/main" id="{50C9D5A4-91B9-414A-99F7-87E45CBEC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9363"/>
            <a:ext cx="34194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9" name="Rectangle 30">
            <a:extLst>
              <a:ext uri="{FF2B5EF4-FFF2-40B4-BE49-F238E27FC236}">
                <a16:creationId xmlns:a16="http://schemas.microsoft.com/office/drawing/2014/main" id="{E8B9AC3D-8BD0-4A95-9212-05741AC8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165850"/>
            <a:ext cx="292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/>
              <a:t>Точка зрения инженера</a:t>
            </a:r>
            <a:r>
              <a:rPr lang="ru-RU" altLang="ru-RU"/>
              <a:t>.</a:t>
            </a:r>
          </a:p>
        </p:txBody>
      </p:sp>
      <p:sp>
        <p:nvSpPr>
          <p:cNvPr id="11280" name="Rectangle 31">
            <a:extLst>
              <a:ext uri="{FF2B5EF4-FFF2-40B4-BE49-F238E27FC236}">
                <a16:creationId xmlns:a16="http://schemas.microsoft.com/office/drawing/2014/main" id="{4A976335-633D-4C0D-9A04-7094D9C9A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716338"/>
            <a:ext cx="37068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/>
              <a:t>Критерии останова алгоритма.</a:t>
            </a:r>
          </a:p>
        </p:txBody>
      </p:sp>
      <p:sp>
        <p:nvSpPr>
          <p:cNvPr id="11281" name="Rectangle 33">
            <a:extLst>
              <a:ext uri="{FF2B5EF4-FFF2-40B4-BE49-F238E27FC236}">
                <a16:creationId xmlns:a16="http://schemas.microsoft.com/office/drawing/2014/main" id="{9B171163-AB23-4579-B931-1723A808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7670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cs typeface="Times New Roman" panose="02020603050405020304" pitchFamily="18" charset="0"/>
              </a:rPr>
              <a:t>1.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11282" name="Object 32">
            <a:extLst>
              <a:ext uri="{FF2B5EF4-FFF2-40B4-BE49-F238E27FC236}">
                <a16:creationId xmlns:a16="http://schemas.microsoft.com/office/drawing/2014/main" id="{F04CA186-37F1-467F-BDAD-CD3A7C5FA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005263"/>
          <a:ext cx="19446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Формула" r:id="rId8" imgW="1066800" imgH="279400" progId="Equation.3">
                  <p:embed/>
                </p:oleObj>
              </mc:Choice>
              <mc:Fallback>
                <p:oleObj name="Формула" r:id="rId8" imgW="1066800" imgH="279400" progId="Equation.3">
                  <p:embed/>
                  <p:pic>
                    <p:nvPicPr>
                      <p:cNvPr id="11282" name="Object 32">
                        <a:extLst>
                          <a:ext uri="{FF2B5EF4-FFF2-40B4-BE49-F238E27FC236}">
                            <a16:creationId xmlns:a16="http://schemas.microsoft.com/office/drawing/2014/main" id="{F04CA186-37F1-467F-BDAD-CD3A7C5FAC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005263"/>
                        <a:ext cx="19446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34">
            <a:extLst>
              <a:ext uri="{FF2B5EF4-FFF2-40B4-BE49-F238E27FC236}">
                <a16:creationId xmlns:a16="http://schemas.microsoft.com/office/drawing/2014/main" id="{6157C44B-88C1-47F5-B39D-8A7660F9A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67113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11284" name="Rectangle 36">
            <a:extLst>
              <a:ext uri="{FF2B5EF4-FFF2-40B4-BE49-F238E27FC236}">
                <a16:creationId xmlns:a16="http://schemas.microsoft.com/office/drawing/2014/main" id="{A9CD1231-5FE2-4EE2-B003-3F45F4B9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0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85" name="Object 35">
            <a:extLst>
              <a:ext uri="{FF2B5EF4-FFF2-40B4-BE49-F238E27FC236}">
                <a16:creationId xmlns:a16="http://schemas.microsoft.com/office/drawing/2014/main" id="{8233A43C-FB04-46CE-B4A6-6E3C22419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508500"/>
          <a:ext cx="16557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Формула" r:id="rId10" imgW="761669" imgH="380835" progId="Equation.3">
                  <p:embed/>
                </p:oleObj>
              </mc:Choice>
              <mc:Fallback>
                <p:oleObj name="Формула" r:id="rId10" imgW="761669" imgH="380835" progId="Equation.3">
                  <p:embed/>
                  <p:pic>
                    <p:nvPicPr>
                      <p:cNvPr id="11285" name="Object 35">
                        <a:extLst>
                          <a:ext uri="{FF2B5EF4-FFF2-40B4-BE49-F238E27FC236}">
                            <a16:creationId xmlns:a16="http://schemas.microsoft.com/office/drawing/2014/main" id="{8233A43C-FB04-46CE-B4A6-6E3C22419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508500"/>
                        <a:ext cx="1655763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6" name="Rectangle 37">
            <a:extLst>
              <a:ext uri="{FF2B5EF4-FFF2-40B4-BE49-F238E27FC236}">
                <a16:creationId xmlns:a16="http://schemas.microsoft.com/office/drawing/2014/main" id="{BC0A1352-15F7-4898-8C18-CFA018A10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58152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2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1287" name="Rectangle 39">
            <a:extLst>
              <a:ext uri="{FF2B5EF4-FFF2-40B4-BE49-F238E27FC236}">
                <a16:creationId xmlns:a16="http://schemas.microsoft.com/office/drawing/2014/main" id="{1118DE2A-895F-455D-9B24-F967B5FB7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88" name="Object 38">
            <a:extLst>
              <a:ext uri="{FF2B5EF4-FFF2-40B4-BE49-F238E27FC236}">
                <a16:creationId xmlns:a16="http://schemas.microsoft.com/office/drawing/2014/main" id="{5B6BDA0A-0C10-48A2-A41B-4DB9F9831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338763"/>
          <a:ext cx="25923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4" name="Формула" r:id="rId12" imgW="1282700" imgH="228600" progId="Equation.3">
                  <p:embed/>
                </p:oleObj>
              </mc:Choice>
              <mc:Fallback>
                <p:oleObj name="Формула" r:id="rId12" imgW="1282700" imgH="228600" progId="Equation.3">
                  <p:embed/>
                  <p:pic>
                    <p:nvPicPr>
                      <p:cNvPr id="11288" name="Object 38">
                        <a:extLst>
                          <a:ext uri="{FF2B5EF4-FFF2-40B4-BE49-F238E27FC236}">
                            <a16:creationId xmlns:a16="http://schemas.microsoft.com/office/drawing/2014/main" id="{5B6BDA0A-0C10-48A2-A41B-4DB9F9831F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338763"/>
                        <a:ext cx="25923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9" name="Rectangle 40">
            <a:extLst>
              <a:ext uri="{FF2B5EF4-FFF2-40B4-BE49-F238E27FC236}">
                <a16:creationId xmlns:a16="http://schemas.microsoft.com/office/drawing/2014/main" id="{2370F183-DEDC-4227-B811-133DA0C15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3006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3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1290" name="Rectangle 42">
            <a:extLst>
              <a:ext uri="{FF2B5EF4-FFF2-40B4-BE49-F238E27FC236}">
                <a16:creationId xmlns:a16="http://schemas.microsoft.com/office/drawing/2014/main" id="{DB7EA2E4-A51B-4E61-B2F3-2B439159C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91" name="Object 41">
            <a:extLst>
              <a:ext uri="{FF2B5EF4-FFF2-40B4-BE49-F238E27FC236}">
                <a16:creationId xmlns:a16="http://schemas.microsoft.com/office/drawing/2014/main" id="{144D5E2C-A63B-479B-8ACB-364CA16BA6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805488"/>
          <a:ext cx="252095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Формула" r:id="rId14" imgW="875920" imgH="304668" progId="Equation.3">
                  <p:embed/>
                </p:oleObj>
              </mc:Choice>
              <mc:Fallback>
                <p:oleObj name="Формула" r:id="rId14" imgW="875920" imgH="304668" progId="Equation.3">
                  <p:embed/>
                  <p:pic>
                    <p:nvPicPr>
                      <p:cNvPr id="11291" name="Object 41">
                        <a:extLst>
                          <a:ext uri="{FF2B5EF4-FFF2-40B4-BE49-F238E27FC236}">
                            <a16:creationId xmlns:a16="http://schemas.microsoft.com/office/drawing/2014/main" id="{144D5E2C-A63B-479B-8ACB-364CA16BA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805488"/>
                        <a:ext cx="252095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2" name="Rectangle 43">
            <a:extLst>
              <a:ext uri="{FF2B5EF4-FFF2-40B4-BE49-F238E27FC236}">
                <a16:creationId xmlns:a16="http://schemas.microsoft.com/office/drawing/2014/main" id="{F37D157F-4454-44F6-A46D-8AA34AB9D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60213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4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AFDC25F-11A9-4392-AD2E-AE246EEDB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13F97EA-D5A1-4C61-B3DC-5B6A14E8B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b="1" u="sng" dirty="0"/>
              <a:t>4.3. Скорость сходимости алгоритмов.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DEAB189-84CA-49A9-BF34-13EF29D6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FEB21A44-061F-4ED2-BBB7-8B6A1D4E1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C4EE21AD-1B2B-467F-A390-E02179E27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5BD2DE66-6769-429F-A025-8791B1CF7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6" name="Rectangle 19">
            <a:extLst>
              <a:ext uri="{FF2B5EF4-FFF2-40B4-BE49-F238E27FC236}">
                <a16:creationId xmlns:a16="http://schemas.microsoft.com/office/drawing/2014/main" id="{738778BE-19EE-4A35-BA09-EDEC23E61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67113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12297" name="Rectangle 20">
            <a:extLst>
              <a:ext uri="{FF2B5EF4-FFF2-40B4-BE49-F238E27FC236}">
                <a16:creationId xmlns:a16="http://schemas.microsoft.com/office/drawing/2014/main" id="{E9AE030E-6A6D-4B63-98AE-2E6A35DDC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8" name="Rectangle 23">
            <a:extLst>
              <a:ext uri="{FF2B5EF4-FFF2-40B4-BE49-F238E27FC236}">
                <a16:creationId xmlns:a16="http://schemas.microsoft.com/office/drawing/2014/main" id="{F4AD22D0-0D0F-4EE3-BD35-499BD575D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9" name="Rectangle 26">
            <a:extLst>
              <a:ext uri="{FF2B5EF4-FFF2-40B4-BE49-F238E27FC236}">
                <a16:creationId xmlns:a16="http://schemas.microsoft.com/office/drawing/2014/main" id="{BD09286F-C0B6-4821-A34B-A9573F098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0" name="Object 29">
            <a:extLst>
              <a:ext uri="{FF2B5EF4-FFF2-40B4-BE49-F238E27FC236}">
                <a16:creationId xmlns:a16="http://schemas.microsoft.com/office/drawing/2014/main" id="{D182DF48-63B7-4440-80DD-6018D8828F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916113"/>
          <a:ext cx="2825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Формула" r:id="rId3" imgW="126780" imgH="215526" progId="Equation.3">
                  <p:embed/>
                </p:oleObj>
              </mc:Choice>
              <mc:Fallback>
                <p:oleObj name="Формула" r:id="rId3" imgW="126780" imgH="215526" progId="Equation.3">
                  <p:embed/>
                  <p:pic>
                    <p:nvPicPr>
                      <p:cNvPr id="12300" name="Object 29">
                        <a:extLst>
                          <a:ext uri="{FF2B5EF4-FFF2-40B4-BE49-F238E27FC236}">
                            <a16:creationId xmlns:a16="http://schemas.microsoft.com/office/drawing/2014/main" id="{D182DF48-63B7-4440-80DD-6018D8828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916113"/>
                        <a:ext cx="2825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31">
            <a:extLst>
              <a:ext uri="{FF2B5EF4-FFF2-40B4-BE49-F238E27FC236}">
                <a16:creationId xmlns:a16="http://schemas.microsoft.com/office/drawing/2014/main" id="{A9302A30-2A57-4316-8306-304D7B2C0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123031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9121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2302" name="Rectangle 32">
            <a:extLst>
              <a:ext uri="{FF2B5EF4-FFF2-40B4-BE49-F238E27FC236}">
                <a16:creationId xmlns:a16="http://schemas.microsoft.com/office/drawing/2014/main" id="{DA52012F-8283-462C-BD6B-9A5024C0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989138"/>
            <a:ext cx="1484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сходится к </a:t>
            </a:r>
            <a:endParaRPr lang="ru-RU" altLang="ru-RU" sz="2000"/>
          </a:p>
        </p:txBody>
      </p:sp>
      <p:sp>
        <p:nvSpPr>
          <p:cNvPr id="12303" name="Rectangle 33">
            <a:extLst>
              <a:ext uri="{FF2B5EF4-FFF2-40B4-BE49-F238E27FC236}">
                <a16:creationId xmlns:a16="http://schemas.microsoft.com/office/drawing/2014/main" id="{E966361A-45C7-4DC9-92E2-9098707A0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989138"/>
            <a:ext cx="4492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тогда, если выполняются неравенства:</a:t>
            </a:r>
          </a:p>
          <a:p>
            <a:endParaRPr lang="ru-RU" altLang="ru-RU" sz="2000"/>
          </a:p>
        </p:txBody>
      </p:sp>
      <p:sp>
        <p:nvSpPr>
          <p:cNvPr id="12304" name="Rectangle 35">
            <a:extLst>
              <a:ext uri="{FF2B5EF4-FFF2-40B4-BE49-F238E27FC236}">
                <a16:creationId xmlns:a16="http://schemas.microsoft.com/office/drawing/2014/main" id="{DAE5F75C-70B7-4C60-8B4B-9B9B9A36D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5" name="Object 34">
            <a:extLst>
              <a:ext uri="{FF2B5EF4-FFF2-40B4-BE49-F238E27FC236}">
                <a16:creationId xmlns:a16="http://schemas.microsoft.com/office/drawing/2014/main" id="{E6957188-E36E-464A-9F55-86F77E542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989138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Формула" r:id="rId5" imgW="342751" imgH="228501" progId="Equation.3">
                  <p:embed/>
                </p:oleObj>
              </mc:Choice>
              <mc:Fallback>
                <p:oleObj name="Формула" r:id="rId5" imgW="342751" imgH="228501" progId="Equation.3">
                  <p:embed/>
                  <p:pic>
                    <p:nvPicPr>
                      <p:cNvPr id="12305" name="Object 34">
                        <a:extLst>
                          <a:ext uri="{FF2B5EF4-FFF2-40B4-BE49-F238E27FC236}">
                            <a16:creationId xmlns:a16="http://schemas.microsoft.com/office/drawing/2014/main" id="{E6957188-E36E-464A-9F55-86F77E542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89138"/>
                        <a:ext cx="64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Rectangle 37">
            <a:extLst>
              <a:ext uri="{FF2B5EF4-FFF2-40B4-BE49-F238E27FC236}">
                <a16:creationId xmlns:a16="http://schemas.microsoft.com/office/drawing/2014/main" id="{C215C119-156A-4C34-B490-2FCDCDBFD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307" name="Rectangle 38">
            <a:extLst>
              <a:ext uri="{FF2B5EF4-FFF2-40B4-BE49-F238E27FC236}">
                <a16:creationId xmlns:a16="http://schemas.microsoft.com/office/drawing/2014/main" id="{602FC123-7B09-4B3D-8B01-0056F24F8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51113"/>
            <a:ext cx="817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(1.)</a:t>
            </a:r>
            <a:r>
              <a:rPr lang="ru-RU" altLang="ru-RU"/>
              <a:t>    </a:t>
            </a:r>
          </a:p>
        </p:txBody>
      </p:sp>
      <p:sp>
        <p:nvSpPr>
          <p:cNvPr id="12308" name="Rectangle 40">
            <a:extLst>
              <a:ext uri="{FF2B5EF4-FFF2-40B4-BE49-F238E27FC236}">
                <a16:creationId xmlns:a16="http://schemas.microsoft.com/office/drawing/2014/main" id="{235A3157-9E1B-4B6D-83D4-1082F4DC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9" name="Object 39">
            <a:extLst>
              <a:ext uri="{FF2B5EF4-FFF2-40B4-BE49-F238E27FC236}">
                <a16:creationId xmlns:a16="http://schemas.microsoft.com/office/drawing/2014/main" id="{8373DDA8-3A7F-487E-8ECD-26815BB37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420938"/>
          <a:ext cx="4248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Формула" r:id="rId7" imgW="1916868" imgH="393529" progId="Equation.3">
                  <p:embed/>
                </p:oleObj>
              </mc:Choice>
              <mc:Fallback>
                <p:oleObj name="Формула" r:id="rId7" imgW="1916868" imgH="393529" progId="Equation.3">
                  <p:embed/>
                  <p:pic>
                    <p:nvPicPr>
                      <p:cNvPr id="12309" name="Object 39">
                        <a:extLst>
                          <a:ext uri="{FF2B5EF4-FFF2-40B4-BE49-F238E27FC236}">
                            <a16:creationId xmlns:a16="http://schemas.microsoft.com/office/drawing/2014/main" id="{8373DDA8-3A7F-487E-8ECD-26815BB37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20938"/>
                        <a:ext cx="4248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0" name="Rectangle 42">
            <a:extLst>
              <a:ext uri="{FF2B5EF4-FFF2-40B4-BE49-F238E27FC236}">
                <a16:creationId xmlns:a16="http://schemas.microsoft.com/office/drawing/2014/main" id="{446D6983-8EBE-42FC-AB13-494023D66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1" name="Object 41">
            <a:extLst>
              <a:ext uri="{FF2B5EF4-FFF2-40B4-BE49-F238E27FC236}">
                <a16:creationId xmlns:a16="http://schemas.microsoft.com/office/drawing/2014/main" id="{9731DB21-386A-43D4-95D0-AC2EB480A9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565400"/>
          <a:ext cx="349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7" name="Формула" r:id="rId9" imgW="164957" imgH="203024" progId="Equation.3">
                  <p:embed/>
                </p:oleObj>
              </mc:Choice>
              <mc:Fallback>
                <p:oleObj name="Формула" r:id="rId9" imgW="164957" imgH="203024" progId="Equation.3">
                  <p:embed/>
                  <p:pic>
                    <p:nvPicPr>
                      <p:cNvPr id="12311" name="Object 41">
                        <a:extLst>
                          <a:ext uri="{FF2B5EF4-FFF2-40B4-BE49-F238E27FC236}">
                            <a16:creationId xmlns:a16="http://schemas.microsoft.com/office/drawing/2014/main" id="{9731DB21-386A-43D4-95D0-AC2EB480A9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565400"/>
                        <a:ext cx="349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2" name="Rectangle 43">
            <a:extLst>
              <a:ext uri="{FF2B5EF4-FFF2-40B4-BE49-F238E27FC236}">
                <a16:creationId xmlns:a16="http://schemas.microsoft.com/office/drawing/2014/main" id="{F6E8E6F9-DA57-474E-B7BE-DE32E0D6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495" y="2645600"/>
            <a:ext cx="43482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 dirty="0"/>
              <a:t>         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dirty="0">
                <a:cs typeface="Times New Roman" panose="02020603050405020304" pitchFamily="18" charset="0"/>
              </a:rPr>
              <a:t>- коэффициент  сходимости,</a:t>
            </a:r>
            <a:endParaRPr lang="ru-RU" altLang="ru-RU" dirty="0"/>
          </a:p>
          <a:p>
            <a:r>
              <a:rPr lang="ru-RU" altLang="ru-RU" dirty="0"/>
              <a:t>     </a:t>
            </a:r>
            <a:r>
              <a:rPr lang="ru-RU" altLang="ru-RU" dirty="0">
                <a:cs typeface="Times New Roman" panose="02020603050405020304" pitchFamily="18" charset="0"/>
              </a:rPr>
              <a:t> – линейная сходимость, </a:t>
            </a:r>
            <a:endParaRPr lang="ru-RU" altLang="ru-RU" dirty="0"/>
          </a:p>
        </p:txBody>
      </p:sp>
      <p:sp>
        <p:nvSpPr>
          <p:cNvPr id="12313" name="Rectangle 44">
            <a:extLst>
              <a:ext uri="{FF2B5EF4-FFF2-40B4-BE49-F238E27FC236}">
                <a16:creationId xmlns:a16="http://schemas.microsoft.com/office/drawing/2014/main" id="{17C12AB4-A7AC-4A4C-84CF-E91D6838F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716338"/>
            <a:ext cx="717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(2.)   </a:t>
            </a:r>
          </a:p>
        </p:txBody>
      </p:sp>
      <p:sp>
        <p:nvSpPr>
          <p:cNvPr id="12314" name="Rectangle 46">
            <a:extLst>
              <a:ext uri="{FF2B5EF4-FFF2-40B4-BE49-F238E27FC236}">
                <a16:creationId xmlns:a16="http://schemas.microsoft.com/office/drawing/2014/main" id="{E7921C21-93C6-476F-A3C8-A281F01F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1338" y="44370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5" name="Object 45">
            <a:extLst>
              <a:ext uri="{FF2B5EF4-FFF2-40B4-BE49-F238E27FC236}">
                <a16:creationId xmlns:a16="http://schemas.microsoft.com/office/drawing/2014/main" id="{590661A1-5F58-4E34-99DA-B7641E52E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500438"/>
          <a:ext cx="41767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8" name="Формула" r:id="rId11" imgW="1777229" imgH="393529" progId="Equation.3">
                  <p:embed/>
                </p:oleObj>
              </mc:Choice>
              <mc:Fallback>
                <p:oleObj name="Формула" r:id="rId11" imgW="1777229" imgH="393529" progId="Equation.3">
                  <p:embed/>
                  <p:pic>
                    <p:nvPicPr>
                      <p:cNvPr id="12315" name="Object 45">
                        <a:extLst>
                          <a:ext uri="{FF2B5EF4-FFF2-40B4-BE49-F238E27FC236}">
                            <a16:creationId xmlns:a16="http://schemas.microsoft.com/office/drawing/2014/main" id="{590661A1-5F58-4E34-99DA-B7641E52E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00438"/>
                        <a:ext cx="41767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6" name="Rectangle 48">
            <a:extLst>
              <a:ext uri="{FF2B5EF4-FFF2-40B4-BE49-F238E27FC236}">
                <a16:creationId xmlns:a16="http://schemas.microsoft.com/office/drawing/2014/main" id="{440492F0-260C-4A34-969B-C3223F7D8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3835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7" name="Object 47">
            <a:extLst>
              <a:ext uri="{FF2B5EF4-FFF2-40B4-BE49-F238E27FC236}">
                <a16:creationId xmlns:a16="http://schemas.microsoft.com/office/drawing/2014/main" id="{31950E64-5EDF-4BC6-91CE-FB7AEB6D4D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644900"/>
          <a:ext cx="863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" name="Формула" r:id="rId13" imgW="330057" imgH="203112" progId="Equation.3">
                  <p:embed/>
                </p:oleObj>
              </mc:Choice>
              <mc:Fallback>
                <p:oleObj name="Формула" r:id="rId13" imgW="330057" imgH="203112" progId="Equation.3">
                  <p:embed/>
                  <p:pic>
                    <p:nvPicPr>
                      <p:cNvPr id="12317" name="Object 47">
                        <a:extLst>
                          <a:ext uri="{FF2B5EF4-FFF2-40B4-BE49-F238E27FC236}">
                            <a16:creationId xmlns:a16="http://schemas.microsoft.com/office/drawing/2014/main" id="{31950E64-5EDF-4BC6-91CE-FB7AEB6D4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644900"/>
                        <a:ext cx="8636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8" name="Rectangle 49">
            <a:extLst>
              <a:ext uri="{FF2B5EF4-FFF2-40B4-BE49-F238E27FC236}">
                <a16:creationId xmlns:a16="http://schemas.microsoft.com/office/drawing/2014/main" id="{83F12C28-EA2F-4CAA-81DD-AD29C7448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643313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19" name="Rectangle 50">
            <a:extLst>
              <a:ext uri="{FF2B5EF4-FFF2-40B4-BE49-F238E27FC236}">
                <a16:creationId xmlns:a16="http://schemas.microsoft.com/office/drawing/2014/main" id="{4B050925-DC6B-49C3-8E72-AE0B949C6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492375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20" name="Rectangle 51">
            <a:extLst>
              <a:ext uri="{FF2B5EF4-FFF2-40B4-BE49-F238E27FC236}">
                <a16:creationId xmlns:a16="http://schemas.microsoft.com/office/drawing/2014/main" id="{4799511A-30FF-464B-96E8-66EDA12D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73463"/>
            <a:ext cx="3276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 i="1">
                <a:sym typeface="Symbol" panose="05050102010706020507" pitchFamily="18" charset="2"/>
              </a:rPr>
              <a:t></a:t>
            </a:r>
            <a:r>
              <a:rPr lang="ru-RU" altLang="ru-RU">
                <a:sym typeface="Symbol" panose="05050102010706020507" pitchFamily="18" charset="2"/>
              </a:rPr>
              <a:t> </a:t>
            </a:r>
            <a:r>
              <a:rPr lang="ru-RU" altLang="ru-RU"/>
              <a:t>- порядок сходимости,</a:t>
            </a:r>
          </a:p>
        </p:txBody>
      </p:sp>
      <p:sp>
        <p:nvSpPr>
          <p:cNvPr id="12321" name="Rectangle 52">
            <a:extLst>
              <a:ext uri="{FF2B5EF4-FFF2-40B4-BE49-F238E27FC236}">
                <a16:creationId xmlns:a16="http://schemas.microsoft.com/office/drawing/2014/main" id="{974BFDCF-BBB7-4F98-A51A-5813AEB5D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63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22" name="Rectangle 53">
            <a:extLst>
              <a:ext uri="{FF2B5EF4-FFF2-40B4-BE49-F238E27FC236}">
                <a16:creationId xmlns:a16="http://schemas.microsoft.com/office/drawing/2014/main" id="{B707A0E0-5449-45A2-A6BC-A8D9A0D2D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221163"/>
            <a:ext cx="3441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-"/>
            </a:pPr>
            <a:r>
              <a:rPr lang="ru-RU" altLang="ru-RU"/>
              <a:t>   суперлинейная сходимость.</a:t>
            </a:r>
          </a:p>
        </p:txBody>
      </p:sp>
      <p:sp>
        <p:nvSpPr>
          <p:cNvPr id="12323" name="Rectangle 54">
            <a:extLst>
              <a:ext uri="{FF2B5EF4-FFF2-40B4-BE49-F238E27FC236}">
                <a16:creationId xmlns:a16="http://schemas.microsoft.com/office/drawing/2014/main" id="{F5F10B65-16A2-4FE0-9A90-B9BDB364B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38713"/>
            <a:ext cx="4824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   </a:t>
            </a:r>
            <a:r>
              <a:rPr lang="ru-RU" altLang="ru-RU" sz="2800" i="1">
                <a:sym typeface="Symbol" panose="05050102010706020507" pitchFamily="18" charset="2"/>
              </a:rPr>
              <a:t></a:t>
            </a:r>
            <a:r>
              <a:rPr lang="ru-RU" altLang="ru-RU"/>
              <a:t> = 2 – квадратичная сходимость.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1615</Words>
  <Application>Microsoft Office PowerPoint</Application>
  <PresentationFormat>Экран (4:3)</PresentationFormat>
  <Paragraphs>281</Paragraphs>
  <Slides>24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Times New Roman</vt:lpstr>
      <vt:lpstr>Symbol</vt:lpstr>
      <vt:lpstr>Оформление по умолчанию</vt:lpstr>
      <vt:lpstr>Microsoft Equation 3.0</vt:lpstr>
      <vt:lpstr>ЛЕКЦИЯ № 4</vt:lpstr>
      <vt:lpstr>1. Дифференцирование функций.</vt:lpstr>
      <vt:lpstr>1. Дифференцирование функций.</vt:lpstr>
      <vt:lpstr>1. Дифференцирование функций.</vt:lpstr>
      <vt:lpstr>1. Дифференцирование функций.</vt:lpstr>
      <vt:lpstr>1. Дифференцирование функций.</vt:lpstr>
      <vt:lpstr>1. Дифференцирование функций.</vt:lpstr>
      <vt:lpstr>1. Дифференцирование функций.</vt:lpstr>
      <vt:lpstr>2.Необходимые и достаточные условия существования экстремума функции.</vt:lpstr>
      <vt:lpstr>2.Необходимые и достаточные условия существования экстремума функции.</vt:lpstr>
      <vt:lpstr>2.Необходимые и достаточные условия существования экстремума функции.</vt:lpstr>
      <vt:lpstr>2.Необходимые и достаточные условия существования экстремума функции.</vt:lpstr>
      <vt:lpstr>2.Необходимые и достаточные условия существования экстремума функции.</vt:lpstr>
      <vt:lpstr>2.Необходимые и достаточные условия существования экстремума функции.</vt:lpstr>
      <vt:lpstr>3. Задачи выпуклого программирования</vt:lpstr>
      <vt:lpstr>3. Задачи выпуклого программирования.</vt:lpstr>
      <vt:lpstr>3.2. Функция Куна-Таккера (функция Лагранжа) для задач выпуклого программирования (1951г.)</vt:lpstr>
      <vt:lpstr>3.3. Теорема Куна-Таккера.</vt:lpstr>
      <vt:lpstr>3.4. Теория двойственности</vt:lpstr>
      <vt:lpstr>3.4. Теория двойственности.</vt:lpstr>
      <vt:lpstr>4. Алгоритм и сходимость алгоритмов</vt:lpstr>
      <vt:lpstr>4. Алгоритм и сходимость алгоритмов</vt:lpstr>
      <vt:lpstr>4. Алгоритм и сходимость алгоритмов</vt:lpstr>
      <vt:lpstr>4. Алгоритм и сходимость алгоритмов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3</dc:title>
  <dc:creator>Yura</dc:creator>
  <cp:lastModifiedBy>Yuriy Kaganov</cp:lastModifiedBy>
  <cp:revision>26</cp:revision>
  <dcterms:created xsi:type="dcterms:W3CDTF">2015-10-05T05:25:32Z</dcterms:created>
  <dcterms:modified xsi:type="dcterms:W3CDTF">2024-09-20T10:20:04Z</dcterms:modified>
</cp:coreProperties>
</file>