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60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07" r:id="rId10"/>
    <p:sldId id="361" r:id="rId11"/>
    <p:sldId id="303" r:id="rId12"/>
    <p:sldId id="408" r:id="rId13"/>
    <p:sldId id="304" r:id="rId14"/>
    <p:sldId id="305" r:id="rId15"/>
    <p:sldId id="362" r:id="rId16"/>
    <p:sldId id="306" r:id="rId17"/>
    <p:sldId id="354" r:id="rId18"/>
    <p:sldId id="355" r:id="rId19"/>
    <p:sldId id="315" r:id="rId20"/>
    <p:sldId id="409" r:id="rId21"/>
    <p:sldId id="264" r:id="rId22"/>
    <p:sldId id="410" r:id="rId23"/>
    <p:sldId id="411" r:id="rId24"/>
    <p:sldId id="365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7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54CB2-8701-4D3C-8BB3-1119855A8991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754CB-A015-4250-BD63-2B130B6668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792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11FEA-7E81-43E4-85C2-D2FDCD6E0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A753A5-F7BB-4C0F-B84B-1920B8417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0B964D-5495-4D6B-BEA4-CB32DD0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59861E-9C85-45E4-B550-BA395C47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43F54C-7378-4F42-9480-DAD7BA3B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29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C8840-F612-4EB7-88CA-544D35B3F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54B5D6-DFCB-4C62-B04D-3A3F61D6F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BA18E9-8197-4A21-9922-BBE86AE6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11F390-1968-4920-89BA-2327D3F59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5E3FD-888B-4287-BF7D-F3C34660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58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8681A-098B-4345-9334-0607594F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4F4925-B7F5-4718-B0AE-E093A8ECC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F0F43-D5B1-45BB-BFD8-703EB56C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122FC-B58B-49B1-AE97-8A7462B8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927F46-952C-4180-B87D-BED6CAEA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5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F6116-E9EB-42B0-9F63-5127BBC4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3F378B-C08E-4952-A015-15899AEC4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756206-8EE9-4B57-899B-8C5459D81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ABFEDE-E66B-49AA-A20B-F7F7674E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C97248-4B21-41F4-AD99-3DD7193D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9F3F5F-0B7B-4F92-A2A0-FBDC1CD1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976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3370F-1E35-4A32-9E3F-DDC2F1854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8A8ACF-CB9B-4C9E-94F4-831B9354B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2F70E4-2688-4A63-AA69-002B4DC42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B2DBAE-7428-4AEC-913E-64AD42B6B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96C1E0-AF38-4236-BE65-F146F8B58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E47E2B-E375-48EB-8559-6E08334F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048ADD-8366-4D00-8287-796B0F31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27E22E-EFAE-4296-8B45-CB1B0C9C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00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0F89A-72FD-4666-B6E3-86A164C3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A88BAA-1B0B-451A-911D-CD38060F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9A1AD2-1CCE-40B3-86C5-537A35C9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68DAB5-41B1-4BDF-BE8D-778B40E4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44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501077-E939-4BEA-A428-9BFEB48B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A32CC4-8C8C-4F66-BEF7-5A9A29C2F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E3951B-CE7A-4CD9-BF2A-553D5D4A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42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24C11-B655-4E18-B428-207F8922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32D17F-D686-4070-9F42-241940693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5EF5F9-9F61-4AC8-88D9-BA88FCEC3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B00C55-86DF-41A8-958F-D76EFB43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22251E-9222-4363-BA39-B6DE7415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8D09F5-AAEB-4F6C-8849-537DF3B0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90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C525FB-1F40-496C-AFCA-2C2AC69A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C0C17F-C251-4317-9FC3-66FE4D0AA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03A4AA-CCD3-45D2-B6A7-9866D261C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8991BE-9718-4C38-AA4D-BB0AD95E3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75C9F6-2E69-4E1D-AB2C-9240E6BB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6FC5F9-2A86-4441-B1F5-B4B08AE5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62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B1815-7C85-4B2C-B9D1-8EDC1D76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4EB82D-C2A6-4734-80AC-C8948C6C8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A93E8D-4200-4BAD-82CA-969E9E61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7E4A6A-67C9-4FF9-A927-19F2CB23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40C526-39CF-494B-9498-4757B443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63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15B8CD-5670-47CB-B9E6-C4EF9078F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13BB63-B18D-41F9-A6F0-D92892DB2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0E0AB0-FC07-4189-B125-1A09BEA7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48D548-226B-483C-95B2-6D268CAB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2F1105-07D2-48C7-B284-CEE9BE4C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69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04550-C327-4A21-91F2-CC8546FA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FB9F05-BAA6-4854-8EB9-8AB379606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4B1767-2BAA-4B64-A5D9-ECC9ADA46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DA1F4-8CC5-44A5-99A8-04FE7923FE06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C25FD1-625D-4C56-9884-FBC27000A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08ED0A-3492-4418-A950-ACB3379EF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507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65287" y="-242888"/>
            <a:ext cx="8785225" cy="3671888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 ИСКУССТВЕННОГО ИНТЕЛЛЕКТА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Каганов Ю.Т.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доцент каф. ИУ-5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«Системы обработки информации и управления»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95349" y="3315007"/>
            <a:ext cx="10325100" cy="3009899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9</a:t>
            </a:r>
          </a:p>
          <a:p>
            <a:pPr algn="l" eaLnBrk="1" hangingPunct="1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Элементы теории вероятностей.</a:t>
            </a:r>
          </a:p>
          <a:p>
            <a:pPr algn="l" eaLnBrk="1" hangingPunct="1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Машинное обучение и минимизация эмпирического риска.</a:t>
            </a:r>
          </a:p>
          <a:p>
            <a:pPr algn="l" eaLnBrk="1" hangingPunct="1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Теорема Байеса. Трансдукция.</a:t>
            </a:r>
          </a:p>
          <a:p>
            <a:pPr algn="l" eaLnBrk="1" hangingPunct="1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Регрессионный анализ и методы построения целевых функций.</a:t>
            </a:r>
          </a:p>
          <a:p>
            <a:pPr eaLnBrk="1" hangingPunct="1"/>
            <a:endParaRPr lang="ru-RU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213EBD-1568-4DC6-B13A-28CD3AE2A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534D69-C0ED-4A2A-AF76-525DD7A19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ЭЛЕМЕНТЫ ТЕОРИИ ВЕРОЯТНОСТИ </a:t>
            </a:r>
          </a:p>
        </p:txBody>
      </p:sp>
    </p:spTree>
    <p:extLst>
      <p:ext uri="{BB962C8B-B14F-4D97-AF65-F5344CB8AC3E}">
        <p14:creationId xmlns:p14="http://schemas.microsoft.com/office/powerpoint/2010/main" val="3533769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7BFC5F-FBD3-44DF-8CAA-281FBC05D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вероятности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023D6FA-FE7B-435B-AB94-A4C38AE347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Вероятность – это мера, заданная на множестве событий, которые удовлетворяют трем аксиомам: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Мера каждого события находится в пределах от 0 до 1. Это утверждение записывается как </a:t>
                </a:r>
                <a14:m>
                  <m:oMath xmlns:m="http://schemas.openxmlformats.org/officeDocument/2006/math"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)≤1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случайная переменная, представляющая событие,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возможное значение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Обычно принято обозначать случайные переменные прописными буквами, а их значения – соответствующими строчными.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Мера всего множества равна 1, а это означает, что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</m:e>
                    </m:nary>
                  </m:oMath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  <a:tabLst>
                    <a:tab pos="8969375" algn="l"/>
                  </a:tabLst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Вероятность объединения взаимоисключающих событий равна сумме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аероятностей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отдельных событий, т.е.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события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являются взаимоисключающими.</a:t>
                </a:r>
              </a:p>
              <a:p>
                <a:pPr marL="0" indent="0">
                  <a:buNone/>
                  <a:tabLst>
                    <a:tab pos="8969375" algn="l"/>
                  </a:tabLst>
                </a:pP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Вероятностная модель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состоит из пространства выборок взаимоисключающих возможных результатов вместе с вероятностной мерой каждого результата. Например: «солнечно», «облачно», «дождь», «снег».</a:t>
                </a:r>
                <a:endParaRPr lang="ru-RU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023D6FA-FE7B-435B-AB94-A4C38AE34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361" r="-1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835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19DE2-6701-4235-8F18-C16AA0DB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4371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ПЛОТНОСТЬ ВЕРОЯТНОСТИ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0247245-7BF6-4EBA-BD21-AB3803DD6C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9496"/>
                <a:ext cx="10515600" cy="5251269"/>
              </a:xfrm>
            </p:spPr>
            <p:txBody>
              <a:bodyPr>
                <a:normAutofit/>
              </a:bodyPr>
              <a:lstStyle/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использовать запись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𝐏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обозначения вектора значений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Используем также запись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вместо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</a:t>
                </a:r>
                <a:r>
                  <a:rPr lang="ru-RU" sz="1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ru-RU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вместо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ru-RU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</m:e>
                    </m:nary>
                  </m:oMath>
                </a14:m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Условная вероятность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∕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определяется как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∕</m:t>
                    </m:r>
                  </m:oMath>
                </a14:m>
                <a:r>
                  <a:rPr lang="en-US" sz="1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Переменные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являются условно независимыми, если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∕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(или равным образом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∕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ru-RU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Непрерывные переменные имеют бесконечное количество значений, и если распределение вероятностей этих значений не характеризуется пиковыми </a:t>
                </a:r>
                <a:r>
                  <a:rPr lang="ru-RU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значеними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отдельных точках, то вероятность любого отдельно взятого значения равна 0. Поэтому имеет смысл говорить о значении вероятности в пределах некоторого диапазона. Это реализуется с помощью </a:t>
                </a:r>
                <a:r>
                  <a:rPr lang="ru-RU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функции плотности вероятности,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которая имеет несколько иной смысл по сравнению с дискретной функцией вероятности. Поскольку вероятность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т.е. вероятность, которую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имеет при точном значении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равна нулю, мы будем использовать другую меру: отношение вероятности того, что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попадает в интервал вокруг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 ширине этого интервала, измеряемой в пределе приближения ширины этого интервала к нулю. Таким образом </a:t>
                </a:r>
                <a:r>
                  <a:rPr lang="ru-RU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плотности вероятности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определяется как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𝑑𝑥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func>
                        </m:fNam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)∕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𝑑𝑥</m:t>
                      </m:r>
                    </m:oMath>
                  </m:oMathPara>
                </a14:m>
                <a:endPara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плотности вероятности должна быть неотрицательной при всех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соответствовать следующему требованию: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u-RU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ru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Кумулятивное распределение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определяется как вероятность того, что случайная величина будет меньше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ru-RU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ru-RU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sup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</m:e>
                    </m:nary>
                  </m:oMath>
                </a14:m>
                <a:endParaRPr lang="ru-RU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0247245-7BF6-4EBA-BD21-AB3803DD6C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9496"/>
                <a:ext cx="10515600" cy="5251269"/>
              </a:xfrm>
              <a:blipFill>
                <a:blip r:embed="rId2"/>
                <a:stretch>
                  <a:fillRect l="-348" t="-3252" b="-124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9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ABB8D-4889-4C0A-A048-14878B3E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ГАУССА</a:t>
            </a:r>
            <a:b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(нормальное распределение)</a:t>
            </a:r>
            <a:b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D128E9-EAEA-4918-8135-2D760951A5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Распределение Гаусса является одним из наиболее важных распределений вероятностей. Для этого распределения используем обозначение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как функции от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 средним значением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среднеквадратическим отклонением </a:t>
                </a: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(и, следовательно с дисперсией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Нормальное распределение определяется следующей формулой: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ru-RU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непрерывная переменная, изменяющаяся в пределах </a:t>
                </a:r>
                <a14:m>
                  <m:oMath xmlns:m="http://schemas.openxmlformats.org/officeDocument/2006/math">
                    <m:r>
                      <a:rPr lang="ru-RU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 </a:t>
                </a:r>
                <a14:m>
                  <m:oMath xmlns:m="http://schemas.openxmlformats.org/officeDocument/2006/math">
                    <m:r>
                      <a:rPr lang="ru-RU" sz="2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Если среднее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дисперсия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то имеет место частный случай нормального распределения, который называется </a:t>
                </a: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стандартным нормальным распределением.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Если распределение задано в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мерном пространстве на векторе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пространстве с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ru-RU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измерениями,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оно представляет собой много </a:t>
                </a: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многомерное гауссово распределение: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;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ru-R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ru-RU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</m:d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средних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ковариационная матрица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этого распределения.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D128E9-EAEA-4918-8135-2D760951A5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075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7DDEC-96AD-4465-AA1B-83627E2F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ЦЕНТРАЛЬНАЯ ПРЕДЕЛЬНАЯ ТЕОРЕМА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EDA0F89-2B2F-499C-9287-ACCA9D3FB0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1683"/>
                <a:ext cx="10515600" cy="493653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</a:t>
                </a:r>
                <a:r>
                  <a:rPr lang="ru-RU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центральной предельной теореме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утверждается, что среднее </a:t>
                </a:r>
                <a:r>
                  <a:rPr lang="en-US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случайных переменных приближается к нормальному распределению по мере того, как </a:t>
                </a:r>
                <a:r>
                  <a:rPr lang="en-US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стремится к бесконечности. Такому свойству подчиняется почти любая коллекция случайных переменных, при том условии, что значение дисперсии любого конечного подмножества переменных не доминируют над значениями других конечных подмножеств.</a:t>
                </a:r>
              </a:p>
              <a:p>
                <a:pPr marL="0" indent="0">
                  <a:buNone/>
                </a:pPr>
                <a:r>
                  <a:rPr lang="ru-RU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Математическое ожидание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случайной величины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ru-RU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800" b="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b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представляет собой среднее значение, взвешенное по вероятности каждого значения. Для дискретной переменной это</a:t>
                </a:r>
                <a:endParaRPr lang="en-US" sz="18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).</m:t>
                    </m:r>
                  </m:oMath>
                </a14:m>
                <a:endParaRPr lang="en-US" sz="18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18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непрерывной переменной суммирование следует заменить интегралом и использовать функцию плотности вероятности,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en-US" sz="1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18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любой функции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можно также записать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1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EDA0F89-2B2F-499C-9287-ACCA9D3FB0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1683"/>
                <a:ext cx="10515600" cy="4936534"/>
              </a:xfrm>
              <a:blipFill>
                <a:blip r:embed="rId2"/>
                <a:stretch>
                  <a:fillRect l="-522" t="-1111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138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73B9F-8148-440B-9E33-E5439353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СТАТИСТИЧЕСКИЕ ХАРАКТЕРИСТИКИ РАСПРЕДЕЛНИЯ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F9824A1-1474-4E33-8491-E90138F100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ru-RU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Дисперсия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]−</m:t>
                    </m:r>
                    <m:r>
                      <a:rPr lang="ru-RU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математическое ожидание квадрата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отклонения случайной величины от её математического ожидания: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Стандартное отклонение </a:t>
                </a:r>
                <a14:m>
                  <m:oMath xmlns:m="http://schemas.openxmlformats.org/officeDocument/2006/math">
                    <m:r>
                      <a:rPr lang="ru-R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ru-RU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квадратный корень из дисперсии (поэтому дисперсия часто обозначается как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>
                  <a:buNone/>
                </a:pPr>
                <a:r>
                  <a:rPr lang="ru-RU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Среднее квадратическое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𝒔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набора значений (чаще всего это выборка значений случайной величины) представляют собой квадратный корень из среднего арифметического квадратов значений в наборе: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</a:t>
                </a:r>
                <a:r>
                  <a:rPr lang="ru-RU" sz="1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6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ru-RU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ru-RU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+…</m:t>
                            </m:r>
                            <m:sSup>
                              <m:sSup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ru-RU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ru-RU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Ковариация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двух случайных величин определяется как математическое ожидание произведения разностей их значений и соответствующих средних значений: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𝐶𝑜𝑣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</a:t>
                </a:r>
                <a:r>
                  <a:rPr lang="ru-RU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Ковариационная матрица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часто обозначается как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u-RU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Является матрицей составленной из попарных ковариаций между элементами вектора случайных величин. Принимая, что вектор представлен как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элементами ковариационной матрицы будут: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F9824A1-1474-4E33-8491-E90138F100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348" t="-914" r="-4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529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27846-22E1-4031-B826-91576A58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5168F7-9812-4030-A85B-6376D6317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Выборка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это часть общей совокупности возможных элементов случайной величины, полученная в результате некоторого эксперимента. Мы не знаем, каково будет  распределение вероятностей для любой конкретной выборки, но в пределе достаточно большой набор данных выборок будет приближаться к той же функции распределения плотности вероятности, которая свойственна общей  совокупности элементов этой случайной величины.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Равномерное распределение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характеризуется тем, что каждый элемент общей совокупности в равной степени (равномерно ) вероятен. Поэтому, если мы говорим, что «случайная величина имеет равномерное распределение в диапазоне целых чисел от 0 до 99», то это означает , что при выборке с одинаковой вероятностью может быть получено любое целое число из этого диапазона.</a:t>
            </a:r>
            <a:endParaRPr lang="ru-RU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221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C57FAFF-EDEE-46FD-89D1-110E1F18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2B02-00DE-4DB3-91B8-2824AB98EDBD}" type="slidenum">
              <a:rPr lang="ru-RU" smtClean="0"/>
              <a:t>9</a:t>
            </a:fld>
            <a:endParaRPr lang="ru-RU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2FF4B538-93EF-4880-B4D0-FCBA565F6EF6}"/>
              </a:ext>
            </a:extLst>
          </p:cNvPr>
          <p:cNvSpPr txBox="1">
            <a:spLocks/>
          </p:cNvSpPr>
          <p:nvPr/>
        </p:nvSpPr>
        <p:spPr>
          <a:xfrm>
            <a:off x="1753320" y="2304971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МОДЕЛИ,</a:t>
            </a:r>
          </a:p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БАЙЕСА И</a:t>
            </a:r>
            <a:b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ТРАНСДУКЦИЯ</a:t>
            </a:r>
          </a:p>
        </p:txBody>
      </p:sp>
    </p:spTree>
    <p:extLst>
      <p:ext uri="{BB962C8B-B14F-4D97-AF65-F5344CB8AC3E}">
        <p14:creationId xmlns:p14="http://schemas.microsoft.com/office/powerpoint/2010/main" val="2926741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1462568" y="456467"/>
            <a:ext cx="819889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968" y="1274886"/>
                <a:ext cx="10814182" cy="512664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обозначения: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кортеж весов и порогов (соответствует параметрам модели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d>
                      <m:dPr>
                        <m:begChr m:val="⟨"/>
                        <m:endChr m:val="⟩"/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</m:d>
                    <m:r>
                      <a:rPr 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кортеж исходных данных (соответствует входным и выходным данным).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 после окончания обучения (оптимальные параметры).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потерь в процессе обучения (целевая функция в процессе оптимизации).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Процесс оценивания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обучением модели. 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Он составляет основное содержание машинного обучения. Основной способ получения оценок сводится к задаче оптимизации: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𝒂𝒓𝒈𝒎𝒊𝒏</m:t>
                            </m:r>
                          </m:e>
                          <m:lim>
                            <m:r>
                              <a:rPr lang="ru-RU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  <m:r>
                          <m:rPr>
                            <m:nor/>
                          </m:rPr>
                          <a:rPr 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 этом процесс оптимизации состоит в подборе таких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при которых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68" y="1274886"/>
                <a:ext cx="10814182" cy="5126647"/>
              </a:xfrm>
              <a:prstGeom prst="rect">
                <a:avLst/>
              </a:prstGeom>
              <a:blipFill>
                <a:blip r:embed="rId2"/>
                <a:stretch>
                  <a:fillRect l="-1127" t="-2021" r="-902" b="-10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570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656120" y="1314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модели и теорема </a:t>
            </a:r>
            <a:r>
              <a:rPr lang="ru-RU" sz="4000" b="1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Байенса</a:t>
            </a:r>
            <a:endParaRPr lang="ru-RU" sz="4000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689429" y="1544173"/>
                <a:ext cx="10813142" cy="4267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Обучение модели: </a:t>
                </a:r>
              </a:p>
              <a:p>
                <a:r>
                  <a:rPr lang="ru-RU" sz="2400" b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Пусть имеется некоторая модель</a:t>
                </a:r>
                <a:r>
                  <a:rPr lang="en-US" sz="2400" b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(гипотеза, теория) -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 которая предварительно (априорно) получена из наблюдаемых исходных данных </a:t>
                </a:r>
                <a:r>
                  <a:rPr lang="en-US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ru-RU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Тогда для обучения этой модели</a:t>
                </a:r>
                <a:r>
                  <a:rPr lang="en-US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необходимо  обеспечить соответствие этой модели новым данным</a:t>
                </a:r>
                <a:r>
                  <a:rPr lang="en-US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b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Теорема Байеса: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ru-RU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𝑴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′)</m:t>
                    </m:r>
                  </m:oMath>
                </a14:m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ru-RU" sz="28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ru-RU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Откуда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получаем формулу Байеса:</a:t>
                </a:r>
                <a:endParaRPr lang="ru-RU" sz="2800" b="1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9" y="1544173"/>
                <a:ext cx="10813142" cy="4267387"/>
              </a:xfrm>
              <a:prstGeom prst="rect">
                <a:avLst/>
              </a:prstGeom>
              <a:blipFill>
                <a:blip r:embed="rId2"/>
                <a:stretch>
                  <a:fillRect l="-1409" t="-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F7BB44-757E-49BD-84B3-698F4E78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6489906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656120" y="1314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Байеса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689429" y="1544173"/>
                <a:ext cx="10813142" cy="4759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Формула Байеса служит для вычисления распределения вероятностей возможных значений модели - </a:t>
                </a:r>
                <a:r>
                  <a:rPr lang="en-US" sz="28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наличии наблюдаемых данных</a:t>
                </a:r>
                <a14:m>
                  <m:oMath xmlns:m="http://schemas.openxmlformats.org/officeDocument/2006/math">
                    <m:r>
                      <a:rPr lang="ru-RU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ru-RU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априорная вероятность, связанная  со структурой модели.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P(D|M)</a:t>
                </a:r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априорная вероятность данных при заданной модели.</a:t>
                </a:r>
              </a:p>
              <a:p>
                <a:r>
                  <a:rPr lang="ru-RU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P(D’)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апостериорная вероятность данных.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P(M’|D’)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апостериорная вероятность модели при известных данных.</a:t>
                </a:r>
              </a:p>
              <a:p>
                <a:r>
                  <a:rPr lang="ru-RU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познания состоит в том, чтобы максимизировать апостериорную вероятность </a:t>
                </a:r>
                <a:r>
                  <a:rPr lang="en-US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P(M’|D’)</a:t>
                </a:r>
                <a:r>
                  <a:rPr lang="ru-RU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9" y="1544173"/>
                <a:ext cx="10813142" cy="4759829"/>
              </a:xfrm>
              <a:prstGeom prst="rect">
                <a:avLst/>
              </a:prstGeom>
              <a:blipFill>
                <a:blip r:embed="rId2"/>
                <a:stretch>
                  <a:fillRect l="-1409" t="-1280" r="-113" b="-32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F7BB44-757E-49BD-84B3-698F4E78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2368302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656120" y="1314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Трансдукция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638629" y="1125309"/>
                <a:ext cx="10435771" cy="4567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 формула имеет непосредственное отношение к процессу познания. Она носит итеративный характер. В этом случае соответствующие вероятности можно трактовать следующим образом:</a:t>
                </a:r>
                <a:endPara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переход от индуктивных к дедуктивным моделям (абдукция).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P(D|M)</a:t>
                </a:r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переход от формулировки модели к соответствию с данными (дедукция).</a:t>
                </a:r>
              </a:p>
              <a:p>
                <a:r>
                  <a:rPr lang="ru-RU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P(D’) –</a:t>
                </a:r>
                <a:r>
                  <a:rPr lang="ru-RU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переход от гипотетических данных к экспериментальным (аддукция).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P(M’|D’)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переход от экспериментальных данных к построению новой модели (индукция).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29" y="1125309"/>
                <a:ext cx="10435771" cy="4567917"/>
              </a:xfrm>
              <a:prstGeom prst="rect">
                <a:avLst/>
              </a:prstGeom>
              <a:blipFill>
                <a:blip r:embed="rId2"/>
                <a:stretch>
                  <a:fillRect l="-935" b="-21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0B000C-FC19-4886-A1FF-2FB1CC45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3883981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981920" y="491002"/>
            <a:ext cx="8228880" cy="133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Трансдукция</a:t>
            </a:r>
            <a:b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 восходят к аксиомам, а затем спускаются к практике</a:t>
            </a: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Ф. Бэкон</a:t>
            </a: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000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1656120" y="2425414"/>
                <a:ext cx="9011880" cy="1243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120" y="2425414"/>
                <a:ext cx="9011880" cy="12439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631C47-A6C5-4FDA-916E-818DF437C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920" y="3669344"/>
            <a:ext cx="8229600" cy="2333277"/>
          </a:xfrm>
          <a:prstGeom prst="rect">
            <a:avLst/>
          </a:prstGeom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FEFB01D9-7D28-440C-8368-7D4BADFB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133342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1472093" y="237392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И ОЦЕНКА МАКСИМАЛЬНОГО ПРАВДОПОДОБИЯ (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MLE)</a:t>
            </a:r>
            <a:endParaRPr lang="ru-RU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968" y="1274885"/>
                <a:ext cx="9797142" cy="534572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обозначения: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  (Maximum Likelihood Estimation) –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оценка максимального правдоподобия определяется следующим образом: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𝒂𝒓𝒈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𝒎𝒂𝒙</m:t>
                            </m:r>
                          </m:e>
                          <m:lim>
                            <m:r>
                              <a:rPr lang="ru-RU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func>
                  </m:oMath>
                </a14:m>
                <a:r>
                  <a:rPr lang="ru-RU" sz="20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или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𝒂𝒓𝒈𝒎𝒊𝒏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{−</m:t>
                            </m:r>
                          </m:e>
                          <m:lim>
                            <m:r>
                              <a:rPr lang="ru-RU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func>
                  </m:oMath>
                </a14:m>
                <a:r>
                  <a:rPr lang="ru-RU" sz="20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</a:p>
              <a:p>
                <a:pPr marL="0" indent="0" algn="just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учесть, что обучающие примеры независимо выбраны из одного и того же распределения, то правдоподобие принимает вид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e>
                        <m: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sup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ru-RU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дает возможность при логарифмировании перейти от оператора произведения к оператору суммирования. Таким образом получаем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𝐨𝐠</m:t>
                          </m:r>
                        </m:fName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𝒍𝒐𝒈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].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задача состоит в максимизации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𝒂𝒓𝒈𝒎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𝒂𝒙</m:t>
                    </m:r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func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</m:e>
                    </m:nary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Или, учитывая удобство минимизации запишем функцию с отрицательным знаком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ru-RU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𝒂𝒓𝒈𝒎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𝒊𝒏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𝒍𝒐𝒈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[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𝜽</m:t>
                                  </m:r>
                                </m:e>
                              </m:d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68" y="1274885"/>
                <a:ext cx="9797142" cy="5345723"/>
              </a:xfrm>
              <a:prstGeom prst="rect">
                <a:avLst/>
              </a:prstGeom>
              <a:blipFill>
                <a:blip r:embed="rId2"/>
                <a:stretch>
                  <a:fillRect l="-622" t="-1140" r="-6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834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2053118" y="692696"/>
            <a:ext cx="819889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7078" y="1274885"/>
                <a:ext cx="9797142" cy="5345723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Правдоподобие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это вероятность получения имеющихся наблюдений для заданных параметров модели. Пусть имеется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наблюдений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предполагать, что все наблюдения независимы и подчиняются одному и тому же нормальному распределению со средним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дисперсией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функция правдоподобия может быть выражена: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модели)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ru-R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Поскольку все наблюдения независимы, то можно представить как факторизованную модель: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модели)=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ru-RU" sz="2400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ru-RU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sz="2400" dirty="0"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).</m:t>
                        </m:r>
                      </m:e>
                    </m:nary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Учитывая нормальность распределения запишем функцию правдоподобия: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модели) =</a:t>
                </a:r>
                <a:r>
                  <a:rPr 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ru-RU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</m:e>
                    </m:nary>
                    <m:sSup>
                      <m:sSupPr>
                        <m:ctrlPr>
                          <a:rPr lang="ru-RU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ru-RU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−(</m:t>
                            </m:r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n-US" sz="24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78" y="1274885"/>
                <a:ext cx="9797142" cy="5345723"/>
              </a:xfrm>
              <a:prstGeom prst="rect">
                <a:avLst/>
              </a:prstGeom>
              <a:blipFill>
                <a:blip r:embed="rId2"/>
                <a:stretch>
                  <a:fillRect l="-996" t="-2281" r="-4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163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6A7B5-F632-4DD4-8412-EEF352CE4626}"/>
              </a:ext>
            </a:extLst>
          </p:cNvPr>
          <p:cNvSpPr txBox="1"/>
          <p:nvPr/>
        </p:nvSpPr>
        <p:spPr>
          <a:xfrm>
            <a:off x="1640037" y="773724"/>
            <a:ext cx="8198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0259" y="1644161"/>
                <a:ext cx="10112188" cy="487093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 максимального правдоподобия –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likelihood estimation, MLE) –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метод оценивания неизвестных параметров распределения или модели путем максимизации функции правдоподобия. Т.е. максимизации вероятности распределения данных при заданных параметрах модели.</a:t>
                </a:r>
              </a:p>
              <a:p>
                <a:pPr marL="0" indent="0">
                  <a:buNone/>
                </a:pP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Функцию правдоподобия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представить в виде: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параметры)=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).</m:t>
                        </m:r>
                      </m:e>
                    </m:nary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Чтобы максимизировать функцию вероятности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необходимо продифференцировать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приравнять 0. Более удобно максимизировать не саму функцию правдоподобия, а ее логарифм. Т.е.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Поскольку логарифм -  монотонно возрастающая функция, то с ростом параметра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будет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максимизироваться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логарифм. С точки зрения математики производная от логарифма находится проще.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Поэтому можно записать: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того, чтобы найти максимум следует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продифференцировать и приравнять нулю. Учитывая, что максимизация соответствует минимизации функции взятой с отрицательным знаком, получим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𝐴𝑟𝑔𝑚𝑖𝑛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59" y="1644161"/>
                <a:ext cx="10112188" cy="4870939"/>
              </a:xfrm>
              <a:prstGeom prst="rect">
                <a:avLst/>
              </a:prstGeom>
              <a:blipFill>
                <a:blip r:embed="rId2"/>
                <a:stretch>
                  <a:fillRect l="-663" t="-1377" r="-904" b="-16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338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C104E-2898-49A7-A874-B62EFF445A3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175" y="2246940"/>
                <a:ext cx="9639300" cy="393614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случае классификации можно использовать 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схему Бернулли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которая предполагает взаимоисключающие и исчерпывающие исходы экспериментов. При этом возможными исходами эксперимента по схеме Бернулли может быть «успех» или «неудача».  Пусть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вероятность успеха. Тогда, в силу того, что этими двумя событиями исчерпывается все выборочное пространство, вероятность неудачи равна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Будем считать, что успешному исходу соответствует значение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 неудачному -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 Тогда вероятность успеха или неудачи можно выразить формулой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5" y="2246940"/>
                <a:ext cx="9639300" cy="3936146"/>
              </a:xfrm>
              <a:prstGeom prst="rect">
                <a:avLst/>
              </a:prstGeom>
              <a:blipFill>
                <a:blip r:embed="rId2"/>
                <a:stretch>
                  <a:fillRect l="-949" t="-2171" r="-10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756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21A6-2507-4951-8F98-98429DF5F4FC}"/>
              </a:ext>
            </a:extLst>
          </p:cNvPr>
          <p:cNvSpPr txBox="1"/>
          <p:nvPr/>
        </p:nvSpPr>
        <p:spPr>
          <a:xfrm>
            <a:off x="1996555" y="1082121"/>
            <a:ext cx="8198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6478" y="1793630"/>
                <a:ext cx="10339753" cy="4721469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каждой точки данных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𝐵𝑒𝑟𝑛𝑢𝑙𝑙𝑖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  <m:r>
                      <a:rPr lang="ru-RU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для функции вероятности можно записать: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ru-RU" sz="20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ru-RU" sz="2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Перепишем функцию правдоподобия в виде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модель)=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/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представляет собой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й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обучающий пример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dirty="0"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b="0" i="0" dirty="0">
                    <a:latin typeface="+mj-lt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Исходя из допущения о независимости обучающих примеров, можно представить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следующем факторизованном виде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/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ru-RU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).</m:t>
                        </m:r>
                      </m:e>
                    </m:nary>
                  </m:oMath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Логарифмируя обе части этого равенства, преобразуем произведение вероятностей в сумму их логарифмов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ru-RU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Так как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nor/>
                      </m:rPr>
                      <a: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ru-RU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ru-RU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результате получаем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+(1−</m:t>
                        </m:r>
                      </m:e>
                    </m:nary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Учитывая эквивалентность максимизации и минимизации функций получим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𝐴𝑟𝑔𝑚𝑖𝑛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78" y="1793630"/>
                <a:ext cx="10339753" cy="4721469"/>
              </a:xfrm>
              <a:prstGeom prst="rect">
                <a:avLst/>
              </a:prstGeom>
              <a:blipFill>
                <a:blip r:embed="rId2"/>
                <a:stretch>
                  <a:fillRect l="-590" t="-2194" r="-2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064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0075" y="1277258"/>
                <a:ext cx="10753725" cy="545737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нормальное (гауссово) распределение: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ru-RU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⁡(−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многомерном случае мы получим: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l-G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𝜮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ru-RU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𝝁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l-G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𝜮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  <m:r>
                      <a:rPr lang="ru-RU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]∈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средних, а </a:t>
                </a:r>
                <a14:m>
                  <m:oMath xmlns:m="http://schemas.openxmlformats.org/officeDocument/2006/math">
                    <m:r>
                      <a:rPr lang="el-G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𝑜𝑣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ковариационная матрица размера </a:t>
                </a:r>
                <a:endParaRPr lang="ru-RU" sz="20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определятся следующим образом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u-RU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ru-RU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d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𝑬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sup>
                        </m:sSup>
                      </m:e>
                    </m:d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Что равно: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где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]−</m:t>
                    </m:r>
                  </m:oMath>
                </a14:m>
                <a:r>
                  <a:rPr lang="en-US" sz="18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en-US" sz="18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a:rPr 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d>
                      <m:dPr>
                        <m:begChr m:val="["/>
                        <m:endChr m:val="]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brk m:alnAt="7"/>
                      </m:rP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Расстояние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Махаланобиса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рассматривать логарифмическую вероятность в точке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мы получим </a:t>
                </a:r>
                <a:endParaRPr lang="ru-RU" sz="1800" b="1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𝒍𝒐𝒈</m:t>
                    </m:r>
                    <m:r>
                      <a:rPr lang="ru-RU" sz="1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l-GR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𝜮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𝝁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l-GR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𝜮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</a:t>
                </a:r>
                <a:r>
                  <a:rPr lang="ru-RU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Тогда расстояние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Махаланобиса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между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ru-RU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выразим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</m:e>
                      <m:sup>
                        <m:r>
                          <a:rPr lang="ru-RU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l-GR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𝜮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0" indent="0">
                  <a:buNone/>
                </a:pPr>
                <a:r>
                  <a:rPr lang="ru-RU" sz="1800" dirty="0"/>
                  <a:t>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075" y="1277258"/>
                <a:ext cx="10753725" cy="5457372"/>
              </a:xfrm>
              <a:blipFill>
                <a:blip r:embed="rId2"/>
                <a:stretch>
                  <a:fillRect l="-567" t="-12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073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374"/>
                <a:ext cx="10515600" cy="514350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Предположим, что имеется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выборок </a:t>
                </a:r>
                <a14:m>
                  <m:oMath xmlns:m="http://schemas.openxmlformats.org/officeDocument/2006/math">
                    <m:r>
                      <a:rPr 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dirty="0"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Можно вычислить функцию стоимости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минимизировать эту функцию относительно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/>
                    </m:sSup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чтобы определить параметры модели. Таким образом можно записать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ru-RU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𝐴𝑟𝑔𝑚𝑖𝑛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Выразим вектор прогноза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 погрешность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ru-RU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Тогда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выразить в виде квадрата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нормы вектора невязки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ru-RU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</m:d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Можно записать вероятность для линейной регрессии следующим образом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где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дисперсия фиксирована и не зависит от исходных данных, то такая модель называется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гомоскедастической</a:t>
                </a: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регрессией.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дисперсия  зависит от входных данных, то такая модель называется </a:t>
                </a:r>
                <a:r>
                  <a:rPr lang="ru-RU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гетероскедастической</a:t>
                </a: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регрессией.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линейной постановке получаем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0" indent="0">
                  <a:buNone/>
                </a:pPr>
                <a:r>
                  <a:rPr lang="ru-RU" sz="1800" dirty="0"/>
                  <a:t>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374"/>
                <a:ext cx="10515600" cy="5143501"/>
              </a:xfrm>
              <a:blipFill>
                <a:blip r:embed="rId2"/>
                <a:stretch>
                  <a:fillRect l="-638" t="-4502" b="-638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262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Линейная регрессия соответствует модели</a:t>
                </a:r>
                <a:endParaRPr lang="ru-RU" sz="20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Будем считать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фиксировано. Задача состоит в определении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 Определим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отрицательный логарифм правдоподобия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NLL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𝑵𝑳𝑳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𝑙𝑜𝑔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𝜋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𝒏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𝑾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𝑻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𝒏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Отбросив несущественную постоянные слагаемые, получим сумму квадратов невязок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RSS.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𝑹𝑺𝑺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𝑾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𝑾</m:t>
                                    </m:r>
                                  </m:e>
                                  <m:sup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невязка.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Поделив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число примеров получим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среднеквадратическую ошибку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𝑴𝑺𝑬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𝑅𝑆𝑆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p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/>
                          </m:eqArr>
                        </m:e>
                      </m:nary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4)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Извлекая квадратный корень получим 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корень из среднеквадратичной ошибки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𝑹𝑴𝑺𝑬</m:t>
                    </m:r>
                  </m:oMath>
                </a14:m>
                <a:endParaRPr lang="ru-RU" sz="1800" b="1" dirty="0"/>
              </a:p>
              <a:p>
                <a:pPr marL="0" indent="0">
                  <a:buNone/>
                </a:pPr>
                <a:r>
                  <a:rPr lang="ru-RU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𝑹𝑴𝑺𝑬</m:t>
                    </m:r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</m:d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𝑴𝑺𝑬</m:t>
                        </m:r>
                        <m:d>
                          <m:dPr>
                            <m:ctrlPr>
                              <a:rPr lang="en-US" sz="1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</m:d>
                      </m:e>
                    </m:rad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𝑾</m:t>
                                        </m:r>
                                      </m:e>
                                      <m:sup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𝑻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ru-RU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  <a:blipFill>
                <a:blip r:embed="rId2"/>
                <a:stretch>
                  <a:fillRect l="-638" t="-1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8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Для вычисления </a:t>
                </a:r>
                <a:r>
                  <a:rPr lang="en-US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MLE – </a:t>
                </a:r>
                <a:r>
                  <a:rPr lang="ru-RU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оценки максимального правдоподобия можно минимизировать любую из предложенных оценок –</a:t>
                </a:r>
                <a:r>
                  <a:rPr lang="en-US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NLL,  RSS. MSE, RMSE. </a:t>
                </a:r>
                <a:r>
                  <a:rPr lang="ru-RU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Во всех случаях результат будет один и тот же, поскольку целевая функция будет одной и той же .</a:t>
                </a:r>
              </a:p>
              <a:p>
                <a:pPr marL="0" indent="0">
                  <a:buNone/>
                </a:pPr>
                <a:r>
                  <a:rPr lang="ru-RU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Рассмотрим </a:t>
                </a:r>
                <a:r>
                  <a:rPr lang="en-US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RSS(W)=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𝑾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𝒙𝑾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𝒙𝑾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𝒙𝑾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ru-RU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Для того, чтобы получить оптимальные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𝑴𝑳𝑬</m:t>
                        </m:r>
                      </m:sub>
                    </m:sSub>
                  </m:oMath>
                </a14:m>
                <a:r>
                  <a:rPr lang="en-US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𝑨𝒓𝒈𝒎𝒊𝒏𝑹𝑺𝑺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</m:oMath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 оценка обыкновенных наименьших квадратов (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OLS)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эквивалентна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ru-RU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  <a:blipFill>
                <a:blip r:embed="rId2"/>
                <a:stretch>
                  <a:fillRect l="-1217" t="-1959" r="-18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36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21A6-2507-4951-8F98-98429DF5F4FC}"/>
              </a:ext>
            </a:extLst>
          </p:cNvPr>
          <p:cNvSpPr txBox="1"/>
          <p:nvPr/>
        </p:nvSpPr>
        <p:spPr>
          <a:xfrm>
            <a:off x="1867878" y="346917"/>
            <a:ext cx="81988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ДИВЕРГЕНЦИЯ КУЛЬБАКА-ЛЕЙБЛЕРА И ПЕРЕКРЕСТНАЯ ЭНТРОПИЯ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858" y="1381115"/>
                <a:ext cx="11829142" cy="54768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Понятие </a:t>
                </a:r>
                <a:r>
                  <a:rPr lang="ru-RU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расстояние (дивергенция) </a:t>
                </a:r>
                <a:r>
                  <a:rPr lang="ru-RU" sz="21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Кульбака-Лейблера</a:t>
                </a:r>
                <a:r>
                  <a:rPr lang="ru-RU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пришло из теории информации. Оно является мерой разницы между двумя вероятностями распределения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считать распределение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истинное распределение,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его приближение. Дивергенция </a:t>
                </a:r>
                <a:r>
                  <a:rPr lang="ru-RU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ru-RU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Лейблера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от распределения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 распределения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обозначается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KL(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||</m:t>
                    </m:r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определяется следующим образом</a:t>
                </a:r>
              </a:p>
              <a:p>
                <a:pPr marL="0" indent="0" algn="ctr"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KL(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||</m:t>
                    </m:r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sz="21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f>
                          <m:f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𝑑𝑃</m:t>
                            </m:r>
                          </m:num>
                          <m:den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𝑑𝑄</m:t>
                            </m:r>
                          </m:den>
                        </m:f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𝑑𝑃</m:t>
                        </m:r>
                        <m:r>
                          <a:rPr lang="ru-R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</m:e>
                    </m:nary>
                    <m:r>
                      <a:rPr lang="ru-R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где интеграл берется по все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му пространству исходов, общих для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следующие случаи:</a:t>
                </a:r>
              </a:p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дискретные случайные величины, заданные на дискретном множестве </a:t>
                </a:r>
                <a:endParaRPr lang="en-US" sz="21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u-RU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Расстояние Кульбака−Лейблера 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KL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||</m:t>
                    </m:r>
                    <m:r>
                      <m:rPr>
                        <m:nor/>
                      </m:rPr>
                      <a:rPr lang="en-US" sz="2100" dirty="0"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1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1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  <m:sup/>
                      <m:e>
                        <m:r>
                          <a:rPr lang="en-US" sz="21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d>
                          <m:dPr>
                            <m:ctrlPr>
                              <a:rPr lang="en-US" sz="21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sz="21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𝒍𝒐𝒈</m:t>
                        </m:r>
                        <m:f>
                          <m:fPr>
                            <m:ctrlP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𝒒</m:t>
                            </m:r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непрерывные случайные величины в пространстве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1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ru-R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Расстояние </a:t>
                </a: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KL</m:t>
                      </m:r>
                      <m:r>
                        <m:rPr>
                          <m:nor/>
                        </m:rP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2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||</m:t>
                      </m:r>
                      <m:r>
                        <m:rPr>
                          <m:nor/>
                        </m:rPr>
                        <a:rPr lang="en-US" sz="2100" dirty="0"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m:rPr>
                          <m:nor/>
                        </m:rP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21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1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ru-R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sz="21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1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/>
                              </m:sSub>
                            </m:e>
                          </m:d>
                          <m:r>
                            <a:rPr lang="en-US" sz="21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𝒍𝒐𝒈</m:t>
                          </m:r>
                          <m:f>
                            <m:fPr>
                              <m:ctrlPr>
                                <a:rPr lang="en-US" sz="21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b/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21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𝒒</m:t>
                              </m:r>
                              <m:d>
                                <m:dPr>
                                  <m:ctrlP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b/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sz="21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Дивергенция </a:t>
                </a:r>
                <a:r>
                  <a:rPr lang="ru-RU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Кульбака-Лейблера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дает возможность перейти к перекрестной энтропии (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cross-entropy)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1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ru-R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58" y="1381115"/>
                <a:ext cx="11829142" cy="5476885"/>
              </a:xfrm>
              <a:prstGeom prst="rect">
                <a:avLst/>
              </a:prstGeom>
              <a:blipFill>
                <a:blip r:embed="rId2"/>
                <a:stretch>
                  <a:fillRect l="-619" t="-1336" r="-6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650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2715</Words>
  <Application>Microsoft Office PowerPoint</Application>
  <PresentationFormat>Широкоэкранный</PresentationFormat>
  <Paragraphs>190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Times New Roman</vt:lpstr>
      <vt:lpstr>Тема Office</vt:lpstr>
      <vt:lpstr>МАТЕМАТИЧЕСКИЕ ОСНОВЫ ИСКУССТВЕННОГО ИНТЕЛЛЕКТА Каганов Ю.Т. к.т.н., доцент каф. ИУ-5 «Системы обработки информации и управления» </vt:lpstr>
      <vt:lpstr>Презентация PowerPoint</vt:lpstr>
      <vt:lpstr>Понятие вероятности</vt:lpstr>
      <vt:lpstr>ПЛОТНОСТЬ ВЕРОЯТНОСТИ</vt:lpstr>
      <vt:lpstr>РАСПРЕДЕЛЕНИЕ ГАУССА (нормальное распределение) </vt:lpstr>
      <vt:lpstr>ЦЕНТРАЛЬНАЯ ПРЕДЕЛЬНАЯ ТЕОРЕМА</vt:lpstr>
      <vt:lpstr>СТАТИСТИЧЕСКИЕ ХАРАКТЕРИСТИКИ РАСПРЕДЕЛНИЯ</vt:lpstr>
      <vt:lpstr>ВЫБОРКА</vt:lpstr>
      <vt:lpstr>Презентация PowerPoint</vt:lpstr>
      <vt:lpstr>Презентация PowerPoint</vt:lpstr>
      <vt:lpstr>Обучение модели и теорема Байенса</vt:lpstr>
      <vt:lpstr>Формула Байеса</vt:lpstr>
      <vt:lpstr>Трансдукция</vt:lpstr>
      <vt:lpstr>Трансдукция (“Сначала восходят к аксиомам, а затем спускаются к практике” Ф. Бэкон)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ЛИНЕЙНАЯ РЕГРЕССИЯ</vt:lpstr>
      <vt:lpstr>ЛИНЕЙНАЯ РЕГРЕССИЯ</vt:lpstr>
      <vt:lpstr>ЛИНЕЙНАЯ РЕГРЕССИЯ</vt:lpstr>
      <vt:lpstr>ЛИНЕЙНАЯ РЕГРЕССИЯ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 Kaganov</dc:creator>
  <cp:lastModifiedBy>Yuriy Kaganov</cp:lastModifiedBy>
  <cp:revision>88</cp:revision>
  <dcterms:created xsi:type="dcterms:W3CDTF">2022-09-17T09:37:33Z</dcterms:created>
  <dcterms:modified xsi:type="dcterms:W3CDTF">2025-11-19T20:32:59Z</dcterms:modified>
</cp:coreProperties>
</file>