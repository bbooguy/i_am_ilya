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36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361" r:id="rId21"/>
    <p:sldId id="362" r:id="rId22"/>
    <p:sldId id="366" r:id="rId23"/>
    <p:sldId id="367" r:id="rId24"/>
    <p:sldId id="368" r:id="rId25"/>
    <p:sldId id="369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817" autoAdjust="0"/>
  </p:normalViewPr>
  <p:slideViewPr>
    <p:cSldViewPr snapToGrid="0" snapToObjects="1">
      <p:cViewPr varScale="1">
        <p:scale>
          <a:sx n="56" d="100"/>
          <a:sy n="56" d="100"/>
        </p:scale>
        <p:origin x="67" y="1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944C6-AA5F-494F-8469-A9E2C72ACCC4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6152A5-F52E-4C27-BB64-548A9A1FA4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702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6152A5-F52E-4C27-BB64-548A9A1FA48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949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72662" y="146756"/>
            <a:ext cx="8050924" cy="5768622"/>
          </a:xfrm>
        </p:spPr>
        <p:txBody>
          <a:bodyPr>
            <a:normAutofit/>
          </a:bodyPr>
          <a:lstStyle/>
          <a:p>
            <a:pPr>
              <a:spcBef>
                <a:spcPts val="2400"/>
              </a:spcBef>
              <a:spcAft>
                <a:spcPts val="1200"/>
              </a:spcAft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МАТЕМАТИЧЕСКИЕ ОСНОВЫ</a:t>
            </a:r>
            <a:b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ИСКУССТВЕННОГО ИНТЕЛЛЕКТА</a:t>
            </a:r>
            <a:b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Каганов Ю.Т.</a:t>
            </a:r>
            <a:b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 12</a:t>
            </a:r>
            <a:b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Метод опорных векторов (SVM)</a:t>
            </a:r>
            <a:b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 геометрической интуиции к мощному инструменту ИИ</a:t>
            </a:r>
            <a:b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57952"/>
          </a:xfrm>
        </p:spPr>
        <p:txBody>
          <a:bodyPr>
            <a:normAutofit fontScale="92500" lnSpcReduction="2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1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История и основные идеи</a:t>
            </a:r>
            <a:endParaRPr lang="ru-RU" sz="21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9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Математические</a:t>
            </a:r>
            <a:r>
              <a:rPr lang="ru-RU" sz="21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основы</a:t>
            </a:r>
            <a:endParaRPr lang="ru-RU" sz="21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1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Линейно разделимые данные</a:t>
            </a:r>
            <a:endParaRPr lang="ru-RU" sz="21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1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Ядерный трюк (</a:t>
            </a:r>
            <a:r>
              <a:rPr lang="ru-RU" sz="21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ru-RU" sz="21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Trick</a:t>
            </a:r>
            <a:r>
              <a:rPr lang="ru-RU" sz="21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1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1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Случай неразделимых данных</a:t>
            </a:r>
            <a:endParaRPr lang="ru-RU" sz="21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1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Мультиклассовая</a:t>
            </a:r>
            <a:r>
              <a:rPr lang="ru-RU" sz="21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классификация</a:t>
            </a:r>
            <a:endParaRPr lang="ru-RU" sz="21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1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Регрессия (SVR)</a:t>
            </a:r>
            <a:endParaRPr lang="ru-RU" sz="21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1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Практическая реализация</a:t>
            </a:r>
            <a:endParaRPr lang="ru-RU" sz="21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1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Примеры применения</a:t>
            </a:r>
            <a:endParaRPr lang="ru-RU" sz="21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1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Сравнение с другими методами</a:t>
            </a:r>
            <a:endParaRPr lang="ru-RU" sz="21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1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Преимущества и ограничения</a:t>
            </a:r>
            <a:endParaRPr lang="ru-RU" sz="21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1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Современные расширения</a:t>
            </a:r>
            <a:endParaRPr lang="ru-RU" sz="21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Историческая справка</a:t>
            </a:r>
            <a:b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Эволюция SVM</a:t>
            </a:r>
            <a:b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1992</a:t>
            </a:r>
            <a:r>
              <a:rPr lang="ru-RU" sz="2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 Владимир </a:t>
            </a:r>
            <a:r>
              <a:rPr lang="ru-RU" sz="2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Вапник</a:t>
            </a:r>
            <a:r>
              <a:rPr lang="ru-RU" sz="2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Корнелия Кортес</a:t>
            </a:r>
            <a:br>
              <a:rPr lang="ru-RU" sz="2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1995</a:t>
            </a:r>
            <a:r>
              <a:rPr lang="ru-RU" sz="2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 Статья «Support-</a:t>
            </a:r>
            <a:r>
              <a:rPr lang="ru-RU" sz="2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ru-RU" sz="2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Networks»</a:t>
            </a:r>
            <a:br>
              <a:rPr lang="ru-RU" sz="2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1990-е</a:t>
            </a:r>
            <a:r>
              <a:rPr lang="ru-RU" sz="2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 Развитие теории статистического обучения</a:t>
            </a:r>
            <a:br>
              <a:rPr lang="ru-RU" sz="2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2000-е</a:t>
            </a:r>
            <a:r>
              <a:rPr lang="ru-RU" sz="2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 Широкое внедрение в компьютерное зрение и биоинформатику</a:t>
            </a:r>
            <a:br>
              <a:rPr lang="ru-RU" sz="2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2010-е</a:t>
            </a:r>
            <a:r>
              <a:rPr lang="ru-RU" sz="2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 Интеграция с глубоким обучением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8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«SVM – мост между статистикой и машинным обучением»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Геометрическая интуиция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902AFA-8DA8-4E5C-8A63-5C59C27712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2710" y="1694074"/>
            <a:ext cx="8658579" cy="36574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идея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Найти оптимальную разделяющую гиперплоскость</a:t>
            </a:r>
          </a:p>
          <a:p>
            <a:pPr latinLnBrk="1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Критерий: Максимальный зазор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margin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между классами</a:t>
            </a:r>
          </a:p>
          <a:p>
            <a:pPr latinLnBrk="1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Опорные векторы: Точки, определяющие положение гиперплоскости</a:t>
            </a:r>
          </a:p>
          <a:p>
            <a:r>
              <a:rPr 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endParaRPr lang="ru-RU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 1: ○ ○ ○    │    Класс 2: △ △ △</a:t>
            </a:r>
          </a:p>
          <a:p>
            <a:pPr latinLnBrk="1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○ ○       │         △ △</a:t>
            </a:r>
          </a:p>
          <a:p>
            <a:pPr latinLnBrk="1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○       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Hyperplane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△</a:t>
            </a:r>
          </a:p>
          <a:p>
            <a:pPr latinLnBrk="1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Support      │      Support</a:t>
            </a:r>
          </a:p>
          <a:p>
            <a:pPr latinLnBrk="1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│     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Vectors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Математическая постановка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E79138-9566-4B4A-8FA4-717CB64867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99" y="1615473"/>
            <a:ext cx="8575965" cy="4661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Линейно разделимый случай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Дано: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Обучающая выборка: {(x₁, y₁), ..., (xₙ, yₙ)}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yᵢ ∈ {-1, +1}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Гиперплоскость: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w·x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b = 0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Максимизировать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margin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2/‖w‖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 условии: yᵢ(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w·x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ᵢ + b) ≥ 1, ∀i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Решение задачи оптимизации</a:t>
            </a:r>
            <a:b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C7C250-7473-4E3F-BD61-59719EE9F0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3632" y="1064019"/>
            <a:ext cx="8649730" cy="56555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Двойственная задача (</a:t>
            </a:r>
            <a:r>
              <a:rPr lang="ru-RU" sz="18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Lagrange</a:t>
            </a: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Исходная задача: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945"/>
              </a:lnSpc>
              <a:spcAft>
                <a:spcPts val="800"/>
              </a:spcAft>
              <a:buNone/>
            </a:pP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(½‖w‖²)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 yᵢ(</a:t>
            </a: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w·x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ᵢ + b) ≥ 1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Двойственная задача: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945"/>
              </a:lnSpc>
              <a:spcAft>
                <a:spcPts val="800"/>
              </a:spcAft>
              <a:buNone/>
            </a:pP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Σαᵢ - ½ ΣΣ αᵢαⱼ</a:t>
            </a: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yᵢy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ⱼ(xᵢ·xⱼ)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 Σαᵢyᵢ = 0, αᵢ ≥ 0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Решение: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945"/>
              </a:lnSpc>
              <a:spcAft>
                <a:spcPts val="800"/>
              </a:spcAft>
              <a:buNone/>
            </a:pP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 = Σ αᵢ</a:t>
            </a: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yᵢx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ᵢ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 = yᵢ - </a:t>
            </a: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w·x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ᵢ для опорных векторов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171700" lvl="5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Сложение/вычитание: центрирование данных.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Ядерный трюк (</a:t>
            </a:r>
            <a:r>
              <a:rPr lang="ru-RU" sz="36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Trick</a:t>
            </a:r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BCE4C3-7C4F-4B49-997F-64AF4FA682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1" y="1292257"/>
            <a:ext cx="8515350" cy="51418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Работа в пространствах высокой размерности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Проблема: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Линейная неразделимость в исходном пространстве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Решение: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Отображаем данные в пространство высокой размерности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Используем ядра для эффективных вычислений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Никогда явно не вычисляем преобразование Φ(x)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Формула:</a:t>
            </a:r>
            <a:b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K(xᵢ, xⱼ) = Φ(xᵢ)·Φ(xⱼ)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Популярные ядерные функции</a:t>
            </a:r>
            <a:b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91CED8-70FE-4E3C-8669-503C3DAF61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3863181"/>
            <a:ext cx="8354292" cy="759118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F00A28B-00FE-49EA-9F6F-6EA048A77C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773803"/>
              </p:ext>
            </p:extLst>
          </p:nvPr>
        </p:nvGraphicFramePr>
        <p:xfrm>
          <a:off x="265108" y="1658374"/>
          <a:ext cx="8613783" cy="51280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10793">
                  <a:extLst>
                    <a:ext uri="{9D8B030D-6E8A-4147-A177-3AD203B41FA5}">
                      <a16:colId xmlns:a16="http://schemas.microsoft.com/office/drawing/2014/main" val="1079252234"/>
                    </a:ext>
                  </a:extLst>
                </a:gridCol>
                <a:gridCol w="2434330">
                  <a:extLst>
                    <a:ext uri="{9D8B030D-6E8A-4147-A177-3AD203B41FA5}">
                      <a16:colId xmlns:a16="http://schemas.microsoft.com/office/drawing/2014/main" val="943549055"/>
                    </a:ext>
                  </a:extLst>
                </a:gridCol>
                <a:gridCol w="2434330">
                  <a:extLst>
                    <a:ext uri="{9D8B030D-6E8A-4147-A177-3AD203B41FA5}">
                      <a16:colId xmlns:a16="http://schemas.microsoft.com/office/drawing/2014/main" val="2372783124"/>
                    </a:ext>
                  </a:extLst>
                </a:gridCol>
                <a:gridCol w="2434330">
                  <a:extLst>
                    <a:ext uri="{9D8B030D-6E8A-4147-A177-3AD203B41FA5}">
                      <a16:colId xmlns:a16="http://schemas.microsoft.com/office/drawing/2014/main" val="3457938479"/>
                    </a:ext>
                  </a:extLst>
                </a:gridCol>
              </a:tblGrid>
              <a:tr h="77795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Тип ядра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Формула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Параметры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Применение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670303919"/>
                  </a:ext>
                </a:extLst>
              </a:tr>
              <a:tr h="83973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Линейное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K(x,y) = x·y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-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Линейно разделимые данные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022199874"/>
                  </a:ext>
                </a:extLst>
              </a:tr>
              <a:tr h="133531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Полиномиальное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K(x,y) = (γx·y + r)^d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d, γ, r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Полиномиальные зависимости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350371026"/>
                  </a:ext>
                </a:extLst>
              </a:tr>
              <a:tr h="133531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RBF (Гауссово)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K(x,y) = exp(-γ‖x-y‖²)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γ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Универсальное, плавные границы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964817353"/>
                  </a:ext>
                </a:extLst>
              </a:tr>
              <a:tr h="83973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Сигмоидальное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K(x,y) = tanh(</a:t>
                      </a:r>
                      <a:r>
                        <a:rPr lang="ru-RU" sz="1100">
                          <a:effectLst/>
                        </a:rPr>
                        <a:t>γ</a:t>
                      </a:r>
                      <a:r>
                        <a:rPr lang="en-US" sz="1100">
                          <a:effectLst/>
                        </a:rPr>
                        <a:t>x·y + r)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γ, r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 err="1">
                          <a:effectLst/>
                        </a:rPr>
                        <a:t>Нейросетевые</a:t>
                      </a:r>
                      <a:r>
                        <a:rPr lang="ru-RU" sz="1100" dirty="0">
                          <a:effectLst/>
                        </a:rPr>
                        <a:t> аналоги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24317616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0567716-D92A-45F4-BD33-EBA5E0360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014" y="894418"/>
            <a:ext cx="34407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ядер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SVM для неразделимых данных</a:t>
            </a:r>
            <a:br>
              <a:rPr lang="ru-RU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Soft </a:t>
            </a:r>
            <a:r>
              <a:rPr lang="ru-RU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Margin</a:t>
            </a:r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классификация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Вводим переменные ослабления ξᵢ: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ru-RU" sz="2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½‖w‖² + C Σ ξᵢ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 yᵢ(</a:t>
            </a:r>
            <a:r>
              <a:rPr lang="ru-RU" sz="2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w·x</a:t>
            </a:r>
            <a:r>
              <a:rPr lang="ru-RU" sz="2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ᵢ + b) ≥ 1 - ξᵢ, ξᵢ ≥ 0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Параметр C: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Большое C: Малая ошибка, узкий зазор</a:t>
            </a:r>
            <a:endParaRPr lang="ru-RU" sz="28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Малое C: Допустимы ошибки, широкий зазор</a:t>
            </a:r>
            <a:endParaRPr lang="ru-RU" sz="28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Подбор </a:t>
            </a:r>
            <a:r>
              <a:rPr lang="ru-RU" sz="40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гиперпараметров</a:t>
            </a:r>
            <a:br>
              <a:rPr lang="ru-RU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FDBC9E-841E-4CF7-9FED-0FC94DBCDA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049407"/>
            <a:ext cx="8508125" cy="56794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Кросс-валидация и поиск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Ключевые параметры: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 штраф за ошибки (Soft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Margin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 ширина RBF ядра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degree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 степень полиномиального ядра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Методы поиска: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Grid Search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Search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Bayesian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Мультиклассовая</a:t>
            </a: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классификация</a:t>
            </a:r>
            <a:b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923BEB-F74A-423F-BB2C-C32E5B6823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601091"/>
            <a:ext cx="8515350" cy="4524179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Стратегии «один против всех»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One-</a:t>
            </a: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OvR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каждого класса k: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Обучаем бинарный классификатор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Класс k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все остальные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One-</a:t>
            </a: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-One (</a:t>
            </a: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OvO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каждой пары классов (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Обучаем бинарный классификатор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Используем голосование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SVM для регрессии (SVR)</a:t>
            </a:r>
            <a:br>
              <a:rPr lang="ru-RU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3500" b="1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35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Support </a:t>
            </a:r>
            <a:r>
              <a:rPr lang="ru-RU" sz="35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ru-RU" sz="35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5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ru-RU" sz="3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35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Идея:</a:t>
            </a:r>
            <a:r>
              <a:rPr lang="ru-RU" sz="35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Найти функцию, отклонение от которой не превышает ε</a:t>
            </a:r>
            <a:endParaRPr lang="ru-RU" sz="3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35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Задача оптимизации:</a:t>
            </a:r>
            <a:endParaRPr lang="ru-RU" sz="3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5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ru-RU" sz="35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½‖w‖² + C Σ(ξᵢ + ξᵢ*)</a:t>
            </a:r>
            <a:endParaRPr lang="ru-RU" sz="3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5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 -ε - ξᵢ* ≤ yᵢ - (</a:t>
            </a:r>
            <a:r>
              <a:rPr lang="ru-RU" sz="35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w·x</a:t>
            </a:r>
            <a:r>
              <a:rPr lang="ru-RU" sz="35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ᵢ + b) ≤ ε + ξᵢ</a:t>
            </a:r>
            <a:endParaRPr lang="ru-RU" sz="3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35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ε-трубка:</a:t>
            </a:r>
            <a:r>
              <a:rPr lang="ru-RU" sz="35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Допустимая область ошибок</a:t>
            </a:r>
            <a:endParaRPr lang="ru-RU" sz="3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Практическая реализация</a:t>
            </a:r>
            <a:br>
              <a:rPr lang="ru-RU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CD43B5-DE97-4CF0-8E5E-C34E5CDFA6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0702" y="1046428"/>
            <a:ext cx="8607547" cy="57076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Библиотеки и инструменты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Python: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egoe UI" panose="020B0502040204020203" pitchFamily="34" charset="0"/>
              </a:rPr>
              <a:t>python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from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sklearn</a:t>
            </a:r>
            <a:r>
              <a:rPr lang="en-US" sz="1800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svm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import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SVC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SVR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from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sklearn</a:t>
            </a:r>
            <a:r>
              <a:rPr lang="en-US" sz="1800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model_selection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import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GridSearchCV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i="1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</a:t>
            </a:r>
            <a:r>
              <a:rPr lang="ru-RU" sz="1800" i="1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Классификация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model </a:t>
            </a:r>
            <a:r>
              <a:rPr lang="en-US" sz="1800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SVC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kernel</a:t>
            </a:r>
            <a:r>
              <a:rPr lang="en-US" sz="1800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lang="en-US" sz="1800" dirty="0" err="1">
                <a:solidFill>
                  <a:srgbClr val="50A1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rbf</a:t>
            </a:r>
            <a:r>
              <a:rPr lang="en-US" sz="180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C</a:t>
            </a:r>
            <a:r>
              <a:rPr lang="en-US" sz="1800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B76B0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1.0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gamma</a:t>
            </a:r>
            <a:r>
              <a:rPr lang="en-US" sz="1800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'scale'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model</a:t>
            </a:r>
            <a:r>
              <a:rPr lang="en-US" sz="1800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fit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X_train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y_train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i="1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</a:t>
            </a:r>
            <a:r>
              <a:rPr lang="ru-RU" sz="1800" i="1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Регрессия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regressor </a:t>
            </a:r>
            <a:r>
              <a:rPr lang="en-US" sz="1800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SVR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kernel</a:t>
            </a:r>
            <a:r>
              <a:rPr lang="en-US" sz="1800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lang="en-US" sz="1800" dirty="0" err="1">
                <a:solidFill>
                  <a:srgbClr val="50A1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rbf</a:t>
            </a:r>
            <a:r>
              <a:rPr lang="en-US" sz="180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C</a:t>
            </a:r>
            <a:r>
              <a:rPr lang="en-US" sz="1800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B76B0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100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gamma</a:t>
            </a:r>
            <a:r>
              <a:rPr lang="en-US" sz="1800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B76B0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0.1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1800" dirty="0">
              <a:solidFill>
                <a:srgbClr val="383A42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latinLnBrk="1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Пример: Классификация изображений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C00241-B8B5-436F-A259-DD1A249B4D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866496"/>
            <a:ext cx="8318938" cy="599337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Распознавание рукописных цифр (MNIST)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945"/>
              </a:lnSpc>
              <a:spcAft>
                <a:spcPts val="800"/>
              </a:spcAft>
            </a:pP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egoe UI" panose="020B0502040204020203" pitchFamily="34" charset="0"/>
              </a:rPr>
              <a:t>python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from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sklearn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import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svm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datasets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from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sklearn</a:t>
            </a:r>
            <a:r>
              <a:rPr lang="en-US" sz="1800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model_selection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import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train_test_split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i="1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</a:t>
            </a:r>
            <a:r>
              <a:rPr lang="ru-RU" sz="1800" i="1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Загрузка данных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digits </a:t>
            </a:r>
            <a:r>
              <a:rPr lang="en-US" sz="1800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datasets</a:t>
            </a:r>
            <a:r>
              <a:rPr lang="en-US" sz="1800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load_digits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X_train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X_test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y_train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y_test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train_test_split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(...)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i="1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</a:t>
            </a:r>
            <a:r>
              <a:rPr lang="ru-RU" sz="1800" i="1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Обучение</a:t>
            </a:r>
            <a:r>
              <a:rPr lang="en-US" sz="1800" i="1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SVM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clf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svm</a:t>
            </a:r>
            <a:r>
              <a:rPr lang="en-US" sz="1800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SVC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gamma</a:t>
            </a:r>
            <a:r>
              <a:rPr lang="en-US" sz="1800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B76B0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0.001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C</a:t>
            </a:r>
            <a:r>
              <a:rPr lang="en-US" sz="1800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B76B0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100.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clf</a:t>
            </a:r>
            <a:r>
              <a:rPr lang="en-US" sz="1800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fit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X_train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y_train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i="1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Точность: ~98-99%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Пример: Анализ текста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FD3989-2915-417A-8987-8FDC31589E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940427"/>
            <a:ext cx="8317345" cy="58455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Классификация тональности отзывов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945"/>
              </a:lnSpc>
              <a:spcAft>
                <a:spcPts val="800"/>
              </a:spcAft>
            </a:pP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egoe UI" panose="020B0502040204020203" pitchFamily="34" charset="0"/>
              </a:rPr>
              <a:t>python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from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sklearn</a:t>
            </a:r>
            <a:r>
              <a:rPr lang="en-US" sz="1800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feature_extraction</a:t>
            </a:r>
            <a:r>
              <a:rPr lang="en-US" sz="1800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text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import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TfidfVectorizer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from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sklearn</a:t>
            </a:r>
            <a:r>
              <a:rPr lang="en-US" sz="1800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svm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import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LinearSVC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i="1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</a:t>
            </a:r>
            <a:r>
              <a:rPr lang="ru-RU" sz="1800" i="1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Векторизация текста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vectorizer </a:t>
            </a:r>
            <a:r>
              <a:rPr lang="en-US" sz="1800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TfidfVectorizer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 </a:t>
            </a:r>
            <a:r>
              <a:rPr lang="en-US" sz="1800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vectorizer</a:t>
            </a:r>
            <a:r>
              <a:rPr lang="en-US" sz="1800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fit_transform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texts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800" i="1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Линейный SVM для больших данных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clf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LinearSVC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clf</a:t>
            </a:r>
            <a:r>
              <a:rPr lang="en-US" sz="1800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fit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y</a:t>
            </a:r>
            <a:r>
              <a:rPr lang="en-US" sz="18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Преимущества: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Хорошая работа с разреженными данными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Сравнение с другими методами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064876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ru-RU" dirty="0"/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EA4452-EFF2-4E0B-814B-27CC99A21347}"/>
              </a:ext>
            </a:extLst>
          </p:cNvPr>
          <p:cNvSpPr txBox="1"/>
          <p:nvPr/>
        </p:nvSpPr>
        <p:spPr>
          <a:xfrm>
            <a:off x="1581664" y="1083861"/>
            <a:ext cx="5993028" cy="387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SVM </a:t>
            </a: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Networks </a:t>
            </a: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2A31ADB2-6477-4E4E-A144-F9C444D2E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494532"/>
              </p:ext>
            </p:extLst>
          </p:nvPr>
        </p:nvGraphicFramePr>
        <p:xfrm>
          <a:off x="210066" y="1653710"/>
          <a:ext cx="8822724" cy="49296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2587">
                  <a:extLst>
                    <a:ext uri="{9D8B030D-6E8A-4147-A177-3AD203B41FA5}">
                      <a16:colId xmlns:a16="http://schemas.microsoft.com/office/drawing/2014/main" val="258800299"/>
                    </a:ext>
                  </a:extLst>
                </a:gridCol>
                <a:gridCol w="2493379">
                  <a:extLst>
                    <a:ext uri="{9D8B030D-6E8A-4147-A177-3AD203B41FA5}">
                      <a16:colId xmlns:a16="http://schemas.microsoft.com/office/drawing/2014/main" val="4082771898"/>
                    </a:ext>
                  </a:extLst>
                </a:gridCol>
                <a:gridCol w="2493379">
                  <a:extLst>
                    <a:ext uri="{9D8B030D-6E8A-4147-A177-3AD203B41FA5}">
                      <a16:colId xmlns:a16="http://schemas.microsoft.com/office/drawing/2014/main" val="2756985886"/>
                    </a:ext>
                  </a:extLst>
                </a:gridCol>
                <a:gridCol w="2493379">
                  <a:extLst>
                    <a:ext uri="{9D8B030D-6E8A-4147-A177-3AD203B41FA5}">
                      <a16:colId xmlns:a16="http://schemas.microsoft.com/office/drawing/2014/main" val="2817693262"/>
                    </a:ext>
                  </a:extLst>
                </a:gridCol>
              </a:tblGrid>
              <a:tr h="58962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Критерий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SVM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Нейросети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Random Forest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474206429"/>
                  </a:ext>
                </a:extLst>
              </a:tr>
              <a:tr h="93759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Интерпретируемость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Средняя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Низкая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Высокая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870414118"/>
                  </a:ext>
                </a:extLst>
              </a:tr>
              <a:tr h="128556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Работа с малыми данными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Отлично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Плохо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Хорошо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586473348"/>
                  </a:ext>
                </a:extLst>
              </a:tr>
              <a:tr h="93759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Большие данные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Проблемы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</a:rPr>
                        <a:t>Отлично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Хорошо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296415288"/>
                  </a:ext>
                </a:extLst>
              </a:tr>
              <a:tr h="58962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Нелинейность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Через ядра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Встроенная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Встроенная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098644835"/>
                  </a:ext>
                </a:extLst>
              </a:tr>
              <a:tr h="58962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Переобучение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Устойчив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Склонен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</a:rPr>
                        <a:t>Устойчив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2699631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Преимущества SVM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Сильные стороны метода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Эффективность в высоких размерностях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Устойчивость к переобучению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(особенно с малыми данными)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Гибкость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через выбор ядра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Теоретическая обоснованность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(теория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Вапника-Червоненкиса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Глобальный оптимум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(выпуклая задача)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2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Ограничения и недостатки</a:t>
            </a:r>
            <a:b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Когда SVM не подходит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Очень большие наборы данных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(O(n²) или O(n³))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Много шума в данных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(перекрывающиеся классы)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Мультиклассовые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задачи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(требуют дополнительных стратегий)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Выбор ядра и параметров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(нет универсальных правил)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Чёрный ящик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(интерпретация сложна)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Масштабирование для больших данных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Методы ускорения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Сэмплирование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(выборка представительных точек)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Пакетная обработка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chunking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Приближённые методы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approximate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SVM)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Распределённые вычисления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GPU-ускорение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LibLinear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для линейных SVM на больших данных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SVM в глубоком обучении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60E8B3-67D3-4CCE-999E-2FB57C07D8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17187"/>
            <a:ext cx="8497614" cy="4282390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Интеграция с нейросетями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SVM как финальный слой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в нейросетях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Ядерные методы в представлениях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Maximum Margin 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обучении</a:t>
            </a:r>
            <a:r>
              <a:rPr lang="en-US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(Hinge loss)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945"/>
              </a:lnSpc>
              <a:spcAft>
                <a:spcPts val="800"/>
              </a:spcAft>
            </a:pPr>
            <a:r>
              <a:rPr lang="en-US" sz="20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Segoe UI" panose="020B0502040204020203" pitchFamily="34" charset="0"/>
              </a:rPr>
              <a:t>python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i="1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SVM loss </a:t>
            </a:r>
            <a:r>
              <a:rPr lang="ru-RU" sz="2000" i="1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в</a:t>
            </a:r>
            <a:r>
              <a:rPr lang="en-US" sz="2000" i="1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000" i="1" dirty="0" err="1">
                <a:solidFill>
                  <a:srgbClr val="A0A1A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PyTorch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criterion </a:t>
            </a:r>
            <a:r>
              <a:rPr lang="en-US" sz="2000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torch</a:t>
            </a:r>
            <a:r>
              <a:rPr lang="en-US" sz="2000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nn</a:t>
            </a:r>
            <a:r>
              <a:rPr lang="en-US" sz="2000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MultiMarginLoss</a:t>
            </a:r>
            <a:r>
              <a:rPr lang="en-US" sz="20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</a:t>
            </a:r>
            <a:r>
              <a:rPr lang="en-US" sz="2000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solidFill>
                  <a:srgbClr val="B76B0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lang="en-US" sz="20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solidFill>
                  <a:srgbClr val="0F11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margin</a:t>
            </a:r>
            <a:r>
              <a:rPr lang="en-US" sz="2000" dirty="0">
                <a:solidFill>
                  <a:srgbClr val="4078F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solidFill>
                  <a:srgbClr val="B76B0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1.0</a:t>
            </a:r>
            <a:r>
              <a:rPr lang="en-US" sz="2000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994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8935"/>
            <a:ext cx="8229600" cy="685801"/>
          </a:xfrm>
        </p:spPr>
        <p:txBody>
          <a:bodyPr>
            <a:noAutofit/>
          </a:bodyPr>
          <a:lstStyle/>
          <a:p>
            <a:br>
              <a:rPr lang="ru-RU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Современные расширения</a:t>
            </a:r>
            <a:br>
              <a:rPr lang="ru-RU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ru-RU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Актуальные разработки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ru-RU" sz="1800" b="1" dirty="0">
              <a:solidFill>
                <a:srgbClr val="0F1115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ru-RU" sz="1800" b="1" dirty="0">
              <a:solidFill>
                <a:srgbClr val="0F1115"/>
              </a:solidFill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Structured</a:t>
            </a: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SVM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 для структурного вывода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Laplacian</a:t>
            </a: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SVM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 полуавтоматическое обучение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Budgeted</a:t>
            </a: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SVM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 ограниченные ресурсы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Online SVM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 потоковые данные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Fuzzy</a:t>
            </a: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SVM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 работа с нечёткими данными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160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8935"/>
            <a:ext cx="8229600" cy="685801"/>
          </a:xfrm>
        </p:spPr>
        <p:txBody>
          <a:bodyPr>
            <a:noAutofit/>
          </a:bodyPr>
          <a:lstStyle/>
          <a:p>
            <a:br>
              <a:rPr lang="ru-RU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Применение в биоинформатике</a:t>
            </a:r>
            <a:b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Анализ биологических данных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ru-RU" sz="1800" b="1" dirty="0">
              <a:solidFill>
                <a:srgbClr val="0F1115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Классификация белков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Анализ экспрессии генов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Распознавание ДНК-последовательностей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Медицинская диагностика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Обнаружение рака по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микроматричным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данным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ru-RU" sz="1800" b="1" dirty="0">
              <a:solidFill>
                <a:srgbClr val="0F1115"/>
              </a:solidFill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4030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7B216F-2D2D-4DDA-874F-B413023B0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Применение в компьютерном зрении</a:t>
            </a:r>
            <a:b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F94236-0220-4FE4-8168-36865918C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Ключевые задачи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Распознавание объектов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Детектирование лиц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Классификация сцен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Слежение за объектами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Histogram of Oriented Gradients (HOG) + SVM</a:t>
            </a:r>
            <a:r>
              <a:rPr lang="en-US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классический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пайплайн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56027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5C4ED3-E99E-4D36-8D03-C5A7D6162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Будущее SVM</a:t>
            </a:r>
            <a:br>
              <a:rPr lang="ru-RU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702C0E-51F7-4FAE-B528-8B816F078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Перспективы развития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Интеграция с </a:t>
            </a: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deep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Автоматический выбор ядер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Квантовые SVM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Интерпретируемые SVM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SVM для </a:t>
            </a: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графовых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данных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24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«SVM остаётся важным инструментом в арсенале </a:t>
            </a:r>
            <a:r>
              <a:rPr lang="ru-RU" sz="2400" i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4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i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scientist</a:t>
            </a:r>
            <a:r>
              <a:rPr lang="ru-RU" sz="24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3807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7801B3-3240-4CF4-8605-3B08D8245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Итоги и практические советы</a:t>
            </a:r>
            <a:br>
              <a:rPr lang="ru-RU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F49A5C-C4DB-4EF6-A37C-59D9A0157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5417344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9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Когда использовать SVM:</a:t>
            </a:r>
            <a:endParaRPr lang="ru-RU" sz="19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Мало обучающих данных</a:t>
            </a:r>
            <a:endParaRPr lang="ru-RU" sz="19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Высокая размерность признаков</a:t>
            </a:r>
            <a:endParaRPr lang="ru-RU" sz="19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Требуется устойчивость к переобучению</a:t>
            </a:r>
            <a:endParaRPr lang="ru-RU" sz="19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Чёткая граница между классами</a:t>
            </a:r>
            <a:endParaRPr lang="ru-RU" sz="19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9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Практические рекомендации:</a:t>
            </a:r>
            <a:endParaRPr lang="ru-RU" sz="19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Начинайте с линейного ядра</a:t>
            </a:r>
            <a:endParaRPr lang="ru-RU" sz="19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Используйте кросс-валидацию для выбора C и γ</a:t>
            </a:r>
            <a:endParaRPr lang="ru-RU" sz="19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Нормализуйте данные</a:t>
            </a:r>
            <a:endParaRPr lang="ru-RU" sz="19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больших данных используйте </a:t>
            </a:r>
            <a:r>
              <a:rPr lang="ru-RU" sz="19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LinearSVC</a:t>
            </a:r>
            <a:endParaRPr lang="ru-RU" sz="19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Экспериментируйте с разными ядрами</a:t>
            </a:r>
            <a:endParaRPr lang="ru-RU" sz="19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8575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1329</Words>
  <Application>Microsoft Office PowerPoint</Application>
  <PresentationFormat>Экран (4:3)</PresentationFormat>
  <Paragraphs>262</Paragraphs>
  <Slides>25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3" baseType="lpstr">
      <vt:lpstr>Arial</vt:lpstr>
      <vt:lpstr>Calibri</vt:lpstr>
      <vt:lpstr>Consolas</vt:lpstr>
      <vt:lpstr>quote-cjk-patch</vt:lpstr>
      <vt:lpstr>Segoe UI</vt:lpstr>
      <vt:lpstr>Symbol</vt:lpstr>
      <vt:lpstr>Times New Roman</vt:lpstr>
      <vt:lpstr>Office Theme</vt:lpstr>
      <vt:lpstr>МАТЕМАТИЧЕСКИЕ ОСНОВЫ  ИСКУССТВЕННОГО ИНТЕЛЛЕКТА Каганов Ю.Т.  ЛЕКЦИЯ № 12  Метод опорных векторов (SVM)  От геометрической интуиции к мощному инструменту ИИ </vt:lpstr>
      <vt:lpstr>Содержание</vt:lpstr>
      <vt:lpstr> Историческая справка Эволюция SVM </vt:lpstr>
      <vt:lpstr>Геометрическая интуиция </vt:lpstr>
      <vt:lpstr>Математическая постановка </vt:lpstr>
      <vt:lpstr>Решение задачи оптимизации </vt:lpstr>
      <vt:lpstr>Ядерный трюк (Kernel Trick) </vt:lpstr>
      <vt:lpstr>Популярные ядерные функции </vt:lpstr>
      <vt:lpstr>SVM для неразделимых данных </vt:lpstr>
      <vt:lpstr>Подбор гиперпараметров </vt:lpstr>
      <vt:lpstr>Мультиклассовая классификация </vt:lpstr>
      <vt:lpstr>SVM для регрессии (SVR) </vt:lpstr>
      <vt:lpstr>Практическая реализация </vt:lpstr>
      <vt:lpstr>Пример: Классификация изображений</vt:lpstr>
      <vt:lpstr>Пример: Анализ текста </vt:lpstr>
      <vt:lpstr>Сравнение с другими методами </vt:lpstr>
      <vt:lpstr>Преимущества SVM </vt:lpstr>
      <vt:lpstr> Ограничения и недостатки </vt:lpstr>
      <vt:lpstr>Масштабирование для больших данных </vt:lpstr>
      <vt:lpstr> SVM в глубоком обучении</vt:lpstr>
      <vt:lpstr> Современные расширения  </vt:lpstr>
      <vt:lpstr> Применение в биоинформатике </vt:lpstr>
      <vt:lpstr>Применение в компьютерном зрении </vt:lpstr>
      <vt:lpstr>Будущее SVM </vt:lpstr>
      <vt:lpstr>Итоги и практические советы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Формула Байеса для оценки параметров модели</dc:title>
  <dc:subject/>
  <dc:creator>User</dc:creator>
  <cp:keywords/>
  <dc:description>generated using python-pptx</dc:description>
  <cp:lastModifiedBy>Yuriy Kaganov</cp:lastModifiedBy>
  <cp:revision>59</cp:revision>
  <dcterms:created xsi:type="dcterms:W3CDTF">2013-01-27T09:14:16Z</dcterms:created>
  <dcterms:modified xsi:type="dcterms:W3CDTF">2025-12-25T13:10:05Z</dcterms:modified>
  <cp:category/>
</cp:coreProperties>
</file>