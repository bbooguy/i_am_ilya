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307" r:id="rId3"/>
    <p:sldId id="309" r:id="rId4"/>
    <p:sldId id="310" r:id="rId5"/>
    <p:sldId id="311" r:id="rId6"/>
    <p:sldId id="312" r:id="rId7"/>
    <p:sldId id="313" r:id="rId8"/>
    <p:sldId id="314" r:id="rId9"/>
    <p:sldId id="315" r:id="rId10"/>
    <p:sldId id="316" r:id="rId11"/>
    <p:sldId id="317" r:id="rId12"/>
    <p:sldId id="318" r:id="rId13"/>
    <p:sldId id="283" r:id="rId14"/>
    <p:sldId id="284" r:id="rId15"/>
    <p:sldId id="303" r:id="rId16"/>
    <p:sldId id="304" r:id="rId17"/>
    <p:sldId id="305" r:id="rId18"/>
    <p:sldId id="306" r:id="rId19"/>
    <p:sldId id="286" r:id="rId20"/>
    <p:sldId id="287" r:id="rId21"/>
    <p:sldId id="288" r:id="rId22"/>
    <p:sldId id="289" r:id="rId23"/>
    <p:sldId id="258" r:id="rId24"/>
    <p:sldId id="319" r:id="rId25"/>
    <p:sldId id="290" r:id="rId26"/>
    <p:sldId id="298" r:id="rId27"/>
    <p:sldId id="291" r:id="rId28"/>
    <p:sldId id="292" r:id="rId29"/>
    <p:sldId id="299" r:id="rId30"/>
    <p:sldId id="320" r:id="rId31"/>
    <p:sldId id="300" r:id="rId32"/>
    <p:sldId id="293" r:id="rId33"/>
    <p:sldId id="294" r:id="rId34"/>
    <p:sldId id="295" r:id="rId35"/>
    <p:sldId id="296" r:id="rId36"/>
    <p:sldId id="297" r:id="rId37"/>
    <p:sldId id="301" r:id="rId38"/>
    <p:sldId id="302" r:id="rId39"/>
    <p:sldId id="321" r:id="rId40"/>
    <p:sldId id="370" r:id="rId41"/>
  </p:sldIdLst>
  <p:sldSz cx="9144000" cy="6858000" type="screen4x3"/>
  <p:notesSz cx="6858000" cy="9144000"/>
  <p:defaultTextStyle>
    <a:defPPr>
      <a:defRPr lang="ru-RU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2708" autoAdjust="0"/>
  </p:normalViewPr>
  <p:slideViewPr>
    <p:cSldViewPr>
      <p:cViewPr varScale="1">
        <p:scale>
          <a:sx n="73" d="100"/>
          <a:sy n="73" d="100"/>
        </p:scale>
        <p:origin x="72" y="91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/Relationships>
</file>

<file path=ppt/drawings/_rels/vmlDrawing1.vml.rels><?xml version="1.0" encoding="UTF-8" standalone="yes"?>
<Relationships xmlns="http://schemas.openxmlformats.org/package/2006/relationships"><Relationship Id="rId8" Type="http://schemas.openxmlformats.org/officeDocument/2006/relationships/image" Target="../media/image19.wmf"/><Relationship Id="rId3" Type="http://schemas.openxmlformats.org/officeDocument/2006/relationships/image" Target="../media/image14.wmf"/><Relationship Id="rId7" Type="http://schemas.openxmlformats.org/officeDocument/2006/relationships/image" Target="../media/image18.wmf"/><Relationship Id="rId2" Type="http://schemas.openxmlformats.org/officeDocument/2006/relationships/image" Target="../media/image13.wmf"/><Relationship Id="rId1" Type="http://schemas.openxmlformats.org/officeDocument/2006/relationships/image" Target="../media/image12.wmf"/><Relationship Id="rId6" Type="http://schemas.openxmlformats.org/officeDocument/2006/relationships/image" Target="../media/image17.wmf"/><Relationship Id="rId11" Type="http://schemas.openxmlformats.org/officeDocument/2006/relationships/image" Target="../media/image22.wmf"/><Relationship Id="rId5" Type="http://schemas.openxmlformats.org/officeDocument/2006/relationships/image" Target="../media/image16.wmf"/><Relationship Id="rId10" Type="http://schemas.openxmlformats.org/officeDocument/2006/relationships/image" Target="../media/image21.wmf"/><Relationship Id="rId4" Type="http://schemas.openxmlformats.org/officeDocument/2006/relationships/image" Target="../media/image15.wmf"/><Relationship Id="rId9" Type="http://schemas.openxmlformats.org/officeDocument/2006/relationships/image" Target="../media/image20.wmf"/></Relationships>
</file>

<file path=ppt/drawings/_rels/vmlDrawing2.vml.rels><?xml version="1.0" encoding="UTF-8" standalone="yes"?>
<Relationships xmlns="http://schemas.openxmlformats.org/package/2006/relationships"><Relationship Id="rId8" Type="http://schemas.openxmlformats.org/officeDocument/2006/relationships/image" Target="../media/image36.wmf"/><Relationship Id="rId3" Type="http://schemas.openxmlformats.org/officeDocument/2006/relationships/image" Target="../media/image31.wmf"/><Relationship Id="rId7" Type="http://schemas.openxmlformats.org/officeDocument/2006/relationships/image" Target="../media/image35.wmf"/><Relationship Id="rId2" Type="http://schemas.openxmlformats.org/officeDocument/2006/relationships/image" Target="../media/image30.wmf"/><Relationship Id="rId1" Type="http://schemas.openxmlformats.org/officeDocument/2006/relationships/image" Target="../media/image29.wmf"/><Relationship Id="rId6" Type="http://schemas.openxmlformats.org/officeDocument/2006/relationships/image" Target="../media/image34.wmf"/><Relationship Id="rId5" Type="http://schemas.openxmlformats.org/officeDocument/2006/relationships/image" Target="../media/image33.wmf"/><Relationship Id="rId4" Type="http://schemas.openxmlformats.org/officeDocument/2006/relationships/image" Target="../media/image32.wmf"/></Relationships>
</file>

<file path=ppt/drawings/_rels/vmlDrawing3.vml.rels><?xml version="1.0" encoding="UTF-8" standalone="yes"?>
<Relationships xmlns="http://schemas.openxmlformats.org/package/2006/relationships"><Relationship Id="rId8" Type="http://schemas.openxmlformats.org/officeDocument/2006/relationships/image" Target="../media/image44.wmf"/><Relationship Id="rId13" Type="http://schemas.openxmlformats.org/officeDocument/2006/relationships/image" Target="../media/image49.wmf"/><Relationship Id="rId3" Type="http://schemas.openxmlformats.org/officeDocument/2006/relationships/image" Target="../media/image39.wmf"/><Relationship Id="rId7" Type="http://schemas.openxmlformats.org/officeDocument/2006/relationships/image" Target="../media/image43.wmf"/><Relationship Id="rId12" Type="http://schemas.openxmlformats.org/officeDocument/2006/relationships/image" Target="../media/image48.wmf"/><Relationship Id="rId2" Type="http://schemas.openxmlformats.org/officeDocument/2006/relationships/image" Target="../media/image38.wmf"/><Relationship Id="rId1" Type="http://schemas.openxmlformats.org/officeDocument/2006/relationships/image" Target="../media/image37.wmf"/><Relationship Id="rId6" Type="http://schemas.openxmlformats.org/officeDocument/2006/relationships/image" Target="../media/image42.wmf"/><Relationship Id="rId11" Type="http://schemas.openxmlformats.org/officeDocument/2006/relationships/image" Target="../media/image47.wmf"/><Relationship Id="rId5" Type="http://schemas.openxmlformats.org/officeDocument/2006/relationships/image" Target="../media/image41.wmf"/><Relationship Id="rId10" Type="http://schemas.openxmlformats.org/officeDocument/2006/relationships/image" Target="../media/image46.wmf"/><Relationship Id="rId4" Type="http://schemas.openxmlformats.org/officeDocument/2006/relationships/image" Target="../media/image40.wmf"/><Relationship Id="rId9" Type="http://schemas.openxmlformats.org/officeDocument/2006/relationships/image" Target="../media/image45.wmf"/></Relationships>
</file>

<file path=ppt/drawings/_rels/vmlDrawing4.vml.rels><?xml version="1.0" encoding="UTF-8" standalone="yes"?>
<Relationships xmlns="http://schemas.openxmlformats.org/package/2006/relationships"><Relationship Id="rId3" Type="http://schemas.openxmlformats.org/officeDocument/2006/relationships/image" Target="../media/image52.wmf"/><Relationship Id="rId2" Type="http://schemas.openxmlformats.org/officeDocument/2006/relationships/image" Target="../media/image51.wmf"/><Relationship Id="rId1" Type="http://schemas.openxmlformats.org/officeDocument/2006/relationships/image" Target="../media/image50.wmf"/></Relationships>
</file>

<file path=ppt/drawings/_rels/vmlDrawing5.vml.rels><?xml version="1.0" encoding="UTF-8" standalone="yes"?>
<Relationships xmlns="http://schemas.openxmlformats.org/package/2006/relationships"><Relationship Id="rId3" Type="http://schemas.openxmlformats.org/officeDocument/2006/relationships/image" Target="../media/image56.wmf"/><Relationship Id="rId2" Type="http://schemas.openxmlformats.org/officeDocument/2006/relationships/image" Target="../media/image55.wmf"/><Relationship Id="rId1" Type="http://schemas.openxmlformats.org/officeDocument/2006/relationships/image" Target="../media/image54.wmf"/><Relationship Id="rId4" Type="http://schemas.openxmlformats.org/officeDocument/2006/relationships/image" Target="../media/image57.wmf"/></Relationships>
</file>

<file path=ppt/drawings/_rels/vmlDrawing6.vml.rels><?xml version="1.0" encoding="UTF-8" standalone="yes"?>
<Relationships xmlns="http://schemas.openxmlformats.org/package/2006/relationships"><Relationship Id="rId8" Type="http://schemas.openxmlformats.org/officeDocument/2006/relationships/image" Target="../media/image65.wmf"/><Relationship Id="rId3" Type="http://schemas.openxmlformats.org/officeDocument/2006/relationships/image" Target="../media/image60.wmf"/><Relationship Id="rId7" Type="http://schemas.openxmlformats.org/officeDocument/2006/relationships/image" Target="../media/image64.wmf"/><Relationship Id="rId2" Type="http://schemas.openxmlformats.org/officeDocument/2006/relationships/image" Target="../media/image59.wmf"/><Relationship Id="rId1" Type="http://schemas.openxmlformats.org/officeDocument/2006/relationships/image" Target="../media/image58.wmf"/><Relationship Id="rId6" Type="http://schemas.openxmlformats.org/officeDocument/2006/relationships/image" Target="../media/image63.wmf"/><Relationship Id="rId5" Type="http://schemas.openxmlformats.org/officeDocument/2006/relationships/image" Target="../media/image62.wmf"/><Relationship Id="rId10" Type="http://schemas.openxmlformats.org/officeDocument/2006/relationships/image" Target="../media/image67.wmf"/><Relationship Id="rId4" Type="http://schemas.openxmlformats.org/officeDocument/2006/relationships/image" Target="../media/image61.wmf"/><Relationship Id="rId9" Type="http://schemas.openxmlformats.org/officeDocument/2006/relationships/image" Target="../media/image66.w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68.wmf"/></Relationships>
</file>

<file path=ppt/drawings/_rels/vmlDrawing8.vml.rels><?xml version="1.0" encoding="UTF-8" standalone="yes"?>
<Relationships xmlns="http://schemas.openxmlformats.org/package/2006/relationships"><Relationship Id="rId3" Type="http://schemas.openxmlformats.org/officeDocument/2006/relationships/image" Target="../media/image71.wmf"/><Relationship Id="rId2" Type="http://schemas.openxmlformats.org/officeDocument/2006/relationships/image" Target="../media/image70.wmf"/><Relationship Id="rId1" Type="http://schemas.openxmlformats.org/officeDocument/2006/relationships/image" Target="../media/image69.wmf"/><Relationship Id="rId5" Type="http://schemas.openxmlformats.org/officeDocument/2006/relationships/image" Target="../media/image73.wmf"/><Relationship Id="rId4" Type="http://schemas.openxmlformats.org/officeDocument/2006/relationships/image" Target="../media/image72.wmf"/></Relationships>
</file>

<file path=ppt/drawings/_rels/vmlDrawing9.vml.rels><?xml version="1.0" encoding="UTF-8" standalone="yes"?>
<Relationships xmlns="http://schemas.openxmlformats.org/package/2006/relationships"><Relationship Id="rId8" Type="http://schemas.openxmlformats.org/officeDocument/2006/relationships/image" Target="../media/image81.wmf"/><Relationship Id="rId3" Type="http://schemas.openxmlformats.org/officeDocument/2006/relationships/image" Target="../media/image76.wmf"/><Relationship Id="rId7" Type="http://schemas.openxmlformats.org/officeDocument/2006/relationships/image" Target="../media/image80.wmf"/><Relationship Id="rId2" Type="http://schemas.openxmlformats.org/officeDocument/2006/relationships/image" Target="../media/image75.wmf"/><Relationship Id="rId1" Type="http://schemas.openxmlformats.org/officeDocument/2006/relationships/image" Target="../media/image74.wmf"/><Relationship Id="rId6" Type="http://schemas.openxmlformats.org/officeDocument/2006/relationships/image" Target="../media/image79.wmf"/><Relationship Id="rId5" Type="http://schemas.openxmlformats.org/officeDocument/2006/relationships/image" Target="../media/image78.wmf"/><Relationship Id="rId4" Type="http://schemas.openxmlformats.org/officeDocument/2006/relationships/image" Target="../media/image77.wmf"/><Relationship Id="rId9" Type="http://schemas.openxmlformats.org/officeDocument/2006/relationships/image" Target="../media/image82.wmf"/></Relationships>
</file>

<file path=ppt/drawings/_rels/vmlDrawing10.vml.rels><?xml version="1.0" encoding="UTF-8" standalone="yes"?>
<Relationships xmlns="http://schemas.openxmlformats.org/package/2006/relationships"><Relationship Id="rId8" Type="http://schemas.openxmlformats.org/officeDocument/2006/relationships/image" Target="../media/image90.wmf"/><Relationship Id="rId3" Type="http://schemas.openxmlformats.org/officeDocument/2006/relationships/image" Target="../media/image85.wmf"/><Relationship Id="rId7" Type="http://schemas.openxmlformats.org/officeDocument/2006/relationships/image" Target="../media/image89.wmf"/><Relationship Id="rId12" Type="http://schemas.openxmlformats.org/officeDocument/2006/relationships/image" Target="../media/image94.wmf"/><Relationship Id="rId2" Type="http://schemas.openxmlformats.org/officeDocument/2006/relationships/image" Target="../media/image84.wmf"/><Relationship Id="rId1" Type="http://schemas.openxmlformats.org/officeDocument/2006/relationships/image" Target="../media/image83.wmf"/><Relationship Id="rId6" Type="http://schemas.openxmlformats.org/officeDocument/2006/relationships/image" Target="../media/image88.wmf"/><Relationship Id="rId11" Type="http://schemas.openxmlformats.org/officeDocument/2006/relationships/image" Target="../media/image93.wmf"/><Relationship Id="rId5" Type="http://schemas.openxmlformats.org/officeDocument/2006/relationships/image" Target="../media/image87.wmf"/><Relationship Id="rId10" Type="http://schemas.openxmlformats.org/officeDocument/2006/relationships/image" Target="../media/image92.wmf"/><Relationship Id="rId4" Type="http://schemas.openxmlformats.org/officeDocument/2006/relationships/image" Target="../media/image86.wmf"/><Relationship Id="rId9" Type="http://schemas.openxmlformats.org/officeDocument/2006/relationships/image" Target="../media/image91.wmf"/></Relationships>
</file>

<file path=ppt/drawings/_rels/vmlDrawing11.vml.rels><?xml version="1.0" encoding="UTF-8" standalone="yes"?>
<Relationships xmlns="http://schemas.openxmlformats.org/package/2006/relationships"><Relationship Id="rId1" Type="http://schemas.openxmlformats.org/officeDocument/2006/relationships/image" Target="../media/image95.wmf"/></Relationships>
</file>

<file path=ppt/drawings/_rels/vmlDrawing12.vml.rels><?xml version="1.0" encoding="UTF-8" standalone="yes"?>
<Relationships xmlns="http://schemas.openxmlformats.org/package/2006/relationships"><Relationship Id="rId3" Type="http://schemas.openxmlformats.org/officeDocument/2006/relationships/image" Target="../media/image98.wmf"/><Relationship Id="rId2" Type="http://schemas.openxmlformats.org/officeDocument/2006/relationships/image" Target="../media/image97.wmf"/><Relationship Id="rId1" Type="http://schemas.openxmlformats.org/officeDocument/2006/relationships/image" Target="../media/image96.wmf"/><Relationship Id="rId5" Type="http://schemas.openxmlformats.org/officeDocument/2006/relationships/image" Target="../media/image100.wmf"/><Relationship Id="rId4" Type="http://schemas.openxmlformats.org/officeDocument/2006/relationships/image" Target="../media/image99.wmf"/></Relationships>
</file>

<file path=ppt/drawings/_rels/vmlDrawing13.vml.rels><?xml version="1.0" encoding="UTF-8" standalone="yes"?>
<Relationships xmlns="http://schemas.openxmlformats.org/package/2006/relationships"><Relationship Id="rId3" Type="http://schemas.openxmlformats.org/officeDocument/2006/relationships/image" Target="../media/image103.wmf"/><Relationship Id="rId7" Type="http://schemas.openxmlformats.org/officeDocument/2006/relationships/image" Target="../media/image107.wmf"/><Relationship Id="rId2" Type="http://schemas.openxmlformats.org/officeDocument/2006/relationships/image" Target="../media/image102.wmf"/><Relationship Id="rId1" Type="http://schemas.openxmlformats.org/officeDocument/2006/relationships/image" Target="../media/image101.wmf"/><Relationship Id="rId6" Type="http://schemas.openxmlformats.org/officeDocument/2006/relationships/image" Target="../media/image106.wmf"/><Relationship Id="rId5" Type="http://schemas.openxmlformats.org/officeDocument/2006/relationships/image" Target="../media/image105.wmf"/><Relationship Id="rId4" Type="http://schemas.openxmlformats.org/officeDocument/2006/relationships/image" Target="../media/image104.wmf"/></Relationships>
</file>

<file path=ppt/drawings/_rels/vmlDrawing14.vml.rels><?xml version="1.0" encoding="UTF-8" standalone="yes"?>
<Relationships xmlns="http://schemas.openxmlformats.org/package/2006/relationships"><Relationship Id="rId3" Type="http://schemas.openxmlformats.org/officeDocument/2006/relationships/image" Target="../media/image110.wmf"/><Relationship Id="rId2" Type="http://schemas.openxmlformats.org/officeDocument/2006/relationships/image" Target="../media/image109.wmf"/><Relationship Id="rId1" Type="http://schemas.openxmlformats.org/officeDocument/2006/relationships/image" Target="../media/image108.wmf"/><Relationship Id="rId5" Type="http://schemas.openxmlformats.org/officeDocument/2006/relationships/image" Target="../media/image112.wmf"/><Relationship Id="rId4" Type="http://schemas.openxmlformats.org/officeDocument/2006/relationships/image" Target="../media/image111.wmf"/></Relationships>
</file>

<file path=ppt/drawings/_rels/vmlDrawing15.vml.rels><?xml version="1.0" encoding="UTF-8" standalone="yes"?>
<Relationships xmlns="http://schemas.openxmlformats.org/package/2006/relationships"><Relationship Id="rId2" Type="http://schemas.openxmlformats.org/officeDocument/2006/relationships/image" Target="../media/image114.wmf"/><Relationship Id="rId1" Type="http://schemas.openxmlformats.org/officeDocument/2006/relationships/image" Target="../media/image113.wmf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 altLang="ru-RU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 altLang="ru-RU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0998107-4D9A-44B4-94D1-4C292B47BE01}" type="slidenum">
              <a:rPr lang="ru-RU" altLang="ru-RU"/>
              <a:pPr>
                <a:defRPr/>
              </a:pPr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35556889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 altLang="ru-RU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 altLang="ru-RU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C2040EF-E0F1-414B-8D75-0AD0D7D88F9B}" type="slidenum">
              <a:rPr lang="ru-RU" altLang="ru-RU"/>
              <a:pPr>
                <a:defRPr/>
              </a:pPr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24648299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 altLang="ru-RU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 altLang="ru-RU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9F942B4-DC6B-45FF-8294-7E08802C0841}" type="slidenum">
              <a:rPr lang="ru-RU" altLang="ru-RU"/>
              <a:pPr>
                <a:defRPr/>
              </a:pPr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18799300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 altLang="ru-RU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 altLang="ru-RU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45949FF-0A02-4E35-ABA3-312C2C8B956F}" type="slidenum">
              <a:rPr lang="ru-RU" altLang="ru-RU"/>
              <a:pPr>
                <a:defRPr/>
              </a:pPr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22783758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 altLang="ru-RU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 altLang="ru-RU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43CF6A5-EDD6-4ED5-B548-F55D191D8D16}" type="slidenum">
              <a:rPr lang="ru-RU" altLang="ru-RU"/>
              <a:pPr>
                <a:defRPr/>
              </a:pPr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10087194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 altLang="ru-RU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 altLang="ru-RU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1B0D87D-951A-4E76-824E-19A52C99C62D}" type="slidenum">
              <a:rPr lang="ru-RU" altLang="ru-RU"/>
              <a:pPr>
                <a:defRPr/>
              </a:pPr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20578709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 altLang="ru-RU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 altLang="ru-RU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D6A3145-2430-471A-8551-6B02B8B61D36}" type="slidenum">
              <a:rPr lang="ru-RU" altLang="ru-RU"/>
              <a:pPr>
                <a:defRPr/>
              </a:pPr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18380255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 altLang="ru-RU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 altLang="ru-RU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0AA9378-9A06-4358-BE56-2CA7AAEFF564}" type="slidenum">
              <a:rPr lang="ru-RU" altLang="ru-RU"/>
              <a:pPr>
                <a:defRPr/>
              </a:pPr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5034323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ru-RU" noProof="0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 altLang="ru-RU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 altLang="ru-RU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9FBC3D8-C9CF-4C4D-B917-B0130DD21264}" type="slidenum">
              <a:rPr lang="ru-RU" altLang="ru-RU"/>
              <a:pPr>
                <a:defRPr/>
              </a:pPr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28547663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 altLang="ru-RU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 altLang="ru-RU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26AC5A6-6C54-466E-98C9-B95FC7DDE5D4}" type="slidenum">
              <a:rPr lang="ru-RU" altLang="ru-RU"/>
              <a:pPr>
                <a:defRPr/>
              </a:pPr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12487057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 altLang="ru-RU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 altLang="ru-RU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7EE024B-3A63-4E9E-B2D7-954F191E75C6}" type="slidenum">
              <a:rPr lang="ru-RU" altLang="ru-RU"/>
              <a:pPr>
                <a:defRPr/>
              </a:pPr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37105491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Заголовок, текст и 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quarter" idx="2"/>
          </p:nvPr>
        </p:nvSpPr>
        <p:spPr>
          <a:xfrm>
            <a:off x="4648200" y="1600200"/>
            <a:ext cx="4038600" cy="21859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Объект 4"/>
          <p:cNvSpPr>
            <a:spLocks noGrp="1"/>
          </p:cNvSpPr>
          <p:nvPr>
            <p:ph sz="quarter" idx="3"/>
          </p:nvPr>
        </p:nvSpPr>
        <p:spPr>
          <a:xfrm>
            <a:off x="4648200" y="3938588"/>
            <a:ext cx="4038600" cy="2187575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 altLang="ru-RU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 altLang="ru-RU"/>
          </a:p>
        </p:txBody>
      </p:sp>
      <p:sp>
        <p:nvSpPr>
          <p:cNvPr id="8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95CC8AF-9E56-4E10-94BE-DEF4CC83CD24}" type="slidenum">
              <a:rPr lang="ru-RU" altLang="ru-RU"/>
              <a:pPr>
                <a:defRPr/>
              </a:pPr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36207751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ru-RU" altLang="ru-RU"/>
              <a:t>Образец заголовка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ru-RU" altLang="ru-RU"/>
              <a:t>Образец текста</a:t>
            </a:r>
          </a:p>
          <a:p>
            <a:pPr lvl="1"/>
            <a:r>
              <a:rPr lang="ru-RU" altLang="ru-RU"/>
              <a:t>Второй уровень</a:t>
            </a:r>
          </a:p>
          <a:p>
            <a:pPr lvl="2"/>
            <a:r>
              <a:rPr lang="ru-RU" altLang="ru-RU"/>
              <a:t>Третий уровень</a:t>
            </a:r>
          </a:p>
          <a:p>
            <a:pPr lvl="3"/>
            <a:r>
              <a:rPr lang="ru-RU" altLang="ru-RU"/>
              <a:t>Четвертый уровень</a:t>
            </a:r>
          </a:p>
          <a:p>
            <a:pPr lvl="4"/>
            <a:r>
              <a:rPr lang="ru-RU" altLang="ru-RU"/>
              <a:t>Пятый уровень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 smtClean="0">
                <a:latin typeface="+mn-lt"/>
              </a:defRPr>
            </a:lvl1pPr>
          </a:lstStyle>
          <a:p>
            <a:pPr>
              <a:defRPr/>
            </a:pPr>
            <a:endParaRPr lang="ru-RU" altLang="ru-RU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 smtClean="0">
                <a:latin typeface="+mn-lt"/>
              </a:defRPr>
            </a:lvl1pPr>
          </a:lstStyle>
          <a:p>
            <a:pPr>
              <a:defRPr/>
            </a:pPr>
            <a:endParaRPr lang="ru-RU" altLang="ru-RU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 smtClean="0">
                <a:latin typeface="+mn-lt"/>
              </a:defRPr>
            </a:lvl1pPr>
          </a:lstStyle>
          <a:p>
            <a:pPr>
              <a:defRPr/>
            </a:pPr>
            <a:fld id="{5FD25A03-DBFD-444D-A260-14722413DC65}" type="slidenum">
              <a:rPr lang="ru-RU" altLang="ru-RU"/>
              <a:pPr>
                <a:defRPr/>
              </a:pPr>
              <a:t>‹#›</a:t>
            </a:fld>
            <a:endParaRPr lang="ru-RU" alt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wmf"/><Relationship Id="rId13" Type="http://schemas.openxmlformats.org/officeDocument/2006/relationships/oleObject" Target="../embeddings/oleObject6.bin"/><Relationship Id="rId18" Type="http://schemas.openxmlformats.org/officeDocument/2006/relationships/image" Target="../media/image19.wmf"/><Relationship Id="rId3" Type="http://schemas.openxmlformats.org/officeDocument/2006/relationships/oleObject" Target="../embeddings/oleObject1.bin"/><Relationship Id="rId21" Type="http://schemas.openxmlformats.org/officeDocument/2006/relationships/oleObject" Target="../embeddings/oleObject10.bin"/><Relationship Id="rId7" Type="http://schemas.openxmlformats.org/officeDocument/2006/relationships/oleObject" Target="../embeddings/oleObject3.bin"/><Relationship Id="rId12" Type="http://schemas.openxmlformats.org/officeDocument/2006/relationships/image" Target="../media/image16.wmf"/><Relationship Id="rId17" Type="http://schemas.openxmlformats.org/officeDocument/2006/relationships/oleObject" Target="../embeddings/oleObject8.bin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8.wmf"/><Relationship Id="rId20" Type="http://schemas.openxmlformats.org/officeDocument/2006/relationships/image" Target="../media/image20.wmf"/><Relationship Id="rId1" Type="http://schemas.openxmlformats.org/officeDocument/2006/relationships/vmlDrawing" Target="../drawings/vmlDrawing1.vml"/><Relationship Id="rId6" Type="http://schemas.openxmlformats.org/officeDocument/2006/relationships/image" Target="../media/image13.wmf"/><Relationship Id="rId11" Type="http://schemas.openxmlformats.org/officeDocument/2006/relationships/oleObject" Target="../embeddings/oleObject5.bin"/><Relationship Id="rId24" Type="http://schemas.openxmlformats.org/officeDocument/2006/relationships/image" Target="../media/image22.wmf"/><Relationship Id="rId5" Type="http://schemas.openxmlformats.org/officeDocument/2006/relationships/oleObject" Target="../embeddings/oleObject2.bin"/><Relationship Id="rId15" Type="http://schemas.openxmlformats.org/officeDocument/2006/relationships/oleObject" Target="../embeddings/oleObject7.bin"/><Relationship Id="rId23" Type="http://schemas.openxmlformats.org/officeDocument/2006/relationships/oleObject" Target="../embeddings/oleObject11.bin"/><Relationship Id="rId10" Type="http://schemas.openxmlformats.org/officeDocument/2006/relationships/image" Target="../media/image15.wmf"/><Relationship Id="rId19" Type="http://schemas.openxmlformats.org/officeDocument/2006/relationships/oleObject" Target="../embeddings/oleObject9.bin"/><Relationship Id="rId4" Type="http://schemas.openxmlformats.org/officeDocument/2006/relationships/image" Target="../media/image12.wmf"/><Relationship Id="rId9" Type="http://schemas.openxmlformats.org/officeDocument/2006/relationships/oleObject" Target="../embeddings/oleObject4.bin"/><Relationship Id="rId14" Type="http://schemas.openxmlformats.org/officeDocument/2006/relationships/image" Target="../media/image17.wmf"/><Relationship Id="rId22" Type="http://schemas.openxmlformats.org/officeDocument/2006/relationships/image" Target="../media/image21.wmf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4.bin"/><Relationship Id="rId13" Type="http://schemas.openxmlformats.org/officeDocument/2006/relationships/image" Target="../media/image33.wmf"/><Relationship Id="rId18" Type="http://schemas.openxmlformats.org/officeDocument/2006/relationships/oleObject" Target="../embeddings/oleObject19.bin"/><Relationship Id="rId3" Type="http://schemas.openxmlformats.org/officeDocument/2006/relationships/oleObject" Target="../embeddings/oleObject12.bin"/><Relationship Id="rId7" Type="http://schemas.openxmlformats.org/officeDocument/2006/relationships/image" Target="../media/image37.png"/><Relationship Id="rId12" Type="http://schemas.openxmlformats.org/officeDocument/2006/relationships/oleObject" Target="../embeddings/oleObject16.bin"/><Relationship Id="rId17" Type="http://schemas.openxmlformats.org/officeDocument/2006/relationships/image" Target="../media/image35.wmf"/><Relationship Id="rId2" Type="http://schemas.openxmlformats.org/officeDocument/2006/relationships/slideLayout" Target="../slideLayouts/slideLayout12.xml"/><Relationship Id="rId16" Type="http://schemas.openxmlformats.org/officeDocument/2006/relationships/oleObject" Target="../embeddings/oleObject18.bin"/><Relationship Id="rId1" Type="http://schemas.openxmlformats.org/officeDocument/2006/relationships/vmlDrawing" Target="../drawings/vmlDrawing2.vml"/><Relationship Id="rId6" Type="http://schemas.openxmlformats.org/officeDocument/2006/relationships/image" Target="../media/image30.wmf"/><Relationship Id="rId11" Type="http://schemas.openxmlformats.org/officeDocument/2006/relationships/image" Target="../media/image32.wmf"/><Relationship Id="rId5" Type="http://schemas.openxmlformats.org/officeDocument/2006/relationships/oleObject" Target="../embeddings/oleObject13.bin"/><Relationship Id="rId15" Type="http://schemas.openxmlformats.org/officeDocument/2006/relationships/image" Target="../media/image34.wmf"/><Relationship Id="rId10" Type="http://schemas.openxmlformats.org/officeDocument/2006/relationships/oleObject" Target="../embeddings/oleObject15.bin"/><Relationship Id="rId19" Type="http://schemas.openxmlformats.org/officeDocument/2006/relationships/image" Target="../media/image36.wmf"/><Relationship Id="rId4" Type="http://schemas.openxmlformats.org/officeDocument/2006/relationships/image" Target="../media/image29.wmf"/><Relationship Id="rId9" Type="http://schemas.openxmlformats.org/officeDocument/2006/relationships/image" Target="../media/image31.wmf"/><Relationship Id="rId14" Type="http://schemas.openxmlformats.org/officeDocument/2006/relationships/oleObject" Target="../embeddings/oleObject17.bin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wmf"/><Relationship Id="rId13" Type="http://schemas.openxmlformats.org/officeDocument/2006/relationships/oleObject" Target="../embeddings/oleObject25.bin"/><Relationship Id="rId18" Type="http://schemas.openxmlformats.org/officeDocument/2006/relationships/image" Target="../media/image44.wmf"/><Relationship Id="rId26" Type="http://schemas.openxmlformats.org/officeDocument/2006/relationships/image" Target="../media/image48.wmf"/><Relationship Id="rId3" Type="http://schemas.openxmlformats.org/officeDocument/2006/relationships/oleObject" Target="../embeddings/oleObject20.bin"/><Relationship Id="rId21" Type="http://schemas.openxmlformats.org/officeDocument/2006/relationships/oleObject" Target="../embeddings/oleObject29.bin"/><Relationship Id="rId7" Type="http://schemas.openxmlformats.org/officeDocument/2006/relationships/oleObject" Target="../embeddings/oleObject22.bin"/><Relationship Id="rId12" Type="http://schemas.openxmlformats.org/officeDocument/2006/relationships/image" Target="../media/image41.wmf"/><Relationship Id="rId17" Type="http://schemas.openxmlformats.org/officeDocument/2006/relationships/oleObject" Target="../embeddings/oleObject27.bin"/><Relationship Id="rId25" Type="http://schemas.openxmlformats.org/officeDocument/2006/relationships/oleObject" Target="../embeddings/oleObject31.bin"/><Relationship Id="rId2" Type="http://schemas.openxmlformats.org/officeDocument/2006/relationships/slideLayout" Target="../slideLayouts/slideLayout12.xml"/><Relationship Id="rId16" Type="http://schemas.openxmlformats.org/officeDocument/2006/relationships/image" Target="../media/image43.wmf"/><Relationship Id="rId20" Type="http://schemas.openxmlformats.org/officeDocument/2006/relationships/image" Target="../media/image45.wmf"/><Relationship Id="rId1" Type="http://schemas.openxmlformats.org/officeDocument/2006/relationships/vmlDrawing" Target="../drawings/vmlDrawing3.vml"/><Relationship Id="rId6" Type="http://schemas.openxmlformats.org/officeDocument/2006/relationships/image" Target="../media/image38.wmf"/><Relationship Id="rId11" Type="http://schemas.openxmlformats.org/officeDocument/2006/relationships/oleObject" Target="../embeddings/oleObject24.bin"/><Relationship Id="rId24" Type="http://schemas.openxmlformats.org/officeDocument/2006/relationships/image" Target="../media/image47.wmf"/><Relationship Id="rId5" Type="http://schemas.openxmlformats.org/officeDocument/2006/relationships/oleObject" Target="../embeddings/oleObject21.bin"/><Relationship Id="rId15" Type="http://schemas.openxmlformats.org/officeDocument/2006/relationships/oleObject" Target="../embeddings/oleObject26.bin"/><Relationship Id="rId23" Type="http://schemas.openxmlformats.org/officeDocument/2006/relationships/oleObject" Target="../embeddings/oleObject30.bin"/><Relationship Id="rId28" Type="http://schemas.openxmlformats.org/officeDocument/2006/relationships/image" Target="../media/image49.wmf"/><Relationship Id="rId10" Type="http://schemas.openxmlformats.org/officeDocument/2006/relationships/image" Target="../media/image40.wmf"/><Relationship Id="rId19" Type="http://schemas.openxmlformats.org/officeDocument/2006/relationships/oleObject" Target="../embeddings/oleObject28.bin"/><Relationship Id="rId4" Type="http://schemas.openxmlformats.org/officeDocument/2006/relationships/image" Target="../media/image37.wmf"/><Relationship Id="rId9" Type="http://schemas.openxmlformats.org/officeDocument/2006/relationships/oleObject" Target="../embeddings/oleObject23.bin"/><Relationship Id="rId14" Type="http://schemas.openxmlformats.org/officeDocument/2006/relationships/image" Target="../media/image42.wmf"/><Relationship Id="rId22" Type="http://schemas.openxmlformats.org/officeDocument/2006/relationships/image" Target="../media/image46.wmf"/><Relationship Id="rId27" Type="http://schemas.openxmlformats.org/officeDocument/2006/relationships/oleObject" Target="../embeddings/oleObject32.bin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5.bin"/><Relationship Id="rId3" Type="http://schemas.openxmlformats.org/officeDocument/2006/relationships/image" Target="../media/image53.png"/><Relationship Id="rId7" Type="http://schemas.openxmlformats.org/officeDocument/2006/relationships/image" Target="../media/image51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6" Type="http://schemas.openxmlformats.org/officeDocument/2006/relationships/oleObject" Target="../embeddings/oleObject34.bin"/><Relationship Id="rId5" Type="http://schemas.openxmlformats.org/officeDocument/2006/relationships/image" Target="../media/image50.wmf"/><Relationship Id="rId4" Type="http://schemas.openxmlformats.org/officeDocument/2006/relationships/oleObject" Target="../embeddings/oleObject33.bin"/><Relationship Id="rId9" Type="http://schemas.openxmlformats.org/officeDocument/2006/relationships/image" Target="../media/image52.wmf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6.wmf"/><Relationship Id="rId3" Type="http://schemas.openxmlformats.org/officeDocument/2006/relationships/oleObject" Target="../embeddings/oleObject36.bin"/><Relationship Id="rId7" Type="http://schemas.openxmlformats.org/officeDocument/2006/relationships/oleObject" Target="../embeddings/oleObject38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.vml"/><Relationship Id="rId6" Type="http://schemas.openxmlformats.org/officeDocument/2006/relationships/image" Target="../media/image55.wmf"/><Relationship Id="rId5" Type="http://schemas.openxmlformats.org/officeDocument/2006/relationships/oleObject" Target="../embeddings/oleObject37.bin"/><Relationship Id="rId10" Type="http://schemas.openxmlformats.org/officeDocument/2006/relationships/image" Target="../media/image57.wmf"/><Relationship Id="rId4" Type="http://schemas.openxmlformats.org/officeDocument/2006/relationships/image" Target="../media/image54.wmf"/><Relationship Id="rId9" Type="http://schemas.openxmlformats.org/officeDocument/2006/relationships/oleObject" Target="../embeddings/oleObject39.bin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0.wmf"/><Relationship Id="rId13" Type="http://schemas.openxmlformats.org/officeDocument/2006/relationships/oleObject" Target="../embeddings/oleObject45.bin"/><Relationship Id="rId18" Type="http://schemas.openxmlformats.org/officeDocument/2006/relationships/image" Target="../media/image65.wmf"/><Relationship Id="rId3" Type="http://schemas.openxmlformats.org/officeDocument/2006/relationships/oleObject" Target="../embeddings/oleObject40.bin"/><Relationship Id="rId21" Type="http://schemas.openxmlformats.org/officeDocument/2006/relationships/oleObject" Target="../embeddings/oleObject49.bin"/><Relationship Id="rId7" Type="http://schemas.openxmlformats.org/officeDocument/2006/relationships/oleObject" Target="../embeddings/oleObject42.bin"/><Relationship Id="rId12" Type="http://schemas.openxmlformats.org/officeDocument/2006/relationships/image" Target="../media/image62.wmf"/><Relationship Id="rId17" Type="http://schemas.openxmlformats.org/officeDocument/2006/relationships/oleObject" Target="../embeddings/oleObject47.bin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64.wmf"/><Relationship Id="rId20" Type="http://schemas.openxmlformats.org/officeDocument/2006/relationships/image" Target="../media/image66.wmf"/><Relationship Id="rId1" Type="http://schemas.openxmlformats.org/officeDocument/2006/relationships/vmlDrawing" Target="../drawings/vmlDrawing6.vml"/><Relationship Id="rId6" Type="http://schemas.openxmlformats.org/officeDocument/2006/relationships/image" Target="../media/image59.wmf"/><Relationship Id="rId11" Type="http://schemas.openxmlformats.org/officeDocument/2006/relationships/oleObject" Target="../embeddings/oleObject44.bin"/><Relationship Id="rId5" Type="http://schemas.openxmlformats.org/officeDocument/2006/relationships/oleObject" Target="../embeddings/oleObject41.bin"/><Relationship Id="rId15" Type="http://schemas.openxmlformats.org/officeDocument/2006/relationships/oleObject" Target="../embeddings/oleObject46.bin"/><Relationship Id="rId10" Type="http://schemas.openxmlformats.org/officeDocument/2006/relationships/image" Target="../media/image61.wmf"/><Relationship Id="rId19" Type="http://schemas.openxmlformats.org/officeDocument/2006/relationships/oleObject" Target="../embeddings/oleObject48.bin"/><Relationship Id="rId4" Type="http://schemas.openxmlformats.org/officeDocument/2006/relationships/image" Target="../media/image58.wmf"/><Relationship Id="rId9" Type="http://schemas.openxmlformats.org/officeDocument/2006/relationships/oleObject" Target="../embeddings/oleObject43.bin"/><Relationship Id="rId14" Type="http://schemas.openxmlformats.org/officeDocument/2006/relationships/image" Target="../media/image63.wmf"/><Relationship Id="rId22" Type="http://schemas.openxmlformats.org/officeDocument/2006/relationships/image" Target="../media/image67.wmf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0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7.vml"/><Relationship Id="rId4" Type="http://schemas.openxmlformats.org/officeDocument/2006/relationships/image" Target="../media/image68.wmf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1.wmf"/><Relationship Id="rId3" Type="http://schemas.openxmlformats.org/officeDocument/2006/relationships/oleObject" Target="../embeddings/oleObject51.bin"/><Relationship Id="rId7" Type="http://schemas.openxmlformats.org/officeDocument/2006/relationships/oleObject" Target="../embeddings/oleObject53.bin"/><Relationship Id="rId12" Type="http://schemas.openxmlformats.org/officeDocument/2006/relationships/image" Target="../media/image73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8.vml"/><Relationship Id="rId6" Type="http://schemas.openxmlformats.org/officeDocument/2006/relationships/image" Target="../media/image70.wmf"/><Relationship Id="rId11" Type="http://schemas.openxmlformats.org/officeDocument/2006/relationships/oleObject" Target="../embeddings/oleObject55.bin"/><Relationship Id="rId5" Type="http://schemas.openxmlformats.org/officeDocument/2006/relationships/oleObject" Target="../embeddings/oleObject52.bin"/><Relationship Id="rId10" Type="http://schemas.openxmlformats.org/officeDocument/2006/relationships/image" Target="../media/image72.wmf"/><Relationship Id="rId4" Type="http://schemas.openxmlformats.org/officeDocument/2006/relationships/image" Target="../media/image69.wmf"/><Relationship Id="rId9" Type="http://schemas.openxmlformats.org/officeDocument/2006/relationships/oleObject" Target="../embeddings/oleObject54.bin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9.bin"/><Relationship Id="rId13" Type="http://schemas.openxmlformats.org/officeDocument/2006/relationships/image" Target="../media/image78.wmf"/><Relationship Id="rId18" Type="http://schemas.openxmlformats.org/officeDocument/2006/relationships/oleObject" Target="../embeddings/oleObject64.bin"/><Relationship Id="rId3" Type="http://schemas.openxmlformats.org/officeDocument/2006/relationships/oleObject" Target="../embeddings/oleObject56.bin"/><Relationship Id="rId21" Type="http://schemas.openxmlformats.org/officeDocument/2006/relationships/image" Target="../media/image82.wmf"/><Relationship Id="rId7" Type="http://schemas.openxmlformats.org/officeDocument/2006/relationships/image" Target="../media/image75.wmf"/><Relationship Id="rId12" Type="http://schemas.openxmlformats.org/officeDocument/2006/relationships/oleObject" Target="../embeddings/oleObject61.bin"/><Relationship Id="rId17" Type="http://schemas.openxmlformats.org/officeDocument/2006/relationships/image" Target="../media/image80.wmf"/><Relationship Id="rId2" Type="http://schemas.openxmlformats.org/officeDocument/2006/relationships/slideLayout" Target="../slideLayouts/slideLayout2.xml"/><Relationship Id="rId16" Type="http://schemas.openxmlformats.org/officeDocument/2006/relationships/oleObject" Target="../embeddings/oleObject63.bin"/><Relationship Id="rId20" Type="http://schemas.openxmlformats.org/officeDocument/2006/relationships/oleObject" Target="../embeddings/oleObject65.bin"/><Relationship Id="rId1" Type="http://schemas.openxmlformats.org/officeDocument/2006/relationships/vmlDrawing" Target="../drawings/vmlDrawing9.vml"/><Relationship Id="rId6" Type="http://schemas.openxmlformats.org/officeDocument/2006/relationships/oleObject" Target="../embeddings/oleObject58.bin"/><Relationship Id="rId11" Type="http://schemas.openxmlformats.org/officeDocument/2006/relationships/image" Target="../media/image77.wmf"/><Relationship Id="rId5" Type="http://schemas.openxmlformats.org/officeDocument/2006/relationships/oleObject" Target="../embeddings/oleObject57.bin"/><Relationship Id="rId15" Type="http://schemas.openxmlformats.org/officeDocument/2006/relationships/image" Target="../media/image79.wmf"/><Relationship Id="rId10" Type="http://schemas.openxmlformats.org/officeDocument/2006/relationships/oleObject" Target="../embeddings/oleObject60.bin"/><Relationship Id="rId19" Type="http://schemas.openxmlformats.org/officeDocument/2006/relationships/image" Target="../media/image81.wmf"/><Relationship Id="rId4" Type="http://schemas.openxmlformats.org/officeDocument/2006/relationships/image" Target="../media/image74.wmf"/><Relationship Id="rId9" Type="http://schemas.openxmlformats.org/officeDocument/2006/relationships/image" Target="../media/image76.wmf"/><Relationship Id="rId14" Type="http://schemas.openxmlformats.org/officeDocument/2006/relationships/oleObject" Target="../embeddings/oleObject62.bin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5.wmf"/><Relationship Id="rId13" Type="http://schemas.openxmlformats.org/officeDocument/2006/relationships/oleObject" Target="../embeddings/oleObject71.bin"/><Relationship Id="rId18" Type="http://schemas.openxmlformats.org/officeDocument/2006/relationships/image" Target="../media/image90.wmf"/><Relationship Id="rId26" Type="http://schemas.openxmlformats.org/officeDocument/2006/relationships/image" Target="../media/image94.wmf"/><Relationship Id="rId3" Type="http://schemas.openxmlformats.org/officeDocument/2006/relationships/oleObject" Target="../embeddings/oleObject66.bin"/><Relationship Id="rId21" Type="http://schemas.openxmlformats.org/officeDocument/2006/relationships/oleObject" Target="../embeddings/oleObject75.bin"/><Relationship Id="rId7" Type="http://schemas.openxmlformats.org/officeDocument/2006/relationships/oleObject" Target="../embeddings/oleObject68.bin"/><Relationship Id="rId12" Type="http://schemas.openxmlformats.org/officeDocument/2006/relationships/image" Target="../media/image87.wmf"/><Relationship Id="rId17" Type="http://schemas.openxmlformats.org/officeDocument/2006/relationships/oleObject" Target="../embeddings/oleObject73.bin"/><Relationship Id="rId25" Type="http://schemas.openxmlformats.org/officeDocument/2006/relationships/oleObject" Target="../embeddings/oleObject77.bin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89.wmf"/><Relationship Id="rId20" Type="http://schemas.openxmlformats.org/officeDocument/2006/relationships/image" Target="../media/image91.wmf"/><Relationship Id="rId1" Type="http://schemas.openxmlformats.org/officeDocument/2006/relationships/vmlDrawing" Target="../drawings/vmlDrawing10.vml"/><Relationship Id="rId6" Type="http://schemas.openxmlformats.org/officeDocument/2006/relationships/image" Target="../media/image84.wmf"/><Relationship Id="rId11" Type="http://schemas.openxmlformats.org/officeDocument/2006/relationships/oleObject" Target="../embeddings/oleObject70.bin"/><Relationship Id="rId24" Type="http://schemas.openxmlformats.org/officeDocument/2006/relationships/image" Target="../media/image93.wmf"/><Relationship Id="rId5" Type="http://schemas.openxmlformats.org/officeDocument/2006/relationships/oleObject" Target="../embeddings/oleObject67.bin"/><Relationship Id="rId15" Type="http://schemas.openxmlformats.org/officeDocument/2006/relationships/oleObject" Target="../embeddings/oleObject72.bin"/><Relationship Id="rId23" Type="http://schemas.openxmlformats.org/officeDocument/2006/relationships/oleObject" Target="../embeddings/oleObject76.bin"/><Relationship Id="rId10" Type="http://schemas.openxmlformats.org/officeDocument/2006/relationships/image" Target="../media/image86.wmf"/><Relationship Id="rId19" Type="http://schemas.openxmlformats.org/officeDocument/2006/relationships/oleObject" Target="../embeddings/oleObject74.bin"/><Relationship Id="rId4" Type="http://schemas.openxmlformats.org/officeDocument/2006/relationships/image" Target="../media/image83.wmf"/><Relationship Id="rId9" Type="http://schemas.openxmlformats.org/officeDocument/2006/relationships/oleObject" Target="../embeddings/oleObject69.bin"/><Relationship Id="rId14" Type="http://schemas.openxmlformats.org/officeDocument/2006/relationships/image" Target="../media/image88.wmf"/><Relationship Id="rId22" Type="http://schemas.openxmlformats.org/officeDocument/2006/relationships/image" Target="../media/image92.wmf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8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1.vml"/><Relationship Id="rId4" Type="http://schemas.openxmlformats.org/officeDocument/2006/relationships/image" Target="../media/image95.wmf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8.wmf"/><Relationship Id="rId3" Type="http://schemas.openxmlformats.org/officeDocument/2006/relationships/oleObject" Target="../embeddings/oleObject79.bin"/><Relationship Id="rId7" Type="http://schemas.openxmlformats.org/officeDocument/2006/relationships/oleObject" Target="../embeddings/oleObject81.bin"/><Relationship Id="rId12" Type="http://schemas.openxmlformats.org/officeDocument/2006/relationships/image" Target="../media/image100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2.vml"/><Relationship Id="rId6" Type="http://schemas.openxmlformats.org/officeDocument/2006/relationships/image" Target="../media/image97.wmf"/><Relationship Id="rId11" Type="http://schemas.openxmlformats.org/officeDocument/2006/relationships/oleObject" Target="../embeddings/oleObject83.bin"/><Relationship Id="rId5" Type="http://schemas.openxmlformats.org/officeDocument/2006/relationships/oleObject" Target="../embeddings/oleObject80.bin"/><Relationship Id="rId10" Type="http://schemas.openxmlformats.org/officeDocument/2006/relationships/image" Target="../media/image99.wmf"/><Relationship Id="rId4" Type="http://schemas.openxmlformats.org/officeDocument/2006/relationships/image" Target="../media/image96.wmf"/><Relationship Id="rId9" Type="http://schemas.openxmlformats.org/officeDocument/2006/relationships/oleObject" Target="../embeddings/oleObject82.bin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3.wmf"/><Relationship Id="rId13" Type="http://schemas.openxmlformats.org/officeDocument/2006/relationships/oleObject" Target="../embeddings/oleObject89.bin"/><Relationship Id="rId3" Type="http://schemas.openxmlformats.org/officeDocument/2006/relationships/oleObject" Target="../embeddings/oleObject84.bin"/><Relationship Id="rId7" Type="http://schemas.openxmlformats.org/officeDocument/2006/relationships/oleObject" Target="../embeddings/oleObject86.bin"/><Relationship Id="rId12" Type="http://schemas.openxmlformats.org/officeDocument/2006/relationships/image" Target="../media/image105.wmf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07.wmf"/><Relationship Id="rId1" Type="http://schemas.openxmlformats.org/officeDocument/2006/relationships/vmlDrawing" Target="../drawings/vmlDrawing13.vml"/><Relationship Id="rId6" Type="http://schemas.openxmlformats.org/officeDocument/2006/relationships/image" Target="../media/image102.wmf"/><Relationship Id="rId11" Type="http://schemas.openxmlformats.org/officeDocument/2006/relationships/oleObject" Target="../embeddings/oleObject88.bin"/><Relationship Id="rId5" Type="http://schemas.openxmlformats.org/officeDocument/2006/relationships/oleObject" Target="../embeddings/oleObject85.bin"/><Relationship Id="rId15" Type="http://schemas.openxmlformats.org/officeDocument/2006/relationships/oleObject" Target="../embeddings/oleObject90.bin"/><Relationship Id="rId10" Type="http://schemas.openxmlformats.org/officeDocument/2006/relationships/image" Target="../media/image104.wmf"/><Relationship Id="rId4" Type="http://schemas.openxmlformats.org/officeDocument/2006/relationships/image" Target="../media/image101.wmf"/><Relationship Id="rId9" Type="http://schemas.openxmlformats.org/officeDocument/2006/relationships/oleObject" Target="../embeddings/oleObject87.bin"/><Relationship Id="rId14" Type="http://schemas.openxmlformats.org/officeDocument/2006/relationships/image" Target="../media/image106.wmf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0.wmf"/><Relationship Id="rId3" Type="http://schemas.openxmlformats.org/officeDocument/2006/relationships/oleObject" Target="../embeddings/oleObject91.bin"/><Relationship Id="rId7" Type="http://schemas.openxmlformats.org/officeDocument/2006/relationships/oleObject" Target="../embeddings/oleObject93.bin"/><Relationship Id="rId12" Type="http://schemas.openxmlformats.org/officeDocument/2006/relationships/image" Target="../media/image112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4.vml"/><Relationship Id="rId6" Type="http://schemas.openxmlformats.org/officeDocument/2006/relationships/image" Target="../media/image109.wmf"/><Relationship Id="rId11" Type="http://schemas.openxmlformats.org/officeDocument/2006/relationships/oleObject" Target="../embeddings/oleObject95.bin"/><Relationship Id="rId5" Type="http://schemas.openxmlformats.org/officeDocument/2006/relationships/oleObject" Target="../embeddings/oleObject92.bin"/><Relationship Id="rId10" Type="http://schemas.openxmlformats.org/officeDocument/2006/relationships/image" Target="../media/image111.wmf"/><Relationship Id="rId4" Type="http://schemas.openxmlformats.org/officeDocument/2006/relationships/image" Target="../media/image108.wmf"/><Relationship Id="rId9" Type="http://schemas.openxmlformats.org/officeDocument/2006/relationships/oleObject" Target="../embeddings/oleObject94.bin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6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5.vml"/><Relationship Id="rId6" Type="http://schemas.openxmlformats.org/officeDocument/2006/relationships/image" Target="../media/image114.wmf"/><Relationship Id="rId5" Type="http://schemas.openxmlformats.org/officeDocument/2006/relationships/oleObject" Target="../embeddings/oleObject97.bin"/><Relationship Id="rId4" Type="http://schemas.openxmlformats.org/officeDocument/2006/relationships/image" Target="../media/image113.wmf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6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hyperlink" Target="https://translated.turbopages.org/proxy_u/en-ru.ru.da8117c9-63258fc0-81066589-74722d776562/https/en.wikipedia.org/wiki/David_Wolpert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 anchor="ctr"/>
          <a:lstStyle/>
          <a:p>
            <a:pPr eaLnBrk="1" hangingPunct="1"/>
            <a:r>
              <a:rPr lang="ru-RU" altLang="ru-RU" sz="4400" b="1" dirty="0"/>
              <a:t>ЛЕКЦИЯ № </a:t>
            </a:r>
            <a:r>
              <a:rPr lang="en-US" altLang="ru-RU" sz="4400" b="1" dirty="0"/>
              <a:t>5</a:t>
            </a:r>
            <a:endParaRPr lang="ru-RU" altLang="ru-RU" sz="4400" b="1" dirty="0"/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79388" y="3573463"/>
            <a:ext cx="8569325" cy="2065337"/>
          </a:xfrm>
        </p:spPr>
        <p:txBody>
          <a:bodyPr/>
          <a:lstStyle/>
          <a:p>
            <a:pPr eaLnBrk="1" hangingPunct="1"/>
            <a:r>
              <a:rPr lang="ru-RU" altLang="ru-RU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Методы</a:t>
            </a:r>
            <a:endParaRPr lang="en-US" altLang="ru-RU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/>
            <a:r>
              <a:rPr lang="ru-RU" altLang="ru-RU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многомерной оптимизации</a:t>
            </a:r>
          </a:p>
          <a:p>
            <a:pPr eaLnBrk="1" hangingPunct="1"/>
            <a:r>
              <a:rPr lang="ru-RU" altLang="ru-RU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без ограничений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9E0BE3B-3A90-4133-A793-DB9A8C9A20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ru-RU" altLang="ru-RU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Постановка задачи</a:t>
            </a:r>
            <a:br>
              <a:rPr lang="en-US" altLang="ru-RU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altLang="ru-RU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многомерной оптимизации</a:t>
            </a:r>
            <a:endParaRPr lang="ru-R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0D1ED755-A80A-478E-BABE-6BAF97F2B64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57200" y="1600200"/>
                <a:ext cx="8229600" cy="5257800"/>
              </a:xfrm>
            </p:spPr>
            <p:txBody>
              <a:bodyPr/>
              <a:lstStyle/>
              <a:p>
                <a:pPr marL="0" indent="0" algn="ctr">
                  <a:buNone/>
                </a:pPr>
                <a:r>
                  <a:rPr lang="ru-RU" sz="2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Рассмотрим задачи нелинейной оптимизации в общем случае.</a:t>
                </a:r>
              </a:p>
              <a:p>
                <a:pPr marL="0" indent="0">
                  <a:buNone/>
                </a:pPr>
                <a:r>
                  <a:rPr lang="ru-RU" sz="23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Пусть </a:t>
                </a:r>
                <a14:m>
                  <m:oMath xmlns:m="http://schemas.openxmlformats.org/officeDocument/2006/math">
                    <m:r>
                      <a:rPr lang="en-US" sz="23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US" sz="23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sSup>
                      <m:sSupPr>
                        <m:ctrlPr>
                          <a:rPr lang="en-US" sz="23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23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sz="23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3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US" sz="23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(1)</m:t>
                                </m:r>
                              </m:sup>
                            </m:sSup>
                            <m:r>
                              <a:rPr lang="en-US" sz="23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,</m:t>
                            </m:r>
                            <m:sSup>
                              <m:sSupPr>
                                <m:ctrlPr>
                                  <a:rPr lang="en-US" sz="23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3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…,</m:t>
                                </m:r>
                                <m:r>
                                  <a:rPr lang="en-US" sz="23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US" sz="23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(</m:t>
                                </m:r>
                                <m:r>
                                  <a:rPr lang="en-US" sz="23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𝑛</m:t>
                                </m:r>
                                <m:r>
                                  <a:rPr lang="en-US" sz="23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)</m:t>
                                </m:r>
                              </m:sup>
                            </m:sSup>
                          </m:e>
                        </m:d>
                      </m:e>
                      <m:sup>
                        <m:r>
                          <a:rPr lang="en-US" sz="23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𝑇</m:t>
                        </m:r>
                      </m:sup>
                    </m:sSup>
                    <m:r>
                      <a:rPr lang="en-US" sz="23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∈</m:t>
                    </m:r>
                    <m:sSup>
                      <m:sSupPr>
                        <m:ctrlPr>
                          <a:rPr lang="en-US" sz="23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23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𝑅</m:t>
                        </m:r>
                      </m:e>
                      <m:sup>
                        <m:r>
                          <a:rPr lang="en-US" sz="23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US" sz="23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3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𝑆</m:t>
                    </m:r>
                    <m:r>
                      <a:rPr lang="en-US" sz="23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en-US" sz="23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– </a:t>
                </a:r>
                <a:r>
                  <a:rPr lang="ru-RU" sz="23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некоторое множество из пространства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3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23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𝑅</m:t>
                        </m:r>
                      </m:e>
                      <m:sup>
                        <m:r>
                          <a:rPr lang="en-US" sz="23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ru-RU" sz="23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 Пусть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230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3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𝑓</m:t>
                        </m:r>
                      </m:e>
                      <m:sub>
                        <m:r>
                          <a:rPr lang="ru-RU" sz="23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0</m:t>
                        </m:r>
                      </m:sub>
                    </m:sSub>
                    <m:d>
                      <m:dPr>
                        <m:ctrlPr>
                          <a:rPr lang="en-US" sz="23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23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</m:d>
                    <m:r>
                      <a:rPr lang="en-US" sz="23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 …,</m:t>
                    </m:r>
                  </m:oMath>
                </a14:m>
                <a:r>
                  <a:rPr lang="ru-RU" sz="2300" dirty="0"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23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3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𝑓</m:t>
                        </m:r>
                      </m:e>
                      <m:sub>
                        <m:r>
                          <a:rPr lang="en-US" sz="23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𝑚</m:t>
                        </m:r>
                      </m:sub>
                    </m:sSub>
                    <m:d>
                      <m:dPr>
                        <m:ctrlPr>
                          <a:rPr lang="en-US" sz="23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23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</m:d>
                    <m:r>
                      <a:rPr lang="en-US" sz="23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:</m:t>
                    </m:r>
                    <m:r>
                      <a:rPr lang="en-US" sz="23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𝑆</m:t>
                    </m:r>
                    <m:r>
                      <a:rPr lang="en-US" sz="23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→</m:t>
                    </m:r>
                    <m:sSup>
                      <m:sSupPr>
                        <m:ctrlPr>
                          <a:rPr lang="en-US" sz="23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23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𝑅</m:t>
                        </m:r>
                      </m:e>
                      <m:sup>
                        <m:r>
                          <a:rPr lang="en-US" sz="23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p>
                    </m:sSup>
                    <m:r>
                      <a:rPr lang="ru-RU" sz="23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. </m:t>
                    </m:r>
                  </m:oMath>
                </a14:m>
                <a:r>
                  <a:rPr lang="ru-RU" sz="23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Тогда задачу минимизации можно рассматривать в следующем виде </a:t>
                </a: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func>
                      <m:funcPr>
                        <m:ctrlPr>
                          <a:rPr lang="en-US" sz="23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300" b="0" i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min</m:t>
                        </m:r>
                      </m:fName>
                      <m:e>
                        <m:sSub>
                          <m:sSubPr>
                            <m:ctrlPr>
                              <a:rPr lang="en-US" sz="23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23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en-US" sz="23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sz="23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(</m:t>
                        </m:r>
                        <m:r>
                          <a:rPr lang="en-US" sz="23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  <m:r>
                          <a:rPr lang="en-US" sz="23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)</m:t>
                        </m:r>
                      </m:e>
                    </m:func>
                    <m:r>
                      <a:rPr lang="en-US" sz="23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ru-RU" sz="23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при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3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3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𝑓</m:t>
                        </m:r>
                      </m:e>
                      <m:sub>
                        <m:r>
                          <a:rPr lang="en-US" sz="23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sz="23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(x)</a:t>
                </a:r>
                <a14:m>
                  <m:oMath xmlns:m="http://schemas.openxmlformats.org/officeDocument/2006/math">
                    <m:r>
                      <a:rPr lang="en-US" sz="230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≤=</m:t>
                    </m:r>
                  </m:oMath>
                </a14:m>
                <a:r>
                  <a:rPr lang="en-US" sz="23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0, </a:t>
                </a:r>
                <a14:m>
                  <m:oMath xmlns:m="http://schemas.openxmlformats.org/officeDocument/2006/math">
                    <m:r>
                      <a:rPr lang="en-US" sz="23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𝑗</m:t>
                    </m:r>
                    <m:r>
                      <a:rPr lang="en-US" sz="23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=1,…,</m:t>
                    </m:r>
                    <m:r>
                      <a:rPr lang="en-US" sz="23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𝑚</m:t>
                    </m:r>
                    <m:r>
                      <a:rPr lang="en-US" sz="23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 </m:t>
                    </m:r>
                    <m:r>
                      <a:rPr lang="en-US" sz="23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US" sz="23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∈</m:t>
                    </m:r>
                    <m:r>
                      <a:rPr lang="en-US" sz="23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𝑆</m:t>
                    </m:r>
                    <m:r>
                      <a:rPr lang="en-US" sz="23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.</m:t>
                    </m:r>
                  </m:oMath>
                </a14:m>
                <a:r>
                  <a:rPr lang="ru-RU" sz="2300" b="0" dirty="0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    (1)</a:t>
                </a:r>
                <a:endParaRPr lang="en-US" sz="2300" b="0" dirty="0"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ru-RU" sz="230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3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𝑓</m:t>
                        </m:r>
                      </m:e>
                      <m:sub>
                        <m:r>
                          <a:rPr lang="en-US" sz="23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0</m:t>
                        </m:r>
                      </m:sub>
                    </m:sSub>
                    <m:d>
                      <m:dPr>
                        <m:ctrlPr>
                          <a:rPr lang="en-US" sz="23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23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US" sz="23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- </a:t>
                </a:r>
                <a:r>
                  <a:rPr lang="ru-RU" sz="23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будем называть </a:t>
                </a:r>
                <a:r>
                  <a:rPr lang="ru-RU" sz="23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целевой функцией</a:t>
                </a:r>
                <a:r>
                  <a:rPr lang="ru-RU" sz="23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 Функции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3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3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𝑓</m:t>
                        </m:r>
                      </m:e>
                      <m:sub>
                        <m:r>
                          <a:rPr lang="en-US" sz="23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sz="23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(x)</a:t>
                </a:r>
                <a14:m>
                  <m:oMath xmlns:m="http://schemas.openxmlformats.org/officeDocument/2006/math">
                    <m:r>
                      <a:rPr lang="en-US" sz="23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≤=</m:t>
                    </m:r>
                  </m:oMath>
                </a14:m>
                <a:r>
                  <a:rPr lang="en-US" sz="23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</a:t>
                </a:r>
                <a:r>
                  <a:rPr lang="ru-RU" sz="23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как было принято нами ранее, обозначим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30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3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𝑔</m:t>
                        </m:r>
                      </m:e>
                      <m:sub>
                        <m:r>
                          <a:rPr lang="en-US" sz="23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sz="23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(x)</a:t>
                </a:r>
                <a14:m>
                  <m:oMath xmlns:m="http://schemas.openxmlformats.org/officeDocument/2006/math">
                    <m:r>
                      <a:rPr lang="en-US" sz="23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≤</m:t>
                    </m:r>
                  </m:oMath>
                </a14:m>
                <a:r>
                  <a:rPr lang="en-US" sz="23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 </a:t>
                </a:r>
                <a:r>
                  <a:rPr lang="ru-RU" sz="23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или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3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3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𝑔</m:t>
                        </m:r>
                      </m:e>
                      <m:sub>
                        <m:r>
                          <a:rPr lang="en-US" sz="23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sz="23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(x)</a:t>
                </a:r>
                <a:r>
                  <a:rPr lang="ru-RU" sz="23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</a:t>
                </a:r>
                <a:r>
                  <a:rPr lang="en-US" sz="23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</a:t>
                </a:r>
                <a:r>
                  <a:rPr lang="ru-RU" sz="23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  <a:r>
                  <a:rPr lang="en-US" sz="23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ru-RU" sz="23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Они называются </a:t>
                </a:r>
                <a:r>
                  <a:rPr lang="ru-RU" sz="23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функциями ограничений </a:t>
                </a:r>
                <a:r>
                  <a:rPr lang="ru-RU" sz="23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и зависят от типа ограничений – равенств или неравенств. Множество </a:t>
                </a:r>
                <a14:m>
                  <m:oMath xmlns:m="http://schemas.openxmlformats.org/officeDocument/2006/math">
                    <m:r>
                      <a:rPr lang="en-US" sz="23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𝑆</m:t>
                    </m:r>
                    <m:r>
                      <a:rPr lang="en-US" sz="23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−</m:t>
                    </m:r>
                  </m:oMath>
                </a14:m>
                <a:endParaRPr lang="ru-RU" sz="23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ru-RU" sz="23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называется </a:t>
                </a:r>
                <a:r>
                  <a:rPr lang="ru-RU" sz="23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базовым допустимым множеством</a:t>
                </a:r>
                <a:r>
                  <a:rPr lang="ru-RU" sz="23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а множество </a:t>
                </a:r>
                <a14:m>
                  <m:oMath xmlns:m="http://schemas.openxmlformats.org/officeDocument/2006/math">
                    <m:r>
                      <a:rPr lang="en-US" sz="23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𝑄</m:t>
                    </m:r>
                  </m:oMath>
                </a14:m>
                <a:endParaRPr lang="en-US" sz="23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sz="23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𝑄</m:t>
                    </m:r>
                    <m:r>
                      <a:rPr lang="en-US" sz="23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d>
                      <m:dPr>
                        <m:ctrlPr>
                          <a:rPr lang="en-US" sz="23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23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  <m:r>
                          <a:rPr lang="en-US" sz="23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∈</m:t>
                        </m:r>
                        <m:r>
                          <a:rPr lang="en-US" sz="23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𝑆</m:t>
                        </m:r>
                        <m:r>
                          <a:rPr lang="en-US" sz="23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|</m:t>
                        </m:r>
                        <m:r>
                          <m:rPr>
                            <m:nor/>
                          </m:rPr>
                          <a:rPr lang="en-US" sz="2300" dirty="0">
                            <a:cs typeface="Times New Roman" panose="02020603050405020304" pitchFamily="18" charset="0"/>
                          </a:rPr>
                          <m:t> </m:t>
                        </m:r>
                        <m:sSub>
                          <m:sSubPr>
                            <m:ctrlPr>
                              <a:rPr lang="en-US" sz="23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23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𝑔</m:t>
                            </m:r>
                          </m:e>
                          <m:sub>
                            <m:r>
                              <a:rPr lang="en-US" sz="23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𝑗</m:t>
                            </m:r>
                          </m:sub>
                        </m:sSub>
                        <m:r>
                          <m:rPr>
                            <m:nor/>
                          </m:rPr>
                          <a:rPr lang="en-US" sz="23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(</m:t>
                        </m:r>
                        <m:r>
                          <m:rPr>
                            <m:nor/>
                          </m:rPr>
                          <a:rPr lang="en-US" sz="23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x</m:t>
                        </m:r>
                        <m:r>
                          <m:rPr>
                            <m:nor/>
                          </m:rPr>
                          <a:rPr lang="en-US" sz="23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)</m:t>
                        </m:r>
                        <m:r>
                          <a:rPr lang="en-US" sz="23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≤</m:t>
                        </m:r>
                        <m:r>
                          <m:rPr>
                            <m:nor/>
                          </m:rPr>
                          <a:rPr lang="en-US" sz="23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0 , </m:t>
                        </m:r>
                        <m:r>
                          <m:rPr>
                            <m:nor/>
                          </m:rPr>
                          <a:rPr lang="en-US" sz="2300" i="1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j</m:t>
                        </m:r>
                        <m:r>
                          <m:rPr>
                            <m:nor/>
                          </m:rPr>
                          <a:rPr lang="en-US" sz="2300" i="1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=</m:t>
                        </m:r>
                        <m:r>
                          <m:rPr>
                            <m:nor/>
                          </m:rPr>
                          <a:rPr lang="en-US" sz="23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1,…,</m:t>
                        </m:r>
                        <m:r>
                          <m:rPr>
                            <m:nor/>
                          </m:rPr>
                          <a:rPr lang="en-US" sz="2300" i="1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m</m:t>
                        </m:r>
                      </m:e>
                    </m:d>
                  </m:oMath>
                </a14:m>
                <a:r>
                  <a:rPr lang="ru-RU" sz="23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 </a:t>
                </a:r>
                <a:r>
                  <a:rPr lang="ru-RU" sz="23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Называется просто</a:t>
                </a:r>
                <a:r>
                  <a:rPr lang="ru-RU" sz="23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допустимым множеством.</a:t>
                </a:r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0D1ED755-A80A-478E-BABE-6BAF97F2B64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600200"/>
                <a:ext cx="8229600" cy="5257800"/>
              </a:xfrm>
              <a:blipFill>
                <a:blip r:embed="rId2"/>
                <a:stretch>
                  <a:fillRect l="-1037" t="-928" b="-3828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402990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C47BD58-21FF-41FF-A04B-EFCFF68EE5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Классификация типов задач многомерной оптимизации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2AE29A57-A2E2-4100-9AD4-9E4241B45C3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57200" y="1417638"/>
                <a:ext cx="8229600" cy="5257800"/>
              </a:xfrm>
            </p:spPr>
            <p:txBody>
              <a:bodyPr/>
              <a:lstStyle/>
              <a:p>
                <a:r>
                  <a:rPr lang="ru-RU" sz="2400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Задачи на условный экстремум</a:t>
                </a:r>
                <a:r>
                  <a:rPr lang="ru-RU" sz="24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𝑄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⊂</m:t>
                    </m:r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𝑅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</m:sup>
                    </m:sSup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.</m:t>
                    </m:r>
                  </m:oMath>
                </a14:m>
                <a:endParaRPr lang="ru-RU" sz="2400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ru-RU" sz="2400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Задачи на безусловный экстремум</a:t>
                </a:r>
                <a:r>
                  <a:rPr lang="ru-RU" sz="24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𝑄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≡</m:t>
                    </m:r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𝑅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</m:sup>
                    </m:sSup>
                    <m:r>
                      <a:rPr lang="ru-RU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.</m:t>
                    </m:r>
                  </m:oMath>
                </a14:m>
                <a:endParaRPr lang="ru-RU" sz="2400" b="0" i="1" dirty="0"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r>
                  <a:rPr lang="ru-RU" sz="2400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Гладкие задачи</a:t>
                </a:r>
                <a:r>
                  <a:rPr lang="ru-RU" sz="24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</a:t>
                </a:r>
                <a14:m>
                  <m:oMath xmlns:m="http://schemas.openxmlformats.org/officeDocument/2006/math">
                    <m:r>
                      <a:rPr lang="ru-RU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∀</m:t>
                    </m:r>
                    <m:sSub>
                      <m:sSubPr>
                        <m:ctrlPr>
                          <a:rPr lang="ru-RU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𝑓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𝑗</m:t>
                        </m:r>
                      </m:sub>
                    </m:sSub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</m:d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∈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𝐶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𝑘</m:t>
                        </m:r>
                      </m:sup>
                    </m:sSup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𝑄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𝑗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=0,…,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𝑚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.</m:t>
                    </m:r>
                  </m:oMath>
                </a14:m>
                <a:endParaRPr lang="en-US" sz="2400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ru-RU" sz="2400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Негладкие задачи</a:t>
                </a:r>
                <a:r>
                  <a:rPr lang="ru-RU" sz="24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</a:t>
                </a:r>
                <a14:m>
                  <m:oMath xmlns:m="http://schemas.openxmlformats.org/officeDocument/2006/math">
                    <m:r>
                      <a:rPr lang="ru-RU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∃</m:t>
                    </m:r>
                  </m:oMath>
                </a14:m>
                <a:r>
                  <a:rPr lang="ru-RU" sz="2400" dirty="0"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𝑓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𝑗</m:t>
                        </m:r>
                      </m:sub>
                    </m:sSub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</m:d>
                    <m:r>
                      <a:rPr lang="en-US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∉</m:t>
                    </m:r>
                  </m:oMath>
                </a14:m>
                <a:r>
                  <a:rPr lang="en-US" sz="2400" dirty="0"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𝐶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𝑘</m:t>
                        </m:r>
                      </m:sup>
                    </m:sSup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𝑄</m:t>
                        </m:r>
                      </m:e>
                    </m:d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𝑗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=0,…,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𝑚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;∀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𝑘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≥1 .</m:t>
                    </m:r>
                  </m:oMath>
                </a14:m>
                <a:endParaRPr lang="en-US" sz="2400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ru-RU" sz="2400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Задачи с линейными ограничениями</a:t>
                </a:r>
                <a:r>
                  <a:rPr lang="ru-RU" sz="24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</a:t>
                </a:r>
                <a:r>
                  <a:rPr lang="ru-RU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все функциональные ограничения являются </a:t>
                </a:r>
                <a:r>
                  <a:rPr lang="ru-RU" sz="24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линейными функциями: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𝑗</m:t>
                          </m:r>
                        </m:sub>
                      </m:sSub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</m:e>
                      </m:d>
                      <m:r>
                        <a:rPr lang="ru-RU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ru-RU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𝑖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𝑛</m:t>
                          </m:r>
                        </m:sup>
                        <m:e>
                          <m:sSubSup>
                            <m:sSubSupPr>
                              <m:ctrlPr>
                                <a:rPr lang="ru-RU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𝑗</m:t>
                              </m:r>
                            </m:sub>
                            <m: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𝑖</m:t>
                              </m:r>
                            </m:sup>
                          </m:sSubSup>
                          <m:sSup>
                            <m:sSupPr>
                              <m:ctrlPr>
                                <a:rPr lang="ru-RU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𝑖</m:t>
                              </m:r>
                            </m:sup>
                          </m:sSup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𝑗</m:t>
                              </m:r>
                            </m:sub>
                          </m:sSub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, 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𝑗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=1,…,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𝑚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. </m:t>
                          </m:r>
                        </m:e>
                      </m:nary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a:rPr lang="ru-RU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При этом</m:t>
                      </m:r>
                    </m:oMath>
                  </m:oMathPara>
                </a14:m>
                <a:endParaRPr lang="ru-RU" sz="2400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ru-RU" sz="24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базовое множество </a:t>
                </a:r>
                <a:r>
                  <a:rPr lang="en-US" sz="24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 </a:t>
                </a:r>
                <a:r>
                  <a:rPr lang="ru-RU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является </a:t>
                </a:r>
                <a:r>
                  <a:rPr lang="ru-RU" sz="24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многогранником. </a:t>
                </a:r>
                <a:r>
                  <a:rPr lang="ru-RU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Если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𝑓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0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ru-RU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также </a:t>
                </a:r>
                <a:r>
                  <a:rPr lang="ru-RU" sz="24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линейная функция</a:t>
                </a:r>
                <a:r>
                  <a:rPr lang="ru-RU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то исходная задача (1) называется </a:t>
                </a:r>
                <a:r>
                  <a:rPr lang="ru-RU" sz="2400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задачей линейной оптимизации</a:t>
                </a:r>
                <a:r>
                  <a:rPr lang="ru-RU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2AE29A57-A2E2-4100-9AD4-9E4241B45C3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417638"/>
                <a:ext cx="8229600" cy="5257800"/>
              </a:xfrm>
              <a:blipFill>
                <a:blip r:embed="rId2"/>
                <a:stretch>
                  <a:fillRect l="-1111" t="-928" b="-174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83854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41A9E75-D9EB-4FF7-A41A-47E81FCFC7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Классификация типов задач многомерной оптимизации</a:t>
            </a:r>
            <a:endParaRPr lang="ru-R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7D76C618-59DF-4C7A-86FA-E37EC4A4209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sz="2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1. C</a:t>
                </a:r>
                <a:r>
                  <a:rPr lang="ru-RU" sz="2400" b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войства</a:t>
                </a:r>
                <a:r>
                  <a:rPr lang="ru-RU" sz="2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допустимых множеств.</a:t>
                </a:r>
              </a:p>
              <a:p>
                <a:pPr marL="0" indent="0">
                  <a:buNone/>
                </a:pPr>
                <a:r>
                  <a:rPr lang="ru-RU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◦</a:t>
                </a: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</a:t>
                </a:r>
                <a:r>
                  <a:rPr lang="ru-RU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Задача (1) называется </a:t>
                </a:r>
                <a:r>
                  <a:rPr lang="ru-RU" sz="20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допустимой</a:t>
                </a:r>
                <a:r>
                  <a:rPr lang="ru-RU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если Q </a:t>
                </a:r>
                <a14:m>
                  <m:oMath xmlns:m="http://schemas.openxmlformats.org/officeDocument/2006/math">
                    <m:r>
                      <a:rPr lang="ru-RU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≠</m:t>
                    </m:r>
                  </m:oMath>
                </a14:m>
                <a:r>
                  <a:rPr lang="ru-RU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∅. </a:t>
                </a:r>
              </a:p>
              <a:p>
                <a:pPr marL="0" indent="0">
                  <a:buNone/>
                </a:pPr>
                <a:r>
                  <a:rPr lang="ru-RU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◦ Задача (1) называется </a:t>
                </a:r>
                <a:r>
                  <a:rPr lang="ru-RU" sz="20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строго допустимой</a:t>
                </a:r>
                <a:r>
                  <a:rPr lang="ru-RU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если существует такой вектор </a:t>
                </a:r>
                <a:r>
                  <a:rPr lang="ru-RU" sz="20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 </a:t>
                </a:r>
                <a14:m>
                  <m:oMath xmlns:m="http://schemas.openxmlformats.org/officeDocument/2006/math">
                    <m:r>
                      <a:rPr lang="ru-RU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∈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𝑖𝑛𝑡</m:t>
                    </m:r>
                  </m:oMath>
                </a14:m>
                <a:r>
                  <a:rPr lang="ru-RU" sz="20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Q</a:t>
                </a:r>
                <a:r>
                  <a:rPr lang="ru-RU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что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𝑓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𝑗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ru-RU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&lt; 0 (или &gt; 0) для всех ограничений-неравенств и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𝑓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𝑗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sz="2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US" sz="2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 </m:t>
                    </m:r>
                  </m:oMath>
                </a14:m>
                <a:r>
                  <a:rPr lang="ru-RU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 0 для всех ограничений-равенств (условие </a:t>
                </a:r>
                <a:r>
                  <a:rPr lang="ru-RU" sz="2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Слэйтера</a:t>
                </a:r>
                <a:r>
                  <a:rPr lang="ru-RU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).</a:t>
                </a:r>
                <a:endParaRPr 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US" sz="2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2. </a:t>
                </a:r>
                <a:r>
                  <a:rPr lang="ru-RU" sz="2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Типы решений задачи (1).</a:t>
                </a:r>
              </a:p>
              <a:p>
                <a:pPr marL="0" indent="0">
                  <a:buNone/>
                </a:pPr>
                <a:r>
                  <a:rPr lang="ru-RU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◦ Точка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ru-RU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называется оптимальным глобальным решением задачи (</a:t>
                </a: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r>
                  <a:rPr lang="ru-RU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), если</a:t>
                </a:r>
                <a:r>
                  <a:rPr lang="en-US" sz="2000" dirty="0"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𝑓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0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sSup>
                      <m:sSupPr>
                        <m:ctrlPr>
                          <a:rPr lang="ru-RU" sz="200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20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20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∗</m:t>
                        </m:r>
                      </m:sup>
                    </m:sSup>
                    <m:r>
                      <a:rPr lang="en-US" sz="2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ru-RU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ru-RU" sz="20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≤</m:t>
                    </m:r>
                  </m:oMath>
                </a14:m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𝑓</m:t>
                        </m:r>
                      </m:e>
                      <m:sub>
                        <m:r>
                          <a:rPr lang="ru-RU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0</m:t>
                        </m:r>
                      </m:sub>
                    </m:sSub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</m:d>
                    <m:r>
                      <a:rPr lang="en-US" sz="2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ru-RU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для всех x ∈ Q (</a:t>
                </a:r>
                <a:r>
                  <a:rPr lang="ru-RU" sz="20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глобальный минимум</a:t>
                </a:r>
                <a:r>
                  <a:rPr lang="ru-RU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). В этом случае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𝑓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0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sSup>
                      <m:sSupPr>
                        <m:ctrlPr>
                          <a:rPr lang="ru-RU" sz="20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20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20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∗</m:t>
                        </m:r>
                      </m:sup>
                    </m:sSup>
                    <m:r>
                      <a:rPr lang="en-US" sz="2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ru-RU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называется (</a:t>
                </a:r>
                <a:r>
                  <a:rPr lang="ru-RU" sz="20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глобальным</a:t>
                </a:r>
                <a:r>
                  <a:rPr lang="ru-RU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 оптимальным значением задачи. </a:t>
                </a:r>
              </a:p>
              <a:p>
                <a:pPr marL="0" indent="0">
                  <a:buNone/>
                </a:pPr>
                <a:r>
                  <a:rPr lang="ru-RU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◦ точка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∗</m:t>
                        </m:r>
                      </m:sup>
                    </m:sSup>
                    <m:r>
                      <a:rPr lang="en-US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ru-RU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называется </a:t>
                </a:r>
                <a:r>
                  <a:rPr lang="ru-RU" sz="20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локальным решением задачи </a:t>
                </a:r>
                <a:r>
                  <a:rPr lang="ru-RU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r>
                  <a:rPr lang="ru-RU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), если для всех </a:t>
                </a:r>
                <a:endParaRPr 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∈</m:t>
                    </m:r>
                    <m:acc>
                      <m:accPr>
                        <m:chr m:val="̅"/>
                        <m:ctrlP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𝑄</m:t>
                        </m:r>
                      </m:e>
                    </m:acc>
                  </m:oMath>
                </a14:m>
                <a:r>
                  <a:rPr lang="ru-RU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⊂ Q выполнено неравенство</a:t>
                </a: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𝑓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0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sSup>
                      <m:sSupPr>
                        <m:ctrlPr>
                          <a:rPr lang="ru-RU" sz="20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20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20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∗</m:t>
                        </m:r>
                      </m:sup>
                    </m:sSup>
                    <m:r>
                      <a:rPr lang="en-US" sz="2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ru-RU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ru-RU" sz="2000" i="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≤</m:t>
                    </m:r>
                  </m:oMath>
                </a14:m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𝑓</m:t>
                        </m:r>
                      </m:e>
                      <m:sub>
                        <m:r>
                          <a:rPr lang="ru-RU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0</m:t>
                        </m:r>
                      </m:sub>
                    </m:sSub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ru-RU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(</a:t>
                </a:r>
                <a:r>
                  <a:rPr lang="ru-RU" sz="20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локальный минимум</a:t>
                </a:r>
                <a:r>
                  <a:rPr lang="ru-RU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).</a:t>
                </a:r>
                <a:endParaRPr lang="en-US" sz="20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ru-RU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7D76C618-59DF-4C7A-86FA-E37EC4A4209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111" t="-1078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229684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C225272-B99D-43E3-A2A4-1FD9A410BE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Эффективность численных методов оптимизации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EF17A0DF-2E97-4D3B-961C-CD1920B17D6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57200" y="1411100"/>
                <a:ext cx="8229600" cy="5172261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ru-RU" sz="28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В настоящее время не существует универсальных методов решения задач оптимизации.</a:t>
                </a:r>
              </a:p>
              <a:p>
                <a:pPr marL="0" indent="0" algn="just">
                  <a:buNone/>
                </a:pPr>
                <a:r>
                  <a:rPr lang="ru-RU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Невозможно определить наилучший метод решения некоторой задачи</a:t>
                </a:r>
                <a14:m>
                  <m:oMath xmlns:m="http://schemas.openxmlformats.org/officeDocument/2006/math">
                    <m:r>
                      <a:rPr lang="ru-RU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𝒫</m:t>
                    </m:r>
                    <m:r>
                      <a:rPr lang="ru-RU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.   Однако</m:t>
                    </m:r>
                  </m:oMath>
                </a14:m>
                <a:r>
                  <a:rPr lang="ru-RU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возможно определить класс методов для определенного класса задач. Т.е. класс задач </a:t>
                </a:r>
                <a14:m>
                  <m:oMath xmlns:m="http://schemas.openxmlformats.org/officeDocument/2006/math">
                    <m:r>
                      <a:rPr lang="ru-RU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ℱ</m:t>
                    </m:r>
                  </m:oMath>
                </a14:m>
                <a:r>
                  <a:rPr lang="ru-RU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где </a:t>
                </a:r>
                <a14:m>
                  <m:oMath xmlns:m="http://schemas.openxmlformats.org/officeDocument/2006/math">
                    <m:r>
                      <a:rPr lang="ru-RU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𝒫</m:t>
                    </m:r>
                    <m:r>
                      <a:rPr lang="ru-RU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⊂</m:t>
                    </m:r>
                    <m:r>
                      <a:rPr lang="ru-RU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ℱ</m:t>
                    </m:r>
                    <m:r>
                      <a:rPr lang="ru-RU" sz="24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 и </m:t>
                    </m:r>
                    <m:r>
                      <a:rPr lang="ru-RU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ℱ</m:t>
                    </m:r>
                  </m:oMath>
                </a14:m>
                <a:r>
                  <a:rPr lang="ru-RU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- выделенный класс задач.</a:t>
                </a:r>
                <a:r>
                  <a:rPr lang="ru-RU" sz="2400" dirty="0"/>
                  <a:t> </a:t>
                </a:r>
                <a14:m>
                  <m:oMath xmlns:m="http://schemas.openxmlformats.org/officeDocument/2006/math">
                    <m:r>
                      <a:rPr lang="ru-RU" sz="24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О</m:t>
                    </m:r>
                  </m:oMath>
                </a14:m>
                <a:r>
                  <a:rPr lang="ru-RU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бычно численные методы разрабатываются для решения многих однотипных задач с близкими характеристиками. Поэтому эффективность метода </a:t>
                </a:r>
                <a14:m>
                  <m:oMath xmlns:m="http://schemas.openxmlformats.org/officeDocument/2006/math">
                    <m:r>
                      <a:rPr lang="ru-RU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ℳ</m:t>
                    </m:r>
                  </m:oMath>
                </a14:m>
                <a:r>
                  <a:rPr lang="ru-RU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на всем классе задач </a:t>
                </a:r>
                <a14:m>
                  <m:oMath xmlns:m="http://schemas.openxmlformats.org/officeDocument/2006/math">
                    <m:r>
                      <a:rPr lang="ru-RU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ℱ</m:t>
                    </m:r>
                    <m:r>
                      <a:rPr lang="ru-RU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ru-RU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можно считать естественной характеристикой его качества.</a:t>
                </a:r>
              </a:p>
              <a:p>
                <a:pPr marL="0" indent="0" algn="just">
                  <a:buNone/>
                </a:pPr>
                <a:r>
                  <a:rPr lang="ru-RU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При этом следует учитывать, что метод </a:t>
                </a:r>
                <a14:m>
                  <m:oMath xmlns:m="http://schemas.openxmlformats.org/officeDocument/2006/math">
                    <m:r>
                      <a:rPr lang="ru-RU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ℳ</m:t>
                    </m:r>
                  </m:oMath>
                </a14:m>
                <a:r>
                  <a:rPr lang="ru-RU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не имеет полной информации о решаемой задаче.</a:t>
                </a:r>
              </a:p>
              <a:p>
                <a:pPr marL="0" indent="0" algn="just">
                  <a:buNone/>
                </a:pPr>
                <a:endParaRPr lang="ru-RU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EF17A0DF-2E97-4D3B-961C-CD1920B17D6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411100"/>
                <a:ext cx="8229600" cy="5172261"/>
              </a:xfrm>
              <a:blipFill>
                <a:blip r:embed="rId2"/>
                <a:stretch>
                  <a:fillRect l="-1481" t="-1178" r="-2519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989918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DB9E826-C0D1-4AB6-8549-6ACD5FB77B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Эффективность численных методов оптимизации</a:t>
            </a:r>
            <a:endParaRPr lang="ru-R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9735E459-13A7-47D3-A9A0-F6F2CCC0EB7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57200" y="1600200"/>
                <a:ext cx="8229600" cy="5141168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ru-RU" sz="28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Заранее известная численному методу «часть» задачи </a:t>
                </a:r>
                <a14:m>
                  <m:oMath xmlns:m="http://schemas.openxmlformats.org/officeDocument/2006/math">
                    <m:r>
                      <a:rPr lang="ru-RU" sz="28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𝓟</m:t>
                    </m:r>
                    <m:r>
                      <a:rPr lang="ru-RU" sz="280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ru-RU" sz="28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называется моделью решаемой задачи.</a:t>
                </a:r>
              </a:p>
              <a:p>
                <a:pPr marL="0" indent="0">
                  <a:buNone/>
                </a:pPr>
                <a:r>
                  <a:rPr lang="ru-RU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Обозначим модель решаемой задачи символом </a:t>
                </a:r>
                <a14:m>
                  <m:oMath xmlns:m="http://schemas.openxmlformats.org/officeDocument/2006/math">
                    <m:r>
                      <a:rPr lang="el-GR" sz="28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𝜮</m:t>
                    </m:r>
                  </m:oMath>
                </a14:m>
                <a:r>
                  <a:rPr lang="ru-RU" sz="28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ru-RU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 Обычно в модель включаются формулировка задачи, описание свойств функциональных компонент и т. д. </a:t>
                </a:r>
              </a:p>
              <a:p>
                <a:pPr marL="0" indent="0" algn="just">
                  <a:buNone/>
                </a:pPr>
                <a:r>
                  <a:rPr lang="ru-RU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Для того чтобы распознать задачу </a:t>
                </a:r>
                <a14:m>
                  <m:oMath xmlns:m="http://schemas.openxmlformats.org/officeDocument/2006/math">
                    <m:r>
                      <a:rPr lang="ru-RU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𝒫</m:t>
                    </m:r>
                    <m:r>
                      <a:rPr lang="ru-RU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ru-RU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среди всех прочих задач из данного класса (и тем самым решить ее), численный метод должен уметь накапливать специфическую информацию о решаемой задаче. Этот процесс удобно описывать с помощью понятия оракула. Оракул </a:t>
                </a:r>
                <a14:m>
                  <m:oMath xmlns:m="http://schemas.openxmlformats.org/officeDocument/2006/math">
                    <m:r>
                      <a:rPr lang="ru-RU" sz="24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𝓞</m:t>
                    </m:r>
                  </m:oMath>
                </a14:m>
                <a:r>
                  <a:rPr lang="ru-RU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проще всего представить в виде некоторого устройства, которое отвечает на последовательные вопросы численного метода.</a:t>
                </a:r>
                <a:endParaRPr lang="ru-RU" sz="24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9735E459-13A7-47D3-A9A0-F6F2CCC0EB7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600200"/>
                <a:ext cx="8229600" cy="5141168"/>
              </a:xfrm>
              <a:blipFill>
                <a:blip r:embed="rId2"/>
                <a:stretch>
                  <a:fillRect l="-1481" t="-1305" r="-111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459898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EC351A1-B7B8-42F7-8F36-F91EF76613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Эффективность численных методов оптимизации</a:t>
            </a:r>
            <a:endParaRPr lang="ru-R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6AD02280-A102-44AF-AA7A-C46D87E77C4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ru-RU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Естественно определить эффективность метода </a:t>
                </a:r>
                <a14:m>
                  <m:oMath xmlns:m="http://schemas.openxmlformats.org/officeDocument/2006/math">
                    <m:r>
                      <a:rPr lang="ru-RU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ℳ</m:t>
                    </m:r>
                    <m:r>
                      <a:rPr lang="ru-RU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ru-RU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на паре (</a:t>
                </a:r>
                <a14:m>
                  <m:oMath xmlns:m="http://schemas.openxmlformats.org/officeDocument/2006/math">
                    <m:r>
                      <a:rPr lang="el-GR" sz="2400" b="1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𝜮</m:t>
                    </m:r>
                  </m:oMath>
                </a14:m>
                <a:r>
                  <a:rPr lang="ru-RU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</a:t>
                </a:r>
                <a:r>
                  <a:rPr lang="ru-RU" sz="2400" b="1" dirty="0"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ru-RU" sz="2400" b="1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𝓞</m:t>
                    </m:r>
                  </m:oMath>
                </a14:m>
                <a:r>
                  <a:rPr lang="ru-RU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 как его эффективность на наихудшем представителе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ru-RU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𝒫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𝑤</m:t>
                        </m:r>
                      </m:sub>
                    </m:sSub>
                  </m:oMath>
                </a14:m>
                <a:r>
                  <a:rPr lang="ru-RU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из (</a:t>
                </a:r>
                <a14:m>
                  <m:oMath xmlns:m="http://schemas.openxmlformats.org/officeDocument/2006/math">
                    <m:r>
                      <a:rPr lang="el-GR" sz="2400" b="1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𝜮</m:t>
                    </m:r>
                  </m:oMath>
                </a14:m>
                <a:r>
                  <a:rPr lang="ru-RU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</a:t>
                </a:r>
                <a:r>
                  <a:rPr lang="ru-RU" sz="2400" b="1" dirty="0"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ru-RU" sz="2400" b="1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𝓞</m:t>
                    </m:r>
                  </m:oMath>
                </a14:m>
                <a:r>
                  <a:rPr lang="ru-RU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). Заметим, что задача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ru-RU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𝒫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𝑤</m:t>
                        </m:r>
                      </m:sub>
                    </m:sSub>
                  </m:oMath>
                </a14:m>
                <a:r>
                  <a:rPr lang="ru-RU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может быть трудной только для этого конкретного метода </a:t>
                </a:r>
                <a14:m>
                  <m:oMath xmlns:m="http://schemas.openxmlformats.org/officeDocument/2006/math">
                    <m:r>
                      <a:rPr lang="ru-RU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ℳ</m:t>
                    </m:r>
                  </m:oMath>
                </a14:m>
                <a:endPara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ru-RU" sz="2400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Эффективность метода </a:t>
                </a:r>
                <a14:m>
                  <m:oMath xmlns:m="http://schemas.openxmlformats.org/officeDocument/2006/math">
                    <m:r>
                      <a:rPr lang="ru-RU" sz="24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𝓜</m:t>
                    </m:r>
                    <m:r>
                      <a:rPr lang="ru-RU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ru-RU" sz="2400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на задаче </a:t>
                </a:r>
                <a14:m>
                  <m:oMath xmlns:m="http://schemas.openxmlformats.org/officeDocument/2006/math">
                    <m:r>
                      <a:rPr lang="ru-RU" sz="2400" b="1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𝓟</m:t>
                    </m:r>
                    <m:r>
                      <a:rPr lang="ru-RU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ru-RU" sz="2400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определяется через общие вычислительные затраты метода M, необходимые для того, чтобы решить задачу </a:t>
                </a:r>
                <a14:m>
                  <m:oMath xmlns:m="http://schemas.openxmlformats.org/officeDocument/2006/math">
                    <m:r>
                      <a:rPr lang="ru-RU" sz="2400" b="1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𝓟</m:t>
                    </m:r>
                  </m:oMath>
                </a14:m>
                <a:r>
                  <a:rPr lang="ru-RU" sz="2400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  <a:endParaRPr lang="en-US" sz="2400" b="1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ru-RU" sz="2400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Решить задачу </a:t>
                </a:r>
                <a14:m>
                  <m:oMath xmlns:m="http://schemas.openxmlformats.org/officeDocument/2006/math">
                    <m:r>
                      <a:rPr lang="ru-RU" sz="2400" b="1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𝓟</m:t>
                    </m:r>
                  </m:oMath>
                </a14:m>
                <a:r>
                  <a:rPr lang="ru-RU" sz="2400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означает найти ее приближенное решение с заранее заданной точностью</a:t>
                </a:r>
                <a:r>
                  <a:rPr lang="en-US" sz="2400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𝜺</m:t>
                    </m:r>
                    <m:r>
                      <a:rPr lang="en-US" sz="24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&gt;</m:t>
                    </m:r>
                    <m:r>
                      <a:rPr lang="en-US" sz="24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𝟎</m:t>
                    </m:r>
                    <m:r>
                      <a:rPr lang="en-US" sz="24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.</m:t>
                    </m:r>
                  </m:oMath>
                </a14:m>
                <a:endParaRPr lang="en-US" sz="2400" b="1" i="1" dirty="0"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ru-RU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Введем обозначение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240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ru-RU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𝒯</m:t>
                        </m:r>
                      </m:e>
                      <m:sub>
                        <m:r>
                          <a:rPr lang="ru-RU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ℰ</m:t>
                        </m:r>
                      </m:sub>
                    </m:sSub>
                  </m:oMath>
                </a14:m>
                <a:r>
                  <a:rPr lang="ru-RU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для некоторого критерия остановки, способного оценить качество предлагаемого решения. </a:t>
                </a:r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6AD02280-A102-44AF-AA7A-C46D87E77C4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111" t="-1078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615080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663EDA9-5CCA-45D1-A33B-DCB013EF86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Эффективность численных методов оптимизации</a:t>
            </a:r>
            <a:endParaRPr lang="ru-R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95AE8DEB-EFF6-4F20-ADC6-4F034DC284C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35496" y="2492896"/>
                <a:ext cx="8229600" cy="3484984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ru-RU" sz="28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Формальное определение класса решаемых задач</a:t>
                </a:r>
                <a:endParaRPr lang="ru-RU" sz="2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r>
                      <a:rPr lang="ru-RU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𝓕</m:t>
                    </m:r>
                    <m:r>
                      <a:rPr lang="ru-RU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=(</m:t>
                    </m:r>
                    <m:r>
                      <a:rPr lang="el-GR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𝜮</m:t>
                    </m:r>
                    <m:r>
                      <m:rPr>
                        <m:nor/>
                      </m:rPr>
                      <a:rPr lang="ru-RU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,</m:t>
                    </m:r>
                    <m:r>
                      <m:rPr>
                        <m:nor/>
                      </m:rPr>
                      <a:rPr lang="ru-RU" b="1" dirty="0"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ru-RU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𝓞</m:t>
                    </m:r>
                    <m:r>
                      <a:rPr lang="en-US" b="1" i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</m:oMath>
                </a14:m>
                <a:r>
                  <a:rPr lang="ru-RU" b="1" dirty="0"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b="1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ru-RU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𝓣</m:t>
                        </m:r>
                      </m:e>
                      <m:sub>
                        <m:r>
                          <a:rPr lang="ru-RU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𝓔</m:t>
                        </m:r>
                      </m:sub>
                    </m:sSub>
                  </m:oMath>
                </a14:m>
                <a:r>
                  <a:rPr lang="ru-RU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).</a:t>
                </a:r>
              </a:p>
              <a:p>
                <a:pPr marL="0" indent="0" algn="just">
                  <a:buNone/>
                </a:pPr>
                <a:r>
                  <a:rPr lang="ru-RU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Для решения конкретной задачи </a:t>
                </a:r>
                <a14:m>
                  <m:oMath xmlns:m="http://schemas.openxmlformats.org/officeDocument/2006/math">
                    <m:r>
                      <a:rPr lang="ru-RU" sz="28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𝓟</m:t>
                    </m:r>
                    <m:r>
                      <a:rPr lang="ru-RU" sz="28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∈</m:t>
                    </m:r>
                    <m:r>
                      <a:rPr lang="ru-RU" sz="28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𝓕</m:t>
                    </m:r>
                    <m:r>
                      <a:rPr lang="ru-RU" sz="280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ru-RU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естественно применить некую </a:t>
                </a:r>
                <a:r>
                  <a:rPr lang="ru-RU" sz="28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итеративную процедуру. </a:t>
                </a:r>
                <a:r>
                  <a:rPr lang="ru-RU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Именно в таком виде удобно записывать любой метод </a:t>
                </a:r>
                <a14:m>
                  <m:oMath xmlns:m="http://schemas.openxmlformats.org/officeDocument/2006/math">
                    <m:r>
                      <a:rPr lang="ru-RU" sz="2800" b="1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𝓜</m:t>
                    </m:r>
                  </m:oMath>
                </a14:m>
                <a:r>
                  <a:rPr lang="ru-RU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работающий с оракулом</a:t>
                </a:r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ru-RU" sz="2800" b="1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𝓞</m:t>
                    </m:r>
                  </m:oMath>
                </a14:m>
                <a:r>
                  <a:rPr lang="ru-RU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95AE8DEB-EFF6-4F20-ADC6-4F034DC284C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35496" y="2492896"/>
                <a:ext cx="8229600" cy="3484984"/>
              </a:xfrm>
              <a:blipFill>
                <a:blip r:embed="rId2"/>
                <a:stretch>
                  <a:fillRect l="-1481" t="-1923" r="-1556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876678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74D3F92-6DDA-4DAE-BFE4-8C562A8738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Эффективность численных методов оптимизации</a:t>
            </a:r>
            <a:endParaRPr lang="ru-R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CB3A6643-D8F3-44D7-A278-A985ED8D799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57200" y="1600200"/>
                <a:ext cx="8435280" cy="4709120"/>
              </a:xfrm>
            </p:spPr>
            <p:txBody>
              <a:bodyPr/>
              <a:lstStyle/>
              <a:p>
                <a:pPr marL="0" indent="0" algn="ctr">
                  <a:buNone/>
                </a:pPr>
                <a:r>
                  <a:rPr lang="ru-RU" sz="28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Общая итеративная схема </a:t>
                </a:r>
                <a:endParaRPr lang="en-US" sz="28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ru-RU" sz="2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Вводные данные</a:t>
                </a:r>
                <a:r>
                  <a:rPr lang="ru-RU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начальная точка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200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ru-RU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и требуемая точность </a:t>
                </a:r>
                <a14:m>
                  <m:oMath xmlns:m="http://schemas.openxmlformats.org/officeDocument/2006/math">
                    <m:r>
                      <a:rPr lang="en-US" sz="2000" b="1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𝜺</m:t>
                    </m:r>
                    <m:r>
                      <a:rPr lang="en-US" sz="2000" b="1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&gt;</m:t>
                    </m:r>
                    <m:r>
                      <a:rPr lang="en-US" sz="2000" b="1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𝟎</m:t>
                    </m:r>
                    <m:r>
                      <a:rPr lang="en-US" sz="2000" b="1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ru-RU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 </a:t>
                </a:r>
                <a:r>
                  <a:rPr lang="ru-RU" sz="2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Настройка</a:t>
                </a:r>
                <a:r>
                  <a:rPr lang="ru-RU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 Полагаем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𝑘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=0</m:t>
                    </m:r>
                  </m:oMath>
                </a14:m>
                <a:r>
                  <a:rPr lang="ru-RU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и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𝐼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−1</m:t>
                        </m:r>
                      </m:sub>
                    </m:sSub>
                  </m:oMath>
                </a14:m>
                <a:r>
                  <a:rPr lang="ru-RU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 ∅. Здесь </a:t>
                </a:r>
                <a:r>
                  <a:rPr lang="ru-RU" sz="20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 </a:t>
                </a:r>
                <a:r>
                  <a:rPr lang="ru-RU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–– это счетчик итераций, а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𝐼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𝑘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ru-RU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–– это накапливаемая информационная модель решаемой задачи. </a:t>
                </a:r>
                <a:endParaRPr 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ru-RU" sz="2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Основной цикл</a:t>
                </a:r>
                <a:r>
                  <a:rPr lang="ru-RU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 </a:t>
                </a:r>
              </a:p>
              <a:p>
                <a:pPr marL="0" indent="0">
                  <a:buNone/>
                </a:pPr>
                <a:r>
                  <a:rPr lang="ru-RU" sz="2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Шаг 1.</a:t>
                </a:r>
                <a:r>
                  <a:rPr lang="ru-RU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Задаем вопрос оракулу </a:t>
                </a:r>
                <a14:m>
                  <m:oMath xmlns:m="http://schemas.openxmlformats.org/officeDocument/2006/math">
                    <m:r>
                      <a:rPr lang="ru-RU" sz="20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𝓞</m:t>
                    </m:r>
                    <m:r>
                      <a:rPr lang="ru-RU" sz="20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ru-RU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в точке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200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ru-RU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.</a:t>
                </a:r>
              </a:p>
              <a:p>
                <a:pPr marL="0" indent="0">
                  <a:buNone/>
                </a:pPr>
                <a:r>
                  <a:rPr lang="ru-RU" sz="2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Шаг 2.</a:t>
                </a:r>
                <a:r>
                  <a:rPr lang="ru-RU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Пересчитываем информационную модель: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𝐼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𝑘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𝐼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𝑘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−1</m:t>
                        </m:r>
                      </m:sub>
                    </m:sSub>
                  </m:oMath>
                </a14:m>
                <a:r>
                  <a:rPr lang="ru-RU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∪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(</m:t>
                        </m:r>
                        <m:r>
                          <a:rPr lang="en-US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ru-RU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ru-RU" sz="2000" b="1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𝓞</m:t>
                    </m:r>
                  </m:oMath>
                </a14:m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ru-RU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  <a:r>
                  <a:rPr lang="ru-RU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. </a:t>
                </a:r>
              </a:p>
              <a:p>
                <a:pPr marL="0" indent="0">
                  <a:buNone/>
                </a:pPr>
                <a:r>
                  <a:rPr lang="ru-RU" sz="2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Шаг 3.</a:t>
                </a:r>
                <a:r>
                  <a:rPr lang="ru-RU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Применяем правила метода </a:t>
                </a:r>
                <a14:m>
                  <m:oMath xmlns:m="http://schemas.openxmlformats.org/officeDocument/2006/math">
                    <m:r>
                      <a:rPr lang="ru-RU" sz="20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𝓜</m:t>
                    </m:r>
                    <m:r>
                      <a:rPr lang="ru-RU" sz="20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ru-RU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для анализа модели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𝐼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𝑘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ru-RU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и формируем точку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𝑘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+1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ru-RU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 </a:t>
                </a:r>
              </a:p>
              <a:p>
                <a:pPr marL="0" indent="0">
                  <a:buNone/>
                </a:pPr>
                <a:r>
                  <a:rPr lang="ru-RU" sz="2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Шаг 4.</a:t>
                </a:r>
                <a:r>
                  <a:rPr lang="ru-RU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Проверяем критерий остановки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2000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ru-RU" sz="20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𝓣</m:t>
                        </m:r>
                      </m:e>
                      <m:sub>
                        <m:r>
                          <a:rPr lang="ru-RU" sz="20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𝓔</m:t>
                        </m:r>
                      </m:sub>
                    </m:sSub>
                  </m:oMath>
                </a14:m>
                <a:r>
                  <a:rPr lang="ru-RU" sz="2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ru-RU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 Если ответ положительный, то генерируем ответ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ru-RU" sz="200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</m:acc>
                  </m:oMath>
                </a14:m>
                <a:r>
                  <a:rPr lang="ru-RU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 В противном случае полагаем </a:t>
                </a:r>
                <a:r>
                  <a:rPr lang="ru-RU" sz="20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 := k + 1 </a:t>
                </a:r>
                <a:r>
                  <a:rPr lang="ru-RU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и переходим на </a:t>
                </a:r>
                <a:r>
                  <a:rPr lang="ru-RU" sz="2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шаг </a:t>
                </a:r>
                <a:r>
                  <a:rPr lang="en-US" sz="2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r>
                  <a:rPr lang="ru-RU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CB3A6643-D8F3-44D7-A278-A985ED8D799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600200"/>
                <a:ext cx="8435280" cy="4709120"/>
              </a:xfrm>
              <a:blipFill>
                <a:blip r:embed="rId2"/>
                <a:stretch>
                  <a:fillRect l="-1084" t="-1425" r="-86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301140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687B7FF-6A3D-4904-ACB3-B8296C03B2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Эффективность численных методов оптимизации</a:t>
            </a:r>
            <a:endParaRPr lang="ru-R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B1121699-CE33-40FE-BA18-6CB4086F617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51520" y="1600200"/>
                <a:ext cx="8712968" cy="4525963"/>
              </a:xfrm>
            </p:spPr>
            <p:txBody>
              <a:bodyPr/>
              <a:lstStyle/>
              <a:p>
                <a:pPr marL="0" indent="0" algn="just">
                  <a:buNone/>
                </a:pPr>
                <a:r>
                  <a:rPr lang="ru-RU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Наиболее трудоемкими являются два шага. Первый – это обращение к оракулу </a:t>
                </a:r>
                <a14:m>
                  <m:oMath xmlns:m="http://schemas.openxmlformats.org/officeDocument/2006/math">
                    <m:r>
                      <a:rPr lang="ru-RU" sz="24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𝓞</m:t>
                    </m:r>
                  </m:oMath>
                </a14:m>
                <a:r>
                  <a:rPr lang="ru-RU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ru-RU" sz="2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Шаг 1. </a:t>
                </a:r>
                <a:r>
                  <a:rPr lang="ru-RU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Второй </a:t>
                </a:r>
                <a:r>
                  <a:rPr lang="ru-RU" sz="2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Шаг 3, </a:t>
                </a:r>
                <a:r>
                  <a:rPr lang="ru-RU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на котором анализируется накопленная модель и формируется следующая тестовая точка.</a:t>
                </a:r>
              </a:p>
              <a:p>
                <a:pPr marL="0" indent="0" algn="just">
                  <a:buNone/>
                </a:pPr>
                <a:r>
                  <a:rPr lang="ru-RU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Таким образом, можно ввести две меры сложности задачи </a:t>
                </a:r>
                <a14:m>
                  <m:oMath xmlns:m="http://schemas.openxmlformats.org/officeDocument/2006/math">
                    <m:r>
                      <a:rPr lang="ru-RU" sz="24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𝓟</m:t>
                    </m:r>
                    <m:r>
                      <a:rPr lang="ru-RU" sz="24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ru-RU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и для метода </a:t>
                </a:r>
                <a14:m>
                  <m:oMath xmlns:m="http://schemas.openxmlformats.org/officeDocument/2006/math">
                    <m:r>
                      <a:rPr lang="ru-RU" sz="2400" b="1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𝓜</m:t>
                    </m:r>
                  </m:oMath>
                </a14:m>
                <a:r>
                  <a:rPr lang="ru-RU" sz="2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marL="0" indent="0" algn="just">
                  <a:buNone/>
                </a:pPr>
                <a:r>
                  <a:rPr lang="ru-RU" sz="2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Аналитическая сложность. </a:t>
                </a:r>
                <a:r>
                  <a:rPr lang="ru-RU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Это число обращений к оракулу, необходимое для решения задачи </a:t>
                </a:r>
                <a14:m>
                  <m:oMath xmlns:m="http://schemas.openxmlformats.org/officeDocument/2006/math">
                    <m:r>
                      <a:rPr lang="ru-RU" sz="24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𝓟</m:t>
                    </m:r>
                    <m:r>
                      <a:rPr lang="ru-RU" sz="24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ru-RU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с точностью </a:t>
                </a:r>
                <a14:m>
                  <m:oMath xmlns:m="http://schemas.openxmlformats.org/officeDocument/2006/math">
                    <m:r>
                      <a:rPr lang="en-US" sz="24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𝜺</m:t>
                    </m:r>
                    <m:r>
                      <a:rPr lang="en-US" sz="24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ru-RU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 </a:t>
                </a:r>
                <a:r>
                  <a:rPr lang="ru-RU" sz="2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Арифметическая сложность</a:t>
                </a:r>
                <a:r>
                  <a:rPr lang="ru-RU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 Это общее число всех вычислений (включая как работу оракула, так и работу метода), необходимых для решения задачи </a:t>
                </a:r>
                <a14:m>
                  <m:oMath xmlns:m="http://schemas.openxmlformats.org/officeDocument/2006/math">
                    <m:r>
                      <a:rPr lang="ru-RU" sz="2400" b="1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𝓟</m:t>
                    </m:r>
                    <m:r>
                      <a:rPr lang="ru-RU" sz="2400" b="1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ru-RU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с точностью </a:t>
                </a:r>
                <a14:m>
                  <m:oMath xmlns:m="http://schemas.openxmlformats.org/officeDocument/2006/math">
                    <m:r>
                      <a:rPr lang="en-US" sz="2400" b="1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𝜺</m:t>
                    </m:r>
                  </m:oMath>
                </a14:m>
                <a:r>
                  <a:rPr lang="ru-RU" sz="2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B1121699-CE33-40FE-BA18-6CB4086F617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51520" y="1600200"/>
                <a:ext cx="8712968" cy="4525963"/>
              </a:xfrm>
              <a:blipFill>
                <a:blip r:embed="rId2"/>
                <a:stretch>
                  <a:fillRect l="-1049" t="-1078" r="-1049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278775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1F07142-7254-4179-AA01-EA1B6CA3F3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Эффективность численных методов оптимизации</a:t>
            </a:r>
            <a:endParaRPr lang="ru-R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6429A4DC-E731-46A8-9886-B80262AA040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11560" y="2057399"/>
                <a:ext cx="8229600" cy="4525963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ru-RU" sz="2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В соответствии со степенью гладкости функциональной модели можно пользоваться разными типами оракулов. </a:t>
                </a:r>
              </a:p>
              <a:p>
                <a:r>
                  <a:rPr lang="ru-RU" sz="2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Оракул </a:t>
                </a:r>
                <a:r>
                  <a:rPr lang="ru-RU" sz="2600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нулевого порядка</a:t>
                </a:r>
                <a:r>
                  <a:rPr lang="ru-RU" sz="2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возвращает значение функции </a:t>
                </a:r>
                <a14:m>
                  <m:oMath xmlns:m="http://schemas.openxmlformats.org/officeDocument/2006/math">
                    <m:r>
                      <a:rPr lang="en-US" sz="26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𝑓</m:t>
                    </m:r>
                    <m:r>
                      <a:rPr lang="en-US" sz="26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sz="26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US" sz="26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ru-RU" sz="2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 </a:t>
                </a:r>
                <a:endParaRPr lang="en-US" sz="26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ru-RU" sz="2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Оракул </a:t>
                </a:r>
                <a:r>
                  <a:rPr lang="ru-RU" sz="2600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первого порядка: </a:t>
                </a:r>
                <a:r>
                  <a:rPr lang="ru-RU" sz="2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возвращает значение функции </a:t>
                </a:r>
                <a14:m>
                  <m:oMath xmlns:m="http://schemas.openxmlformats.org/officeDocument/2006/math">
                    <m:r>
                      <a:rPr lang="en-US" sz="26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𝑓</m:t>
                    </m:r>
                    <m:r>
                      <a:rPr lang="en-US" sz="26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sz="26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US" sz="26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ru-RU" sz="2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и ее градиент </a:t>
                </a:r>
                <a14:m>
                  <m:oMath xmlns:m="http://schemas.openxmlformats.org/officeDocument/2006/math">
                    <m:r>
                      <a:rPr lang="en-US" sz="26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𝑓</m:t>
                    </m:r>
                    <m:r>
                      <a:rPr lang="en-US" sz="26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′</m:t>
                    </m:r>
                    <m:r>
                      <a:rPr lang="en-US" sz="26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sz="26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US" sz="26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ru-RU" sz="2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  <a:endParaRPr lang="en-US" sz="26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ru-RU" sz="2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Оракул </a:t>
                </a:r>
                <a:r>
                  <a:rPr lang="ru-RU" sz="2600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второго порядка</a:t>
                </a:r>
                <a:r>
                  <a:rPr lang="ru-RU" sz="2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возвращает </a:t>
                </a:r>
                <a14:m>
                  <m:oMath xmlns:m="http://schemas.openxmlformats.org/officeDocument/2006/math">
                    <m:r>
                      <a:rPr lang="en-US" sz="26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𝑓</m:t>
                    </m:r>
                    <m:d>
                      <m:dPr>
                        <m:ctrlPr>
                          <a:rPr lang="en-US" sz="26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26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</m:d>
                    <m:r>
                      <a:rPr lang="en-US" sz="2600" b="0" i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</m:oMath>
                </a14:m>
                <a:r>
                  <a:rPr lang="ru-RU" sz="2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ее градиент </a:t>
                </a:r>
                <a14:m>
                  <m:oMath xmlns:m="http://schemas.openxmlformats.org/officeDocument/2006/math">
                    <m:r>
                      <a:rPr lang="en-US" sz="26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𝑓</m:t>
                    </m:r>
                    <m:r>
                      <a:rPr lang="en-US" sz="26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′</m:t>
                    </m:r>
                    <m:r>
                      <a:rPr lang="en-US" sz="26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sz="26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US" sz="26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 </m:t>
                    </m:r>
                  </m:oMath>
                </a14:m>
                <a:r>
                  <a:rPr lang="ru-RU" sz="2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и матрицу гессиана </a:t>
                </a:r>
                <a14:m>
                  <m:oMath xmlns:m="http://schemas.openxmlformats.org/officeDocument/2006/math">
                    <m:r>
                      <a:rPr lang="en-US" sz="26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𝑓</m:t>
                    </m:r>
                    <m:r>
                      <a:rPr lang="en-US" sz="26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′′(</m:t>
                    </m:r>
                    <m:r>
                      <a:rPr lang="en-US" sz="26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US" sz="26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 </m:t>
                    </m:r>
                  </m:oMath>
                </a14:m>
                <a:r>
                  <a:rPr lang="ru-RU" sz="2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  <a:endParaRPr lang="en-US" sz="26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ru-RU" sz="2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Мы рассмотрим применение этих оракулов в различных методах.</a:t>
                </a:r>
                <a:endParaRPr lang="en-US" sz="26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ru-RU" sz="2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endParaRPr lang="en-US" sz="26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ru-RU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6429A4DC-E731-46A8-9886-B80262AA040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11560" y="2057399"/>
                <a:ext cx="8229600" cy="4525963"/>
              </a:xfrm>
              <a:blipFill>
                <a:blip r:embed="rId2"/>
                <a:stretch>
                  <a:fillRect l="-1333" t="-1211" r="-593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8994187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BEC2ABF-3579-4AA7-BDA5-54099A9199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Методы оракула нулевого порядка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DED2E78-2858-4D54-9FFC-B52EF2BE01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AutoNum type="arabicPeriod"/>
            </a:pPr>
            <a:r>
              <a:rPr lang="ru-RU" alt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Метод Хука-</a:t>
            </a:r>
            <a:r>
              <a:rPr lang="ru-RU" altLang="ru-RU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Дживса</a:t>
            </a:r>
            <a:r>
              <a:rPr lang="ru-RU" alt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(Х-Д).</a:t>
            </a:r>
          </a:p>
          <a:p>
            <a:pPr marL="514350" indent="-514350">
              <a:buAutoNum type="arabicPeriod"/>
            </a:pPr>
            <a:r>
              <a:rPr lang="ru-RU" sz="3200" b="1" dirty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Метод </a:t>
            </a:r>
            <a:r>
              <a:rPr lang="ru-RU" sz="3200" b="1" dirty="0" err="1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Розенброка</a:t>
            </a:r>
            <a:r>
              <a:rPr lang="ru-RU" sz="3200" b="1" dirty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 (</a:t>
            </a:r>
            <a:r>
              <a:rPr lang="ru-RU" sz="3200" b="1" dirty="0" err="1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Девиса</a:t>
            </a:r>
            <a:r>
              <a:rPr lang="ru-RU" sz="3200" b="1" dirty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-Свена-</a:t>
            </a:r>
            <a:r>
              <a:rPr lang="ru-RU" sz="3200" b="1" dirty="0" err="1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Кемпи</a:t>
            </a:r>
            <a:r>
              <a:rPr lang="ru-RU" sz="3200" b="1" dirty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).</a:t>
            </a:r>
          </a:p>
          <a:p>
            <a:pPr marL="514350" indent="-514350">
              <a:buAutoNum type="arabicPeriod"/>
            </a:pPr>
            <a:r>
              <a:rPr lang="ru-RU" b="1" dirty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Метод </a:t>
            </a:r>
            <a:r>
              <a:rPr lang="ru-RU" b="1" dirty="0" err="1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Нелдера-Мида</a:t>
            </a:r>
            <a:r>
              <a:rPr lang="ru-RU" b="1" dirty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 ( Н-Д, метод деформируемых симплексов).</a:t>
            </a:r>
            <a:endParaRPr lang="ru-RU" sz="3200" b="1" dirty="0">
              <a:latin typeface="Times New Roman" panose="02020603050405020304" pitchFamily="18" charset="0"/>
              <a:ea typeface="Verdana" panose="020B060403050404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ru-RU" altLang="ru-RU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>
              <a:buAutoNum type="arabicPeriod"/>
            </a:pPr>
            <a:endParaRPr lang="ru-RU" altLang="ru-RU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07140968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ru-RU" altLang="ru-RU" sz="4000" b="1" u="sng" dirty="0"/>
              <a:t>Методы нулевого порядка</a:t>
            </a: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609600" indent="-609600" algn="ctr" eaLnBrk="1" hangingPunct="1">
              <a:buFontTx/>
              <a:buNone/>
            </a:pPr>
            <a:r>
              <a:rPr lang="ru-RU" alt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Метод Хука-</a:t>
            </a:r>
            <a:r>
              <a:rPr lang="ru-RU" altLang="ru-RU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Дживса</a:t>
            </a:r>
            <a:r>
              <a:rPr lang="ru-RU" alt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(Х-Д)</a:t>
            </a:r>
          </a:p>
        </p:txBody>
      </p:sp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850" y="2133600"/>
            <a:ext cx="8424863" cy="3743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77" name="Rectangle 5"/>
          <p:cNvSpPr>
            <a:spLocks noChangeArrowheads="1"/>
          </p:cNvSpPr>
          <p:nvPr/>
        </p:nvSpPr>
        <p:spPr bwMode="auto">
          <a:xfrm>
            <a:off x="323850" y="5805488"/>
            <a:ext cx="8496300" cy="9159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ru-RU" altLang="ru-RU"/>
              <a:t>Геометрическая интерпретация метода Хука-Дживса в случае двухпараметрической задачи</a:t>
            </a:r>
          </a:p>
          <a:p>
            <a:endParaRPr lang="ru-RU" altLang="ru-RU"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>
          <a:xfrm>
            <a:off x="468313" y="260350"/>
            <a:ext cx="8229600" cy="993775"/>
          </a:xfrm>
        </p:spPr>
        <p:txBody>
          <a:bodyPr/>
          <a:lstStyle/>
          <a:p>
            <a:pPr eaLnBrk="1" hangingPunct="1"/>
            <a:r>
              <a:rPr lang="ru-RU" altLang="ru-RU" sz="3200" b="1" dirty="0"/>
              <a:t>Метод Хука-</a:t>
            </a:r>
            <a:r>
              <a:rPr lang="ru-RU" altLang="ru-RU" sz="3200" b="1" dirty="0" err="1"/>
              <a:t>Дживса</a:t>
            </a:r>
            <a:r>
              <a:rPr lang="ru-RU" altLang="ru-RU" sz="3200" b="1" dirty="0"/>
              <a:t> (Х-Д)</a:t>
            </a:r>
            <a:br>
              <a:rPr lang="ru-RU" altLang="ru-RU" sz="3200" b="1" dirty="0"/>
            </a:br>
            <a:endParaRPr lang="ru-RU" altLang="ru-RU" sz="3200" dirty="0"/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68313" y="1052513"/>
            <a:ext cx="8229600" cy="5102225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ru-RU" altLang="ru-RU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Алгоритм:</a:t>
            </a:r>
            <a:r>
              <a:rPr lang="ru-RU" altLang="ru-RU" dirty="0"/>
              <a:t> </a:t>
            </a:r>
          </a:p>
          <a:p>
            <a:pPr eaLnBrk="1" hangingPunct="1">
              <a:buFontTx/>
              <a:buNone/>
            </a:pPr>
            <a:r>
              <a:rPr lang="ru-RU" altLang="ru-RU" sz="1800" b="1" i="1" dirty="0"/>
              <a:t>Ш.0.</a:t>
            </a:r>
            <a:r>
              <a:rPr lang="ru-RU" altLang="ru-RU" sz="1800" dirty="0"/>
              <a:t> </a:t>
            </a: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Выбор:</a:t>
            </a:r>
            <a:r>
              <a:rPr lang="ru-RU" altLang="ru-RU" sz="1800" dirty="0"/>
              <a:t>                   </a:t>
            </a: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(стартовая точка),             ,              (счётчик точек).</a:t>
            </a:r>
          </a:p>
        </p:txBody>
      </p:sp>
      <p:sp>
        <p:nvSpPr>
          <p:cNvPr id="4100" name="Rectangle 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graphicFrame>
        <p:nvGraphicFramePr>
          <p:cNvPr id="4101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78980613"/>
              </p:ext>
            </p:extLst>
          </p:nvPr>
        </p:nvGraphicFramePr>
        <p:xfrm>
          <a:off x="4932362" y="1628775"/>
          <a:ext cx="503238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8" name="Формула" r:id="rId3" imgW="279279" imgH="203112" progId="Equation.3">
                  <p:embed/>
                </p:oleObj>
              </mc:Choice>
              <mc:Fallback>
                <p:oleObj name="Формула" r:id="rId3" imgW="279279" imgH="203112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32362" y="1628775"/>
                        <a:ext cx="503238" cy="368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02" name="Rectangle 7"/>
          <p:cNvSpPr>
            <a:spLocks noChangeArrowheads="1"/>
          </p:cNvSpPr>
          <p:nvPr/>
        </p:nvSpPr>
        <p:spPr bwMode="auto">
          <a:xfrm>
            <a:off x="0" y="334486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graphicFrame>
        <p:nvGraphicFramePr>
          <p:cNvPr id="4103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58616283"/>
              </p:ext>
            </p:extLst>
          </p:nvPr>
        </p:nvGraphicFramePr>
        <p:xfrm>
          <a:off x="5615782" y="1637506"/>
          <a:ext cx="576262" cy="296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9" name="Формула" r:id="rId5" imgW="329771" imgH="177569" progId="Equation.3">
                  <p:embed/>
                </p:oleObj>
              </mc:Choice>
              <mc:Fallback>
                <p:oleObj name="Формула" r:id="rId5" imgW="329771" imgH="177569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15782" y="1637506"/>
                        <a:ext cx="576262" cy="2968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04" name="Rectangle 9"/>
          <p:cNvSpPr>
            <a:spLocks noChangeArrowheads="1"/>
          </p:cNvSpPr>
          <p:nvPr/>
        </p:nvSpPr>
        <p:spPr bwMode="auto">
          <a:xfrm>
            <a:off x="0" y="33147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graphicFrame>
        <p:nvGraphicFramePr>
          <p:cNvPr id="4105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36961444"/>
              </p:ext>
            </p:extLst>
          </p:nvPr>
        </p:nvGraphicFramePr>
        <p:xfrm>
          <a:off x="1803400" y="1594318"/>
          <a:ext cx="1223963" cy="352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0" name="Формула" r:id="rId7" imgW="800100" imgH="228600" progId="Equation.3">
                  <p:embed/>
                </p:oleObj>
              </mc:Choice>
              <mc:Fallback>
                <p:oleObj name="Формула" r:id="rId7" imgW="800100" imgH="22860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03400" y="1594318"/>
                        <a:ext cx="1223963" cy="352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06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86428296"/>
              </p:ext>
            </p:extLst>
          </p:nvPr>
        </p:nvGraphicFramePr>
        <p:xfrm>
          <a:off x="7889875" y="1822450"/>
          <a:ext cx="647700" cy="377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1" name="Формула" r:id="rId9" imgW="482810" imgH="228699" progId="Equation.3">
                  <p:embed/>
                </p:oleObj>
              </mc:Choice>
              <mc:Fallback>
                <p:oleObj name="Формула" r:id="rId9" imgW="482810" imgH="228699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89875" y="1822450"/>
                        <a:ext cx="647700" cy="377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07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86576176"/>
              </p:ext>
            </p:extLst>
          </p:nvPr>
        </p:nvGraphicFramePr>
        <p:xfrm>
          <a:off x="4895183" y="2060576"/>
          <a:ext cx="1008063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2" name="Формула" r:id="rId11" imgW="711509" imgH="254110" progId="Equation.3">
                  <p:embed/>
                </p:oleObj>
              </mc:Choice>
              <mc:Fallback>
                <p:oleObj name="Формула" r:id="rId11" imgW="711509" imgH="254110" progId="Equation.3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95183" y="2060576"/>
                        <a:ext cx="1008063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08" name="Object 10"/>
          <p:cNvGraphicFramePr>
            <a:graphicFrameLocks noChangeAspect="1"/>
          </p:cNvGraphicFramePr>
          <p:nvPr/>
        </p:nvGraphicFramePr>
        <p:xfrm>
          <a:off x="7019925" y="2060575"/>
          <a:ext cx="304800" cy="360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3" name="Формула" r:id="rId13" imgW="177415" imgH="202760" progId="Equation.3">
                  <p:embed/>
                </p:oleObj>
              </mc:Choice>
              <mc:Fallback>
                <p:oleObj name="Формула" r:id="rId13" imgW="177415" imgH="202760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19925" y="2060575"/>
                        <a:ext cx="304800" cy="3603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09" name="Rectangle 13"/>
          <p:cNvSpPr>
            <a:spLocks noChangeArrowheads="1"/>
          </p:cNvSpPr>
          <p:nvPr/>
        </p:nvSpPr>
        <p:spPr bwMode="auto">
          <a:xfrm>
            <a:off x="395288" y="1844675"/>
            <a:ext cx="820737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b="1" i="1" dirty="0">
                <a:latin typeface="Arial" panose="020B0604020202020204" pitchFamily="34" charset="0"/>
              </a:rPr>
              <a:t>Ш.1.</a:t>
            </a:r>
            <a:r>
              <a:rPr lang="ru-RU" altLang="ru-RU" dirty="0">
                <a:latin typeface="Arial" panose="020B0604020202020204" pitchFamily="34" charset="0"/>
              </a:rPr>
              <a:t> </a:t>
            </a:r>
            <a:r>
              <a:rPr lang="ru-RU" altLang="ru-RU" dirty="0">
                <a:cs typeface="Times New Roman" panose="02020603050405020304" pitchFamily="18" charset="0"/>
              </a:rPr>
              <a:t>Выполняется покоординатный спуск – однократный проход: от точки </a:t>
            </a:r>
          </a:p>
        </p:txBody>
      </p:sp>
      <p:sp>
        <p:nvSpPr>
          <p:cNvPr id="4110" name="Rectangle 14"/>
          <p:cNvSpPr>
            <a:spLocks noChangeArrowheads="1"/>
          </p:cNvSpPr>
          <p:nvPr/>
        </p:nvSpPr>
        <p:spPr bwMode="auto">
          <a:xfrm>
            <a:off x="1187450" y="2074863"/>
            <a:ext cx="4105275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sz="1200" dirty="0">
                <a:latin typeface="Arial" panose="020B0604020202020204" pitchFamily="34" charset="0"/>
              </a:rPr>
              <a:t> </a:t>
            </a:r>
            <a:r>
              <a:rPr lang="ru-RU" altLang="ru-RU" dirty="0">
                <a:cs typeface="Times New Roman" panose="02020603050405020304" pitchFamily="18" charset="0"/>
              </a:rPr>
              <a:t>поочередно по каждой координате </a:t>
            </a:r>
          </a:p>
        </p:txBody>
      </p:sp>
      <p:sp>
        <p:nvSpPr>
          <p:cNvPr id="4111" name="Rectangle 15"/>
          <p:cNvSpPr>
            <a:spLocks noChangeArrowheads="1"/>
          </p:cNvSpPr>
          <p:nvPr/>
        </p:nvSpPr>
        <p:spPr bwMode="auto">
          <a:xfrm>
            <a:off x="6156325" y="2058958"/>
            <a:ext cx="989053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sz="1200" dirty="0">
                <a:cs typeface="Times New Roman" panose="02020603050405020304" pitchFamily="18" charset="0"/>
              </a:rPr>
              <a:t> </a:t>
            </a:r>
            <a:r>
              <a:rPr lang="ru-RU" altLang="ru-RU" dirty="0">
                <a:cs typeface="Times New Roman" panose="02020603050405020304" pitchFamily="18" charset="0"/>
              </a:rPr>
              <a:t>к точке</a:t>
            </a:r>
            <a:r>
              <a:rPr lang="ru-RU" altLang="ru-RU" sz="2000" dirty="0"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4112" name="Rectangle 16"/>
          <p:cNvSpPr>
            <a:spLocks noChangeArrowheads="1"/>
          </p:cNvSpPr>
          <p:nvPr/>
        </p:nvSpPr>
        <p:spPr bwMode="auto">
          <a:xfrm>
            <a:off x="1171575" y="4051300"/>
            <a:ext cx="227013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sz="1200">
                <a:latin typeface="Arial" panose="020B0604020202020204" pitchFamily="34" charset="0"/>
              </a:rPr>
              <a:t>.</a:t>
            </a:r>
            <a:endParaRPr lang="ru-RU" altLang="ru-RU">
              <a:latin typeface="Arial" panose="020B0604020202020204" pitchFamily="34" charset="0"/>
            </a:endParaRPr>
          </a:p>
        </p:txBody>
      </p:sp>
      <p:sp>
        <p:nvSpPr>
          <p:cNvPr id="4113" name="Rectangle 17"/>
          <p:cNvSpPr>
            <a:spLocks noChangeArrowheads="1"/>
          </p:cNvSpPr>
          <p:nvPr/>
        </p:nvSpPr>
        <p:spPr bwMode="auto">
          <a:xfrm>
            <a:off x="395288" y="2349500"/>
            <a:ext cx="5100637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b="1" i="1"/>
              <a:t>Ш.2.</a:t>
            </a:r>
            <a:r>
              <a:rPr lang="ru-RU" altLang="ru-RU"/>
              <a:t> Осуществляется движение «по образцу»:</a:t>
            </a:r>
          </a:p>
        </p:txBody>
      </p:sp>
      <p:sp>
        <p:nvSpPr>
          <p:cNvPr id="4114" name="Rectangle 19"/>
          <p:cNvSpPr>
            <a:spLocks noChangeArrowheads="1"/>
          </p:cNvSpPr>
          <p:nvPr/>
        </p:nvSpPr>
        <p:spPr bwMode="auto">
          <a:xfrm>
            <a:off x="0" y="33147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graphicFrame>
        <p:nvGraphicFramePr>
          <p:cNvPr id="4115" name="Object 1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32761291"/>
              </p:ext>
            </p:extLst>
          </p:nvPr>
        </p:nvGraphicFramePr>
        <p:xfrm>
          <a:off x="5124291" y="2416175"/>
          <a:ext cx="3024188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4" name="Формула" r:id="rId15" imgW="2273300" imgH="228600" progId="Equation.3">
                  <p:embed/>
                </p:oleObj>
              </mc:Choice>
              <mc:Fallback>
                <p:oleObj name="Формула" r:id="rId15" imgW="2273300" imgH="228600" progId="Equation.3">
                  <p:embed/>
                  <p:pic>
                    <p:nvPicPr>
                      <p:cNvPr id="0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24291" y="2416175"/>
                        <a:ext cx="3024188" cy="304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16" name="Rectangle 21"/>
          <p:cNvSpPr>
            <a:spLocks noChangeArrowheads="1"/>
          </p:cNvSpPr>
          <p:nvPr/>
        </p:nvSpPr>
        <p:spPr bwMode="auto">
          <a:xfrm>
            <a:off x="0" y="33147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graphicFrame>
        <p:nvGraphicFramePr>
          <p:cNvPr id="4117" name="Object 20"/>
          <p:cNvGraphicFramePr>
            <a:graphicFrameLocks noChangeAspect="1"/>
          </p:cNvGraphicFramePr>
          <p:nvPr/>
        </p:nvGraphicFramePr>
        <p:xfrm>
          <a:off x="468313" y="2690813"/>
          <a:ext cx="2951162" cy="3190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5" name="Формула" r:id="rId17" imgW="2108200" imgH="228600" progId="Equation.3">
                  <p:embed/>
                </p:oleObj>
              </mc:Choice>
              <mc:Fallback>
                <p:oleObj name="Формула" r:id="rId17" imgW="2108200" imgH="228600" progId="Equation.3">
                  <p:embed/>
                  <p:pic>
                    <p:nvPicPr>
                      <p:cNvPr id="0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8313" y="2690813"/>
                        <a:ext cx="2951162" cy="3190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18" name="Rectangle 22"/>
          <p:cNvSpPr>
            <a:spLocks noChangeArrowheads="1"/>
          </p:cNvSpPr>
          <p:nvPr/>
        </p:nvSpPr>
        <p:spPr bwMode="auto">
          <a:xfrm>
            <a:off x="395288" y="2924175"/>
            <a:ext cx="302577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b="1" i="1" u="sng"/>
              <a:t>Ш3.</a:t>
            </a:r>
            <a:r>
              <a:rPr lang="ru-RU" altLang="ru-RU"/>
              <a:t> Проверка сходимости:</a:t>
            </a:r>
          </a:p>
        </p:txBody>
      </p:sp>
      <p:graphicFrame>
        <p:nvGraphicFramePr>
          <p:cNvPr id="4119" name="Object 25"/>
          <p:cNvGraphicFramePr>
            <a:graphicFrameLocks noChangeAspect="1"/>
          </p:cNvGraphicFramePr>
          <p:nvPr/>
        </p:nvGraphicFramePr>
        <p:xfrm>
          <a:off x="1547813" y="3284538"/>
          <a:ext cx="3455987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6" name="Формула" r:id="rId19" imgW="2743200" imgH="279400" progId="Equation.3">
                  <p:embed/>
                </p:oleObj>
              </mc:Choice>
              <mc:Fallback>
                <p:oleObj name="Формула" r:id="rId19" imgW="2743200" imgH="279400" progId="Equation.3">
                  <p:embed/>
                  <p:pic>
                    <p:nvPicPr>
                      <p:cNvPr id="0" name="Object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47813" y="3284538"/>
                        <a:ext cx="3455987" cy="355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20" name="Object 24"/>
          <p:cNvGraphicFramePr>
            <a:graphicFrameLocks noChangeAspect="1"/>
          </p:cNvGraphicFramePr>
          <p:nvPr/>
        </p:nvGraphicFramePr>
        <p:xfrm>
          <a:off x="5508625" y="3279775"/>
          <a:ext cx="1584325" cy="306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7" name="Формула" r:id="rId21" imgW="1181100" imgH="228600" progId="Equation.3">
                  <p:embed/>
                </p:oleObj>
              </mc:Choice>
              <mc:Fallback>
                <p:oleObj name="Формула" r:id="rId21" imgW="1181100" imgH="228600" progId="Equation.3">
                  <p:embed/>
                  <p:pic>
                    <p:nvPicPr>
                      <p:cNvPr id="0" name="Object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08625" y="3279775"/>
                        <a:ext cx="1584325" cy="3063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21" name="Object 2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98461017"/>
              </p:ext>
            </p:extLst>
          </p:nvPr>
        </p:nvGraphicFramePr>
        <p:xfrm>
          <a:off x="1083088" y="3745705"/>
          <a:ext cx="4824412" cy="347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8" name="Формула" r:id="rId23" imgW="3175000" imgH="228600" progId="Equation.3">
                  <p:embed/>
                </p:oleObj>
              </mc:Choice>
              <mc:Fallback>
                <p:oleObj name="Формула" r:id="rId23" imgW="3175000" imgH="228600" progId="Equation.3">
                  <p:embed/>
                  <p:pic>
                    <p:nvPicPr>
                      <p:cNvPr id="0" name="Object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83088" y="3745705"/>
                        <a:ext cx="4824412" cy="3476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22" name="Rectangle 26"/>
          <p:cNvSpPr>
            <a:spLocks noChangeArrowheads="1"/>
          </p:cNvSpPr>
          <p:nvPr/>
        </p:nvSpPr>
        <p:spPr bwMode="auto">
          <a:xfrm>
            <a:off x="971550" y="3238500"/>
            <a:ext cx="8318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dirty="0">
                <a:cs typeface="Times New Roman" panose="02020603050405020304" pitchFamily="18" charset="0"/>
              </a:rPr>
              <a:t>Если</a:t>
            </a:r>
            <a:r>
              <a:rPr lang="ru-RU" altLang="ru-RU" dirty="0">
                <a:latin typeface="Arial" panose="020B0604020202020204" pitchFamily="34" charset="0"/>
                <a:cs typeface="Times New Roman" panose="02020603050405020304" pitchFamily="18" charset="0"/>
              </a:rPr>
              <a:t>  </a:t>
            </a:r>
            <a:r>
              <a:rPr lang="ru-RU" altLang="ru-RU" sz="1200" dirty="0">
                <a:latin typeface="Arial" panose="020B0604020202020204" pitchFamily="34" charset="0"/>
                <a:cs typeface="Times New Roman" panose="02020603050405020304" pitchFamily="18" charset="0"/>
              </a:rPr>
              <a:t> </a:t>
            </a:r>
            <a:endParaRPr lang="ru-RU" altLang="ru-RU" dirty="0">
              <a:latin typeface="Arial" panose="020B0604020202020204" pitchFamily="34" charset="0"/>
            </a:endParaRPr>
          </a:p>
        </p:txBody>
      </p:sp>
      <p:sp>
        <p:nvSpPr>
          <p:cNvPr id="4123" name="Rectangle 27"/>
          <p:cNvSpPr>
            <a:spLocks noChangeArrowheads="1"/>
          </p:cNvSpPr>
          <p:nvPr/>
        </p:nvSpPr>
        <p:spPr bwMode="auto">
          <a:xfrm>
            <a:off x="4932363" y="3238500"/>
            <a:ext cx="6540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sz="1200">
                <a:latin typeface="Arial" panose="020B0604020202020204" pitchFamily="34" charset="0"/>
                <a:cs typeface="Times New Roman" panose="02020603050405020304" pitchFamily="18" charset="0"/>
              </a:rPr>
              <a:t>  </a:t>
            </a:r>
            <a:r>
              <a:rPr lang="ru-RU" altLang="ru-RU">
                <a:latin typeface="Arial" panose="020B0604020202020204" pitchFamily="34" charset="0"/>
                <a:cs typeface="Times New Roman" panose="02020603050405020304" pitchFamily="18" charset="0"/>
              </a:rPr>
              <a:t>, то</a:t>
            </a:r>
            <a:r>
              <a:rPr lang="ru-RU" altLang="ru-RU" sz="1200">
                <a:latin typeface="Arial" panose="020B0604020202020204" pitchFamily="34" charset="0"/>
                <a:cs typeface="Times New Roman" panose="02020603050405020304" pitchFamily="18" charset="0"/>
              </a:rPr>
              <a:t> </a:t>
            </a:r>
            <a:endParaRPr lang="ru-RU" altLang="ru-RU">
              <a:latin typeface="Arial" panose="020B0604020202020204" pitchFamily="34" charset="0"/>
            </a:endParaRPr>
          </a:p>
        </p:txBody>
      </p:sp>
      <p:sp>
        <p:nvSpPr>
          <p:cNvPr id="4124" name="Rectangle 28"/>
          <p:cNvSpPr>
            <a:spLocks noChangeArrowheads="1"/>
          </p:cNvSpPr>
          <p:nvPr/>
        </p:nvSpPr>
        <p:spPr bwMode="auto">
          <a:xfrm>
            <a:off x="1979613" y="378936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187624" y="476672"/>
            <a:ext cx="6858000" cy="781754"/>
          </a:xfrm>
        </p:spPr>
        <p:txBody>
          <a:bodyPr>
            <a:normAutofit/>
          </a:bodyPr>
          <a:lstStyle/>
          <a:p>
            <a:r>
              <a:rPr lang="ru-RU" sz="4000" b="1" dirty="0">
                <a:latin typeface="+mn-lt"/>
                <a:ea typeface="Verdana" panose="020B0604030504040204" pitchFamily="34" charset="0"/>
              </a:rPr>
              <a:t>Метод </a:t>
            </a:r>
            <a:r>
              <a:rPr lang="ru-RU" sz="4000" b="1" dirty="0" err="1">
                <a:latin typeface="+mn-lt"/>
                <a:ea typeface="Verdana" panose="020B0604030504040204" pitchFamily="34" charset="0"/>
              </a:rPr>
              <a:t>Розенброка</a:t>
            </a:r>
            <a:r>
              <a:rPr lang="ru-RU" sz="4000" b="1" dirty="0">
                <a:latin typeface="+mn-lt"/>
                <a:ea typeface="Verdana" panose="020B0604030504040204" pitchFamily="34" charset="0"/>
              </a:rPr>
              <a:t>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Подзаголовок 2"/>
              <p:cNvSpPr>
                <a:spLocks noGrp="1"/>
              </p:cNvSpPr>
              <p:nvPr>
                <p:ph type="subTitle" idx="1"/>
              </p:nvPr>
            </p:nvSpPr>
            <p:spPr>
              <a:xfrm>
                <a:off x="683568" y="1484784"/>
                <a:ext cx="6858000" cy="4896544"/>
              </a:xfrm>
            </p:spPr>
            <p:txBody>
              <a:bodyPr>
                <a:normAutofit fontScale="70000" lnSpcReduction="20000"/>
              </a:bodyPr>
              <a:lstStyle/>
              <a:p>
                <a:r>
                  <a:rPr lang="ru-RU" sz="4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:r>
                  <a:rPr lang="ru-RU" sz="4600" b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Девиса</a:t>
                </a:r>
                <a:r>
                  <a:rPr lang="ru-RU" sz="4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-Свена-</a:t>
                </a:r>
                <a:r>
                  <a:rPr lang="ru-RU" sz="4600" b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Кемпи</a:t>
                </a:r>
                <a:r>
                  <a:rPr lang="ru-RU" sz="4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  <a:p>
                <a:pPr algn="just"/>
                <a:r>
                  <a:rPr lang="ru-RU" sz="29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Метод основан на итеративном построении последовательности шагов путём задания ортогональных направлений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290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lang="en-US" sz="290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𝑑</m:t>
                        </m:r>
                        <m:r>
                          <m:rPr>
                            <m:nor/>
                          </m:rPr>
                          <a:rPr lang="ru-RU" sz="2900" i="1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 </m:t>
                        </m:r>
                      </m:e>
                      <m:sub>
                        <m:r>
                          <a:rPr lang="en-US" sz="29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𝑙</m:t>
                        </m:r>
                      </m:sub>
                      <m:sup>
                        <m:r>
                          <a:rPr lang="en-US" sz="29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𝑘</m:t>
                        </m:r>
                      </m:sup>
                    </m:sSubSup>
                    <m:r>
                      <a:rPr lang="ru-RU" sz="2900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 где </m:t>
                    </m:r>
                    <m:r>
                      <a:rPr lang="en-US" sz="2900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𝑘</m:t>
                    </m:r>
                    <m:r>
                      <a:rPr lang="en-US" sz="2900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−индексы внешних итераци</m:t>
                    </m:r>
                    <m:r>
                      <a:rPr lang="ru-RU" sz="2900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й, </m:t>
                    </m:r>
                    <m:r>
                      <a:rPr lang="ru-RU" sz="2900" b="0" i="0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а</m:t>
                    </m:r>
                  </m:oMath>
                </a14:m>
                <a:r>
                  <a:rPr lang="ru-RU" sz="29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900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𝑙</m:t>
                    </m:r>
                    <m:r>
                      <a:rPr lang="en-US" sz="2900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индексы внутренних итера</m:t>
                    </m:r>
                    <m:r>
                      <a:rPr lang="ru-RU" sz="2900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ций. </m:t>
                    </m:r>
                  </m:oMath>
                </a14:m>
                <a:endParaRPr lang="ru-RU" sz="2900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/>
                <a:r>
                  <a:rPr lang="ru-RU" sz="29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Задается начальная точка. Из неё осуществляется итеративный поиск направления убывания функции с помощью изменяемых дискретных шагов вдоль </a:t>
                </a:r>
                <a14:m>
                  <m:oMath xmlns:m="http://schemas.openxmlformats.org/officeDocument/2006/math">
                    <m:r>
                      <a:rPr lang="en-US" sz="29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𝑛</m:t>
                    </m:r>
                  </m:oMath>
                </a14:m>
                <a:r>
                  <a:rPr lang="en-US" sz="29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ru-RU" sz="29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линейных независимых и ортогональных направлений. Поиск в системе текущих направлений проводится до тех пор, пока все возможности уменьшения функции не будут исчерпаны. Если по каждому направлению поиска имеет место неудача, строится новое множество линейно независимых и ортогональных направлений и циклический поиск по отдельным направлениям продолжается. Новые направления поворачиваются по отношению к предыдущим так, чтобы они оказывались вытянутыми вдоль оврага. </a:t>
                </a:r>
              </a:p>
            </p:txBody>
          </p:sp>
        </mc:Choice>
        <mc:Fallback xmlns="">
          <p:sp>
            <p:nvSpPr>
              <p:cNvPr id="3" name="Подзаголовок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subTitle" idx="1"/>
              </p:nvPr>
            </p:nvSpPr>
            <p:spPr>
              <a:xfrm>
                <a:off x="683568" y="1484784"/>
                <a:ext cx="6858000" cy="4896544"/>
              </a:xfrm>
              <a:blipFill>
                <a:blip r:embed="rId2"/>
                <a:stretch>
                  <a:fillRect l="-889" t="-3736" r="-978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2529255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00100" y="260648"/>
            <a:ext cx="7886700" cy="909004"/>
          </a:xfrm>
        </p:spPr>
        <p:txBody>
          <a:bodyPr>
            <a:normAutofit fontScale="90000"/>
          </a:bodyPr>
          <a:lstStyle/>
          <a:p>
            <a:pPr algn="ctr"/>
            <a:br>
              <a:rPr lang="ru-RU" b="1" dirty="0">
                <a:latin typeface="+mn-lt"/>
                <a:ea typeface="Verdana" panose="020B0604030504040204" pitchFamily="34" charset="0"/>
              </a:rPr>
            </a:br>
            <a:r>
              <a:rPr lang="ru-RU" b="1" dirty="0">
                <a:latin typeface="+mn-lt"/>
                <a:ea typeface="Verdana" panose="020B0604030504040204" pitchFamily="34" charset="0"/>
              </a:rPr>
              <a:t>Метод </a:t>
            </a:r>
            <a:r>
              <a:rPr lang="ru-RU" b="1" dirty="0" err="1">
                <a:latin typeface="+mn-lt"/>
                <a:ea typeface="Verdana" panose="020B0604030504040204" pitchFamily="34" charset="0"/>
              </a:rPr>
              <a:t>Розенброка</a:t>
            </a:r>
            <a:br>
              <a:rPr lang="ru-RU" b="1" dirty="0">
                <a:ea typeface="Verdana" panose="020B0604030504040204" pitchFamily="34" charset="0"/>
              </a:rPr>
            </a:br>
            <a:r>
              <a:rPr lang="ru-RU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ru-RU" sz="3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Девиса</a:t>
            </a:r>
            <a:r>
              <a:rPr lang="ru-RU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-Свена-</a:t>
            </a:r>
            <a:r>
              <a:rPr lang="ru-RU" sz="3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Кемпи</a:t>
            </a:r>
            <a:r>
              <a:rPr lang="ru-RU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br>
              <a:rPr lang="ru-RU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b="1" dirty="0">
                <a:ea typeface="Verdana" panose="020B0604030504040204" pitchFamily="34" charset="0"/>
              </a:rPr>
              <a:t> </a:t>
            </a:r>
            <a:endParaRPr lang="ru-R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>
              <a:xfrm>
                <a:off x="323528" y="1600201"/>
                <a:ext cx="8363272" cy="4205064"/>
              </a:xfrm>
            </p:spPr>
            <p:txBody>
              <a:bodyPr>
                <a:normAutofit fontScale="70000" lnSpcReduction="20000"/>
              </a:bodyPr>
              <a:lstStyle/>
              <a:p>
                <a:pPr marL="0" indent="0">
                  <a:buNone/>
                </a:pPr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Определим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ru-RU" b="0" i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век</m:t>
                    </m:r>
                  </m:oMath>
                </a14:m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торов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𝐴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 </m:t>
                    </m:r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𝐴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,…,</m:t>
                    </m:r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𝐴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</m:sub>
                    </m:sSub>
                    <m:r>
                      <a:rPr lang="en-US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следующим образом: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𝐴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𝑘</m:t>
                        </m:r>
                      </m:sup>
                    </m:sSubSup>
                  </m:oMath>
                </a14:m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𝛼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  <m:sup>
                        <m:r>
                          <a:rPr lang="en-US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𝑘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∗</m:t>
                        </m:r>
                      </m:sup>
                    </m:sSubSup>
                    <m:sSubSup>
                      <m:sSubSupPr>
                        <m:ctrlPr>
                          <a:rPr lang="en-US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𝑑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  <m:sup>
                        <m:r>
                          <a:rPr lang="en-US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𝑘</m:t>
                        </m:r>
                      </m:sup>
                    </m:sSubSup>
                  </m:oMath>
                </a14:m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+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𝛼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  <m:sup>
                        <m:r>
                          <a:rPr lang="en-US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𝑘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∗</m:t>
                        </m:r>
                      </m:sup>
                    </m:sSubSup>
                    <m:sSubSup>
                      <m:sSubSupPr>
                        <m:ctrlPr>
                          <a:rPr lang="en-US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𝑑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  <m:sup>
                        <m:r>
                          <a:rPr lang="en-US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𝑘</m:t>
                        </m:r>
                      </m:sup>
                    </m:sSubSup>
                  </m:oMath>
                </a14:m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+…+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𝛼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</m:sub>
                      <m:sup>
                        <m:r>
                          <a:rPr lang="en-US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𝑘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∗</m:t>
                        </m:r>
                      </m:sup>
                    </m:sSubSup>
                    <m:sSubSup>
                      <m:sSubSupPr>
                        <m:ctrlPr>
                          <a:rPr lang="en-US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𝑑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</m:sub>
                      <m:sup>
                        <m:r>
                          <a:rPr lang="en-US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𝑘</m:t>
                        </m:r>
                      </m:sup>
                    </m:sSubSup>
                  </m:oMath>
                </a14:m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𝐴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𝑘</m:t>
                        </m:r>
                      </m:sup>
                    </m:sSubSup>
                  </m:oMath>
                </a14:m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            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𝛼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  <m:sup>
                        <m:r>
                          <a:rPr lang="en-US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𝑘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∗</m:t>
                        </m:r>
                      </m:sup>
                    </m:sSubSup>
                    <m:sSubSup>
                      <m:sSubSupPr>
                        <m:ctrlPr>
                          <a:rPr lang="en-US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𝑑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  <m:sup>
                        <m:r>
                          <a:rPr lang="en-US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𝑘</m:t>
                        </m:r>
                      </m:sup>
                    </m:sSubSup>
                  </m:oMath>
                </a14:m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+…+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𝛼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</m:sub>
                      <m:sup>
                        <m:r>
                          <a:rPr lang="en-US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𝑘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∗</m:t>
                        </m:r>
                      </m:sup>
                    </m:sSubSup>
                    <m:sSubSup>
                      <m:sSubSupPr>
                        <m:ctrlPr>
                          <a:rPr lang="en-US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𝑑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</m:sub>
                      <m:sup>
                        <m:r>
                          <a:rPr lang="en-US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𝑘</m:t>
                        </m:r>
                      </m:sup>
                    </m:sSubSup>
                  </m:oMath>
                </a14:m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</a:t>
                </a:r>
              </a:p>
              <a:p>
                <a:pPr marL="0" indent="0">
                  <a:buNone/>
                </a:pP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………………………………. ,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𝐴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𝑘</m:t>
                        </m:r>
                      </m:sup>
                    </m:sSubSup>
                  </m:oMath>
                </a14:m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             </a:t>
                </a:r>
                <a14:m>
                  <m:oMath xmlns:m="http://schemas.openxmlformats.org/officeDocument/2006/math">
                    <m:r>
                      <a:rPr lang="en-US" b="0" i="0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                       </m:t>
                    </m:r>
                    <m:sSubSup>
                      <m:sSubSupPr>
                        <m:ctrlPr>
                          <a:rPr lang="en-US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𝛼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</m:sub>
                      <m:sup>
                        <m:r>
                          <a:rPr lang="en-US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𝑘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∗</m:t>
                        </m:r>
                      </m:sup>
                    </m:sSubSup>
                    <m:sSubSup>
                      <m:sSubSupPr>
                        <m:ctrlPr>
                          <a:rPr lang="en-US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𝑑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</m:sub>
                      <m:sup>
                        <m:r>
                          <a:rPr lang="en-US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𝑘</m:t>
                        </m:r>
                      </m:sup>
                    </m:sSubSup>
                  </m:oMath>
                </a14:m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marL="0" indent="0">
                  <a:buNone/>
                </a:pPr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Таким образом 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𝐴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𝑘</m:t>
                        </m:r>
                      </m:sup>
                    </m:sSubSup>
                  </m:oMath>
                </a14:m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является вектором перехода из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0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𝑘</m:t>
                        </m:r>
                      </m:sup>
                    </m:sSubSup>
                  </m:oMath>
                </a14:m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в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0</m:t>
                        </m:r>
                      </m:sub>
                      <m:sup>
                        <m:r>
                          <a:rPr lang="en-US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𝑘</m:t>
                        </m:r>
                        <m:r>
                          <a:rPr lang="ru-RU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+1</m:t>
                        </m:r>
                      </m:sup>
                    </m:sSubSup>
                    <m:r>
                      <a:rPr lang="en-US" b="0" i="0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ru-RU" b="0" i="0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и</m:t>
                    </m:r>
                  </m:oMath>
                </a14:m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т.д.</a:t>
                </a:r>
              </a:p>
              <a:p>
                <a:pPr marL="0" indent="0">
                  <a:buNone/>
                </a:pPr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Первый единичный вектор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𝑑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𝑘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+1</m:t>
                        </m:r>
                      </m:sup>
                    </m:sSubSup>
                    <m:r>
                      <a:rPr lang="en-US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ru-RU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из нового набора </m:t>
                    </m:r>
                  </m:oMath>
                </a14:m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на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𝑘</m:t>
                    </m:r>
                    <m:r>
                      <a:rPr lang="en-US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+1</m:t>
                    </m:r>
                    <m:r>
                      <a:rPr lang="en-US" b="0" i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 </m:t>
                    </m:r>
                  </m:oMath>
                </a14:m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этапе направляется так, чтобы он совпадал с направлением результирующего перемещения на предыдущем этапе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𝐴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𝑘</m:t>
                        </m:r>
                      </m:sup>
                    </m:sSubSup>
                  </m:oMath>
                </a14:m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 Остальные направления поиска строятся взаимно ортогонально к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𝐴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𝑘</m:t>
                        </m:r>
                      </m:sup>
                    </m:sSubSup>
                  </m:oMath>
                </a14:m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с помощью метода </a:t>
                </a:r>
                <a:r>
                  <a:rPr lang="ru-RU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Грама</a:t>
                </a:r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-Шмидта.</a:t>
                </a:r>
              </a:p>
              <a:p>
                <a:pPr marL="0" indent="0">
                  <a:buNone/>
                </a:pPr>
                <a:endParaRPr lang="ru-RU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23528" y="1600201"/>
                <a:ext cx="8363272" cy="4205064"/>
              </a:xfrm>
              <a:blipFill>
                <a:blip r:embed="rId2"/>
                <a:stretch>
                  <a:fillRect l="-948" t="-2612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0488021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br>
              <a:rPr lang="ru-RU" b="1" dirty="0">
                <a:latin typeface="+mn-lt"/>
                <a:ea typeface="Verdana" panose="020B0604030504040204" pitchFamily="34" charset="0"/>
              </a:rPr>
            </a:br>
            <a:r>
              <a:rPr lang="ru-RU" b="1" dirty="0">
                <a:latin typeface="+mn-lt"/>
                <a:ea typeface="Verdana" panose="020B0604030504040204" pitchFamily="34" charset="0"/>
              </a:rPr>
              <a:t>Метод </a:t>
            </a:r>
            <a:r>
              <a:rPr lang="ru-RU" b="1" dirty="0" err="1">
                <a:latin typeface="+mn-lt"/>
                <a:ea typeface="Verdana" panose="020B0604030504040204" pitchFamily="34" charset="0"/>
              </a:rPr>
              <a:t>Розенброка</a:t>
            </a:r>
            <a:br>
              <a:rPr lang="ru-RU" b="1" dirty="0">
                <a:ea typeface="Verdana" panose="020B0604030504040204" pitchFamily="34" charset="0"/>
              </a:rPr>
            </a:br>
            <a:r>
              <a:rPr lang="ru-RU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ru-RU" sz="3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Девиса</a:t>
            </a:r>
            <a:r>
              <a:rPr lang="ru-RU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-Свена-</a:t>
            </a:r>
            <a:r>
              <a:rPr lang="ru-RU" sz="3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Кемпи</a:t>
            </a:r>
            <a:r>
              <a:rPr lang="ru-RU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br>
              <a:rPr lang="ru-RU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Ортогонализация </a:t>
            </a:r>
            <a:r>
              <a:rPr lang="ru-RU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Грама</a:t>
            </a:r>
            <a:r>
              <a:rPr lang="ru-RU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-Шмидта</a:t>
            </a:r>
            <a:endParaRPr lang="ru-RU" sz="3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2204864"/>
                <a:ext cx="8229600" cy="4032447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ru-RU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Таким образом, набор ортонормированных векторов </a:t>
                </a:r>
                <a14:m>
                  <m:oMath xmlns:m="http://schemas.openxmlformats.org/officeDocument/2006/math">
                    <m:r>
                      <a:rPr lang="ru-RU" sz="20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endParaRPr lang="en-US" sz="2000" i="1" dirty="0">
                  <a:latin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lang="en-US" sz="20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lang="en-US" sz="20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𝑑</m:t>
                        </m:r>
                      </m:e>
                      <m:sub>
                        <m:r>
                          <a:rPr lang="en-US" sz="20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  <m:sup>
                        <m:r>
                          <a:rPr lang="en-US" sz="20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𝑘</m:t>
                        </m:r>
                        <m:r>
                          <a:rPr lang="en-US" sz="20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+1</m:t>
                        </m:r>
                      </m:sup>
                    </m:sSubSup>
                    <m:r>
                      <a:rPr lang="en-US" sz="2000" i="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,…,</m:t>
                    </m:r>
                  </m:oMath>
                </a14:m>
                <a:r>
                  <a:rPr lang="en-US" sz="2000" dirty="0"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20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lang="en-US" sz="20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𝑑</m:t>
                        </m:r>
                      </m:e>
                      <m:sub>
                        <m:r>
                          <a:rPr lang="en-US" sz="20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</m:sub>
                      <m:sup>
                        <m:r>
                          <a:rPr lang="en-US" sz="20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𝑘</m:t>
                        </m:r>
                        <m:r>
                          <a:rPr lang="en-US" sz="20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+1</m:t>
                        </m:r>
                      </m:sup>
                    </m:sSubSup>
                    <m:r>
                      <a:rPr lang="en-US" sz="2000" i="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ru-RU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на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ru-RU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𝑘</m:t>
                        </m:r>
                        <m:r>
                          <a:rPr lang="en-US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+1</m:t>
                        </m:r>
                      </m:e>
                    </m:d>
                    <m:r>
                      <a:rPr lang="en-US" sz="2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 </m:t>
                    </m:r>
                  </m:oMath>
                </a14:m>
                <a:r>
                  <a:rPr lang="ru-RU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этапе вычисляется следующим образом: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lang="en-US" sz="20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lang="en-US" sz="20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𝑑</m:t>
                        </m:r>
                      </m:e>
                      <m:sub>
                        <m:r>
                          <a:rPr lang="en-US" sz="20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  <m:sup>
                        <m:r>
                          <a:rPr lang="en-US" sz="20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𝑘</m:t>
                        </m:r>
                        <m:r>
                          <a:rPr lang="en-US" sz="20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+1</m:t>
                        </m:r>
                      </m:sup>
                    </m:sSubSup>
                    <m:r>
                      <a:rPr lang="ru-RU" sz="2000" i="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ru-RU" sz="20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sSubSup>
                          <m:sSubSupPr>
                            <m:ctrlPr>
                              <a:rPr lang="en-US" sz="20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SupPr>
                          <m:e>
                            <m:r>
                              <a:rPr lang="en-US" sz="20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US" sz="20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US" sz="20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𝑘</m:t>
                            </m:r>
                          </m:sup>
                        </m:sSubSup>
                      </m:num>
                      <m:den>
                        <m:d>
                          <m:dPr>
                            <m:begChr m:val="‖"/>
                            <m:endChr m:val="‖"/>
                            <m:ctrlPr>
                              <a:rPr lang="ru-RU" sz="20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sSubSup>
                              <m:sSubSupPr>
                                <m:ctrlPr>
                                  <a:rPr lang="en-US" sz="2000" i="1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sz="2000" i="1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𝐴</m:t>
                                </m:r>
                              </m:e>
                              <m:sub>
                                <m:r>
                                  <a:rPr lang="en-US" sz="2000" i="1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1</m:t>
                                </m:r>
                              </m:sub>
                              <m:sup>
                                <m:r>
                                  <a:rPr lang="en-US" sz="2000" i="1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𝑘</m:t>
                                </m:r>
                              </m:sup>
                            </m:sSubSup>
                          </m:e>
                        </m:d>
                      </m:den>
                    </m:f>
                  </m:oMath>
                </a14:m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lang="en-US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lang="en-US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𝐵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  <m:sup>
                        <m:r>
                          <a:rPr lang="en-US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𝑘</m:t>
                        </m:r>
                      </m:sup>
                    </m:sSubSup>
                    <m:r>
                      <a:rPr lang="en-US" sz="2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sSubSup>
                      <m:sSubSupPr>
                        <m:ctrlPr>
                          <a:rPr lang="en-US" sz="20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lang="en-US" sz="20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𝐴</m:t>
                        </m:r>
                      </m:e>
                      <m:sub>
                        <m:r>
                          <a:rPr lang="en-US" sz="20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  <m:sup>
                        <m:r>
                          <a:rPr lang="en-US" sz="20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𝑘</m:t>
                        </m:r>
                      </m:sup>
                    </m:sSubSup>
                    <m:r>
                      <a:rPr lang="en-US" sz="2000" i="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−</m:t>
                    </m:r>
                    <m:d>
                      <m:dPr>
                        <m:begChr m:val="["/>
                        <m:endChr m:val="]"/>
                        <m:ctrlPr>
                          <a:rPr lang="en-US" sz="20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20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sz="2000" i="1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dPr>
                              <m:e>
                                <m:sSubSup>
                                  <m:sSubSupPr>
                                    <m:ctrlPr>
                                      <a:rPr lang="en-US" sz="2000" i="1" dirty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2000" i="1" dirty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𝐴</m:t>
                                    </m:r>
                                  </m:e>
                                  <m:sub>
                                    <m:r>
                                      <a:rPr lang="en-US" sz="2000" i="1" dirty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2</m:t>
                                    </m:r>
                                  </m:sub>
                                  <m:sup>
                                    <m:r>
                                      <a:rPr lang="en-US" sz="2000" i="1" dirty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𝑘</m:t>
                                    </m:r>
                                  </m:sup>
                                </m:sSubSup>
                              </m:e>
                            </m:d>
                          </m:e>
                          <m:sup>
                            <m:r>
                              <a:rPr lang="en-US" sz="20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𝑇</m:t>
                            </m:r>
                          </m:sup>
                        </m:sSup>
                        <m:sSubSup>
                          <m:sSubSupPr>
                            <m:ctrlPr>
                              <a:rPr lang="en-US" sz="20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SupPr>
                          <m:e>
                            <m:r>
                              <a:rPr lang="en-US" sz="20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𝑑</m:t>
                            </m:r>
                          </m:e>
                          <m:sub>
                            <m:r>
                              <a:rPr lang="en-US" sz="20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US" sz="20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𝑘</m:t>
                            </m:r>
                            <m:r>
                              <a:rPr lang="en-US" sz="20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+1</m:t>
                            </m:r>
                          </m:sup>
                        </m:sSubSup>
                      </m:e>
                    </m:d>
                    <m:sSubSup>
                      <m:sSubSupPr>
                        <m:ctrlPr>
                          <a:rPr lang="en-US" sz="20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lang="en-US" sz="20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𝑑</m:t>
                        </m:r>
                      </m:e>
                      <m:sub>
                        <m:r>
                          <a:rPr lang="en-US" sz="20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  <m:sup>
                        <m:r>
                          <a:rPr lang="en-US" sz="20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𝑘</m:t>
                        </m:r>
                        <m:r>
                          <a:rPr lang="en-US" sz="20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+1</m:t>
                        </m:r>
                      </m:sup>
                    </m:sSubSup>
                  </m:oMath>
                </a14:m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lang="en-US" sz="20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lang="en-US" sz="20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𝑑</m:t>
                        </m:r>
                      </m:e>
                      <m:sub>
                        <m:r>
                          <a:rPr lang="en-US" sz="20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  <m:sup>
                        <m:r>
                          <a:rPr lang="en-US" sz="20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𝑘</m:t>
                        </m:r>
                        <m:r>
                          <a:rPr lang="en-US" sz="20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+1</m:t>
                        </m:r>
                      </m:sup>
                    </m:sSubSup>
                    <m:r>
                      <a:rPr lang="en-US" sz="2000" i="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ru-RU" sz="20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sSubSup>
                          <m:sSubSupPr>
                            <m:ctrlPr>
                              <a:rPr lang="en-US" sz="20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SupPr>
                          <m:e>
                            <m:r>
                              <a:rPr lang="en-US" sz="20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𝐵</m:t>
                            </m:r>
                          </m:e>
                          <m:sub>
                            <m:r>
                              <a:rPr lang="en-US" sz="20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US" sz="20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𝑘</m:t>
                            </m:r>
                          </m:sup>
                        </m:sSubSup>
                      </m:num>
                      <m:den>
                        <m:d>
                          <m:dPr>
                            <m:begChr m:val="‖"/>
                            <m:endChr m:val="‖"/>
                            <m:ctrlPr>
                              <a:rPr lang="ru-RU" sz="20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sSubSup>
                              <m:sSubSupPr>
                                <m:ctrlPr>
                                  <a:rPr lang="en-US" sz="2000" i="1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sz="2000" i="1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𝐵</m:t>
                                </m:r>
                              </m:e>
                              <m:sub>
                                <m:r>
                                  <a:rPr lang="en-US" sz="2000" i="1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1</m:t>
                                </m:r>
                              </m:sub>
                              <m:sup>
                                <m:r>
                                  <a:rPr lang="en-US" sz="2000" i="1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𝑘</m:t>
                                </m:r>
                              </m:sup>
                            </m:sSubSup>
                          </m:e>
                        </m:d>
                      </m:den>
                    </m:f>
                  </m:oMath>
                </a14:m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</a:t>
                </a:r>
              </a:p>
              <a:p>
                <a:pPr marL="0" indent="0">
                  <a:buNone/>
                </a:pP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……………………………………………………….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lang="en-US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lang="en-US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𝐵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</m:sub>
                      <m:sup>
                        <m:r>
                          <a:rPr lang="en-US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𝑘</m:t>
                        </m:r>
                      </m:sup>
                    </m:sSubSup>
                    <m:r>
                      <a:rPr lang="en-US" sz="2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sSubSup>
                      <m:sSubSupPr>
                        <m:ctrlPr>
                          <a:rPr lang="en-US" sz="20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lang="en-US" sz="20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𝐴</m:t>
                        </m:r>
                      </m:e>
                      <m:sub>
                        <m:r>
                          <a:rPr lang="en-US" sz="20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</m:sub>
                      <m:sup>
                        <m:r>
                          <a:rPr lang="en-US" sz="20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𝑘</m:t>
                        </m:r>
                      </m:sup>
                    </m:sSubSup>
                    <m:r>
                      <a:rPr lang="en-US" sz="2000" i="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−</m:t>
                    </m:r>
                    <m:nary>
                      <m:naryPr>
                        <m:chr m:val="∑"/>
                        <m:limLoc m:val="subSup"/>
                        <m:ctrlPr>
                          <a:rPr lang="en-US" sz="20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naryPr>
                      <m:sub>
                        <m:r>
                          <m:rPr>
                            <m:brk m:alnAt="25"/>
                          </m:rPr>
                          <a:rPr lang="en-US" sz="20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𝑙</m:t>
                        </m:r>
                        <m:r>
                          <a:rPr lang="en-US" sz="20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=</m:t>
                        </m:r>
                        <m:r>
                          <a:rPr lang="en-US" sz="20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  <m:r>
                          <a:rPr lang="en-US" sz="20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−</m:t>
                        </m:r>
                        <m:r>
                          <a:rPr lang="en-US" sz="20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𝑚</m:t>
                        </m:r>
                      </m:sub>
                      <m:sup>
                        <m:r>
                          <a:rPr lang="en-US" sz="20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</m:sup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sz="20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sz="2000" i="1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en-US" sz="2000" i="1" dirty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dPr>
                                  <m:e>
                                    <m:sSubSup>
                                      <m:sSubSupPr>
                                        <m:ctrlPr>
                                          <a:rPr lang="en-US" sz="2000" i="1" dirty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en-US" sz="2000" i="1" dirty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𝐴</m:t>
                                        </m:r>
                                      </m:e>
                                      <m:sub>
                                        <m:r>
                                          <a:rPr lang="en-US" sz="2000" i="1" dirty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𝑛</m:t>
                                        </m:r>
                                      </m:sub>
                                      <m:sup>
                                        <m:r>
                                          <a:rPr lang="en-US" sz="2000" i="1" dirty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𝑘</m:t>
                                        </m:r>
                                      </m:sup>
                                    </m:sSubSup>
                                  </m:e>
                                </m:d>
                              </m:e>
                              <m:sup>
                                <m:r>
                                  <a:rPr lang="en-US" sz="2000" i="1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𝑇</m:t>
                                </m:r>
                              </m:sup>
                            </m:sSup>
                            <m:sSubSup>
                              <m:sSubSupPr>
                                <m:ctrlPr>
                                  <a:rPr lang="en-US" sz="2000" i="1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sz="2000" i="1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𝑑</m:t>
                                </m:r>
                              </m:e>
                              <m:sub>
                                <m:r>
                                  <a:rPr lang="en-US" sz="2000" i="1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𝑙</m:t>
                                </m:r>
                              </m:sub>
                              <m:sup>
                                <m:r>
                                  <a:rPr lang="en-US" sz="2000" i="1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𝑘</m:t>
                                </m:r>
                                <m:r>
                                  <a:rPr lang="en-US" sz="2000" i="1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+1</m:t>
                                </m:r>
                              </m:sup>
                            </m:sSubSup>
                          </m:e>
                        </m:d>
                        <m:sSubSup>
                          <m:sSubSupPr>
                            <m:ctrlPr>
                              <a:rPr lang="en-US" sz="20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SupPr>
                          <m:e>
                            <m:r>
                              <a:rPr lang="en-US" sz="20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𝑑</m:t>
                            </m:r>
                          </m:e>
                          <m:sub>
                            <m:r>
                              <a:rPr lang="en-US" sz="20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𝑙</m:t>
                            </m:r>
                          </m:sub>
                          <m:sup>
                            <m:r>
                              <a:rPr lang="en-US" sz="20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𝑘</m:t>
                            </m:r>
                            <m:r>
                              <a:rPr lang="en-US" sz="20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+1</m:t>
                            </m:r>
                          </m:sup>
                        </m:sSubSup>
                        <m:r>
                          <a:rPr lang="en-US" sz="20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,</m:t>
                        </m:r>
                      </m:e>
                    </m:nary>
                  </m:oMath>
                </a14:m>
                <a:r>
                  <a:rPr lang="ru-RU" sz="2000" i="1" dirty="0"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i="1" dirty="0"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     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20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lang="en-US" sz="20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𝑑</m:t>
                        </m:r>
                      </m:e>
                      <m:sub>
                        <m:r>
                          <a:rPr lang="en-US" sz="20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</m:sub>
                      <m:sup>
                        <m:r>
                          <a:rPr lang="en-US" sz="20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𝑘</m:t>
                        </m:r>
                        <m:r>
                          <a:rPr lang="en-US" sz="20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+1</m:t>
                        </m:r>
                      </m:sup>
                    </m:sSubSup>
                    <m:r>
                      <a:rPr lang="en-US" sz="2000" i="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ru-RU" sz="20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sSubSup>
                          <m:sSubSupPr>
                            <m:ctrlPr>
                              <a:rPr lang="en-US" sz="20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SupPr>
                          <m:e>
                            <m:r>
                              <a:rPr lang="en-US" sz="20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𝐵</m:t>
                            </m:r>
                          </m:e>
                          <m:sub>
                            <m:r>
                              <a:rPr lang="en-US" sz="20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𝑛</m:t>
                            </m:r>
                          </m:sub>
                          <m:sup>
                            <m:r>
                              <a:rPr lang="en-US" sz="20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𝑘</m:t>
                            </m:r>
                          </m:sup>
                        </m:sSubSup>
                      </m:num>
                      <m:den>
                        <m:d>
                          <m:dPr>
                            <m:begChr m:val="‖"/>
                            <m:endChr m:val="‖"/>
                            <m:ctrlPr>
                              <a:rPr lang="ru-RU" sz="20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sSubSup>
                              <m:sSubSupPr>
                                <m:ctrlPr>
                                  <a:rPr lang="en-US" sz="2000" i="1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sz="2000" i="1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𝐵</m:t>
                                </m:r>
                              </m:e>
                              <m:sub>
                                <m:r>
                                  <a:rPr lang="en-US" sz="2000" i="1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𝑛</m:t>
                                </m:r>
                              </m:sub>
                              <m:sup>
                                <m:r>
                                  <a:rPr lang="en-US" sz="2000" i="1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𝑘</m:t>
                                </m:r>
                              </m:sup>
                            </m:sSubSup>
                          </m:e>
                        </m:d>
                      </m:den>
                    </m:f>
                    <m:r>
                      <a:rPr lang="en-US" sz="2000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.</m:t>
                    </m:r>
                  </m:oMath>
                </a14:m>
                <a:endParaRPr 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ru-RU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2204864"/>
                <a:ext cx="8229600" cy="4032447"/>
              </a:xfrm>
              <a:blipFill>
                <a:blip r:embed="rId2"/>
                <a:stretch>
                  <a:fillRect l="-741" t="-908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0324104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ru-RU" sz="3000" b="1" dirty="0">
                <a:latin typeface="+mn-lt"/>
              </a:rPr>
              <a:t>Метод </a:t>
            </a:r>
            <a:r>
              <a:rPr lang="ru-RU" sz="3000" b="1" dirty="0" err="1">
                <a:latin typeface="+mn-lt"/>
              </a:rPr>
              <a:t>Розенброка</a:t>
            </a:r>
            <a:br>
              <a:rPr lang="ru-RU" sz="3000" b="1" dirty="0">
                <a:latin typeface="+mn-lt"/>
              </a:rPr>
            </a:br>
            <a:r>
              <a:rPr lang="ru-RU" sz="2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Алгоритм</a:t>
            </a:r>
            <a:endParaRPr lang="ru-RU" sz="3000" b="1" dirty="0">
              <a:latin typeface="+mn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>
              <a:xfrm>
                <a:off x="611560" y="1628800"/>
                <a:ext cx="8330792" cy="4680520"/>
              </a:xfrm>
            </p:spPr>
            <p:txBody>
              <a:bodyPr>
                <a:normAutofit lnSpcReduction="10000"/>
              </a:bodyPr>
              <a:lstStyle/>
              <a:p>
                <a:pPr marL="0" indent="0">
                  <a:buNone/>
                </a:pPr>
                <a:r>
                  <a:rPr lang="ru-RU" sz="18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Ш1.</a:t>
                </a:r>
                <a:r>
                  <a:rPr lang="ru-RU" sz="1800" b="1" dirty="0"/>
                  <a:t> </a:t>
                </a:r>
                <a:r>
                  <a:rPr lang="ru-RU" sz="18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Задание начальной точки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800" b="1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1800" b="1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𝒙</m:t>
                        </m:r>
                      </m:e>
                      <m:sup>
                        <m:r>
                          <a:rPr lang="en-US" sz="1800" b="1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𝟎</m:t>
                        </m:r>
                      </m:sup>
                    </m:sSup>
                  </m:oMath>
                </a14:m>
                <a:r>
                  <a:rPr lang="en-US" sz="1800" b="1" dirty="0"/>
                  <a:t>,</a:t>
                </a:r>
                <a:r>
                  <a:rPr lang="ru-RU" sz="1800" b="1" dirty="0"/>
                  <a:t> </a:t>
                </a:r>
                <a:r>
                  <a:rPr lang="ru-RU" sz="18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параметр точности </a:t>
                </a:r>
                <a14:m>
                  <m:oMath xmlns:m="http://schemas.openxmlformats.org/officeDocument/2006/math">
                    <m:r>
                      <a:rPr lang="ru-RU" sz="1800" b="1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𝜺</m:t>
                    </m:r>
                    <m:r>
                      <a:rPr lang="ru-RU" sz="1800" b="1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 , </m:t>
                    </m:r>
                  </m:oMath>
                </a14:m>
                <a:r>
                  <a:rPr lang="ru-RU" sz="18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начальные независимые ортогональные направления: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b="1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1800" b="1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𝒅</m:t>
                        </m:r>
                      </m:e>
                      <m:sub>
                        <m:r>
                          <a:rPr lang="en-US" sz="1800" b="1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𝟏</m:t>
                        </m:r>
                      </m:sub>
                    </m:sSub>
                    <m:r>
                      <a:rPr lang="en-US" sz="1800" b="1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,…,</m:t>
                    </m:r>
                  </m:oMath>
                </a14:m>
                <a:r>
                  <a:rPr lang="en-US" sz="1800" b="1" dirty="0"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b="1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1800" b="1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𝒅</m:t>
                        </m:r>
                      </m:e>
                      <m:sub>
                        <m:r>
                          <a:rPr lang="en-US" sz="1800" b="1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𝒏</m:t>
                        </m:r>
                      </m:sub>
                    </m:sSub>
                  </m:oMath>
                </a14:m>
                <a:endParaRPr lang="ru-RU" sz="1800" b="1" i="1" dirty="0">
                  <a:latin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800" b="1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1800" b="1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𝒅</m:t>
                        </m:r>
                      </m:e>
                      <m:sub>
                        <m:r>
                          <a:rPr lang="en-US" sz="1800" b="1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𝟏</m:t>
                        </m:r>
                      </m:sub>
                    </m:sSub>
                    <m:r>
                      <a:rPr lang="ru-RU" sz="1800" b="1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ru-RU" sz="1800" b="1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ru-RU" sz="1800" b="1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ru-RU" sz="1800" b="1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𝟏</m:t>
                              </m:r>
                            </m:e>
                          </m:mr>
                          <m:mr>
                            <m:e>
                              <m:r>
                                <a:rPr lang="ru-RU" sz="1800" b="1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𝟎</m:t>
                              </m:r>
                            </m:e>
                          </m:mr>
                          <m:mr>
                            <m:e>
                              <m:r>
                                <a:rPr lang="ru-RU" sz="1800" b="1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𝟎</m:t>
                              </m:r>
                            </m:e>
                          </m:mr>
                        </m:m>
                      </m:e>
                    </m:d>
                    <m:r>
                      <a:rPr lang="ru-RU" sz="1800" b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 </m:t>
                    </m:r>
                    <m:sSub>
                      <m:sSubPr>
                        <m:ctrlPr>
                          <a:rPr lang="en-US" sz="1800" b="1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1800" b="1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𝒅</m:t>
                        </m:r>
                      </m:e>
                      <m:sub>
                        <m:r>
                          <a:rPr lang="ru-RU" sz="1800" b="1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𝟐</m:t>
                        </m:r>
                      </m:sub>
                    </m:sSub>
                    <m:r>
                      <a:rPr lang="ru-RU" sz="1800" b="1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ru-RU" sz="1800" b="1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ru-RU" sz="1800" b="1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sz="1800" b="1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𝟎</m:t>
                              </m:r>
                            </m:e>
                          </m:mr>
                          <m:mr>
                            <m:e>
                              <m:r>
                                <a:rPr lang="en-US" sz="1800" b="1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𝟏</m:t>
                              </m:r>
                            </m:e>
                          </m:mr>
                          <m:mr>
                            <m:e>
                              <m:r>
                                <a:rPr lang="ru-RU" sz="1800" b="1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𝟎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ru-RU" sz="18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…,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b="1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1800" b="1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𝒅</m:t>
                        </m:r>
                      </m:e>
                      <m:sub>
                        <m:r>
                          <a:rPr lang="en-US" sz="1800" b="1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𝒏</m:t>
                        </m:r>
                      </m:sub>
                    </m:sSub>
                    <m:r>
                      <a:rPr lang="ru-RU" sz="1800" b="1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ru-RU" sz="1800" b="1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ru-RU" sz="1800" b="1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sz="1800" b="1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𝟎</m:t>
                              </m:r>
                            </m:e>
                          </m:mr>
                          <m:mr>
                            <m:e>
                              <m:r>
                                <a:rPr lang="ru-RU" sz="1800" b="1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𝟎</m:t>
                              </m:r>
                            </m:e>
                          </m:mr>
                          <m:mr>
                            <m:e>
                              <m:r>
                                <a:rPr lang="en-US" sz="1800" b="1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𝟏</m:t>
                              </m:r>
                            </m:e>
                          </m:mr>
                        </m:m>
                      </m:e>
                    </m:d>
                    <m:r>
                      <a:rPr lang="en-US" sz="1800" b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.</m:t>
                    </m:r>
                  </m:oMath>
                </a14:m>
                <a:r>
                  <a:rPr lang="ru-RU" sz="18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Положить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800" b="1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1800" b="1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𝒚</m:t>
                        </m:r>
                      </m:e>
                      <m:sup>
                        <m:r>
                          <a:rPr lang="en-US" sz="1800" b="1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𝟏</m:t>
                        </m:r>
                      </m:sup>
                    </m:sSup>
                    <m:r>
                      <a:rPr lang="en-US" sz="1800" b="1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sSup>
                      <m:sSupPr>
                        <m:ctrlPr>
                          <a:rPr lang="en-US" sz="1800" b="1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1800" b="1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𝒙</m:t>
                        </m:r>
                      </m:e>
                      <m:sup>
                        <m:r>
                          <a:rPr lang="en-US" sz="1800" b="1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𝟎</m:t>
                        </m:r>
                      </m:sup>
                    </m:sSup>
                  </m:oMath>
                </a14:m>
                <a:r>
                  <a:rPr lang="en-US" sz="18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sz="1800" b="1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𝒌</m:t>
                    </m:r>
                    <m:r>
                      <a:rPr lang="en-US" sz="1800" b="1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sz="1800" b="1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𝟎</m:t>
                    </m:r>
                    <m:r>
                      <a:rPr lang="en-US" sz="1800" b="1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 </m:t>
                    </m:r>
                    <m:r>
                      <a:rPr lang="en-US" sz="1800" b="1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𝒍</m:t>
                    </m:r>
                    <m:r>
                      <a:rPr lang="en-US" sz="1800" b="1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sz="1800" b="1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𝟏</m:t>
                    </m:r>
                    <m:r>
                      <a:rPr lang="en-US" sz="1800" b="1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.</m:t>
                    </m:r>
                  </m:oMath>
                </a14:m>
                <a:endParaRPr lang="en-US" sz="18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ru-RU" sz="18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Ш2. Выполнить одномерный поиск в направлениях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b="1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sSubSup>
                          <m:sSubSupPr>
                            <m:ctrlPr>
                              <a:rPr lang="en-US" sz="1800" b="1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SupPr>
                          <m:e>
                            <m:r>
                              <a:rPr lang="en-US" sz="1800" b="1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𝒅</m:t>
                            </m:r>
                          </m:e>
                          <m:sub>
                            <m:r>
                              <a:rPr lang="en-US" sz="1800" b="1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𝟏</m:t>
                            </m:r>
                          </m:sub>
                          <m:sup>
                            <m:r>
                              <a:rPr lang="en-US" sz="1800" b="1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𝒌</m:t>
                            </m:r>
                          </m:sup>
                        </m:sSubSup>
                      </m:e>
                      <m:sub>
                        <m:r>
                          <a:rPr lang="en-US" sz="1800" b="1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  </m:t>
                        </m:r>
                      </m:sub>
                    </m:sSub>
                  </m:oMath>
                </a14:m>
                <a:r>
                  <a:rPr lang="ru-RU" sz="18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,…,</a:t>
                </a:r>
                <a:r>
                  <a:rPr lang="en-US" sz="1800" b="1" dirty="0"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1800" b="1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lang="en-US" sz="1800" b="1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𝒅</m:t>
                        </m:r>
                      </m:e>
                      <m:sub>
                        <m:r>
                          <a:rPr lang="en-US" sz="1800" b="1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𝒏</m:t>
                        </m:r>
                      </m:sub>
                      <m:sup>
                        <m:r>
                          <a:rPr lang="en-US" sz="1800" b="1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𝒌</m:t>
                        </m:r>
                      </m:sup>
                    </m:sSubSup>
                    <m:r>
                      <a:rPr lang="ru-RU" sz="1800" b="1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 </m:t>
                    </m:r>
                  </m:oMath>
                </a14:m>
                <a:r>
                  <a:rPr lang="ru-RU" sz="18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т.е. определить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ru-RU" sz="18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lang="ru-RU" sz="18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𝜶</m:t>
                        </m:r>
                        <m:r>
                          <m:rPr>
                            <m:nor/>
                          </m:rPr>
                          <a:rPr lang="ru-RU" sz="1800" b="1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 </m:t>
                        </m:r>
                      </m:e>
                      <m:sub>
                        <m:r>
                          <a:rPr lang="ru-RU" sz="18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𝟏</m:t>
                        </m:r>
                      </m:sub>
                      <m:sup>
                        <m:r>
                          <a:rPr lang="en-US" sz="18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𝒌</m:t>
                        </m:r>
                      </m:sup>
                    </m:sSubSup>
                    <m:r>
                      <a:rPr lang="ru-RU" sz="1800" b="1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sSubSup>
                      <m:sSubSupPr>
                        <m:ctrlPr>
                          <a:rPr lang="ru-RU" sz="18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lang="ru-RU" sz="18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𝜶</m:t>
                        </m:r>
                        <m:r>
                          <m:rPr>
                            <m:nor/>
                          </m:rPr>
                          <a:rPr lang="ru-RU" sz="1800" b="1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 </m:t>
                        </m:r>
                      </m:e>
                      <m:sub>
                        <m:r>
                          <a:rPr lang="ru-RU" sz="1800" b="1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𝟐</m:t>
                        </m:r>
                      </m:sub>
                      <m:sup>
                        <m:r>
                          <a:rPr lang="en-US" sz="18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𝒌</m:t>
                        </m:r>
                      </m:sup>
                    </m:sSubSup>
                  </m:oMath>
                </a14:m>
                <a:r>
                  <a:rPr lang="en-US" sz="18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,…,</a:t>
                </a:r>
                <a:r>
                  <a:rPr lang="ru-RU" sz="1800" b="1" dirty="0"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ru-RU" sz="18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lang="ru-RU" sz="18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𝜶</m:t>
                        </m:r>
                        <m:r>
                          <m:rPr>
                            <m:nor/>
                          </m:rPr>
                          <a:rPr lang="ru-RU" sz="1800" b="1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 </m:t>
                        </m:r>
                      </m:e>
                      <m:sub>
                        <m:r>
                          <a:rPr lang="en-US" sz="18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𝒏</m:t>
                        </m:r>
                      </m:sub>
                      <m:sup>
                        <m:r>
                          <a:rPr lang="en-US" sz="18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𝒌</m:t>
                        </m:r>
                      </m:sup>
                    </m:sSubSup>
                  </m:oMath>
                </a14:m>
                <a:endParaRPr lang="en-US" sz="18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ru-RU" sz="18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Ш3. Сделать шаги в </a:t>
                </a:r>
                <a14:m>
                  <m:oMath xmlns:m="http://schemas.openxmlformats.org/officeDocument/2006/math">
                    <m:r>
                      <a:rPr lang="en-US" sz="1800" b="1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𝒍</m:t>
                    </m:r>
                    <m:r>
                      <a:rPr lang="en-US" sz="1800" b="1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−</m:t>
                    </m:r>
                  </m:oMath>
                </a14:m>
                <a:r>
                  <a:rPr lang="ru-RU" sz="18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м направлении.</a:t>
                </a:r>
              </a:p>
              <a:p>
                <a:pPr marL="0" indent="0">
                  <a:buNone/>
                </a:pPr>
                <a:r>
                  <a:rPr lang="ru-RU" sz="18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Ш4. Положить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ru-RU" sz="1800" b="1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1800" b="1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𝒙</m:t>
                        </m:r>
                      </m:e>
                      <m:sup>
                        <m:r>
                          <a:rPr lang="en-US" sz="1800" b="1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𝒌</m:t>
                        </m:r>
                        <m:r>
                          <a:rPr lang="en-US" sz="1800" b="1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+</m:t>
                        </m:r>
                        <m:r>
                          <a:rPr lang="en-US" sz="1800" b="1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𝟏</m:t>
                        </m:r>
                      </m:sup>
                    </m:sSup>
                    <m:r>
                      <a:rPr lang="en-US" sz="1800" b="1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sSup>
                      <m:sSupPr>
                        <m:ctrlPr>
                          <a:rPr lang="en-US" sz="1800" b="1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1800" b="1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𝒚</m:t>
                        </m:r>
                      </m:e>
                      <m:sup>
                        <m:r>
                          <a:rPr lang="en-US" sz="1800" b="1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𝒏</m:t>
                        </m:r>
                        <m:r>
                          <a:rPr lang="en-US" sz="1800" b="1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+</m:t>
                        </m:r>
                        <m:r>
                          <a:rPr lang="en-US" sz="1800" b="1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𝟏</m:t>
                        </m:r>
                      </m:sup>
                    </m:sSup>
                  </m:oMath>
                </a14:m>
                <a:r>
                  <a:rPr lang="en-US" sz="18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ru-RU" sz="18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и проверить условия окончания:</a:t>
                </a:r>
              </a:p>
              <a:p>
                <a:pPr>
                  <a:buAutoNum type="alphaLcParenR"/>
                </a:pPr>
                <a:r>
                  <a:rPr lang="ru-RU" sz="18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Если </a:t>
                </a:r>
                <a14:m>
                  <m:oMath xmlns:m="http://schemas.openxmlformats.org/officeDocument/2006/math">
                    <m:d>
                      <m:dPr>
                        <m:begChr m:val="‖"/>
                        <m:endChr m:val="‖"/>
                        <m:ctrlPr>
                          <a:rPr lang="ru-RU" sz="1800" b="1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ru-RU" sz="1800" b="1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sz="1800" b="1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𝒙</m:t>
                            </m:r>
                          </m:e>
                          <m:sup>
                            <m:r>
                              <a:rPr lang="en-US" sz="1800" b="1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𝒌</m:t>
                            </m:r>
                            <m:r>
                              <a:rPr lang="en-US" sz="1800" b="1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+</m:t>
                            </m:r>
                            <m:r>
                              <a:rPr lang="en-US" sz="1800" b="1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𝟏</m:t>
                            </m:r>
                          </m:sup>
                        </m:sSup>
                        <m:r>
                          <a:rPr lang="ru-RU" sz="1800" b="1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−</m:t>
                        </m:r>
                        <m:sSup>
                          <m:sSupPr>
                            <m:ctrlPr>
                              <a:rPr lang="ru-RU" sz="1800" b="1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sz="1800" b="1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𝒙</m:t>
                            </m:r>
                          </m:e>
                          <m:sup>
                            <m:r>
                              <a:rPr lang="en-US" sz="1800" b="1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𝒌</m:t>
                            </m:r>
                          </m:sup>
                        </m:sSup>
                      </m:e>
                    </m:d>
                    <m:r>
                      <a:rPr lang="ru-RU" sz="1800" b="1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≤</m:t>
                    </m:r>
                    <m:r>
                      <a:rPr lang="ru-RU" sz="1800" b="1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𝜺</m:t>
                    </m:r>
                    <m:r>
                      <a:rPr lang="ru-RU" sz="1800" b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</m:oMath>
                </a14:m>
                <a:r>
                  <a:rPr lang="ru-RU" sz="18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то поиск завершить: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ru-RU" sz="1800" b="1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1800" b="1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𝒙</m:t>
                        </m:r>
                      </m:e>
                      <m:sup>
                        <m:r>
                          <a:rPr lang="en-US" sz="1800" b="1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∗</m:t>
                        </m:r>
                      </m:sup>
                    </m:sSup>
                    <m:r>
                      <a:rPr lang="en-US" sz="1800" b="1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</m:oMath>
                </a14:m>
                <a:r>
                  <a:rPr lang="ru-RU" sz="18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ru-RU" sz="1800" b="1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1800" b="1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𝒙</m:t>
                        </m:r>
                      </m:e>
                      <m:sup>
                        <m:r>
                          <a:rPr lang="en-US" sz="1800" b="1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𝒌</m:t>
                        </m:r>
                        <m:r>
                          <a:rPr lang="en-US" sz="1800" b="1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+</m:t>
                        </m:r>
                        <m:r>
                          <a:rPr lang="en-US" sz="1800" b="1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𝟏</m:t>
                        </m:r>
                      </m:sup>
                    </m:sSup>
                    <m:r>
                      <a:rPr lang="en-US" sz="1800" b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;</m:t>
                    </m:r>
                  </m:oMath>
                </a14:m>
                <a:endParaRPr lang="en-US" sz="18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257175" indent="-257175">
                  <a:buAutoNum type="alphaLcParenR"/>
                </a:pPr>
                <a:r>
                  <a:rPr lang="ru-RU" sz="18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Если  </a:t>
                </a:r>
                <a14:m>
                  <m:oMath xmlns:m="http://schemas.openxmlformats.org/officeDocument/2006/math">
                    <m:d>
                      <m:dPr>
                        <m:begChr m:val="‖"/>
                        <m:endChr m:val="‖"/>
                        <m:ctrlPr>
                          <a:rPr lang="ru-RU" sz="1800" b="1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ru-RU" sz="1800" b="1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sz="1800" b="1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𝒙</m:t>
                            </m:r>
                          </m:e>
                          <m:sup>
                            <m:r>
                              <a:rPr lang="en-US" sz="1800" b="1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𝒌</m:t>
                            </m:r>
                            <m:r>
                              <a:rPr lang="en-US" sz="1800" b="1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+</m:t>
                            </m:r>
                            <m:r>
                              <a:rPr lang="en-US" sz="1800" b="1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𝟏</m:t>
                            </m:r>
                          </m:sup>
                        </m:sSup>
                        <m:r>
                          <a:rPr lang="ru-RU" sz="1800" b="1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−</m:t>
                        </m:r>
                        <m:sSup>
                          <m:sSupPr>
                            <m:ctrlPr>
                              <a:rPr lang="ru-RU" sz="1800" b="1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sz="1800" b="1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𝒙</m:t>
                            </m:r>
                          </m:e>
                          <m:sup>
                            <m:r>
                              <a:rPr lang="en-US" sz="1800" b="1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𝒌</m:t>
                            </m:r>
                          </m:sup>
                        </m:sSup>
                      </m:e>
                    </m:d>
                    <m:r>
                      <a:rPr lang="en-US" sz="1800" b="1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&gt;</m:t>
                    </m:r>
                    <m:r>
                      <a:rPr lang="ru-RU" sz="1800" b="1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ru-RU" sz="18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𝜺</m:t>
                    </m:r>
                    <m:r>
                      <a:rPr lang="en-US" sz="1800" b="1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&gt;</m:t>
                    </m:r>
                  </m:oMath>
                </a14:m>
                <a:r>
                  <a:rPr lang="en-US" sz="18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 </a:t>
                </a:r>
                <a:r>
                  <a:rPr lang="ru-RU" sz="18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то</a:t>
                </a:r>
                <a:endParaRPr lang="en-US" sz="18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ru-RU" sz="18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вычислить длины шагов по каждому направлению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ru-RU" sz="18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lang="ru-RU" sz="18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𝜶</m:t>
                        </m:r>
                        <m:r>
                          <m:rPr>
                            <m:nor/>
                          </m:rPr>
                          <a:rPr lang="ru-RU" sz="1800" b="1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 </m:t>
                        </m:r>
                      </m:e>
                      <m:sub>
                        <m:r>
                          <a:rPr lang="ru-RU" sz="18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𝟏</m:t>
                        </m:r>
                      </m:sub>
                      <m:sup>
                        <m:r>
                          <a:rPr lang="en-US" sz="18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𝒌</m:t>
                        </m:r>
                      </m:sup>
                    </m:sSubSup>
                    <m:r>
                      <a:rPr lang="ru-RU" sz="1800" b="1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sSubSup>
                      <m:sSubSupPr>
                        <m:ctrlPr>
                          <a:rPr lang="ru-RU" sz="18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lang="ru-RU" sz="18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𝜶</m:t>
                        </m:r>
                        <m:r>
                          <m:rPr>
                            <m:nor/>
                          </m:rPr>
                          <a:rPr lang="ru-RU" sz="1800" b="1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 </m:t>
                        </m:r>
                      </m:e>
                      <m:sub>
                        <m:r>
                          <a:rPr lang="ru-RU" sz="1800" b="1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𝟐</m:t>
                        </m:r>
                      </m:sub>
                      <m:sup>
                        <m:r>
                          <a:rPr lang="en-US" sz="18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𝒌</m:t>
                        </m:r>
                      </m:sup>
                    </m:sSubSup>
                  </m:oMath>
                </a14:m>
                <a:r>
                  <a:rPr lang="en-US" sz="18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,…,</a:t>
                </a:r>
                <a:r>
                  <a:rPr lang="ru-RU" sz="1800" b="1" dirty="0"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ru-RU" sz="18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lang="ru-RU" sz="18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𝜶</m:t>
                        </m:r>
                        <m:r>
                          <m:rPr>
                            <m:nor/>
                          </m:rPr>
                          <a:rPr lang="ru-RU" sz="1800" b="1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 </m:t>
                        </m:r>
                      </m:e>
                      <m:sub>
                        <m:r>
                          <a:rPr lang="en-US" sz="18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𝒏</m:t>
                        </m:r>
                      </m:sub>
                      <m:sup>
                        <m:r>
                          <a:rPr lang="en-US" sz="18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𝒌</m:t>
                        </m:r>
                      </m:sup>
                    </m:sSubSup>
                  </m:oMath>
                </a14:m>
                <a:r>
                  <a:rPr lang="ru-RU" sz="18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marL="0" indent="0">
                  <a:buNone/>
                </a:pPr>
                <a:r>
                  <a:rPr lang="ru-RU" sz="18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Ш5. Построить новый набор линейно независимых и взаимно ортогональных направлений поиска</a:t>
                </a:r>
                <a:r>
                  <a:rPr lang="en-US" sz="18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b="1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sSubSup>
                          <m:sSubSupPr>
                            <m:ctrlPr>
                              <a:rPr lang="en-US" sz="1800" b="1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SupPr>
                          <m:e>
                            <m:r>
                              <a:rPr lang="en-US" sz="1800" b="1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𝒅</m:t>
                            </m:r>
                          </m:e>
                          <m:sub>
                            <m:r>
                              <a:rPr lang="en-US" sz="1800" b="1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𝟏</m:t>
                            </m:r>
                          </m:sub>
                          <m:sup>
                            <m:r>
                              <a:rPr lang="en-US" sz="1800" b="1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𝒌</m:t>
                            </m:r>
                          </m:sup>
                        </m:sSubSup>
                      </m:e>
                      <m:sub>
                        <m:r>
                          <a:rPr lang="en-US" sz="1800" b="1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  </m:t>
                        </m:r>
                      </m:sub>
                    </m:sSub>
                  </m:oMath>
                </a14:m>
                <a:r>
                  <a:rPr lang="ru-RU" sz="18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,…,</a:t>
                </a:r>
                <a:r>
                  <a:rPr lang="en-US" sz="1800" b="1" dirty="0"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1800" b="1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lang="en-US" sz="1800" b="1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𝒅</m:t>
                        </m:r>
                      </m:e>
                      <m:sub>
                        <m:r>
                          <a:rPr lang="en-US" sz="1800" b="1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𝒏</m:t>
                        </m:r>
                      </m:sub>
                      <m:sup>
                        <m:r>
                          <a:rPr lang="en-US" sz="1800" b="1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𝒌</m:t>
                        </m:r>
                      </m:sup>
                    </m:sSubSup>
                  </m:oMath>
                </a14:m>
                <a:r>
                  <a:rPr lang="en-US" sz="18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c  </a:t>
                </a:r>
                <a:r>
                  <a:rPr lang="ru-RU" sz="18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помощью процедуры </a:t>
                </a:r>
                <a:r>
                  <a:rPr lang="ru-RU" sz="1800" b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Грама</a:t>
                </a:r>
                <a:r>
                  <a:rPr lang="ru-RU" sz="18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-Шмидта. Перейти на Ш.3.</a:t>
                </a:r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11560" y="1628800"/>
                <a:ext cx="8330792" cy="4680520"/>
              </a:xfrm>
              <a:blipFill>
                <a:blip r:embed="rId2"/>
                <a:stretch>
                  <a:fillRect l="-585" t="-1042" r="-1024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9079344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marL="838200" indent="-838200" eaLnBrk="1" hangingPunct="1"/>
            <a:r>
              <a:rPr lang="ru-RU" altLang="ru-RU" sz="4000" b="1" dirty="0"/>
              <a:t>Метод </a:t>
            </a:r>
            <a:r>
              <a:rPr lang="ru-RU" altLang="ru-RU" sz="4000" b="1" dirty="0" err="1"/>
              <a:t>Нелдера-Мида</a:t>
            </a:r>
            <a:r>
              <a:rPr lang="ru-RU" altLang="ru-RU" sz="4000" b="1" u="sng" dirty="0"/>
              <a:t>     </a:t>
            </a:r>
            <a:br>
              <a:rPr lang="ru-RU" altLang="ru-RU" sz="3600" b="1" u="sng" dirty="0"/>
            </a:br>
            <a:r>
              <a:rPr lang="ru-RU" altLang="ru-RU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(деформируемых симплексов)</a:t>
            </a:r>
          </a:p>
        </p:txBody>
      </p:sp>
      <p:pic>
        <p:nvPicPr>
          <p:cNvPr id="5123" name="Picture 4"/>
          <p:cNvPicPr>
            <a:picLocks noGrp="1" noChangeAspect="1" noChangeArrowheads="1"/>
          </p:cNvPicPr>
          <p:nvPr>
            <p:ph type="body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11188" y="1557338"/>
            <a:ext cx="7921625" cy="26638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5124" name="Rectangle 5"/>
          <p:cNvSpPr>
            <a:spLocks noChangeArrowheads="1"/>
          </p:cNvSpPr>
          <p:nvPr/>
        </p:nvSpPr>
        <p:spPr bwMode="auto">
          <a:xfrm>
            <a:off x="468313" y="3789363"/>
            <a:ext cx="194310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/>
              <a:t>Отрезок [0 1]. </a:t>
            </a:r>
          </a:p>
        </p:txBody>
      </p:sp>
      <p:sp>
        <p:nvSpPr>
          <p:cNvPr id="5125" name="Rectangle 6"/>
          <p:cNvSpPr>
            <a:spLocks noChangeArrowheads="1"/>
          </p:cNvSpPr>
          <p:nvPr/>
        </p:nvSpPr>
        <p:spPr bwMode="auto">
          <a:xfrm>
            <a:off x="3348038" y="3860800"/>
            <a:ext cx="1509712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tabLst>
                <a:tab pos="457200" algn="l"/>
              </a:tabLs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tabLst>
                <a:tab pos="457200" algn="l"/>
              </a:tabLs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tabLst>
                <a:tab pos="457200" algn="l"/>
              </a:tabLs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tabLst>
                <a:tab pos="457200" algn="l"/>
              </a:tabLs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tabLst>
                <a:tab pos="457200" algn="l"/>
              </a:tabLs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/>
              <a:t>Треугольник</a:t>
            </a:r>
          </a:p>
        </p:txBody>
      </p:sp>
      <p:sp>
        <p:nvSpPr>
          <p:cNvPr id="5126" name="Rectangle 7"/>
          <p:cNvSpPr>
            <a:spLocks noChangeArrowheads="1"/>
          </p:cNvSpPr>
          <p:nvPr/>
        </p:nvSpPr>
        <p:spPr bwMode="auto">
          <a:xfrm>
            <a:off x="6732588" y="3860800"/>
            <a:ext cx="1185862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tabLst>
                <a:tab pos="457200" algn="l"/>
              </a:tabLs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tabLst>
                <a:tab pos="457200" algn="l"/>
              </a:tabLs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tabLst>
                <a:tab pos="457200" algn="l"/>
              </a:tabLs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tabLst>
                <a:tab pos="457200" algn="l"/>
              </a:tabLs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tabLst>
                <a:tab pos="457200" algn="l"/>
              </a:tabLs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/>
              <a:t>Тетраэдр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ru-RU" altLang="ru-RU" sz="3600" b="1" dirty="0"/>
              <a:t>Метод </a:t>
            </a:r>
            <a:r>
              <a:rPr lang="ru-RU" altLang="ru-RU" sz="3600" b="1" dirty="0" err="1"/>
              <a:t>Нелдера-Мида</a:t>
            </a:r>
            <a:r>
              <a:rPr lang="ru-RU" altLang="ru-RU" sz="3600" b="1" u="sng" dirty="0"/>
              <a:t> </a:t>
            </a:r>
            <a:r>
              <a:rPr lang="ru-RU" altLang="ru-RU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(деформируемых симплексов)</a:t>
            </a:r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algn="ctr" eaLnBrk="1" hangingPunct="1">
              <a:lnSpc>
                <a:spcPct val="90000"/>
              </a:lnSpc>
              <a:buFontTx/>
              <a:buNone/>
            </a:pPr>
            <a:r>
              <a:rPr lang="ru-RU" altLang="ru-RU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Идея</a:t>
            </a:r>
          </a:p>
          <a:p>
            <a:pPr eaLnBrk="1" hangingPunct="1">
              <a:lnSpc>
                <a:spcPct val="90000"/>
              </a:lnSpc>
            </a:pPr>
            <a:r>
              <a:rPr lang="ru-RU" alt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Пусть целевая функция – овражная. Число граничных точек – </a:t>
            </a:r>
            <a:r>
              <a:rPr lang="en-US" alt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ru-RU" alt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+1, где </a:t>
            </a:r>
            <a:r>
              <a:rPr lang="en-US" alt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 </a:t>
            </a:r>
            <a:r>
              <a:rPr lang="ru-RU" alt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размерность пространства варьируемых переменных. Строим симплекс из начальной точки. Ищем его центр тяжести и из наихудшей точки через центр тяжести проводим прямую и строим новый симплекс. Симплексы постепенно уменьшаются при подходе к экстремуму.</a:t>
            </a:r>
          </a:p>
          <a:p>
            <a:pPr eaLnBrk="1" hangingPunct="1">
              <a:lnSpc>
                <a:spcPct val="90000"/>
              </a:lnSpc>
            </a:pPr>
            <a:r>
              <a:rPr lang="ru-RU" alt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Метод деформируемых симплексов не имеет ничего общего с симплекс-методом линейного программирования.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3051"/>
            <a:ext cx="8229600" cy="1143000"/>
          </a:xfrm>
        </p:spPr>
        <p:txBody>
          <a:bodyPr/>
          <a:lstStyle/>
          <a:p>
            <a:pPr eaLnBrk="1" hangingPunct="1"/>
            <a:r>
              <a:rPr lang="ru-RU" altLang="ru-RU" sz="3600" b="1" dirty="0"/>
              <a:t>Метод </a:t>
            </a:r>
            <a:r>
              <a:rPr lang="ru-RU" altLang="ru-RU" sz="3600" b="1" dirty="0" err="1"/>
              <a:t>Нелдера-Мида</a:t>
            </a:r>
            <a:r>
              <a:rPr lang="ru-RU" altLang="ru-RU" sz="3600" b="1" u="sng" dirty="0"/>
              <a:t> </a:t>
            </a:r>
            <a:br>
              <a:rPr lang="ru-RU" altLang="ru-RU" sz="3600" b="1" u="sng" dirty="0"/>
            </a:br>
            <a:r>
              <a:rPr lang="ru-RU" altLang="ru-RU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(деформируемых симплексов)</a:t>
            </a:r>
          </a:p>
        </p:txBody>
      </p:sp>
      <p:pic>
        <p:nvPicPr>
          <p:cNvPr id="7171" name="Picture 4"/>
          <p:cNvPicPr>
            <a:picLocks noGrp="1" noChangeAspect="1" noChangeArrowheads="1"/>
          </p:cNvPicPr>
          <p:nvPr>
            <p:ph type="body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50825" y="1341438"/>
            <a:ext cx="8642350" cy="475297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7172" name="Rectangle 5"/>
          <p:cNvSpPr>
            <a:spLocks noChangeArrowheads="1"/>
          </p:cNvSpPr>
          <p:nvPr/>
        </p:nvSpPr>
        <p:spPr bwMode="auto">
          <a:xfrm>
            <a:off x="107950" y="5949950"/>
            <a:ext cx="8856663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ru-RU" altLang="ru-RU"/>
              <a:t>Геометрическая интерпретация метода Нелдера-Мида в случае двухпараметрической задачи 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ru-RU" altLang="ru-RU" sz="3600" b="1" dirty="0"/>
              <a:t>Метод </a:t>
            </a:r>
            <a:r>
              <a:rPr lang="ru-RU" altLang="ru-RU" sz="3600" b="1" dirty="0" err="1"/>
              <a:t>Нелдера-Мида</a:t>
            </a:r>
            <a:r>
              <a:rPr lang="ru-RU" altLang="ru-RU" sz="3600" b="1" u="sng" dirty="0"/>
              <a:t> </a:t>
            </a:r>
            <a:br>
              <a:rPr lang="ru-RU" altLang="ru-RU" sz="3600" b="1" u="sng" dirty="0"/>
            </a:br>
            <a:r>
              <a:rPr lang="ru-RU" altLang="ru-RU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(деформируемых симплексов)</a:t>
            </a:r>
          </a:p>
        </p:txBody>
      </p:sp>
      <p:sp>
        <p:nvSpPr>
          <p:cNvPr id="8195" name="Rectangle 3"/>
          <p:cNvSpPr>
            <a:spLocks noGrp="1" noChangeArrowheads="1"/>
          </p:cNvSpPr>
          <p:nvPr>
            <p:ph type="body" sz="half" idx="1"/>
          </p:nvPr>
        </p:nvSpPr>
        <p:spPr/>
        <p:txBody>
          <a:bodyPr/>
          <a:lstStyle/>
          <a:p>
            <a:pPr algn="ctr" eaLnBrk="1" hangingPunct="1">
              <a:buFontTx/>
              <a:buNone/>
            </a:pPr>
            <a:r>
              <a:rPr lang="ru-RU" altLang="ru-RU" sz="28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Алгоритм</a:t>
            </a:r>
          </a:p>
          <a:p>
            <a:pPr algn="ctr" eaLnBrk="1" hangingPunct="1">
              <a:buFontTx/>
              <a:buNone/>
            </a:pPr>
            <a:r>
              <a:rPr lang="ru-RU" altLang="ru-RU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graphicFrame>
        <p:nvGraphicFramePr>
          <p:cNvPr id="8196" name="Object 5"/>
          <p:cNvGraphicFramePr>
            <a:graphicFrameLocks noGrp="1" noChangeAspect="1"/>
          </p:cNvGraphicFramePr>
          <p:nvPr>
            <p:ph sz="quarter" idx="2"/>
            <p:extLst>
              <p:ext uri="{D42A27DB-BD31-4B8C-83A1-F6EECF244321}">
                <p14:modId xmlns:p14="http://schemas.microsoft.com/office/powerpoint/2010/main" val="1976259687"/>
              </p:ext>
            </p:extLst>
          </p:nvPr>
        </p:nvGraphicFramePr>
        <p:xfrm>
          <a:off x="5360193" y="2376488"/>
          <a:ext cx="323850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7" name="Формула" r:id="rId3" imgW="126835" imgH="139518" progId="Equation.3">
                  <p:embed/>
                </p:oleObj>
              </mc:Choice>
              <mc:Fallback>
                <p:oleObj name="Формула" r:id="rId3" imgW="126835" imgH="139518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60193" y="2376488"/>
                        <a:ext cx="323850" cy="355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197" name="Rectangle 4"/>
          <p:cNvSpPr>
            <a:spLocks noChangeArrowheads="1"/>
          </p:cNvSpPr>
          <p:nvPr/>
        </p:nvSpPr>
        <p:spPr bwMode="auto">
          <a:xfrm>
            <a:off x="539750" y="2312587"/>
            <a:ext cx="78486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b="1" i="1" u="sng" dirty="0"/>
              <a:t>Ш0.</a:t>
            </a:r>
            <a:r>
              <a:rPr lang="ru-RU" altLang="ru-RU" dirty="0"/>
              <a:t> Задание:  1) начального шага </a:t>
            </a:r>
            <a:r>
              <a:rPr lang="en-US" altLang="ru-RU" sz="2000" b="1" i="1" dirty="0"/>
              <a:t>S</a:t>
            </a:r>
            <a:r>
              <a:rPr lang="ru-RU" altLang="ru-RU" dirty="0"/>
              <a:t>; 2) точности      3) начальной точки</a:t>
            </a:r>
          </a:p>
        </p:txBody>
      </p:sp>
      <p:graphicFrame>
        <p:nvGraphicFramePr>
          <p:cNvPr id="8198" name="Object 7"/>
          <p:cNvGraphicFramePr>
            <a:graphicFrameLocks noGrp="1" noChangeAspect="1"/>
          </p:cNvGraphicFramePr>
          <p:nvPr>
            <p:ph sz="quarter" idx="3"/>
            <p:extLst>
              <p:ext uri="{D42A27DB-BD31-4B8C-83A1-F6EECF244321}">
                <p14:modId xmlns:p14="http://schemas.microsoft.com/office/powerpoint/2010/main" val="798310513"/>
              </p:ext>
            </p:extLst>
          </p:nvPr>
        </p:nvGraphicFramePr>
        <p:xfrm>
          <a:off x="7648349" y="2234849"/>
          <a:ext cx="576263" cy="455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8" name="Формула" r:id="rId5" imgW="241195" imgH="190417" progId="Equation.3">
                  <p:embed/>
                </p:oleObj>
              </mc:Choice>
              <mc:Fallback>
                <p:oleObj name="Формула" r:id="rId5" imgW="241195" imgH="190417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48349" y="2234849"/>
                        <a:ext cx="576263" cy="4556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199" name="Rectangle 9"/>
          <p:cNvSpPr>
            <a:spLocks noChangeArrowheads="1"/>
          </p:cNvSpPr>
          <p:nvPr/>
        </p:nvSpPr>
        <p:spPr bwMode="auto">
          <a:xfrm>
            <a:off x="539750" y="2781300"/>
            <a:ext cx="18669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/>
              <a:t>коэффициенты </a:t>
            </a:r>
          </a:p>
        </p:txBody>
      </p:sp>
      <p:sp>
        <p:nvSpPr>
          <p:cNvPr id="8200" name="Rectangle 11"/>
          <p:cNvSpPr>
            <a:spLocks noChangeArrowheads="1"/>
          </p:cNvSpPr>
          <p:nvPr/>
        </p:nvSpPr>
        <p:spPr bwMode="auto">
          <a:xfrm>
            <a:off x="3005138" y="294957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201" name="Object 10"/>
              <p:cNvSpPr txBox="1"/>
              <p:nvPr/>
            </p:nvSpPr>
            <p:spPr bwMode="auto">
              <a:xfrm>
                <a:off x="2406650" y="2636838"/>
                <a:ext cx="3240088" cy="9366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rmAutofit fontScale="925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lang="ru-RU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ru-RU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ru-RU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r>
                                <a:rPr lang="ru-RU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  <m:r>
                                <a:rPr lang="ru-RU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  <m:r>
                                <m:rPr>
                                  <m:nor/>
                                </m:rPr>
                                <a:rPr lang="ru-RU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 − коэф.отражения</m:t>
                              </m:r>
                            </m:e>
                            <m:e>
                              <m:r>
                                <a:rPr lang="ru-RU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r>
                                <a:rPr lang="ru-RU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  <m:r>
                                <a:rPr lang="ru-RU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m:rPr>
                                  <m:nor/>
                                </m:rPr>
                                <a:rPr lang="ru-RU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0,5 − коэф. сжатия</m:t>
                              </m:r>
                            </m:e>
                            <m:e>
                              <m:r>
                                <a:rPr lang="ru-RU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r>
                                <a:rPr lang="ru-RU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𝛾</m:t>
                              </m:r>
                              <m:r>
                                <a:rPr lang="ru-RU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m:rPr>
                                  <m:nor/>
                                </m:rPr>
                                <a:rPr lang="ru-RU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2 − коэф. растяжения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8201" name="Object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406650" y="2636838"/>
                <a:ext cx="3240088" cy="936625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202" name="Rectangle 12"/>
          <p:cNvSpPr>
            <a:spLocks noChangeArrowheads="1"/>
          </p:cNvSpPr>
          <p:nvPr/>
        </p:nvSpPr>
        <p:spPr bwMode="auto">
          <a:xfrm>
            <a:off x="323850" y="3429000"/>
            <a:ext cx="8469313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b="1" i="1" u="sng"/>
              <a:t>Ш1.</a:t>
            </a:r>
            <a:r>
              <a:rPr lang="ru-RU" altLang="ru-RU"/>
              <a:t> Построение исходного симплекса (т.е. нахождение </a:t>
            </a:r>
            <a:r>
              <a:rPr lang="en-US" altLang="ru-RU"/>
              <a:t>n</a:t>
            </a:r>
            <a:r>
              <a:rPr lang="ru-RU" altLang="ru-RU"/>
              <a:t> + 1 граничных точек)</a:t>
            </a:r>
          </a:p>
        </p:txBody>
      </p:sp>
      <p:sp>
        <p:nvSpPr>
          <p:cNvPr id="8203" name="Rectangle 14"/>
          <p:cNvSpPr>
            <a:spLocks noChangeArrowheads="1"/>
          </p:cNvSpPr>
          <p:nvPr/>
        </p:nvSpPr>
        <p:spPr bwMode="auto">
          <a:xfrm>
            <a:off x="0" y="328453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graphicFrame>
        <p:nvGraphicFramePr>
          <p:cNvPr id="8204" name="Object 13"/>
          <p:cNvGraphicFramePr>
            <a:graphicFrameLocks noChangeAspect="1"/>
          </p:cNvGraphicFramePr>
          <p:nvPr/>
        </p:nvGraphicFramePr>
        <p:xfrm>
          <a:off x="323850" y="4149725"/>
          <a:ext cx="1655763" cy="425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9" name="Формула" r:id="rId8" imgW="952087" imgH="241195" progId="Equation.3">
                  <p:embed/>
                </p:oleObj>
              </mc:Choice>
              <mc:Fallback>
                <p:oleObj name="Формула" r:id="rId8" imgW="952087" imgH="241195" progId="Equation.3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3850" y="4149725"/>
                        <a:ext cx="1655763" cy="425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205" name="Rectangle 15"/>
          <p:cNvSpPr>
            <a:spLocks noChangeArrowheads="1"/>
          </p:cNvSpPr>
          <p:nvPr/>
        </p:nvSpPr>
        <p:spPr bwMode="auto">
          <a:xfrm>
            <a:off x="1979613" y="4221163"/>
            <a:ext cx="700087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/>
              <a:t>, где </a:t>
            </a:r>
          </a:p>
        </p:txBody>
      </p:sp>
      <p:sp>
        <p:nvSpPr>
          <p:cNvPr id="8206" name="Rectangle 17"/>
          <p:cNvSpPr>
            <a:spLocks noChangeArrowheads="1"/>
          </p:cNvSpPr>
          <p:nvPr/>
        </p:nvSpPr>
        <p:spPr bwMode="auto">
          <a:xfrm>
            <a:off x="0" y="296068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graphicFrame>
        <p:nvGraphicFramePr>
          <p:cNvPr id="8207" name="Object 16"/>
          <p:cNvGraphicFramePr>
            <a:graphicFrameLocks noChangeAspect="1"/>
          </p:cNvGraphicFramePr>
          <p:nvPr/>
        </p:nvGraphicFramePr>
        <p:xfrm>
          <a:off x="2700338" y="3716338"/>
          <a:ext cx="1330325" cy="14398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70" name="Формула" r:id="rId10" imgW="634725" imgH="939392" progId="Equation.3">
                  <p:embed/>
                </p:oleObj>
              </mc:Choice>
              <mc:Fallback>
                <p:oleObj name="Формула" r:id="rId10" imgW="634725" imgH="939392" progId="Equation.3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00338" y="3716338"/>
                        <a:ext cx="1330325" cy="14398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208" name="Rectangle 19"/>
          <p:cNvSpPr>
            <a:spLocks noChangeArrowheads="1"/>
          </p:cNvSpPr>
          <p:nvPr/>
        </p:nvSpPr>
        <p:spPr bwMode="auto">
          <a:xfrm>
            <a:off x="0" y="296068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graphicFrame>
        <p:nvGraphicFramePr>
          <p:cNvPr id="8209" name="Object 18"/>
          <p:cNvGraphicFramePr>
            <a:graphicFrameLocks noChangeAspect="1"/>
          </p:cNvGraphicFramePr>
          <p:nvPr/>
        </p:nvGraphicFramePr>
        <p:xfrm>
          <a:off x="4211638" y="3716338"/>
          <a:ext cx="1030287" cy="14398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71" name="Формула" r:id="rId12" imgW="672808" imgH="939392" progId="Equation.3">
                  <p:embed/>
                </p:oleObj>
              </mc:Choice>
              <mc:Fallback>
                <p:oleObj name="Формула" r:id="rId12" imgW="672808" imgH="939392" progId="Equation.3">
                  <p:embed/>
                  <p:pic>
                    <p:nvPicPr>
                      <p:cNvPr id="0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11638" y="3716338"/>
                        <a:ext cx="1030287" cy="14398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210" name="Rectangle 20"/>
          <p:cNvSpPr>
            <a:spLocks noChangeArrowheads="1"/>
          </p:cNvSpPr>
          <p:nvPr/>
        </p:nvSpPr>
        <p:spPr bwMode="auto">
          <a:xfrm>
            <a:off x="3995738" y="4221163"/>
            <a:ext cx="2984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/>
              <a:t>, </a:t>
            </a:r>
          </a:p>
        </p:txBody>
      </p:sp>
      <p:sp>
        <p:nvSpPr>
          <p:cNvPr id="8211" name="Rectangle 21"/>
          <p:cNvSpPr>
            <a:spLocks noChangeArrowheads="1"/>
          </p:cNvSpPr>
          <p:nvPr/>
        </p:nvSpPr>
        <p:spPr bwMode="auto">
          <a:xfrm>
            <a:off x="5292725" y="4221163"/>
            <a:ext cx="6413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/>
              <a:t>,…., </a:t>
            </a:r>
          </a:p>
        </p:txBody>
      </p:sp>
      <p:sp>
        <p:nvSpPr>
          <p:cNvPr id="8212" name="Rectangle 23"/>
          <p:cNvSpPr>
            <a:spLocks noChangeArrowheads="1"/>
          </p:cNvSpPr>
          <p:nvPr/>
        </p:nvSpPr>
        <p:spPr bwMode="auto">
          <a:xfrm>
            <a:off x="0" y="296068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graphicFrame>
        <p:nvGraphicFramePr>
          <p:cNvPr id="8213" name="Object 22"/>
          <p:cNvGraphicFramePr>
            <a:graphicFrameLocks noChangeAspect="1"/>
          </p:cNvGraphicFramePr>
          <p:nvPr/>
        </p:nvGraphicFramePr>
        <p:xfrm>
          <a:off x="5940425" y="3789363"/>
          <a:ext cx="1054100" cy="14398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72" name="Формула" r:id="rId14" imgW="685800" imgH="939800" progId="Equation.3">
                  <p:embed/>
                </p:oleObj>
              </mc:Choice>
              <mc:Fallback>
                <p:oleObj name="Формула" r:id="rId14" imgW="685800" imgH="939800" progId="Equation.3">
                  <p:embed/>
                  <p:pic>
                    <p:nvPicPr>
                      <p:cNvPr id="0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40425" y="3789363"/>
                        <a:ext cx="1054100" cy="14398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214" name="Rectangle 25"/>
          <p:cNvSpPr>
            <a:spLocks noChangeArrowheads="1"/>
          </p:cNvSpPr>
          <p:nvPr/>
        </p:nvSpPr>
        <p:spPr bwMode="auto">
          <a:xfrm>
            <a:off x="0" y="321945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graphicFrame>
        <p:nvGraphicFramePr>
          <p:cNvPr id="8215" name="Object 24"/>
          <p:cNvGraphicFramePr>
            <a:graphicFrameLocks noChangeAspect="1"/>
          </p:cNvGraphicFramePr>
          <p:nvPr/>
        </p:nvGraphicFramePr>
        <p:xfrm>
          <a:off x="611188" y="5373688"/>
          <a:ext cx="2447925" cy="657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73" name="Формула" r:id="rId16" imgW="1562100" imgH="419100" progId="Equation.3">
                  <p:embed/>
                </p:oleObj>
              </mc:Choice>
              <mc:Fallback>
                <p:oleObj name="Формула" r:id="rId16" imgW="1562100" imgH="419100" progId="Equation.3">
                  <p:embed/>
                  <p:pic>
                    <p:nvPicPr>
                      <p:cNvPr id="0" name="Object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1188" y="5373688"/>
                        <a:ext cx="2447925" cy="657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216" name="Rectangle 27"/>
          <p:cNvSpPr>
            <a:spLocks noChangeArrowheads="1"/>
          </p:cNvSpPr>
          <p:nvPr/>
        </p:nvSpPr>
        <p:spPr bwMode="auto">
          <a:xfrm>
            <a:off x="0" y="321945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graphicFrame>
        <p:nvGraphicFramePr>
          <p:cNvPr id="8217" name="Object 26"/>
          <p:cNvGraphicFramePr>
            <a:graphicFrameLocks noChangeAspect="1"/>
          </p:cNvGraphicFramePr>
          <p:nvPr/>
        </p:nvGraphicFramePr>
        <p:xfrm>
          <a:off x="4787900" y="5283200"/>
          <a:ext cx="2376488" cy="738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74" name="Формула" r:id="rId18" imgW="1346200" imgH="419100" progId="Equation.3">
                  <p:embed/>
                </p:oleObj>
              </mc:Choice>
              <mc:Fallback>
                <p:oleObj name="Формула" r:id="rId18" imgW="1346200" imgH="419100" progId="Equation.3">
                  <p:embed/>
                  <p:pic>
                    <p:nvPicPr>
                      <p:cNvPr id="0" name="Object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87900" y="5283200"/>
                        <a:ext cx="2376488" cy="7381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218" name="Rectangle 28"/>
          <p:cNvSpPr>
            <a:spLocks noChangeArrowheads="1"/>
          </p:cNvSpPr>
          <p:nvPr/>
        </p:nvSpPr>
        <p:spPr bwMode="auto">
          <a:xfrm>
            <a:off x="107950" y="6165850"/>
            <a:ext cx="8789988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ru-RU"/>
              <a:t>n</a:t>
            </a:r>
            <a:r>
              <a:rPr lang="ru-RU" altLang="ru-RU"/>
              <a:t>  –  размерность пространства, </a:t>
            </a:r>
            <a:r>
              <a:rPr lang="en-US" altLang="ru-RU"/>
              <a:t>d</a:t>
            </a:r>
            <a:r>
              <a:rPr lang="ru-RU" altLang="ru-RU"/>
              <a:t>1 – смещается в соответствии с номером точки.</a:t>
            </a:r>
          </a:p>
        </p:txBody>
      </p:sp>
      <p:sp>
        <p:nvSpPr>
          <p:cNvPr id="2" name="Прямоугольник 1"/>
          <p:cNvSpPr/>
          <p:nvPr/>
        </p:nvSpPr>
        <p:spPr>
          <a:xfrm>
            <a:off x="5552732" y="2359236"/>
            <a:ext cx="24878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lang="ru-RU" dirty="0">
                <a:ea typeface="Times New Roman" panose="02020603050405020304" pitchFamily="18" charset="0"/>
              </a:rPr>
              <a:t>;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>
          <a:xfrm>
            <a:off x="468313" y="274638"/>
            <a:ext cx="8218487" cy="1282700"/>
          </a:xfrm>
        </p:spPr>
        <p:txBody>
          <a:bodyPr/>
          <a:lstStyle/>
          <a:p>
            <a:pPr marL="838200" indent="-838200" eaLnBrk="1" hangingPunct="1"/>
            <a:r>
              <a:rPr lang="ru-RU" altLang="ru-RU" sz="3600" b="1" dirty="0"/>
              <a:t>Метод </a:t>
            </a:r>
            <a:r>
              <a:rPr lang="ru-RU" altLang="ru-RU" sz="3600" b="1" dirty="0" err="1"/>
              <a:t>Нелдера-Мида</a:t>
            </a:r>
            <a:r>
              <a:rPr lang="ru-RU" altLang="ru-RU" sz="3600" b="1" u="sng" dirty="0"/>
              <a:t> </a:t>
            </a:r>
            <a:br>
              <a:rPr lang="ru-RU" altLang="ru-RU" sz="3600" b="1" u="sng" dirty="0"/>
            </a:br>
            <a:r>
              <a:rPr lang="ru-RU" altLang="ru-RU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(деформируемых симплексов)</a:t>
            </a:r>
          </a:p>
        </p:txBody>
      </p:sp>
      <p:sp>
        <p:nvSpPr>
          <p:cNvPr id="9219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graphicFrame>
        <p:nvGraphicFramePr>
          <p:cNvPr id="9220" name="Object 10"/>
          <p:cNvGraphicFramePr>
            <a:graphicFrameLocks noChangeAspect="1"/>
          </p:cNvGraphicFramePr>
          <p:nvPr/>
        </p:nvGraphicFramePr>
        <p:xfrm>
          <a:off x="-114300" y="2957513"/>
          <a:ext cx="114300" cy="212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0" name="Формула" r:id="rId3" imgW="114151" imgH="215619" progId="Equation.3">
                  <p:embed/>
                </p:oleObj>
              </mc:Choice>
              <mc:Fallback>
                <p:oleObj name="Формула" r:id="rId3" imgW="114151" imgH="215619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-114300" y="2957513"/>
                        <a:ext cx="114300" cy="212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221" name="Rectangle 24"/>
          <p:cNvSpPr>
            <a:spLocks noChangeArrowheads="1"/>
          </p:cNvSpPr>
          <p:nvPr/>
        </p:nvSpPr>
        <p:spPr bwMode="auto">
          <a:xfrm>
            <a:off x="0" y="32131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sp>
        <p:nvSpPr>
          <p:cNvPr id="9222" name="Rectangle 26"/>
          <p:cNvSpPr>
            <a:spLocks noChangeArrowheads="1"/>
          </p:cNvSpPr>
          <p:nvPr/>
        </p:nvSpPr>
        <p:spPr bwMode="auto">
          <a:xfrm>
            <a:off x="7019925" y="184467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sp>
        <p:nvSpPr>
          <p:cNvPr id="9223" name="Rectangle 38"/>
          <p:cNvSpPr>
            <a:spLocks noChangeArrowheads="1"/>
          </p:cNvSpPr>
          <p:nvPr/>
        </p:nvSpPr>
        <p:spPr bwMode="auto">
          <a:xfrm>
            <a:off x="0" y="332581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sp>
        <p:nvSpPr>
          <p:cNvPr id="9224" name="Rectangle 40"/>
          <p:cNvSpPr>
            <a:spLocks noChangeArrowheads="1"/>
          </p:cNvSpPr>
          <p:nvPr/>
        </p:nvSpPr>
        <p:spPr bwMode="auto">
          <a:xfrm>
            <a:off x="0" y="332581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sp>
        <p:nvSpPr>
          <p:cNvPr id="9225" name="Rectangle 63"/>
          <p:cNvSpPr>
            <a:spLocks noChangeArrowheads="1"/>
          </p:cNvSpPr>
          <p:nvPr/>
        </p:nvSpPr>
        <p:spPr bwMode="auto">
          <a:xfrm>
            <a:off x="0" y="328136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sp>
        <p:nvSpPr>
          <p:cNvPr id="9226" name="Rectangle 67"/>
          <p:cNvSpPr>
            <a:spLocks noChangeArrowheads="1"/>
          </p:cNvSpPr>
          <p:nvPr/>
        </p:nvSpPr>
        <p:spPr bwMode="auto">
          <a:xfrm>
            <a:off x="-757238" y="3357563"/>
            <a:ext cx="9144001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sp>
        <p:nvSpPr>
          <p:cNvPr id="9227" name="Rectangle 68"/>
          <p:cNvSpPr>
            <a:spLocks noChangeArrowheads="1"/>
          </p:cNvSpPr>
          <p:nvPr/>
        </p:nvSpPr>
        <p:spPr bwMode="auto">
          <a:xfrm>
            <a:off x="0" y="335756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sp>
        <p:nvSpPr>
          <p:cNvPr id="9228" name="Rectangle 72"/>
          <p:cNvSpPr>
            <a:spLocks noChangeArrowheads="1"/>
          </p:cNvSpPr>
          <p:nvPr/>
        </p:nvSpPr>
        <p:spPr bwMode="auto">
          <a:xfrm>
            <a:off x="0" y="328136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sp>
        <p:nvSpPr>
          <p:cNvPr id="9229" name="Rectangle 75"/>
          <p:cNvSpPr>
            <a:spLocks noChangeArrowheads="1"/>
          </p:cNvSpPr>
          <p:nvPr/>
        </p:nvSpPr>
        <p:spPr bwMode="auto">
          <a:xfrm>
            <a:off x="0" y="335756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sp>
        <p:nvSpPr>
          <p:cNvPr id="9230" name="Rectangle 89"/>
          <p:cNvSpPr>
            <a:spLocks noChangeArrowheads="1"/>
          </p:cNvSpPr>
          <p:nvPr/>
        </p:nvSpPr>
        <p:spPr bwMode="auto">
          <a:xfrm>
            <a:off x="0" y="328453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sp>
        <p:nvSpPr>
          <p:cNvPr id="9231" name="Rectangle 92"/>
          <p:cNvSpPr>
            <a:spLocks noChangeArrowheads="1"/>
          </p:cNvSpPr>
          <p:nvPr/>
        </p:nvSpPr>
        <p:spPr bwMode="auto">
          <a:xfrm>
            <a:off x="0" y="292417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sp>
        <p:nvSpPr>
          <p:cNvPr id="9232" name="Rectangle 94"/>
          <p:cNvSpPr>
            <a:spLocks noChangeArrowheads="1"/>
          </p:cNvSpPr>
          <p:nvPr/>
        </p:nvSpPr>
        <p:spPr bwMode="auto">
          <a:xfrm>
            <a:off x="0" y="3676650"/>
            <a:ext cx="227013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sz="1200">
                <a:latin typeface="Arial" panose="020B0604020202020204" pitchFamily="34" charset="0"/>
                <a:cs typeface="Times New Roman" panose="02020603050405020304" pitchFamily="18" charset="0"/>
              </a:rPr>
              <a:t>.</a:t>
            </a:r>
            <a:endParaRPr lang="ru-RU" altLang="ru-RU">
              <a:latin typeface="Arial" panose="020B0604020202020204" pitchFamily="34" charset="0"/>
            </a:endParaRPr>
          </a:p>
        </p:txBody>
      </p:sp>
      <p:sp>
        <p:nvSpPr>
          <p:cNvPr id="9233" name="Rectangle 99"/>
          <p:cNvSpPr>
            <a:spLocks noChangeArrowheads="1"/>
          </p:cNvSpPr>
          <p:nvPr/>
        </p:nvSpPr>
        <p:spPr bwMode="auto">
          <a:xfrm>
            <a:off x="0" y="292417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sp>
        <p:nvSpPr>
          <p:cNvPr id="9234" name="Rectangle 104"/>
          <p:cNvSpPr>
            <a:spLocks noChangeArrowheads="1"/>
          </p:cNvSpPr>
          <p:nvPr/>
        </p:nvSpPr>
        <p:spPr bwMode="auto">
          <a:xfrm>
            <a:off x="-1189038" y="2708275"/>
            <a:ext cx="9144001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sp>
        <p:nvSpPr>
          <p:cNvPr id="9235" name="Rectangle 119"/>
          <p:cNvSpPr>
            <a:spLocks noChangeArrowheads="1"/>
          </p:cNvSpPr>
          <p:nvPr/>
        </p:nvSpPr>
        <p:spPr bwMode="auto">
          <a:xfrm>
            <a:off x="0" y="328453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sp>
        <p:nvSpPr>
          <p:cNvPr id="9236" name="Rectangle 122"/>
          <p:cNvSpPr>
            <a:spLocks noChangeArrowheads="1"/>
          </p:cNvSpPr>
          <p:nvPr/>
        </p:nvSpPr>
        <p:spPr bwMode="auto">
          <a:xfrm>
            <a:off x="0" y="328453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sp>
        <p:nvSpPr>
          <p:cNvPr id="9237" name="Rectangle 125"/>
          <p:cNvSpPr>
            <a:spLocks noChangeArrowheads="1"/>
          </p:cNvSpPr>
          <p:nvPr/>
        </p:nvSpPr>
        <p:spPr bwMode="auto">
          <a:xfrm>
            <a:off x="0" y="328453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sp>
        <p:nvSpPr>
          <p:cNvPr id="9238" name="Rectangle 126"/>
          <p:cNvSpPr>
            <a:spLocks noChangeArrowheads="1"/>
          </p:cNvSpPr>
          <p:nvPr/>
        </p:nvSpPr>
        <p:spPr bwMode="auto">
          <a:xfrm>
            <a:off x="0" y="357346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sp>
        <p:nvSpPr>
          <p:cNvPr id="9239" name="Rectangle 128"/>
          <p:cNvSpPr>
            <a:spLocks noChangeArrowheads="1"/>
          </p:cNvSpPr>
          <p:nvPr/>
        </p:nvSpPr>
        <p:spPr bwMode="auto">
          <a:xfrm>
            <a:off x="0" y="328453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sp>
        <p:nvSpPr>
          <p:cNvPr id="9240" name="Rectangle 13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sp>
        <p:nvSpPr>
          <p:cNvPr id="9241" name="Rectangle 133"/>
          <p:cNvSpPr>
            <a:spLocks noChangeArrowheads="1"/>
          </p:cNvSpPr>
          <p:nvPr/>
        </p:nvSpPr>
        <p:spPr bwMode="auto">
          <a:xfrm>
            <a:off x="0" y="26035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sp>
        <p:nvSpPr>
          <p:cNvPr id="9242" name="Rectangle 139"/>
          <p:cNvSpPr>
            <a:spLocks noChangeArrowheads="1"/>
          </p:cNvSpPr>
          <p:nvPr/>
        </p:nvSpPr>
        <p:spPr bwMode="auto">
          <a:xfrm>
            <a:off x="0" y="328453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sp>
        <p:nvSpPr>
          <p:cNvPr id="9243" name="Rectangle 141"/>
          <p:cNvSpPr>
            <a:spLocks noChangeArrowheads="1"/>
          </p:cNvSpPr>
          <p:nvPr/>
        </p:nvSpPr>
        <p:spPr bwMode="auto">
          <a:xfrm>
            <a:off x="0" y="314166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sp>
        <p:nvSpPr>
          <p:cNvPr id="9244" name="Rectangle 164"/>
          <p:cNvSpPr>
            <a:spLocks noChangeArrowheads="1"/>
          </p:cNvSpPr>
          <p:nvPr/>
        </p:nvSpPr>
        <p:spPr bwMode="auto">
          <a:xfrm>
            <a:off x="971550" y="1844675"/>
            <a:ext cx="1855788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b="1" i="1" u="sng"/>
              <a:t>Ш2.</a:t>
            </a:r>
            <a:r>
              <a:rPr lang="ru-RU" altLang="ru-RU"/>
              <a:t> Вычислить </a:t>
            </a:r>
          </a:p>
        </p:txBody>
      </p:sp>
      <p:sp>
        <p:nvSpPr>
          <p:cNvPr id="9245" name="Rectangle 166"/>
          <p:cNvSpPr>
            <a:spLocks noChangeArrowheads="1"/>
          </p:cNvSpPr>
          <p:nvPr/>
        </p:nvSpPr>
        <p:spPr bwMode="auto">
          <a:xfrm>
            <a:off x="0" y="318928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graphicFrame>
        <p:nvGraphicFramePr>
          <p:cNvPr id="9246" name="Object 165"/>
          <p:cNvGraphicFramePr>
            <a:graphicFrameLocks noChangeAspect="1"/>
          </p:cNvGraphicFramePr>
          <p:nvPr/>
        </p:nvGraphicFramePr>
        <p:xfrm>
          <a:off x="2771775" y="1628775"/>
          <a:ext cx="2447925" cy="798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1" name="Формула" r:id="rId5" imgW="1473200" imgH="482600" progId="Equation.3">
                  <p:embed/>
                </p:oleObj>
              </mc:Choice>
              <mc:Fallback>
                <p:oleObj name="Формула" r:id="rId5" imgW="1473200" imgH="482600" progId="Equation.3">
                  <p:embed/>
                  <p:pic>
                    <p:nvPicPr>
                      <p:cNvPr id="0" name="Object 16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71775" y="1628775"/>
                        <a:ext cx="2447925" cy="7985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247" name="Rectangle 167"/>
          <p:cNvSpPr>
            <a:spLocks noChangeArrowheads="1"/>
          </p:cNvSpPr>
          <p:nvPr/>
        </p:nvSpPr>
        <p:spPr bwMode="auto">
          <a:xfrm>
            <a:off x="900113" y="2492375"/>
            <a:ext cx="3729037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b="1" i="1" u="sng"/>
              <a:t>Ш3.</a:t>
            </a:r>
            <a:r>
              <a:rPr lang="ru-RU" altLang="ru-RU"/>
              <a:t> Вычислить ц.т. симплекса .    </a:t>
            </a:r>
          </a:p>
        </p:txBody>
      </p:sp>
      <p:sp>
        <p:nvSpPr>
          <p:cNvPr id="9248" name="Rectangle 169"/>
          <p:cNvSpPr>
            <a:spLocks noChangeArrowheads="1"/>
          </p:cNvSpPr>
          <p:nvPr/>
        </p:nvSpPr>
        <p:spPr bwMode="auto">
          <a:xfrm>
            <a:off x="0" y="32004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graphicFrame>
        <p:nvGraphicFramePr>
          <p:cNvPr id="9249" name="Object 168"/>
          <p:cNvGraphicFramePr>
            <a:graphicFrameLocks noChangeAspect="1"/>
          </p:cNvGraphicFramePr>
          <p:nvPr/>
        </p:nvGraphicFramePr>
        <p:xfrm>
          <a:off x="4500563" y="2276475"/>
          <a:ext cx="2592387" cy="806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2" name="Формула" r:id="rId7" imgW="1473200" imgH="457200" progId="Equation.3">
                  <p:embed/>
                </p:oleObj>
              </mc:Choice>
              <mc:Fallback>
                <p:oleObj name="Формула" r:id="rId7" imgW="1473200" imgH="457200" progId="Equation.3">
                  <p:embed/>
                  <p:pic>
                    <p:nvPicPr>
                      <p:cNvPr id="0" name="Object 16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00563" y="2276475"/>
                        <a:ext cx="2592387" cy="806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250" name="Rectangle 170"/>
          <p:cNvSpPr>
            <a:spLocks noChangeArrowheads="1"/>
          </p:cNvSpPr>
          <p:nvPr/>
        </p:nvSpPr>
        <p:spPr bwMode="auto">
          <a:xfrm>
            <a:off x="971550" y="3068638"/>
            <a:ext cx="1947863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b="1" i="1" u="sng"/>
              <a:t>Ш4.</a:t>
            </a:r>
            <a:r>
              <a:rPr lang="ru-RU" altLang="ru-RU"/>
              <a:t> Отражение. </a:t>
            </a:r>
          </a:p>
        </p:txBody>
      </p:sp>
      <p:sp>
        <p:nvSpPr>
          <p:cNvPr id="9251" name="Rectangle 172"/>
          <p:cNvSpPr>
            <a:spLocks noChangeArrowheads="1"/>
          </p:cNvSpPr>
          <p:nvPr/>
        </p:nvSpPr>
        <p:spPr bwMode="auto">
          <a:xfrm>
            <a:off x="0" y="330676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graphicFrame>
        <p:nvGraphicFramePr>
          <p:cNvPr id="9252" name="Object 171"/>
          <p:cNvGraphicFramePr>
            <a:graphicFrameLocks noChangeAspect="1"/>
          </p:cNvGraphicFramePr>
          <p:nvPr/>
        </p:nvGraphicFramePr>
        <p:xfrm>
          <a:off x="2987675" y="3068638"/>
          <a:ext cx="2808288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3" name="Формула" r:id="rId9" imgW="1638300" imgH="241300" progId="Equation.3">
                  <p:embed/>
                </p:oleObj>
              </mc:Choice>
              <mc:Fallback>
                <p:oleObj name="Формула" r:id="rId9" imgW="1638300" imgH="241300" progId="Equation.3">
                  <p:embed/>
                  <p:pic>
                    <p:nvPicPr>
                      <p:cNvPr id="0" name="Object 17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87675" y="3068638"/>
                        <a:ext cx="2808288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253" name="Rectangle 173"/>
          <p:cNvSpPr>
            <a:spLocks noChangeArrowheads="1"/>
          </p:cNvSpPr>
          <p:nvPr/>
        </p:nvSpPr>
        <p:spPr bwMode="auto">
          <a:xfrm>
            <a:off x="1042988" y="3573463"/>
            <a:ext cx="1468437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b="1" i="1" u="sng"/>
              <a:t>Ш5.</a:t>
            </a:r>
            <a:r>
              <a:rPr lang="ru-RU" altLang="ru-RU"/>
              <a:t> 1) Если </a:t>
            </a:r>
          </a:p>
        </p:txBody>
      </p:sp>
      <p:sp>
        <p:nvSpPr>
          <p:cNvPr id="9254" name="Rectangle 175"/>
          <p:cNvSpPr>
            <a:spLocks noChangeArrowheads="1"/>
          </p:cNvSpPr>
          <p:nvPr/>
        </p:nvSpPr>
        <p:spPr bwMode="auto">
          <a:xfrm>
            <a:off x="0" y="330676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graphicFrame>
        <p:nvGraphicFramePr>
          <p:cNvPr id="9255" name="Object 174"/>
          <p:cNvGraphicFramePr>
            <a:graphicFrameLocks noChangeAspect="1"/>
          </p:cNvGraphicFramePr>
          <p:nvPr/>
        </p:nvGraphicFramePr>
        <p:xfrm>
          <a:off x="2484438" y="3573463"/>
          <a:ext cx="2159000" cy="415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4" name="Формула" r:id="rId11" imgW="1129810" imgH="241195" progId="Equation.3">
                  <p:embed/>
                </p:oleObj>
              </mc:Choice>
              <mc:Fallback>
                <p:oleObj name="Формула" r:id="rId11" imgW="1129810" imgH="241195" progId="Equation.3">
                  <p:embed/>
                  <p:pic>
                    <p:nvPicPr>
                      <p:cNvPr id="0" name="Object 17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84438" y="3573463"/>
                        <a:ext cx="2159000" cy="415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256" name="Rectangle 176"/>
          <p:cNvSpPr>
            <a:spLocks noChangeArrowheads="1"/>
          </p:cNvSpPr>
          <p:nvPr/>
        </p:nvSpPr>
        <p:spPr bwMode="auto">
          <a:xfrm>
            <a:off x="4643438" y="3573463"/>
            <a:ext cx="587375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/>
              <a:t>, то </a:t>
            </a:r>
          </a:p>
        </p:txBody>
      </p:sp>
      <p:sp>
        <p:nvSpPr>
          <p:cNvPr id="9257" name="Rectangle 178"/>
          <p:cNvSpPr>
            <a:spLocks noChangeArrowheads="1"/>
          </p:cNvSpPr>
          <p:nvPr/>
        </p:nvSpPr>
        <p:spPr bwMode="auto">
          <a:xfrm>
            <a:off x="0" y="330676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graphicFrame>
        <p:nvGraphicFramePr>
          <p:cNvPr id="9258" name="Object 177"/>
          <p:cNvGraphicFramePr>
            <a:graphicFrameLocks noChangeAspect="1"/>
          </p:cNvGraphicFramePr>
          <p:nvPr/>
        </p:nvGraphicFramePr>
        <p:xfrm>
          <a:off x="5148263" y="3573463"/>
          <a:ext cx="3382962" cy="4333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5" name="Формула" r:id="rId13" imgW="1638300" imgH="241300" progId="Equation.3">
                  <p:embed/>
                </p:oleObj>
              </mc:Choice>
              <mc:Fallback>
                <p:oleObj name="Формула" r:id="rId13" imgW="1638300" imgH="241300" progId="Equation.3">
                  <p:embed/>
                  <p:pic>
                    <p:nvPicPr>
                      <p:cNvPr id="0" name="Object 17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48263" y="3573463"/>
                        <a:ext cx="3382962" cy="4333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259" name="Rectangle 179"/>
          <p:cNvSpPr>
            <a:spLocks noChangeArrowheads="1"/>
          </p:cNvSpPr>
          <p:nvPr/>
        </p:nvSpPr>
        <p:spPr bwMode="auto">
          <a:xfrm>
            <a:off x="1116013" y="4076700"/>
            <a:ext cx="10160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/>
              <a:t>2) Если </a:t>
            </a:r>
          </a:p>
        </p:txBody>
      </p:sp>
      <p:sp>
        <p:nvSpPr>
          <p:cNvPr id="9260" name="Rectangle 181"/>
          <p:cNvSpPr>
            <a:spLocks noChangeArrowheads="1"/>
          </p:cNvSpPr>
          <p:nvPr/>
        </p:nvSpPr>
        <p:spPr bwMode="auto">
          <a:xfrm>
            <a:off x="0" y="330676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graphicFrame>
        <p:nvGraphicFramePr>
          <p:cNvPr id="9261" name="Object 180"/>
          <p:cNvGraphicFramePr>
            <a:graphicFrameLocks noChangeAspect="1"/>
          </p:cNvGraphicFramePr>
          <p:nvPr/>
        </p:nvGraphicFramePr>
        <p:xfrm>
          <a:off x="2124075" y="4076700"/>
          <a:ext cx="2376488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6" name="Формула" r:id="rId15" imgW="1574800" imgH="241300" progId="Equation.3">
                  <p:embed/>
                </p:oleObj>
              </mc:Choice>
              <mc:Fallback>
                <p:oleObj name="Формула" r:id="rId15" imgW="1574800" imgH="241300" progId="Equation.3">
                  <p:embed/>
                  <p:pic>
                    <p:nvPicPr>
                      <p:cNvPr id="0" name="Object 18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24075" y="4076700"/>
                        <a:ext cx="2376488" cy="368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262" name="Rectangle 182"/>
          <p:cNvSpPr>
            <a:spLocks noChangeArrowheads="1"/>
          </p:cNvSpPr>
          <p:nvPr/>
        </p:nvSpPr>
        <p:spPr bwMode="auto">
          <a:xfrm>
            <a:off x="4427538" y="4076700"/>
            <a:ext cx="58737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/>
              <a:t>, то </a:t>
            </a:r>
          </a:p>
        </p:txBody>
      </p:sp>
      <p:sp>
        <p:nvSpPr>
          <p:cNvPr id="9263" name="Rectangle 184"/>
          <p:cNvSpPr>
            <a:spLocks noChangeArrowheads="1"/>
          </p:cNvSpPr>
          <p:nvPr/>
        </p:nvSpPr>
        <p:spPr bwMode="auto">
          <a:xfrm>
            <a:off x="0" y="330676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graphicFrame>
        <p:nvGraphicFramePr>
          <p:cNvPr id="9264" name="Object 183"/>
          <p:cNvGraphicFramePr>
            <a:graphicFrameLocks noChangeAspect="1"/>
          </p:cNvGraphicFramePr>
          <p:nvPr/>
        </p:nvGraphicFramePr>
        <p:xfrm>
          <a:off x="4932363" y="4005263"/>
          <a:ext cx="316865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7" name="Формула" r:id="rId17" imgW="1651000" imgH="241300" progId="Equation.3">
                  <p:embed/>
                </p:oleObj>
              </mc:Choice>
              <mc:Fallback>
                <p:oleObj name="Формула" r:id="rId17" imgW="1651000" imgH="241300" progId="Equation.3">
                  <p:embed/>
                  <p:pic>
                    <p:nvPicPr>
                      <p:cNvPr id="0" name="Object 18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32363" y="4005263"/>
                        <a:ext cx="3168650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265" name="Rectangle 185"/>
          <p:cNvSpPr>
            <a:spLocks noChangeArrowheads="1"/>
          </p:cNvSpPr>
          <p:nvPr/>
        </p:nvSpPr>
        <p:spPr bwMode="auto">
          <a:xfrm>
            <a:off x="1187450" y="4508500"/>
            <a:ext cx="10160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/>
              <a:t>3) Если </a:t>
            </a:r>
          </a:p>
        </p:txBody>
      </p:sp>
      <p:sp>
        <p:nvSpPr>
          <p:cNvPr id="9266" name="Rectangle 187"/>
          <p:cNvSpPr>
            <a:spLocks noChangeArrowheads="1"/>
          </p:cNvSpPr>
          <p:nvPr/>
        </p:nvSpPr>
        <p:spPr bwMode="auto">
          <a:xfrm>
            <a:off x="0" y="330676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graphicFrame>
        <p:nvGraphicFramePr>
          <p:cNvPr id="9267" name="Object 186"/>
          <p:cNvGraphicFramePr>
            <a:graphicFrameLocks noChangeAspect="1"/>
          </p:cNvGraphicFramePr>
          <p:nvPr/>
        </p:nvGraphicFramePr>
        <p:xfrm>
          <a:off x="2124075" y="4508500"/>
          <a:ext cx="2519363" cy="441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8" name="Формула" r:id="rId19" imgW="1129810" imgH="241195" progId="Equation.3">
                  <p:embed/>
                </p:oleObj>
              </mc:Choice>
              <mc:Fallback>
                <p:oleObj name="Формула" r:id="rId19" imgW="1129810" imgH="241195" progId="Equation.3">
                  <p:embed/>
                  <p:pic>
                    <p:nvPicPr>
                      <p:cNvPr id="0" name="Object 18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24075" y="4508500"/>
                        <a:ext cx="2519363" cy="441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268" name="Rectangle 188"/>
          <p:cNvSpPr>
            <a:spLocks noChangeArrowheads="1"/>
          </p:cNvSpPr>
          <p:nvPr/>
        </p:nvSpPr>
        <p:spPr bwMode="auto">
          <a:xfrm>
            <a:off x="4572000" y="4508500"/>
            <a:ext cx="58737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/>
              <a:t>, то </a:t>
            </a:r>
          </a:p>
        </p:txBody>
      </p:sp>
      <p:sp>
        <p:nvSpPr>
          <p:cNvPr id="9269" name="Rectangle 190"/>
          <p:cNvSpPr>
            <a:spLocks noChangeArrowheads="1"/>
          </p:cNvSpPr>
          <p:nvPr/>
        </p:nvSpPr>
        <p:spPr bwMode="auto">
          <a:xfrm>
            <a:off x="0" y="328453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graphicFrame>
        <p:nvGraphicFramePr>
          <p:cNvPr id="9270" name="Object 189"/>
          <p:cNvGraphicFramePr>
            <a:graphicFrameLocks noChangeAspect="1"/>
          </p:cNvGraphicFramePr>
          <p:nvPr/>
        </p:nvGraphicFramePr>
        <p:xfrm>
          <a:off x="5076825" y="4437063"/>
          <a:ext cx="3097213" cy="4556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9" name="Формула" r:id="rId21" imgW="1663700" imgH="241300" progId="Equation.3">
                  <p:embed/>
                </p:oleObj>
              </mc:Choice>
              <mc:Fallback>
                <p:oleObj name="Формула" r:id="rId21" imgW="1663700" imgH="241300" progId="Equation.3">
                  <p:embed/>
                  <p:pic>
                    <p:nvPicPr>
                      <p:cNvPr id="0" name="Object 18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76825" y="4437063"/>
                        <a:ext cx="3097213" cy="4556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271" name="Rectangle 191"/>
          <p:cNvSpPr>
            <a:spLocks noChangeArrowheads="1"/>
          </p:cNvSpPr>
          <p:nvPr/>
        </p:nvSpPr>
        <p:spPr bwMode="auto">
          <a:xfrm>
            <a:off x="1116013" y="5013325"/>
            <a:ext cx="42862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/>
              <a:t>– редукция всего симплекса в сторону </a:t>
            </a:r>
          </a:p>
        </p:txBody>
      </p:sp>
      <p:sp>
        <p:nvSpPr>
          <p:cNvPr id="9272" name="Rectangle 192"/>
          <p:cNvSpPr>
            <a:spLocks noChangeArrowheads="1"/>
          </p:cNvSpPr>
          <p:nvPr/>
        </p:nvSpPr>
        <p:spPr bwMode="auto">
          <a:xfrm>
            <a:off x="5219700" y="5013325"/>
            <a:ext cx="251142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/>
              <a:t>наилучшего решения.</a:t>
            </a:r>
          </a:p>
        </p:txBody>
      </p:sp>
      <p:sp>
        <p:nvSpPr>
          <p:cNvPr id="9273" name="Rectangle 193"/>
          <p:cNvSpPr>
            <a:spLocks noChangeArrowheads="1"/>
          </p:cNvSpPr>
          <p:nvPr/>
        </p:nvSpPr>
        <p:spPr bwMode="auto">
          <a:xfrm>
            <a:off x="1042988" y="5445125"/>
            <a:ext cx="1220787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b="1" i="1" u="sng"/>
              <a:t>Ш6</a:t>
            </a:r>
            <a:r>
              <a:rPr lang="ru-RU" altLang="ru-RU"/>
              <a:t>. Если </a:t>
            </a:r>
          </a:p>
        </p:txBody>
      </p:sp>
      <p:sp>
        <p:nvSpPr>
          <p:cNvPr id="9274" name="Rectangle 195"/>
          <p:cNvSpPr>
            <a:spLocks noChangeArrowheads="1"/>
          </p:cNvSpPr>
          <p:nvPr/>
        </p:nvSpPr>
        <p:spPr bwMode="auto">
          <a:xfrm>
            <a:off x="0" y="318928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graphicFrame>
        <p:nvGraphicFramePr>
          <p:cNvPr id="9275" name="Object 194"/>
          <p:cNvGraphicFramePr>
            <a:graphicFrameLocks noChangeAspect="1"/>
          </p:cNvGraphicFramePr>
          <p:nvPr/>
        </p:nvGraphicFramePr>
        <p:xfrm>
          <a:off x="2268538" y="5264150"/>
          <a:ext cx="3382962" cy="728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0" name="Формула" r:id="rId23" imgW="2222500" imgH="482600" progId="Equation.3">
                  <p:embed/>
                </p:oleObj>
              </mc:Choice>
              <mc:Fallback>
                <p:oleObj name="Формула" r:id="rId23" imgW="2222500" imgH="482600" progId="Equation.3">
                  <p:embed/>
                  <p:pic>
                    <p:nvPicPr>
                      <p:cNvPr id="0" name="Object 19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68538" y="5264150"/>
                        <a:ext cx="3382962" cy="7286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276" name="Rectangle 196"/>
          <p:cNvSpPr>
            <a:spLocks noChangeArrowheads="1"/>
          </p:cNvSpPr>
          <p:nvPr/>
        </p:nvSpPr>
        <p:spPr bwMode="auto">
          <a:xfrm>
            <a:off x="5651500" y="5445125"/>
            <a:ext cx="58737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/>
              <a:t>, то </a:t>
            </a:r>
          </a:p>
        </p:txBody>
      </p:sp>
      <p:sp>
        <p:nvSpPr>
          <p:cNvPr id="9277" name="Rectangle 198"/>
          <p:cNvSpPr>
            <a:spLocks noChangeArrowheads="1"/>
          </p:cNvSpPr>
          <p:nvPr/>
        </p:nvSpPr>
        <p:spPr bwMode="auto">
          <a:xfrm>
            <a:off x="0" y="330676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graphicFrame>
        <p:nvGraphicFramePr>
          <p:cNvPr id="9278" name="Object 197"/>
          <p:cNvGraphicFramePr>
            <a:graphicFrameLocks noChangeAspect="1"/>
          </p:cNvGraphicFramePr>
          <p:nvPr/>
        </p:nvGraphicFramePr>
        <p:xfrm>
          <a:off x="6227763" y="5462588"/>
          <a:ext cx="1728787" cy="4333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1" name="Формула" r:id="rId25" imgW="977900" imgH="241300" progId="Equation.3">
                  <p:embed/>
                </p:oleObj>
              </mc:Choice>
              <mc:Fallback>
                <p:oleObj name="Формула" r:id="rId25" imgW="977900" imgH="241300" progId="Equation.3">
                  <p:embed/>
                  <p:pic>
                    <p:nvPicPr>
                      <p:cNvPr id="0" name="Object 19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27763" y="5462588"/>
                        <a:ext cx="1728787" cy="4333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279" name="Rectangle 200"/>
          <p:cNvSpPr>
            <a:spLocks noChangeArrowheads="1"/>
          </p:cNvSpPr>
          <p:nvPr/>
        </p:nvSpPr>
        <p:spPr bwMode="auto">
          <a:xfrm>
            <a:off x="0" y="332263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graphicFrame>
        <p:nvGraphicFramePr>
          <p:cNvPr id="9280" name="Object 199"/>
          <p:cNvGraphicFramePr>
            <a:graphicFrameLocks noChangeAspect="1"/>
          </p:cNvGraphicFramePr>
          <p:nvPr/>
        </p:nvGraphicFramePr>
        <p:xfrm>
          <a:off x="1547813" y="6092825"/>
          <a:ext cx="3889375" cy="398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2" name="Формула" r:id="rId27" imgW="2070100" imgH="215900" progId="Equation.3">
                  <p:embed/>
                </p:oleObj>
              </mc:Choice>
              <mc:Fallback>
                <p:oleObj name="Формула" r:id="rId27" imgW="2070100" imgH="215900" progId="Equation.3">
                  <p:embed/>
                  <p:pic>
                    <p:nvPicPr>
                      <p:cNvPr id="0" name="Object 19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47813" y="6092825"/>
                        <a:ext cx="3889375" cy="3984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563915F-3696-4FEB-B2F1-BCD772B34A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Методы оракула первого порядка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84CA9D8-B8E1-443C-8B24-40B0A8BA43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Методы сопряженных градиентов:</a:t>
            </a:r>
          </a:p>
          <a:p>
            <a:pPr marL="514350" indent="-514350">
              <a:buFont typeface="+mj-lt"/>
              <a:buAutoNum type="arabicPeriod"/>
            </a:pP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Метод Флетчера-Ривза.</a:t>
            </a:r>
          </a:p>
          <a:p>
            <a:pPr marL="514350" indent="-514350">
              <a:buFont typeface="+mj-lt"/>
              <a:buAutoNum type="arabicPeriod"/>
            </a:pP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Метод </a:t>
            </a:r>
            <a:r>
              <a:rPr lang="ru-RU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Полака-Рибьера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03406110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ru-RU" altLang="ru-RU" sz="4000" b="1" i="1" u="sng"/>
              <a:t>Методы, использующие производные</a:t>
            </a:r>
            <a:r>
              <a:rPr lang="ru-RU" altLang="ru-RU" sz="4000" u="sng"/>
              <a:t>.</a:t>
            </a:r>
          </a:p>
        </p:txBody>
      </p:sp>
      <p:sp>
        <p:nvSpPr>
          <p:cNvPr id="102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algn="just" eaLnBrk="1" hangingPunct="1">
              <a:lnSpc>
                <a:spcPct val="90000"/>
              </a:lnSpc>
              <a:buFontTx/>
              <a:buNone/>
            </a:pPr>
            <a:r>
              <a:rPr lang="ru-RU" altLang="ru-RU" sz="2400" dirty="0"/>
              <a:t>     </a:t>
            </a:r>
            <a:r>
              <a:rPr lang="ru-RU" altLang="ru-RU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Как мы уже видели, простейшие методы </a:t>
            </a:r>
            <a:r>
              <a:rPr lang="en-US" altLang="ru-RU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ru-RU" altLang="ru-RU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порядка (метод наискорейшего спуска) и </a:t>
            </a:r>
            <a:r>
              <a:rPr lang="en-US" altLang="ru-RU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II</a:t>
            </a:r>
            <a:r>
              <a:rPr lang="ru-RU" altLang="ru-RU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порядка (метод Ньютона) в чистом виде не очень удобны для вычислений. В связи с этим были разработаны методы, которые позволяют преодолеть их недостатки. Наиболее распространенными в настоящее время методами являются метод сопряженных градиентов (метод </a:t>
            </a:r>
            <a:r>
              <a:rPr lang="ru-RU" altLang="ru-RU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Флетчера</a:t>
            </a:r>
            <a:r>
              <a:rPr lang="ru-RU" altLang="ru-RU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-Ривза), который является усовершенствованием метода наискорейшего спуска и </a:t>
            </a:r>
            <a:r>
              <a:rPr lang="ru-RU" altLang="ru-RU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квазиньютоновские</a:t>
            </a:r>
            <a:r>
              <a:rPr lang="ru-RU" altLang="ru-RU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методы, которые представляют собой развитие метода Ньютона.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ru-RU" altLang="ru-RU" sz="4000" b="1" dirty="0"/>
              <a:t>Методы сопряженных градиентов (первого порядка)</a:t>
            </a:r>
          </a:p>
        </p:txBody>
      </p:sp>
      <p:pic>
        <p:nvPicPr>
          <p:cNvPr id="11267" name="Picture 3"/>
          <p:cNvPicPr>
            <a:picLocks noGrp="1" noChangeAspect="1" noChangeArrowheads="1"/>
          </p:cNvPicPr>
          <p:nvPr>
            <p:ph type="body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57200" y="1600200"/>
            <a:ext cx="7283450" cy="3700463"/>
          </a:xfrm>
        </p:spPr>
      </p:pic>
      <p:sp>
        <p:nvSpPr>
          <p:cNvPr id="11268" name="Rectangle 5"/>
          <p:cNvSpPr>
            <a:spLocks noChangeArrowheads="1"/>
          </p:cNvSpPr>
          <p:nvPr/>
        </p:nvSpPr>
        <p:spPr bwMode="auto">
          <a:xfrm>
            <a:off x="0" y="330676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graphicFrame>
        <p:nvGraphicFramePr>
          <p:cNvPr id="11269" name="Object 4"/>
          <p:cNvGraphicFramePr>
            <a:graphicFrameLocks noChangeAspect="1"/>
          </p:cNvGraphicFramePr>
          <p:nvPr/>
        </p:nvGraphicFramePr>
        <p:xfrm>
          <a:off x="468313" y="5229225"/>
          <a:ext cx="2016125" cy="6048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4" name="Формула" r:id="rId4" imgW="812447" imgH="241195" progId="Equation.3">
                  <p:embed/>
                </p:oleObj>
              </mc:Choice>
              <mc:Fallback>
                <p:oleObj name="Формула" r:id="rId4" imgW="812447" imgH="241195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8313" y="5229225"/>
                        <a:ext cx="2016125" cy="6048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270" name="Rectangle 7"/>
          <p:cNvSpPr>
            <a:spLocks noChangeArrowheads="1"/>
          </p:cNvSpPr>
          <p:nvPr/>
        </p:nvSpPr>
        <p:spPr bwMode="auto">
          <a:xfrm>
            <a:off x="0" y="30861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graphicFrame>
        <p:nvGraphicFramePr>
          <p:cNvPr id="11271" name="Object 6"/>
          <p:cNvGraphicFramePr>
            <a:graphicFrameLocks noChangeAspect="1"/>
          </p:cNvGraphicFramePr>
          <p:nvPr/>
        </p:nvGraphicFramePr>
        <p:xfrm>
          <a:off x="3492500" y="5013325"/>
          <a:ext cx="4321175" cy="1655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5" name="Формула" r:id="rId6" imgW="1828800" imgH="685800" progId="Equation.3">
                  <p:embed/>
                </p:oleObj>
              </mc:Choice>
              <mc:Fallback>
                <p:oleObj name="Формула" r:id="rId6" imgW="1828800" imgH="68580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92500" y="5013325"/>
                        <a:ext cx="4321175" cy="16557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272" name="Rectangle 9"/>
          <p:cNvSpPr>
            <a:spLocks noChangeArrowheads="1"/>
          </p:cNvSpPr>
          <p:nvPr/>
        </p:nvSpPr>
        <p:spPr bwMode="auto">
          <a:xfrm>
            <a:off x="0" y="330676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graphicFrame>
        <p:nvGraphicFramePr>
          <p:cNvPr id="11273" name="Object 8"/>
          <p:cNvGraphicFramePr>
            <a:graphicFrameLocks noChangeAspect="1"/>
          </p:cNvGraphicFramePr>
          <p:nvPr/>
        </p:nvGraphicFramePr>
        <p:xfrm>
          <a:off x="395288" y="5870575"/>
          <a:ext cx="2592387" cy="654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6" name="Формула" r:id="rId8" imgW="1104900" imgH="241300" progId="Equation.3">
                  <p:embed/>
                </p:oleObj>
              </mc:Choice>
              <mc:Fallback>
                <p:oleObj name="Формула" r:id="rId8" imgW="1104900" imgH="24130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5288" y="5870575"/>
                        <a:ext cx="2592387" cy="654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ru-RU" altLang="ru-RU" b="1" i="1" u="sng"/>
              <a:t>Метод Флетчера-Ривза</a:t>
            </a:r>
            <a:r>
              <a:rPr lang="ru-RU" altLang="ru-RU"/>
              <a:t>  </a:t>
            </a:r>
          </a:p>
        </p:txBody>
      </p:sp>
      <p:sp>
        <p:nvSpPr>
          <p:cNvPr id="133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FontTx/>
              <a:buNone/>
            </a:pPr>
            <a:r>
              <a:rPr lang="ru-RU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Метод сопряженных градиентов состоит в построении матрицы сопряжения </a:t>
            </a:r>
            <a:r>
              <a:rPr lang="en-US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ru-RU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ru-RU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 такой, что                                  . </a:t>
            </a:r>
            <a:r>
              <a:rPr lang="ru-RU" alt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Флетчером</a:t>
            </a:r>
            <a:r>
              <a:rPr lang="ru-RU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-Ривзом была предложена процедура , состоящая в следующем</a:t>
            </a:r>
            <a:r>
              <a:rPr lang="ru-RU" altLang="ru-RU" sz="2000" dirty="0"/>
              <a:t>:</a:t>
            </a:r>
            <a:r>
              <a:rPr lang="ru-RU" altLang="ru-RU" dirty="0"/>
              <a:t> </a:t>
            </a:r>
          </a:p>
        </p:txBody>
      </p:sp>
      <p:sp>
        <p:nvSpPr>
          <p:cNvPr id="13316" name="Rectangle 5"/>
          <p:cNvSpPr>
            <a:spLocks noChangeArrowheads="1"/>
          </p:cNvSpPr>
          <p:nvPr/>
        </p:nvSpPr>
        <p:spPr bwMode="auto">
          <a:xfrm>
            <a:off x="0" y="33147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graphicFrame>
        <p:nvGraphicFramePr>
          <p:cNvPr id="13317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62611746"/>
              </p:ext>
            </p:extLst>
          </p:nvPr>
        </p:nvGraphicFramePr>
        <p:xfrm>
          <a:off x="4002585" y="1936609"/>
          <a:ext cx="2160588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30" name="Формула" r:id="rId3" imgW="1130300" imgH="228600" progId="Equation.3">
                  <p:embed/>
                </p:oleObj>
              </mc:Choice>
              <mc:Fallback>
                <p:oleObj name="Формула" r:id="rId3" imgW="1130300" imgH="2286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02585" y="1936609"/>
                        <a:ext cx="2160588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318" name="Rectangle 6"/>
          <p:cNvSpPr>
            <a:spLocks noChangeArrowheads="1"/>
          </p:cNvSpPr>
          <p:nvPr/>
        </p:nvSpPr>
        <p:spPr bwMode="auto">
          <a:xfrm>
            <a:off x="755650" y="2781300"/>
            <a:ext cx="4259263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/>
              <a:t> Строится последовательность точек: </a:t>
            </a:r>
          </a:p>
        </p:txBody>
      </p:sp>
      <p:sp>
        <p:nvSpPr>
          <p:cNvPr id="13319" name="Rectangle 8"/>
          <p:cNvSpPr>
            <a:spLocks noChangeArrowheads="1"/>
          </p:cNvSpPr>
          <p:nvPr/>
        </p:nvSpPr>
        <p:spPr bwMode="auto">
          <a:xfrm>
            <a:off x="0" y="332581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graphicFrame>
        <p:nvGraphicFramePr>
          <p:cNvPr id="13320" name="Object 7"/>
          <p:cNvGraphicFramePr>
            <a:graphicFrameLocks noChangeAspect="1"/>
          </p:cNvGraphicFramePr>
          <p:nvPr/>
        </p:nvGraphicFramePr>
        <p:xfrm>
          <a:off x="5148263" y="2827338"/>
          <a:ext cx="2016125" cy="303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31" name="Формула" r:id="rId5" imgW="1371600" imgH="203200" progId="Equation.3">
                  <p:embed/>
                </p:oleObj>
              </mc:Choice>
              <mc:Fallback>
                <p:oleObj name="Формула" r:id="rId5" imgW="1371600" imgH="20320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48263" y="2827338"/>
                        <a:ext cx="2016125" cy="3032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321" name="Rectangle 10"/>
          <p:cNvSpPr>
            <a:spLocks noChangeArrowheads="1"/>
          </p:cNvSpPr>
          <p:nvPr/>
        </p:nvSpPr>
        <p:spPr bwMode="auto">
          <a:xfrm>
            <a:off x="0" y="33147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graphicFrame>
        <p:nvGraphicFramePr>
          <p:cNvPr id="13322" name="Object 9"/>
          <p:cNvGraphicFramePr>
            <a:graphicFrameLocks noChangeAspect="1"/>
          </p:cNvGraphicFramePr>
          <p:nvPr/>
        </p:nvGraphicFramePr>
        <p:xfrm>
          <a:off x="971550" y="3213100"/>
          <a:ext cx="3313113" cy="433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32" name="Формула" r:id="rId7" imgW="1752600" imgH="228600" progId="Equation.3">
                  <p:embed/>
                </p:oleObj>
              </mc:Choice>
              <mc:Fallback>
                <p:oleObj name="Формула" r:id="rId7" imgW="1752600" imgH="228600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71550" y="3213100"/>
                        <a:ext cx="3313113" cy="4333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323" name="Rectangle 12"/>
          <p:cNvSpPr>
            <a:spLocks noChangeArrowheads="1"/>
          </p:cNvSpPr>
          <p:nvPr/>
        </p:nvSpPr>
        <p:spPr bwMode="auto">
          <a:xfrm>
            <a:off x="0" y="31242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graphicFrame>
        <p:nvGraphicFramePr>
          <p:cNvPr id="13324" name="Object 11"/>
          <p:cNvGraphicFramePr>
            <a:graphicFrameLocks noChangeAspect="1"/>
          </p:cNvGraphicFramePr>
          <p:nvPr/>
        </p:nvGraphicFramePr>
        <p:xfrm>
          <a:off x="900113" y="3500438"/>
          <a:ext cx="5616575" cy="1027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33" name="Формула" r:id="rId9" imgW="2971800" imgH="609600" progId="Equation.3">
                  <p:embed/>
                </p:oleObj>
              </mc:Choice>
              <mc:Fallback>
                <p:oleObj name="Формула" r:id="rId9" imgW="2971800" imgH="609600" progId="Equation.3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00113" y="3500438"/>
                        <a:ext cx="5616575" cy="10271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325" name="Rectangle 13"/>
          <p:cNvSpPr>
            <a:spLocks noChangeArrowheads="1"/>
          </p:cNvSpPr>
          <p:nvPr/>
        </p:nvSpPr>
        <p:spPr bwMode="auto">
          <a:xfrm>
            <a:off x="809625" y="4383627"/>
            <a:ext cx="311467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dirty="0"/>
              <a:t>– поправка, формирование </a:t>
            </a:r>
          </a:p>
        </p:txBody>
      </p:sp>
      <p:sp>
        <p:nvSpPr>
          <p:cNvPr id="13326" name="Rectangle 14"/>
          <p:cNvSpPr>
            <a:spLocks noChangeArrowheads="1"/>
          </p:cNvSpPr>
          <p:nvPr/>
        </p:nvSpPr>
        <p:spPr bwMode="auto">
          <a:xfrm>
            <a:off x="3515519" y="4382928"/>
            <a:ext cx="2998788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dirty="0"/>
              <a:t>матрицы сопряжения </a:t>
            </a:r>
            <a:r>
              <a:rPr lang="en-US" altLang="ru-RU" dirty="0"/>
              <a:t>Q</a:t>
            </a:r>
            <a:r>
              <a:rPr lang="ru-RU" altLang="ru-RU" dirty="0"/>
              <a:t>(</a:t>
            </a:r>
            <a:r>
              <a:rPr lang="en-US" altLang="ru-RU" dirty="0"/>
              <a:t>k</a:t>
            </a:r>
            <a:r>
              <a:rPr lang="ru-RU" altLang="ru-RU" dirty="0"/>
              <a:t>).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ru-RU" altLang="ru-RU" sz="4000" b="1" i="1" u="sng"/>
              <a:t>Алгоритм метода Флетчера-Ривза.</a:t>
            </a:r>
          </a:p>
        </p:txBody>
      </p:sp>
      <p:sp>
        <p:nvSpPr>
          <p:cNvPr id="143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FontTx/>
              <a:buNone/>
            </a:pPr>
            <a:r>
              <a:rPr lang="ru-RU" altLang="ru-RU" sz="1800" b="1" i="1" u="sng"/>
              <a:t>Ш0.</a:t>
            </a:r>
            <a:r>
              <a:rPr lang="ru-RU" altLang="ru-RU" sz="1800"/>
              <a:t> Выбор параметров точности</a:t>
            </a:r>
            <a:r>
              <a:rPr lang="ru-RU" altLang="ru-RU"/>
              <a:t> </a:t>
            </a:r>
          </a:p>
        </p:txBody>
      </p:sp>
      <p:sp>
        <p:nvSpPr>
          <p:cNvPr id="14340" name="Rectangle 5"/>
          <p:cNvSpPr>
            <a:spLocks noChangeArrowheads="1"/>
          </p:cNvSpPr>
          <p:nvPr/>
        </p:nvSpPr>
        <p:spPr bwMode="auto">
          <a:xfrm>
            <a:off x="0" y="332581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graphicFrame>
        <p:nvGraphicFramePr>
          <p:cNvPr id="14341" name="Object 4"/>
          <p:cNvGraphicFramePr>
            <a:graphicFrameLocks noChangeAspect="1"/>
          </p:cNvGraphicFramePr>
          <p:nvPr/>
        </p:nvGraphicFramePr>
        <p:xfrm>
          <a:off x="4140200" y="1844675"/>
          <a:ext cx="1081088" cy="333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66" name="Формула" r:id="rId3" imgW="672808" imgH="203112" progId="Equation.3">
                  <p:embed/>
                </p:oleObj>
              </mc:Choice>
              <mc:Fallback>
                <p:oleObj name="Формула" r:id="rId3" imgW="672808" imgH="203112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40200" y="1844675"/>
                        <a:ext cx="1081088" cy="333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342" name="Rectangle 6"/>
          <p:cNvSpPr>
            <a:spLocks noChangeArrowheads="1"/>
          </p:cNvSpPr>
          <p:nvPr/>
        </p:nvSpPr>
        <p:spPr bwMode="auto">
          <a:xfrm>
            <a:off x="468313" y="2205038"/>
            <a:ext cx="3163887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b="1" i="1" u="sng"/>
              <a:t>Ш1.</a:t>
            </a:r>
            <a:r>
              <a:rPr lang="ru-RU" altLang="ru-RU"/>
              <a:t>Выбор начальной точки </a:t>
            </a:r>
          </a:p>
        </p:txBody>
      </p:sp>
      <p:sp>
        <p:nvSpPr>
          <p:cNvPr id="14343" name="Rectangle 8"/>
          <p:cNvSpPr>
            <a:spLocks noChangeArrowheads="1"/>
          </p:cNvSpPr>
          <p:nvPr/>
        </p:nvSpPr>
        <p:spPr bwMode="auto">
          <a:xfrm>
            <a:off x="0" y="335756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graphicFrame>
        <p:nvGraphicFramePr>
          <p:cNvPr id="14344" name="Object 7"/>
          <p:cNvGraphicFramePr>
            <a:graphicFrameLocks noChangeAspect="1"/>
          </p:cNvGraphicFramePr>
          <p:nvPr/>
        </p:nvGraphicFramePr>
        <p:xfrm>
          <a:off x="3563938" y="2205038"/>
          <a:ext cx="395287" cy="3254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67" name="Формула" r:id="rId5" imgW="253780" imgH="203024" progId="Equation.3">
                  <p:embed/>
                </p:oleObj>
              </mc:Choice>
              <mc:Fallback>
                <p:oleObj name="Формула" r:id="rId5" imgW="253780" imgH="203024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63938" y="2205038"/>
                        <a:ext cx="395287" cy="3254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345" name="Object 9"/>
          <p:cNvGraphicFramePr>
            <a:graphicFrameLocks noChangeAspect="1"/>
          </p:cNvGraphicFramePr>
          <p:nvPr/>
        </p:nvGraphicFramePr>
        <p:xfrm>
          <a:off x="5435600" y="2276475"/>
          <a:ext cx="3097213" cy="333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68" name="Формула" r:id="rId7" imgW="2120900" imgH="228600" progId="Equation.3">
                  <p:embed/>
                </p:oleObj>
              </mc:Choice>
              <mc:Fallback>
                <p:oleObj name="Формула" r:id="rId7" imgW="2120900" imgH="228600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35600" y="2276475"/>
                        <a:ext cx="3097213" cy="333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346" name="Rectangle 11"/>
          <p:cNvSpPr>
            <a:spLocks noChangeArrowheads="1"/>
          </p:cNvSpPr>
          <p:nvPr/>
        </p:nvSpPr>
        <p:spPr bwMode="auto">
          <a:xfrm>
            <a:off x="0" y="307498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sp>
        <p:nvSpPr>
          <p:cNvPr id="14347" name="Rectangle 12"/>
          <p:cNvSpPr>
            <a:spLocks noChangeArrowheads="1"/>
          </p:cNvSpPr>
          <p:nvPr/>
        </p:nvSpPr>
        <p:spPr bwMode="auto">
          <a:xfrm>
            <a:off x="3924300" y="2230438"/>
            <a:ext cx="1439863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>
                <a:latin typeface="Arial" panose="020B0604020202020204" pitchFamily="34" charset="0"/>
                <a:cs typeface="Times New Roman" panose="02020603050405020304" pitchFamily="18" charset="0"/>
              </a:rPr>
              <a:t>. Вычислить</a:t>
            </a:r>
            <a:r>
              <a:rPr lang="ru-RU" altLang="ru-RU" sz="1200">
                <a:latin typeface="Arial" panose="020B0604020202020204" pitchFamily="34" charset="0"/>
                <a:cs typeface="Times New Roman" panose="02020603050405020304" pitchFamily="18" charset="0"/>
              </a:rPr>
              <a:t> </a:t>
            </a:r>
            <a:endParaRPr lang="ru-RU" altLang="ru-RU">
              <a:latin typeface="Arial" panose="020B0604020202020204" pitchFamily="34" charset="0"/>
            </a:endParaRPr>
          </a:p>
        </p:txBody>
      </p:sp>
      <p:sp>
        <p:nvSpPr>
          <p:cNvPr id="14348" name="Rectangle 13"/>
          <p:cNvSpPr>
            <a:spLocks noChangeArrowheads="1"/>
          </p:cNvSpPr>
          <p:nvPr/>
        </p:nvSpPr>
        <p:spPr bwMode="auto">
          <a:xfrm>
            <a:off x="395288" y="2636838"/>
            <a:ext cx="1855787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b="1" i="1" u="sng"/>
              <a:t>Ш2.</a:t>
            </a:r>
            <a:r>
              <a:rPr lang="ru-RU" altLang="ru-RU"/>
              <a:t> Вычислить </a:t>
            </a:r>
          </a:p>
        </p:txBody>
      </p:sp>
      <p:sp>
        <p:nvSpPr>
          <p:cNvPr id="14349" name="Rectangle 15"/>
          <p:cNvSpPr>
            <a:spLocks noChangeArrowheads="1"/>
          </p:cNvSpPr>
          <p:nvPr/>
        </p:nvSpPr>
        <p:spPr bwMode="auto">
          <a:xfrm>
            <a:off x="0" y="33147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graphicFrame>
        <p:nvGraphicFramePr>
          <p:cNvPr id="14350" name="Object 14"/>
          <p:cNvGraphicFramePr>
            <a:graphicFrameLocks noChangeAspect="1"/>
          </p:cNvGraphicFramePr>
          <p:nvPr/>
        </p:nvGraphicFramePr>
        <p:xfrm>
          <a:off x="2268538" y="2678113"/>
          <a:ext cx="4967287" cy="3317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69" name="Формула" r:id="rId9" imgW="3429000" imgH="228600" progId="Equation.3">
                  <p:embed/>
                </p:oleObj>
              </mc:Choice>
              <mc:Fallback>
                <p:oleObj name="Формула" r:id="rId9" imgW="3429000" imgH="228600" progId="Equation.3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68538" y="2678113"/>
                        <a:ext cx="4967287" cy="3317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351" name="Rectangle 17"/>
          <p:cNvSpPr>
            <a:spLocks noChangeArrowheads="1"/>
          </p:cNvSpPr>
          <p:nvPr/>
        </p:nvSpPr>
        <p:spPr bwMode="auto">
          <a:xfrm>
            <a:off x="395288" y="3141663"/>
            <a:ext cx="1824037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b="1" i="1" u="sng">
                <a:latin typeface="Arial" panose="020B0604020202020204" pitchFamily="34" charset="0"/>
                <a:cs typeface="Times New Roman" panose="02020603050405020304" pitchFamily="18" charset="0"/>
              </a:rPr>
              <a:t>Ш3</a:t>
            </a:r>
            <a:r>
              <a:rPr lang="ru-RU" altLang="ru-RU">
                <a:latin typeface="Arial" panose="020B0604020202020204" pitchFamily="34" charset="0"/>
                <a:cs typeface="Times New Roman" panose="02020603050405020304" pitchFamily="18" charset="0"/>
              </a:rPr>
              <a:t>. Вычислить</a:t>
            </a:r>
            <a:r>
              <a:rPr lang="ru-RU" altLang="ru-RU" sz="1200">
                <a:latin typeface="Arial" panose="020B0604020202020204" pitchFamily="34" charset="0"/>
                <a:cs typeface="Times New Roman" panose="02020603050405020304" pitchFamily="18" charset="0"/>
              </a:rPr>
              <a:t> </a:t>
            </a:r>
            <a:endParaRPr lang="ru-RU" altLang="ru-RU">
              <a:latin typeface="Arial" panose="020B0604020202020204" pitchFamily="34" charset="0"/>
            </a:endParaRPr>
          </a:p>
        </p:txBody>
      </p:sp>
      <p:graphicFrame>
        <p:nvGraphicFramePr>
          <p:cNvPr id="14352" name="Object 16"/>
          <p:cNvGraphicFramePr>
            <a:graphicFrameLocks noChangeAspect="1"/>
          </p:cNvGraphicFramePr>
          <p:nvPr/>
        </p:nvGraphicFramePr>
        <p:xfrm>
          <a:off x="2484438" y="2852738"/>
          <a:ext cx="5688012" cy="10810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70" name="Формула" r:id="rId11" imgW="3429000" imgH="609600" progId="Equation.3">
                  <p:embed/>
                </p:oleObj>
              </mc:Choice>
              <mc:Fallback>
                <p:oleObj name="Формула" r:id="rId11" imgW="3429000" imgH="609600" progId="Equation.3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84438" y="2852738"/>
                        <a:ext cx="5688012" cy="10810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353" name="Rectangle 18"/>
          <p:cNvSpPr>
            <a:spLocks noChangeArrowheads="1"/>
          </p:cNvSpPr>
          <p:nvPr/>
        </p:nvSpPr>
        <p:spPr bwMode="auto">
          <a:xfrm>
            <a:off x="395288" y="3933825"/>
            <a:ext cx="302577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b="1" i="1" u="sng"/>
              <a:t>Ш4.</a:t>
            </a:r>
            <a:r>
              <a:rPr lang="ru-RU" altLang="ru-RU"/>
              <a:t> Проверка сходимости:</a:t>
            </a:r>
          </a:p>
        </p:txBody>
      </p:sp>
      <p:sp>
        <p:nvSpPr>
          <p:cNvPr id="14354" name="Rectangle 19"/>
          <p:cNvSpPr>
            <a:spLocks noChangeArrowheads="1"/>
          </p:cNvSpPr>
          <p:nvPr/>
        </p:nvSpPr>
        <p:spPr bwMode="auto">
          <a:xfrm>
            <a:off x="900113" y="4437063"/>
            <a:ext cx="7683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/>
              <a:t>Если </a:t>
            </a:r>
          </a:p>
        </p:txBody>
      </p:sp>
      <p:sp>
        <p:nvSpPr>
          <p:cNvPr id="14355" name="Rectangle 21"/>
          <p:cNvSpPr>
            <a:spLocks noChangeArrowheads="1"/>
          </p:cNvSpPr>
          <p:nvPr/>
        </p:nvSpPr>
        <p:spPr bwMode="auto">
          <a:xfrm>
            <a:off x="0" y="328771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graphicFrame>
        <p:nvGraphicFramePr>
          <p:cNvPr id="14356" name="Object 20"/>
          <p:cNvGraphicFramePr>
            <a:graphicFrameLocks noChangeAspect="1"/>
          </p:cNvGraphicFramePr>
          <p:nvPr/>
        </p:nvGraphicFramePr>
        <p:xfrm>
          <a:off x="1547813" y="4365625"/>
          <a:ext cx="4176712" cy="512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71" name="Формула" r:id="rId13" imgW="2298700" imgH="279400" progId="Equation.3">
                  <p:embed/>
                </p:oleObj>
              </mc:Choice>
              <mc:Fallback>
                <p:oleObj name="Формула" r:id="rId13" imgW="2298700" imgH="279400" progId="Equation.3">
                  <p:embed/>
                  <p:pic>
                    <p:nvPicPr>
                      <p:cNvPr id="0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47813" y="4365625"/>
                        <a:ext cx="4176712" cy="5127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357" name="Rectangle 22"/>
          <p:cNvSpPr>
            <a:spLocks noChangeArrowheads="1"/>
          </p:cNvSpPr>
          <p:nvPr/>
        </p:nvSpPr>
        <p:spPr bwMode="auto">
          <a:xfrm>
            <a:off x="5724525" y="4437063"/>
            <a:ext cx="587375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/>
              <a:t>, то </a:t>
            </a:r>
          </a:p>
        </p:txBody>
      </p:sp>
      <p:sp>
        <p:nvSpPr>
          <p:cNvPr id="14358" name="Rectangle 24"/>
          <p:cNvSpPr>
            <a:spLocks noChangeArrowheads="1"/>
          </p:cNvSpPr>
          <p:nvPr/>
        </p:nvSpPr>
        <p:spPr bwMode="auto">
          <a:xfrm>
            <a:off x="0" y="33147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graphicFrame>
        <p:nvGraphicFramePr>
          <p:cNvPr id="14359" name="Object 23"/>
          <p:cNvGraphicFramePr>
            <a:graphicFrameLocks noChangeAspect="1"/>
          </p:cNvGraphicFramePr>
          <p:nvPr/>
        </p:nvGraphicFramePr>
        <p:xfrm>
          <a:off x="6372225" y="4384675"/>
          <a:ext cx="2232025" cy="436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72" name="Формула" r:id="rId15" imgW="1168400" imgH="228600" progId="Equation.3">
                  <p:embed/>
                </p:oleObj>
              </mc:Choice>
              <mc:Fallback>
                <p:oleObj name="Формула" r:id="rId15" imgW="1168400" imgH="228600" progId="Equation.3">
                  <p:embed/>
                  <p:pic>
                    <p:nvPicPr>
                      <p:cNvPr id="0" name="Object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72225" y="4384675"/>
                        <a:ext cx="2232025" cy="4365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360" name="Rectangle 25"/>
          <p:cNvSpPr>
            <a:spLocks noChangeArrowheads="1"/>
          </p:cNvSpPr>
          <p:nvPr/>
        </p:nvSpPr>
        <p:spPr bwMode="auto">
          <a:xfrm>
            <a:off x="900113" y="5084763"/>
            <a:ext cx="906462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/>
              <a:t>Иначе </a:t>
            </a:r>
          </a:p>
        </p:txBody>
      </p:sp>
      <p:sp>
        <p:nvSpPr>
          <p:cNvPr id="14361" name="Rectangle 27"/>
          <p:cNvSpPr>
            <a:spLocks noChangeArrowheads="1"/>
          </p:cNvSpPr>
          <p:nvPr/>
        </p:nvSpPr>
        <p:spPr bwMode="auto">
          <a:xfrm>
            <a:off x="1763713" y="5111750"/>
            <a:ext cx="82867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>
                <a:latin typeface="Arial" panose="020B0604020202020204" pitchFamily="34" charset="0"/>
                <a:cs typeface="Times New Roman" panose="02020603050405020304" pitchFamily="18" charset="0"/>
              </a:rPr>
              <a:t>{если</a:t>
            </a:r>
            <a:r>
              <a:rPr lang="ru-RU" altLang="ru-RU" sz="1200">
                <a:latin typeface="Arial" panose="020B0604020202020204" pitchFamily="34" charset="0"/>
                <a:cs typeface="Times New Roman" panose="02020603050405020304" pitchFamily="18" charset="0"/>
              </a:rPr>
              <a:t>   </a:t>
            </a:r>
            <a:endParaRPr lang="ru-RU" altLang="ru-RU">
              <a:latin typeface="Arial" panose="020B0604020202020204" pitchFamily="34" charset="0"/>
            </a:endParaRPr>
          </a:p>
        </p:txBody>
      </p:sp>
      <p:graphicFrame>
        <p:nvGraphicFramePr>
          <p:cNvPr id="14362" name="Object 26"/>
          <p:cNvGraphicFramePr>
            <a:graphicFrameLocks noChangeAspect="1"/>
          </p:cNvGraphicFramePr>
          <p:nvPr/>
        </p:nvGraphicFramePr>
        <p:xfrm>
          <a:off x="2484438" y="5121275"/>
          <a:ext cx="1150937" cy="392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73" name="Формула" r:id="rId17" imgW="622030" imgH="215806" progId="Equation.3">
                  <p:embed/>
                </p:oleObj>
              </mc:Choice>
              <mc:Fallback>
                <p:oleObj name="Формула" r:id="rId17" imgW="622030" imgH="215806" progId="Equation.3">
                  <p:embed/>
                  <p:pic>
                    <p:nvPicPr>
                      <p:cNvPr id="0" name="Object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84438" y="5121275"/>
                        <a:ext cx="1150937" cy="392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363" name="Rectangle 28"/>
          <p:cNvSpPr>
            <a:spLocks noChangeArrowheads="1"/>
          </p:cNvSpPr>
          <p:nvPr/>
        </p:nvSpPr>
        <p:spPr bwMode="auto">
          <a:xfrm>
            <a:off x="3563938" y="5111750"/>
            <a:ext cx="63182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sz="1200">
                <a:latin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ru-RU" altLang="ru-RU">
                <a:latin typeface="Arial" panose="020B0604020202020204" pitchFamily="34" charset="0"/>
                <a:cs typeface="Times New Roman" panose="02020603050405020304" pitchFamily="18" charset="0"/>
              </a:rPr>
              <a:t>, то </a:t>
            </a:r>
            <a:endParaRPr lang="ru-RU" altLang="ru-RU">
              <a:latin typeface="Arial" panose="020B0604020202020204" pitchFamily="34" charset="0"/>
            </a:endParaRPr>
          </a:p>
        </p:txBody>
      </p:sp>
      <p:sp>
        <p:nvSpPr>
          <p:cNvPr id="14364" name="Rectangle 30"/>
          <p:cNvSpPr>
            <a:spLocks noChangeArrowheads="1"/>
          </p:cNvSpPr>
          <p:nvPr/>
        </p:nvSpPr>
        <p:spPr bwMode="auto">
          <a:xfrm>
            <a:off x="0" y="33147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graphicFrame>
        <p:nvGraphicFramePr>
          <p:cNvPr id="14365" name="Object 29"/>
          <p:cNvGraphicFramePr>
            <a:graphicFrameLocks noChangeAspect="1"/>
          </p:cNvGraphicFramePr>
          <p:nvPr/>
        </p:nvGraphicFramePr>
        <p:xfrm>
          <a:off x="4284663" y="5157788"/>
          <a:ext cx="4391025" cy="415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74" name="Формула" r:id="rId19" imgW="2400300" imgH="228600" progId="Equation.3">
                  <p:embed/>
                </p:oleObj>
              </mc:Choice>
              <mc:Fallback>
                <p:oleObj name="Формула" r:id="rId19" imgW="2400300" imgH="228600" progId="Equation.3">
                  <p:embed/>
                  <p:pic>
                    <p:nvPicPr>
                      <p:cNvPr id="0" name="Object 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84663" y="5157788"/>
                        <a:ext cx="4391025" cy="415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366" name="Rectangle 31"/>
          <p:cNvSpPr>
            <a:spLocks noChangeArrowheads="1"/>
          </p:cNvSpPr>
          <p:nvPr/>
        </p:nvSpPr>
        <p:spPr bwMode="auto">
          <a:xfrm>
            <a:off x="684213" y="5734050"/>
            <a:ext cx="2741612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/>
              <a:t>                   если [</a:t>
            </a:r>
            <a:r>
              <a:rPr lang="en-US" altLang="ru-RU"/>
              <a:t>k</a:t>
            </a:r>
            <a:r>
              <a:rPr lang="ru-RU" altLang="ru-RU"/>
              <a:t>=</a:t>
            </a:r>
            <a:r>
              <a:rPr lang="en-US" altLang="ru-RU"/>
              <a:t>n</a:t>
            </a:r>
            <a:r>
              <a:rPr lang="ru-RU" altLang="ru-RU"/>
              <a:t>], то </a:t>
            </a:r>
          </a:p>
        </p:txBody>
      </p:sp>
      <p:sp>
        <p:nvSpPr>
          <p:cNvPr id="14367" name="Rectangle 33"/>
          <p:cNvSpPr>
            <a:spLocks noChangeArrowheads="1"/>
          </p:cNvSpPr>
          <p:nvPr/>
        </p:nvSpPr>
        <p:spPr bwMode="auto">
          <a:xfrm>
            <a:off x="0" y="33147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graphicFrame>
        <p:nvGraphicFramePr>
          <p:cNvPr id="14368" name="Object 32"/>
          <p:cNvGraphicFramePr>
            <a:graphicFrameLocks noChangeAspect="1"/>
          </p:cNvGraphicFramePr>
          <p:nvPr/>
        </p:nvGraphicFramePr>
        <p:xfrm>
          <a:off x="3492500" y="5718175"/>
          <a:ext cx="424815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75" name="Формула" r:id="rId21" imgW="2184400" imgH="228600" progId="Equation.3">
                  <p:embed/>
                </p:oleObj>
              </mc:Choice>
              <mc:Fallback>
                <p:oleObj name="Формула" r:id="rId21" imgW="2184400" imgH="228600" progId="Equation.3">
                  <p:embed/>
                  <p:pic>
                    <p:nvPicPr>
                      <p:cNvPr id="0" name="Object 3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92500" y="5718175"/>
                        <a:ext cx="4248150" cy="444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ru-RU" altLang="ru-RU" sz="4000" b="1" dirty="0"/>
              <a:t>Методы сопряженных градиентов</a:t>
            </a:r>
          </a:p>
        </p:txBody>
      </p:sp>
      <p:sp>
        <p:nvSpPr>
          <p:cNvPr id="12291" name="Rectangle 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graphicFrame>
        <p:nvGraphicFramePr>
          <p:cNvPr id="12292" name="Object 6"/>
          <p:cNvGraphicFramePr>
            <a:graphicFrameLocks noGrp="1" noChangeAspect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00237488"/>
              </p:ext>
            </p:extLst>
          </p:nvPr>
        </p:nvGraphicFramePr>
        <p:xfrm>
          <a:off x="909638" y="1417639"/>
          <a:ext cx="7777162" cy="503569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72" name="Формула" r:id="rId3" imgW="3606800" imgH="2311400" progId="Equation.3">
                  <p:embed/>
                </p:oleObj>
              </mc:Choice>
              <mc:Fallback>
                <p:oleObj name="Формула" r:id="rId3" imgW="3606800" imgH="231140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09638" y="1417639"/>
                        <a:ext cx="7777162" cy="503569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Прямоугольник 1"/>
          <p:cNvSpPr/>
          <p:nvPr/>
        </p:nvSpPr>
        <p:spPr>
          <a:xfrm>
            <a:off x="2267744" y="4149080"/>
            <a:ext cx="36004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lang="ru-RU" dirty="0">
                <a:ea typeface="Times New Roman" panose="02020603050405020304" pitchFamily="18" charset="0"/>
              </a:rPr>
              <a:t>(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7763574-FCF7-4D56-A9A5-31801434D7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Методы оракула второго порядка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5D28D0F-61B5-4CD6-BB6F-02B0390A67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Методы переменной метрики:</a:t>
            </a:r>
          </a:p>
          <a:p>
            <a:pPr marL="514350" indent="-514350">
              <a:buAutoNum type="arabicPeriod"/>
            </a:pPr>
            <a:r>
              <a:rPr lang="ru-RU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Метод </a:t>
            </a:r>
            <a:r>
              <a:rPr lang="ru-RU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Бройдена</a:t>
            </a:r>
            <a:r>
              <a:rPr lang="ru-RU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(Б).</a:t>
            </a:r>
          </a:p>
          <a:p>
            <a:pPr marL="514350" indent="-514350">
              <a:buAutoNum type="arabicPeriod"/>
            </a:pPr>
            <a:r>
              <a:rPr lang="ru-RU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Метод </a:t>
            </a:r>
            <a:r>
              <a:rPr lang="ru-RU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Девидона</a:t>
            </a:r>
            <a:r>
              <a:rPr lang="ru-RU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-Флетчера-Пауэлла (Д-Ф-П).</a:t>
            </a:r>
          </a:p>
          <a:p>
            <a:pPr marL="514350" indent="-514350">
              <a:buAutoNum type="arabicPeriod"/>
            </a:pPr>
            <a:r>
              <a:rPr lang="ru-RU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Метод </a:t>
            </a:r>
            <a:r>
              <a:rPr lang="ru-RU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Бройдена</a:t>
            </a:r>
            <a:r>
              <a:rPr lang="ru-RU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-Флетчера-Гольдфарба-</a:t>
            </a:r>
            <a:r>
              <a:rPr lang="ru-RU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Шенно</a:t>
            </a:r>
            <a:r>
              <a:rPr lang="ru-RU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(Б-Ф-Г-Ш).</a:t>
            </a:r>
          </a:p>
        </p:txBody>
      </p:sp>
    </p:spTree>
    <p:extLst>
      <p:ext uri="{BB962C8B-B14F-4D97-AF65-F5344CB8AC3E}">
        <p14:creationId xmlns:p14="http://schemas.microsoft.com/office/powerpoint/2010/main" val="44179324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ru-RU" altLang="ru-RU" sz="3600" b="1" u="sng" dirty="0" err="1"/>
              <a:t>Квазиньютоновские</a:t>
            </a:r>
            <a:r>
              <a:rPr lang="ru-RU" altLang="ru-RU" sz="3600" b="1" u="sng" dirty="0"/>
              <a:t> методы </a:t>
            </a:r>
            <a:br>
              <a:rPr lang="ru-RU" altLang="ru-RU" sz="3600" b="1" u="sng" dirty="0"/>
            </a:br>
            <a:r>
              <a:rPr lang="ru-RU" altLang="ru-RU" sz="32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( Методы переменной метрики)</a:t>
            </a:r>
          </a:p>
        </p:txBody>
      </p:sp>
      <p:sp>
        <p:nvSpPr>
          <p:cNvPr id="153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68313" y="1628775"/>
            <a:ext cx="8229600" cy="4525963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ru-RU" alt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Идея метода для одномерного случая:</a:t>
            </a:r>
          </a:p>
          <a:p>
            <a:pPr eaLnBrk="1" hangingPunct="1">
              <a:buFontTx/>
              <a:buNone/>
            </a:pPr>
            <a:endParaRPr lang="ru-RU" alt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364" name="Rectangle 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graphicFrame>
        <p:nvGraphicFramePr>
          <p:cNvPr id="15365" name="Object 4"/>
          <p:cNvGraphicFramePr>
            <a:graphicFrameLocks noChangeAspect="1"/>
          </p:cNvGraphicFramePr>
          <p:nvPr/>
        </p:nvGraphicFramePr>
        <p:xfrm>
          <a:off x="611188" y="2205038"/>
          <a:ext cx="3455987" cy="979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04" name="Формула" r:id="rId3" imgW="1562100" imgH="457200" progId="Equation.3">
                  <p:embed/>
                </p:oleObj>
              </mc:Choice>
              <mc:Fallback>
                <p:oleObj name="Формула" r:id="rId3" imgW="1562100" imgH="4572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1188" y="2205038"/>
                        <a:ext cx="3455987" cy="9794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366" name="Rectangle 7"/>
          <p:cNvSpPr>
            <a:spLocks noChangeArrowheads="1"/>
          </p:cNvSpPr>
          <p:nvPr/>
        </p:nvSpPr>
        <p:spPr bwMode="auto">
          <a:xfrm>
            <a:off x="4140200" y="2472681"/>
            <a:ext cx="1831463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sz="2400" dirty="0">
                <a:cs typeface="Times New Roman" panose="02020603050405020304" pitchFamily="18" charset="0"/>
              </a:rPr>
              <a:t>Обозначи</a:t>
            </a:r>
            <a:r>
              <a:rPr lang="ru-RU" altLang="ru-RU" sz="2400" dirty="0">
                <a:latin typeface="Arial" panose="020B0604020202020204" pitchFamily="34" charset="0"/>
                <a:cs typeface="Times New Roman" panose="02020603050405020304" pitchFamily="18" charset="0"/>
              </a:rPr>
              <a:t>м  </a:t>
            </a:r>
            <a:endParaRPr lang="ru-RU" altLang="ru-RU" sz="2400" dirty="0">
              <a:latin typeface="Arial" panose="020B0604020202020204" pitchFamily="34" charset="0"/>
            </a:endParaRPr>
          </a:p>
        </p:txBody>
      </p:sp>
      <p:graphicFrame>
        <p:nvGraphicFramePr>
          <p:cNvPr id="15367" name="Object 6"/>
          <p:cNvGraphicFramePr>
            <a:graphicFrameLocks noChangeAspect="1"/>
          </p:cNvGraphicFramePr>
          <p:nvPr/>
        </p:nvGraphicFramePr>
        <p:xfrm>
          <a:off x="5795963" y="2276475"/>
          <a:ext cx="2305050" cy="1008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05" name="Формула" r:id="rId5" imgW="990170" imgH="431613" progId="Equation.3">
                  <p:embed/>
                </p:oleObj>
              </mc:Choice>
              <mc:Fallback>
                <p:oleObj name="Формула" r:id="rId5" imgW="990170" imgH="431613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95963" y="2276475"/>
                        <a:ext cx="2305050" cy="10080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368" name="Rectangle 9"/>
          <p:cNvSpPr>
            <a:spLocks noChangeArrowheads="1"/>
          </p:cNvSpPr>
          <p:nvPr/>
        </p:nvSpPr>
        <p:spPr bwMode="auto">
          <a:xfrm>
            <a:off x="755650" y="3267075"/>
            <a:ext cx="9763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sz="2400" dirty="0">
                <a:cs typeface="Times New Roman" panose="02020603050405020304" pitchFamily="18" charset="0"/>
              </a:rPr>
              <a:t>тогда</a:t>
            </a:r>
            <a:r>
              <a:rPr lang="ru-RU" altLang="ru-RU" sz="2400" dirty="0">
                <a:latin typeface="Arial" panose="020B0604020202020204" pitchFamily="34" charset="0"/>
                <a:cs typeface="Times New Roman" panose="02020603050405020304" pitchFamily="18" charset="0"/>
              </a:rPr>
              <a:t> </a:t>
            </a:r>
            <a:endParaRPr lang="ru-RU" altLang="ru-RU" sz="2400" dirty="0">
              <a:latin typeface="Arial" panose="020B0604020202020204" pitchFamily="34" charset="0"/>
            </a:endParaRPr>
          </a:p>
        </p:txBody>
      </p:sp>
      <p:graphicFrame>
        <p:nvGraphicFramePr>
          <p:cNvPr id="15369" name="Object 8"/>
          <p:cNvGraphicFramePr>
            <a:graphicFrameLocks noChangeAspect="1"/>
          </p:cNvGraphicFramePr>
          <p:nvPr/>
        </p:nvGraphicFramePr>
        <p:xfrm>
          <a:off x="1835150" y="3213100"/>
          <a:ext cx="2376488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06" name="Формула" r:id="rId7" imgW="1117600" imgH="241300" progId="Equation.3">
                  <p:embed/>
                </p:oleObj>
              </mc:Choice>
              <mc:Fallback>
                <p:oleObj name="Формула" r:id="rId7" imgW="1117600" imgH="24130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35150" y="3213100"/>
                        <a:ext cx="2376488" cy="533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370" name="Rectangle 10"/>
          <p:cNvSpPr>
            <a:spLocks noChangeArrowheads="1"/>
          </p:cNvSpPr>
          <p:nvPr/>
        </p:nvSpPr>
        <p:spPr bwMode="auto">
          <a:xfrm>
            <a:off x="4011613" y="3551238"/>
            <a:ext cx="227012" cy="274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sz="1200">
                <a:latin typeface="Arial" panose="020B0604020202020204" pitchFamily="34" charset="0"/>
                <a:cs typeface="Times New Roman" panose="02020603050405020304" pitchFamily="18" charset="0"/>
              </a:rPr>
              <a:t>.</a:t>
            </a:r>
            <a:endParaRPr lang="ru-RU" altLang="ru-RU">
              <a:latin typeface="Arial" panose="020B0604020202020204" pitchFamily="34" charset="0"/>
            </a:endParaRPr>
          </a:p>
        </p:txBody>
      </p:sp>
      <p:sp>
        <p:nvSpPr>
          <p:cNvPr id="15371" name="Rectangle 11"/>
          <p:cNvSpPr>
            <a:spLocks noChangeArrowheads="1"/>
          </p:cNvSpPr>
          <p:nvPr/>
        </p:nvSpPr>
        <p:spPr bwMode="auto">
          <a:xfrm>
            <a:off x="4211638" y="3284538"/>
            <a:ext cx="3048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sz="2000"/>
              <a:t>.</a:t>
            </a:r>
            <a:r>
              <a:rPr lang="ru-RU" altLang="ru-RU"/>
              <a:t> </a:t>
            </a:r>
          </a:p>
        </p:txBody>
      </p:sp>
      <p:sp>
        <p:nvSpPr>
          <p:cNvPr id="15372" name="Rectangle 13"/>
          <p:cNvSpPr>
            <a:spLocks noChangeArrowheads="1"/>
          </p:cNvSpPr>
          <p:nvPr/>
        </p:nvSpPr>
        <p:spPr bwMode="auto">
          <a:xfrm>
            <a:off x="395288" y="3732639"/>
            <a:ext cx="7628307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sz="2400" dirty="0">
                <a:cs typeface="Times New Roman" panose="02020603050405020304" pitchFamily="18" charset="0"/>
              </a:rPr>
              <a:t>Этот метод называется «методом секущих».</a:t>
            </a:r>
          </a:p>
          <a:p>
            <a:r>
              <a:rPr lang="ru-RU" altLang="ru-RU" sz="2400" dirty="0">
                <a:cs typeface="Times New Roman" panose="02020603050405020304" pitchFamily="18" charset="0"/>
              </a:rPr>
              <a:t>Соответственно метод Ньютона для одномерного случая</a:t>
            </a:r>
          </a:p>
        </p:txBody>
      </p:sp>
      <p:graphicFrame>
        <p:nvGraphicFramePr>
          <p:cNvPr id="15373" name="Object 12"/>
          <p:cNvGraphicFramePr>
            <a:graphicFrameLocks noChangeAspect="1"/>
          </p:cNvGraphicFramePr>
          <p:nvPr/>
        </p:nvGraphicFramePr>
        <p:xfrm>
          <a:off x="3635375" y="4437063"/>
          <a:ext cx="3527425" cy="690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07" name="Формула" r:id="rId9" imgW="1282700" imgH="254000" progId="Equation.3">
                  <p:embed/>
                </p:oleObj>
              </mc:Choice>
              <mc:Fallback>
                <p:oleObj name="Формула" r:id="rId9" imgW="1282700" imgH="254000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35375" y="4437063"/>
                        <a:ext cx="3527425" cy="6905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374" name="Rectangle 15"/>
          <p:cNvSpPr>
            <a:spLocks noChangeArrowheads="1"/>
          </p:cNvSpPr>
          <p:nvPr/>
        </p:nvSpPr>
        <p:spPr bwMode="auto">
          <a:xfrm>
            <a:off x="468313" y="5199063"/>
            <a:ext cx="219868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sz="2400" dirty="0">
                <a:cs typeface="Times New Roman" panose="02020603050405020304" pitchFamily="18" charset="0"/>
              </a:rPr>
              <a:t>Таким образом</a:t>
            </a:r>
            <a:r>
              <a:rPr lang="ru-RU" altLang="ru-RU" sz="1200" dirty="0">
                <a:cs typeface="Times New Roman" panose="02020603050405020304" pitchFamily="18" charset="0"/>
              </a:rPr>
              <a:t> </a:t>
            </a:r>
            <a:endParaRPr lang="ru-RU" altLang="ru-RU" dirty="0">
              <a:cs typeface="Times New Roman" panose="02020603050405020304" pitchFamily="18" charset="0"/>
            </a:endParaRPr>
          </a:p>
        </p:txBody>
      </p:sp>
      <p:graphicFrame>
        <p:nvGraphicFramePr>
          <p:cNvPr id="15375" name="Object 14"/>
          <p:cNvGraphicFramePr>
            <a:graphicFrameLocks noChangeAspect="1"/>
          </p:cNvGraphicFramePr>
          <p:nvPr/>
        </p:nvGraphicFramePr>
        <p:xfrm>
          <a:off x="2771775" y="5084763"/>
          <a:ext cx="2449513" cy="608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08" name="Формула" r:id="rId11" imgW="761669" imgH="241195" progId="Equation.3">
                  <p:embed/>
                </p:oleObj>
              </mc:Choice>
              <mc:Fallback>
                <p:oleObj name="Формула" r:id="rId11" imgW="761669" imgH="241195" progId="Equation.3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71775" y="5084763"/>
                        <a:ext cx="2449513" cy="6080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376" name="Rectangle 16"/>
          <p:cNvSpPr>
            <a:spLocks noChangeArrowheads="1"/>
          </p:cNvSpPr>
          <p:nvPr/>
        </p:nvSpPr>
        <p:spPr bwMode="auto">
          <a:xfrm>
            <a:off x="5292725" y="5084763"/>
            <a:ext cx="34020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sz="2000" dirty="0">
                <a:latin typeface="Arial" panose="020B0604020202020204" pitchFamily="34" charset="0"/>
                <a:cs typeface="Times New Roman" panose="02020603050405020304" pitchFamily="18" charset="0"/>
              </a:rPr>
              <a:t>, </a:t>
            </a:r>
            <a:r>
              <a:rPr lang="ru-RU" altLang="ru-RU" sz="2400" dirty="0">
                <a:cs typeface="Times New Roman" panose="02020603050405020304" pitchFamily="18" charset="0"/>
              </a:rPr>
              <a:t>т.е. представляет собой</a:t>
            </a:r>
          </a:p>
        </p:txBody>
      </p:sp>
      <p:sp>
        <p:nvSpPr>
          <p:cNvPr id="15377" name="Rectangle 17"/>
          <p:cNvSpPr>
            <a:spLocks noChangeArrowheads="1"/>
          </p:cNvSpPr>
          <p:nvPr/>
        </p:nvSpPr>
        <p:spPr bwMode="auto">
          <a:xfrm>
            <a:off x="2843808" y="5734050"/>
            <a:ext cx="544671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sz="2400" dirty="0"/>
              <a:t>второй производной функции спуска.</a:t>
            </a:r>
          </a:p>
        </p:txBody>
      </p:sp>
      <p:sp>
        <p:nvSpPr>
          <p:cNvPr id="15378" name="Rectangle 18"/>
          <p:cNvSpPr>
            <a:spLocks noChangeArrowheads="1"/>
          </p:cNvSpPr>
          <p:nvPr/>
        </p:nvSpPr>
        <p:spPr bwMode="auto">
          <a:xfrm>
            <a:off x="827088" y="4581525"/>
            <a:ext cx="250983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r>
              <a:rPr lang="ru-RU" altLang="ru-RU" sz="2400"/>
              <a:t>можно записать</a:t>
            </a:r>
            <a:r>
              <a:rPr lang="ru-RU" altLang="ru-RU"/>
              <a:t>:</a:t>
            </a:r>
          </a:p>
        </p:txBody>
      </p:sp>
      <p:sp>
        <p:nvSpPr>
          <p:cNvPr id="15379" name="Rectangle 19"/>
          <p:cNvSpPr>
            <a:spLocks noChangeArrowheads="1"/>
          </p:cNvSpPr>
          <p:nvPr/>
        </p:nvSpPr>
        <p:spPr bwMode="auto">
          <a:xfrm>
            <a:off x="611188" y="5734050"/>
            <a:ext cx="24320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sz="2400"/>
              <a:t>аппроксимацию</a:t>
            </a:r>
          </a:p>
        </p:txBody>
      </p:sp>
      <p:sp>
        <p:nvSpPr>
          <p:cNvPr id="15380" name="Rectangle 20"/>
          <p:cNvSpPr>
            <a:spLocks noChangeArrowheads="1"/>
          </p:cNvSpPr>
          <p:nvPr/>
        </p:nvSpPr>
        <p:spPr bwMode="auto">
          <a:xfrm>
            <a:off x="7164388" y="4562475"/>
            <a:ext cx="38735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sz="3200"/>
              <a:t>. </a:t>
            </a:r>
          </a:p>
        </p:txBody>
      </p:sp>
      <p:sp>
        <p:nvSpPr>
          <p:cNvPr id="15381" name="Rectangle 21"/>
          <p:cNvSpPr>
            <a:spLocks noChangeArrowheads="1"/>
          </p:cNvSpPr>
          <p:nvPr/>
        </p:nvSpPr>
        <p:spPr bwMode="auto">
          <a:xfrm>
            <a:off x="3995738" y="2420938"/>
            <a:ext cx="387350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sz="3200" dirty="0"/>
              <a:t>. 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ru-RU" altLang="ru-RU" sz="3600" b="1" u="sng" dirty="0" err="1"/>
              <a:t>Квазиньютоновские</a:t>
            </a:r>
            <a:r>
              <a:rPr lang="ru-RU" altLang="ru-RU" sz="3600" b="1" u="sng" dirty="0"/>
              <a:t> методы </a:t>
            </a:r>
            <a:br>
              <a:rPr lang="ru-RU" altLang="ru-RU" sz="3600" b="1" u="sng" dirty="0"/>
            </a:br>
            <a:r>
              <a:rPr lang="ru-RU" altLang="ru-RU" sz="28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( Методы переменной метрики).</a:t>
            </a:r>
            <a:r>
              <a:rPr lang="ru-RU" alt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163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68313" y="1916113"/>
            <a:ext cx="8229600" cy="4525962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ru-RU" altLang="ru-RU" sz="28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Идея метода:</a:t>
            </a:r>
            <a:r>
              <a:rPr lang="ru-RU" alt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eaLnBrk="1" hangingPunct="1">
              <a:buFontTx/>
              <a:buNone/>
            </a:pPr>
            <a:r>
              <a:rPr lang="ru-RU" altLang="ru-RU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Продифферинцируем</a:t>
            </a: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разложение в ряд Тейлора функцию  </a:t>
            </a: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</a:t>
            </a: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ru-RU" altLang="ru-RU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buFontTx/>
              <a:buNone/>
            </a:pP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 окрестности т.      т.е.              .</a:t>
            </a:r>
          </a:p>
        </p:txBody>
      </p:sp>
      <p:sp>
        <p:nvSpPr>
          <p:cNvPr id="16388" name="Rectangle 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graphicFrame>
        <p:nvGraphicFramePr>
          <p:cNvPr id="16389" name="Object 4"/>
          <p:cNvGraphicFramePr>
            <a:graphicFrameLocks noChangeAspect="1"/>
          </p:cNvGraphicFramePr>
          <p:nvPr/>
        </p:nvGraphicFramePr>
        <p:xfrm>
          <a:off x="0" y="0"/>
          <a:ext cx="136525" cy="168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38" name="Формула" r:id="rId3" imgW="139579" imgH="164957" progId="Equation.3">
                  <p:embed/>
                </p:oleObj>
              </mc:Choice>
              <mc:Fallback>
                <p:oleObj name="Формула" r:id="rId3" imgW="139579" imgH="164957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136525" cy="168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390" name="Rectangle 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graphicFrame>
        <p:nvGraphicFramePr>
          <p:cNvPr id="16391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27401524"/>
              </p:ext>
            </p:extLst>
          </p:nvPr>
        </p:nvGraphicFramePr>
        <p:xfrm>
          <a:off x="2134394" y="2618360"/>
          <a:ext cx="312737" cy="3857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39" name="Формула" r:id="rId5" imgW="139579" imgH="164957" progId="Equation.3">
                  <p:embed/>
                </p:oleObj>
              </mc:Choice>
              <mc:Fallback>
                <p:oleObj name="Формула" r:id="rId5" imgW="139579" imgH="164957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34394" y="2618360"/>
                        <a:ext cx="312737" cy="3857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392" name="Rectangle 9"/>
          <p:cNvSpPr>
            <a:spLocks noChangeArrowheads="1"/>
          </p:cNvSpPr>
          <p:nvPr/>
        </p:nvSpPr>
        <p:spPr bwMode="auto">
          <a:xfrm>
            <a:off x="0" y="33147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graphicFrame>
        <p:nvGraphicFramePr>
          <p:cNvPr id="16393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00698925"/>
              </p:ext>
            </p:extLst>
          </p:nvPr>
        </p:nvGraphicFramePr>
        <p:xfrm>
          <a:off x="2813369" y="2661224"/>
          <a:ext cx="792162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40" name="Формула" r:id="rId6" imgW="419100" imgH="228600" progId="Equation.3">
                  <p:embed/>
                </p:oleObj>
              </mc:Choice>
              <mc:Fallback>
                <p:oleObj name="Формула" r:id="rId6" imgW="419100" imgH="22860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13369" y="2661224"/>
                        <a:ext cx="792162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394" name="Rectangle 10"/>
          <p:cNvSpPr>
            <a:spLocks noChangeArrowheads="1"/>
          </p:cNvSpPr>
          <p:nvPr/>
        </p:nvSpPr>
        <p:spPr bwMode="auto">
          <a:xfrm>
            <a:off x="468313" y="3213100"/>
            <a:ext cx="155892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/>
              <a:t>Обозначим:  </a:t>
            </a:r>
          </a:p>
        </p:txBody>
      </p:sp>
      <p:sp>
        <p:nvSpPr>
          <p:cNvPr id="16395" name="Rectangle 12"/>
          <p:cNvSpPr>
            <a:spLocks noChangeArrowheads="1"/>
          </p:cNvSpPr>
          <p:nvPr/>
        </p:nvSpPr>
        <p:spPr bwMode="auto">
          <a:xfrm>
            <a:off x="0" y="294481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graphicFrame>
        <p:nvGraphicFramePr>
          <p:cNvPr id="16396" name="Object 11"/>
          <p:cNvGraphicFramePr>
            <a:graphicFrameLocks noChangeAspect="1"/>
          </p:cNvGraphicFramePr>
          <p:nvPr/>
        </p:nvGraphicFramePr>
        <p:xfrm>
          <a:off x="1906588" y="2995613"/>
          <a:ext cx="3529012" cy="15128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41" name="Формула" r:id="rId8" imgW="1917700" imgH="965200" progId="Equation.3">
                  <p:embed/>
                </p:oleObj>
              </mc:Choice>
              <mc:Fallback>
                <p:oleObj name="Формула" r:id="rId8" imgW="1917700" imgH="965200" progId="Equation.3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6588" y="2995613"/>
                        <a:ext cx="3529012" cy="15128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397" name="Rectangle 14"/>
          <p:cNvSpPr>
            <a:spLocks noChangeArrowheads="1"/>
          </p:cNvSpPr>
          <p:nvPr/>
        </p:nvSpPr>
        <p:spPr bwMode="auto">
          <a:xfrm>
            <a:off x="3611563" y="2808288"/>
            <a:ext cx="312737" cy="274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sz="1200">
                <a:latin typeface="Arial" panose="020B0604020202020204" pitchFamily="34" charset="0"/>
                <a:cs typeface="Times New Roman" panose="02020603050405020304" pitchFamily="18" charset="0"/>
              </a:rPr>
              <a:t>:  </a:t>
            </a:r>
            <a:endParaRPr lang="ru-RU" altLang="ru-RU">
              <a:latin typeface="Arial" panose="020B0604020202020204" pitchFamily="34" charset="0"/>
            </a:endParaRPr>
          </a:p>
        </p:txBody>
      </p:sp>
      <p:sp>
        <p:nvSpPr>
          <p:cNvPr id="16398" name="Rectangle 16"/>
          <p:cNvSpPr>
            <a:spLocks noChangeArrowheads="1"/>
          </p:cNvSpPr>
          <p:nvPr/>
        </p:nvSpPr>
        <p:spPr bwMode="auto">
          <a:xfrm>
            <a:off x="0" y="328771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graphicFrame>
        <p:nvGraphicFramePr>
          <p:cNvPr id="16399" name="Object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43436698"/>
              </p:ext>
            </p:extLst>
          </p:nvPr>
        </p:nvGraphicFramePr>
        <p:xfrm>
          <a:off x="3747347" y="2624138"/>
          <a:ext cx="4248150" cy="474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42" name="Формула" r:id="rId10" imgW="2527300" imgH="279400" progId="Equation.3">
                  <p:embed/>
                </p:oleObj>
              </mc:Choice>
              <mc:Fallback>
                <p:oleObj name="Формула" r:id="rId10" imgW="2527300" imgH="279400" progId="Equation.3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47347" y="2624138"/>
                        <a:ext cx="4248150" cy="4746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400" name="Rectangle 18"/>
          <p:cNvSpPr>
            <a:spLocks noChangeArrowheads="1"/>
          </p:cNvSpPr>
          <p:nvPr/>
        </p:nvSpPr>
        <p:spPr bwMode="auto">
          <a:xfrm>
            <a:off x="250825" y="335756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graphicFrame>
        <p:nvGraphicFramePr>
          <p:cNvPr id="16401" name="Object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87351789"/>
              </p:ext>
            </p:extLst>
          </p:nvPr>
        </p:nvGraphicFramePr>
        <p:xfrm>
          <a:off x="3779838" y="3103564"/>
          <a:ext cx="446405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43" name="Формула" r:id="rId12" imgW="2298700" imgH="228600" progId="Equation.3">
                  <p:embed/>
                </p:oleObj>
              </mc:Choice>
              <mc:Fallback>
                <p:oleObj name="Формула" r:id="rId12" imgW="2298700" imgH="228600" progId="Equation.3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79838" y="3103564"/>
                        <a:ext cx="4464050" cy="444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402" name="Rectangle 19"/>
          <p:cNvSpPr>
            <a:spLocks noChangeArrowheads="1"/>
          </p:cNvSpPr>
          <p:nvPr/>
        </p:nvSpPr>
        <p:spPr bwMode="auto">
          <a:xfrm>
            <a:off x="5088256" y="3794126"/>
            <a:ext cx="852488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dirty="0"/>
              <a:t>Тогда </a:t>
            </a:r>
          </a:p>
        </p:txBody>
      </p:sp>
      <p:sp>
        <p:nvSpPr>
          <p:cNvPr id="16403" name="Rectangle 21"/>
          <p:cNvSpPr>
            <a:spLocks noChangeArrowheads="1"/>
          </p:cNvSpPr>
          <p:nvPr/>
        </p:nvSpPr>
        <p:spPr bwMode="auto">
          <a:xfrm>
            <a:off x="0" y="306863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graphicFrame>
        <p:nvGraphicFramePr>
          <p:cNvPr id="16404" name="Object 2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84003709"/>
              </p:ext>
            </p:extLst>
          </p:nvPr>
        </p:nvGraphicFramePr>
        <p:xfrm>
          <a:off x="6127433" y="3517965"/>
          <a:ext cx="2952750" cy="14398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44" name="Формула" r:id="rId14" imgW="1828800" imgH="736600" progId="Equation.3">
                  <p:embed/>
                </p:oleObj>
              </mc:Choice>
              <mc:Fallback>
                <p:oleObj name="Формула" r:id="rId14" imgW="1828800" imgH="736600" progId="Equation.3">
                  <p:embed/>
                  <p:pic>
                    <p:nvPicPr>
                      <p:cNvPr id="0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27433" y="3517965"/>
                        <a:ext cx="2952750" cy="14398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405" name="Rectangle 22"/>
          <p:cNvSpPr>
            <a:spLocks noChangeArrowheads="1"/>
          </p:cNvSpPr>
          <p:nvPr/>
        </p:nvSpPr>
        <p:spPr bwMode="auto">
          <a:xfrm>
            <a:off x="395288" y="4365625"/>
            <a:ext cx="1004887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/>
              <a:t>откуда  </a:t>
            </a:r>
          </a:p>
        </p:txBody>
      </p:sp>
      <p:sp>
        <p:nvSpPr>
          <p:cNvPr id="16406" name="Rectangle 24"/>
          <p:cNvSpPr>
            <a:spLocks noChangeArrowheads="1"/>
          </p:cNvSpPr>
          <p:nvPr/>
        </p:nvSpPr>
        <p:spPr bwMode="auto">
          <a:xfrm>
            <a:off x="0" y="33147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graphicFrame>
        <p:nvGraphicFramePr>
          <p:cNvPr id="16407" name="Object 23"/>
          <p:cNvGraphicFramePr>
            <a:graphicFrameLocks noChangeAspect="1"/>
          </p:cNvGraphicFramePr>
          <p:nvPr/>
        </p:nvGraphicFramePr>
        <p:xfrm>
          <a:off x="1403350" y="4365625"/>
          <a:ext cx="2087563" cy="454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45" name="Формула" r:id="rId16" imgW="1054100" imgH="228600" progId="Equation.3">
                  <p:embed/>
                </p:oleObj>
              </mc:Choice>
              <mc:Fallback>
                <p:oleObj name="Формула" r:id="rId16" imgW="1054100" imgH="228600" progId="Equation.3">
                  <p:embed/>
                  <p:pic>
                    <p:nvPicPr>
                      <p:cNvPr id="0" name="Object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03350" y="4365625"/>
                        <a:ext cx="2087563" cy="454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408" name="Rectangle 27"/>
          <p:cNvSpPr>
            <a:spLocks noChangeArrowheads="1"/>
          </p:cNvSpPr>
          <p:nvPr/>
        </p:nvSpPr>
        <p:spPr bwMode="auto">
          <a:xfrm>
            <a:off x="3348038" y="4365625"/>
            <a:ext cx="2413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/>
              <a:t>,</a:t>
            </a:r>
          </a:p>
        </p:txBody>
      </p:sp>
      <p:sp>
        <p:nvSpPr>
          <p:cNvPr id="16409" name="Rectangle 29"/>
          <p:cNvSpPr>
            <a:spLocks noChangeArrowheads="1"/>
          </p:cNvSpPr>
          <p:nvPr/>
        </p:nvSpPr>
        <p:spPr bwMode="auto">
          <a:xfrm>
            <a:off x="0" y="335756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graphicFrame>
        <p:nvGraphicFramePr>
          <p:cNvPr id="16410" name="Object 2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91126615"/>
              </p:ext>
            </p:extLst>
          </p:nvPr>
        </p:nvGraphicFramePr>
        <p:xfrm>
          <a:off x="959360" y="4878389"/>
          <a:ext cx="792162" cy="374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46" name="Формула" r:id="rId18" imgW="406224" imgH="190417" progId="Equation.3">
                  <p:embed/>
                </p:oleObj>
              </mc:Choice>
              <mc:Fallback>
                <p:oleObj name="Формула" r:id="rId18" imgW="406224" imgH="190417" progId="Equation.3">
                  <p:embed/>
                  <p:pic>
                    <p:nvPicPr>
                      <p:cNvPr id="0" name="Object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59360" y="4878389"/>
                        <a:ext cx="792162" cy="374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411" name="Rectangle 30"/>
          <p:cNvSpPr>
            <a:spLocks noChangeArrowheads="1"/>
          </p:cNvSpPr>
          <p:nvPr/>
        </p:nvSpPr>
        <p:spPr bwMode="auto">
          <a:xfrm>
            <a:off x="1589597" y="4930777"/>
            <a:ext cx="3027362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dirty="0"/>
              <a:t>– обратная матрица Гессе </a:t>
            </a:r>
          </a:p>
        </p:txBody>
      </p:sp>
      <p:sp>
        <p:nvSpPr>
          <p:cNvPr id="16412" name="Rectangle 31"/>
          <p:cNvSpPr>
            <a:spLocks noChangeArrowheads="1"/>
          </p:cNvSpPr>
          <p:nvPr/>
        </p:nvSpPr>
        <p:spPr bwMode="auto">
          <a:xfrm>
            <a:off x="4211638" y="4941888"/>
            <a:ext cx="4608512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/>
              <a:t>, требующая вычисления 2-х частных производных. </a:t>
            </a:r>
          </a:p>
        </p:txBody>
      </p:sp>
      <p:sp>
        <p:nvSpPr>
          <p:cNvPr id="16413" name="Rectangle 32"/>
          <p:cNvSpPr>
            <a:spLocks noChangeArrowheads="1"/>
          </p:cNvSpPr>
          <p:nvPr/>
        </p:nvSpPr>
        <p:spPr bwMode="auto">
          <a:xfrm>
            <a:off x="323850" y="5589588"/>
            <a:ext cx="8280400" cy="9159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/>
              <a:t>Идея квазиньютоновских методов состоит в аппроксимации матрицы Гессе матрицами, корректирующими на каждой итерации исходную матрицу так, чтобы через </a:t>
            </a:r>
            <a:r>
              <a:rPr lang="en-US" altLang="ru-RU"/>
              <a:t>n</a:t>
            </a:r>
            <a:r>
              <a:rPr lang="ru-RU" altLang="ru-RU"/>
              <a:t>-итераций получить матрицу близкую к матрице Гессе.</a:t>
            </a:r>
          </a:p>
        </p:txBody>
      </p:sp>
      <p:sp>
        <p:nvSpPr>
          <p:cNvPr id="16414" name="Rectangle 34"/>
          <p:cNvSpPr>
            <a:spLocks noChangeArrowheads="1"/>
          </p:cNvSpPr>
          <p:nvPr/>
        </p:nvSpPr>
        <p:spPr bwMode="auto">
          <a:xfrm>
            <a:off x="0" y="335756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graphicFrame>
        <p:nvGraphicFramePr>
          <p:cNvPr id="16415" name="Object 3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38911228"/>
              </p:ext>
            </p:extLst>
          </p:nvPr>
        </p:nvGraphicFramePr>
        <p:xfrm>
          <a:off x="6876256" y="2285206"/>
          <a:ext cx="865188" cy="404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47" name="Формула" r:id="rId20" imgW="444307" imgH="203112" progId="Equation.3">
                  <p:embed/>
                </p:oleObj>
              </mc:Choice>
              <mc:Fallback>
                <p:oleObj name="Формула" r:id="rId20" imgW="444307" imgH="203112" progId="Equation.3">
                  <p:embed/>
                  <p:pic>
                    <p:nvPicPr>
                      <p:cNvPr id="0" name="Object 3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76256" y="2285206"/>
                        <a:ext cx="865188" cy="4048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ru-RU" altLang="ru-RU" sz="3600" b="1" u="sng" dirty="0" err="1"/>
              <a:t>Квазиньютоновские</a:t>
            </a:r>
            <a:r>
              <a:rPr lang="ru-RU" altLang="ru-RU" sz="3600" b="1" u="sng" dirty="0"/>
              <a:t> методы</a:t>
            </a:r>
            <a:r>
              <a:rPr lang="ru-RU" altLang="ru-RU" sz="3600" u="sng" dirty="0"/>
              <a:t> </a:t>
            </a:r>
            <a:br>
              <a:rPr lang="ru-RU" altLang="ru-RU" sz="3600" u="sng" dirty="0"/>
            </a:br>
            <a:r>
              <a:rPr lang="ru-RU" altLang="ru-RU" sz="32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( Методы переменной метрики)</a:t>
            </a:r>
          </a:p>
        </p:txBody>
      </p:sp>
      <p:sp>
        <p:nvSpPr>
          <p:cNvPr id="174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68313" y="1628775"/>
            <a:ext cx="8229600" cy="4525963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Обозначим</a:t>
            </a:r>
          </a:p>
        </p:txBody>
      </p:sp>
      <p:sp>
        <p:nvSpPr>
          <p:cNvPr id="17412" name="Rectangle 5"/>
          <p:cNvSpPr>
            <a:spLocks noChangeArrowheads="1"/>
          </p:cNvSpPr>
          <p:nvPr/>
        </p:nvSpPr>
        <p:spPr bwMode="auto">
          <a:xfrm>
            <a:off x="0" y="330676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graphicFrame>
        <p:nvGraphicFramePr>
          <p:cNvPr id="17413" name="Object 4"/>
          <p:cNvGraphicFramePr>
            <a:graphicFrameLocks noChangeAspect="1"/>
          </p:cNvGraphicFramePr>
          <p:nvPr/>
        </p:nvGraphicFramePr>
        <p:xfrm>
          <a:off x="1979613" y="1566863"/>
          <a:ext cx="1944687" cy="4079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66" name="Формула" r:id="rId3" imgW="1168400" imgH="241300" progId="Equation.3">
                  <p:embed/>
                </p:oleObj>
              </mc:Choice>
              <mc:Fallback>
                <p:oleObj name="Формула" r:id="rId3" imgW="1168400" imgH="2413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79613" y="1566863"/>
                        <a:ext cx="1944687" cy="4079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414" name="Rectangle 6"/>
          <p:cNvSpPr>
            <a:spLocks noChangeArrowheads="1"/>
          </p:cNvSpPr>
          <p:nvPr/>
        </p:nvSpPr>
        <p:spPr bwMode="auto">
          <a:xfrm>
            <a:off x="3851275" y="1628775"/>
            <a:ext cx="700088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/>
              <a:t>, где </a:t>
            </a:r>
          </a:p>
        </p:txBody>
      </p:sp>
      <p:sp>
        <p:nvSpPr>
          <p:cNvPr id="17415" name="Rectangle 8"/>
          <p:cNvSpPr>
            <a:spLocks noChangeArrowheads="1"/>
          </p:cNvSpPr>
          <p:nvPr/>
        </p:nvSpPr>
        <p:spPr bwMode="auto">
          <a:xfrm>
            <a:off x="0" y="332581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graphicFrame>
        <p:nvGraphicFramePr>
          <p:cNvPr id="17416" name="Object 7"/>
          <p:cNvGraphicFramePr>
            <a:graphicFrameLocks noChangeAspect="1"/>
          </p:cNvGraphicFramePr>
          <p:nvPr/>
        </p:nvGraphicFramePr>
        <p:xfrm>
          <a:off x="4427538" y="1557338"/>
          <a:ext cx="720725" cy="374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67" name="Формула" r:id="rId5" imgW="393529" imgH="203112" progId="Equation.3">
                  <p:embed/>
                </p:oleObj>
              </mc:Choice>
              <mc:Fallback>
                <p:oleObj name="Формула" r:id="rId5" imgW="393529" imgH="203112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27538" y="1557338"/>
                        <a:ext cx="720725" cy="374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417" name="Rectangle 9"/>
          <p:cNvSpPr>
            <a:spLocks noChangeArrowheads="1"/>
          </p:cNvSpPr>
          <p:nvPr/>
        </p:nvSpPr>
        <p:spPr bwMode="auto">
          <a:xfrm>
            <a:off x="5148263" y="1557338"/>
            <a:ext cx="381635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/>
              <a:t>- аппроксимация обратной матрицы Гессе. </a:t>
            </a:r>
          </a:p>
        </p:txBody>
      </p:sp>
      <p:sp>
        <p:nvSpPr>
          <p:cNvPr id="17418" name="Rectangle 11"/>
          <p:cNvSpPr>
            <a:spLocks noChangeArrowheads="1"/>
          </p:cNvSpPr>
          <p:nvPr/>
        </p:nvSpPr>
        <p:spPr bwMode="auto">
          <a:xfrm>
            <a:off x="539750" y="2230438"/>
            <a:ext cx="833438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dirty="0">
                <a:cs typeface="Times New Roman" panose="02020603050405020304" pitchFamily="18" charset="0"/>
              </a:rPr>
              <a:t>Пусть</a:t>
            </a:r>
            <a:r>
              <a:rPr lang="ru-RU" altLang="ru-RU" dirty="0">
                <a:latin typeface="Arial" panose="020B0604020202020204" pitchFamily="34" charset="0"/>
                <a:cs typeface="Times New Roman" panose="02020603050405020304" pitchFamily="18" charset="0"/>
              </a:rPr>
              <a:t> </a:t>
            </a:r>
            <a:endParaRPr lang="ru-RU" altLang="ru-RU" dirty="0">
              <a:latin typeface="Arial" panose="020B0604020202020204" pitchFamily="34" charset="0"/>
            </a:endParaRPr>
          </a:p>
        </p:txBody>
      </p:sp>
      <p:graphicFrame>
        <p:nvGraphicFramePr>
          <p:cNvPr id="17419" name="Object 10"/>
          <p:cNvGraphicFramePr>
            <a:graphicFrameLocks noChangeAspect="1"/>
          </p:cNvGraphicFramePr>
          <p:nvPr/>
        </p:nvGraphicFramePr>
        <p:xfrm>
          <a:off x="1258888" y="2133600"/>
          <a:ext cx="2233612" cy="390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68" name="Формула" r:id="rId7" imgW="1333500" imgH="203200" progId="Equation.3">
                  <p:embed/>
                </p:oleObj>
              </mc:Choice>
              <mc:Fallback>
                <p:oleObj name="Формула" r:id="rId7" imgW="1333500" imgH="203200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58888" y="2133600"/>
                        <a:ext cx="2233612" cy="390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420" name="Rectangle 12"/>
          <p:cNvSpPr>
            <a:spLocks noChangeArrowheads="1"/>
          </p:cNvSpPr>
          <p:nvPr/>
        </p:nvSpPr>
        <p:spPr bwMode="auto">
          <a:xfrm>
            <a:off x="3348038" y="2205038"/>
            <a:ext cx="96520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sz="1200" dirty="0">
                <a:latin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ru-RU" altLang="ru-RU" dirty="0">
                <a:latin typeface="Arial" panose="020B0604020202020204" pitchFamily="34" charset="0"/>
                <a:cs typeface="Times New Roman" panose="02020603050405020304" pitchFamily="18" charset="0"/>
              </a:rPr>
              <a:t>, </a:t>
            </a:r>
            <a:r>
              <a:rPr lang="ru-RU" altLang="ru-RU" dirty="0">
                <a:cs typeface="Times New Roman" panose="02020603050405020304" pitchFamily="18" charset="0"/>
              </a:rPr>
              <a:t>тогда</a:t>
            </a:r>
            <a:r>
              <a:rPr lang="ru-RU" altLang="ru-RU" sz="1200" dirty="0">
                <a:cs typeface="Times New Roman" panose="02020603050405020304" pitchFamily="18" charset="0"/>
              </a:rPr>
              <a:t> </a:t>
            </a:r>
            <a:r>
              <a:rPr lang="ru-RU" altLang="ru-RU" sz="1200" dirty="0">
                <a:latin typeface="Arial" panose="020B0604020202020204" pitchFamily="34" charset="0"/>
                <a:cs typeface="Times New Roman" panose="02020603050405020304" pitchFamily="18" charset="0"/>
              </a:rPr>
              <a:t> </a:t>
            </a:r>
            <a:endParaRPr lang="ru-RU" altLang="ru-RU" dirty="0">
              <a:latin typeface="Arial" panose="020B0604020202020204" pitchFamily="34" charset="0"/>
            </a:endParaRPr>
          </a:p>
        </p:txBody>
      </p:sp>
      <p:sp>
        <p:nvSpPr>
          <p:cNvPr id="17421" name="Rectangle 14"/>
          <p:cNvSpPr>
            <a:spLocks noChangeArrowheads="1"/>
          </p:cNvSpPr>
          <p:nvPr/>
        </p:nvSpPr>
        <p:spPr bwMode="auto">
          <a:xfrm>
            <a:off x="0" y="330676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graphicFrame>
        <p:nvGraphicFramePr>
          <p:cNvPr id="17422" name="Object 13"/>
          <p:cNvGraphicFramePr>
            <a:graphicFrameLocks noChangeAspect="1"/>
          </p:cNvGraphicFramePr>
          <p:nvPr/>
        </p:nvGraphicFramePr>
        <p:xfrm>
          <a:off x="4356100" y="2133600"/>
          <a:ext cx="3313113" cy="503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69" name="Формула" r:id="rId9" imgW="1714500" imgH="241300" progId="Equation.3">
                  <p:embed/>
                </p:oleObj>
              </mc:Choice>
              <mc:Fallback>
                <p:oleObj name="Формула" r:id="rId9" imgW="1714500" imgH="241300" progId="Equation.3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56100" y="2133600"/>
                        <a:ext cx="3313113" cy="5032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423" name="Rectangle 16"/>
          <p:cNvSpPr>
            <a:spLocks noChangeArrowheads="1"/>
          </p:cNvSpPr>
          <p:nvPr/>
        </p:nvSpPr>
        <p:spPr bwMode="auto">
          <a:xfrm>
            <a:off x="611188" y="2735263"/>
            <a:ext cx="669925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>
                <a:latin typeface="Arial" panose="020B0604020202020204" pitchFamily="34" charset="0"/>
                <a:cs typeface="Times New Roman" panose="02020603050405020304" pitchFamily="18" charset="0"/>
              </a:rPr>
              <a:t>или  </a:t>
            </a:r>
            <a:endParaRPr lang="ru-RU" altLang="ru-RU">
              <a:latin typeface="Arial" panose="020B0604020202020204" pitchFamily="34" charset="0"/>
            </a:endParaRPr>
          </a:p>
        </p:txBody>
      </p:sp>
      <p:graphicFrame>
        <p:nvGraphicFramePr>
          <p:cNvPr id="17424" name="Object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41242269"/>
              </p:ext>
            </p:extLst>
          </p:nvPr>
        </p:nvGraphicFramePr>
        <p:xfrm>
          <a:off x="1223169" y="2654301"/>
          <a:ext cx="2736850" cy="423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70" name="Формула" r:id="rId11" imgW="1905000" imgH="241300" progId="Equation.3">
                  <p:embed/>
                </p:oleObj>
              </mc:Choice>
              <mc:Fallback>
                <p:oleObj name="Формула" r:id="rId11" imgW="1905000" imgH="241300" progId="Equation.3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23169" y="2654301"/>
                        <a:ext cx="2736850" cy="4238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425" name="Rectangle 17"/>
          <p:cNvSpPr>
            <a:spLocks noChangeArrowheads="1"/>
          </p:cNvSpPr>
          <p:nvPr/>
        </p:nvSpPr>
        <p:spPr bwMode="auto">
          <a:xfrm>
            <a:off x="3619500" y="3551238"/>
            <a:ext cx="312738" cy="274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sz="1200">
                <a:latin typeface="Arial" panose="020B0604020202020204" pitchFamily="34" charset="0"/>
                <a:cs typeface="Times New Roman" panose="02020603050405020304" pitchFamily="18" charset="0"/>
              </a:rPr>
              <a:t>.  </a:t>
            </a:r>
            <a:endParaRPr lang="ru-RU" altLang="ru-RU">
              <a:latin typeface="Arial" panose="020B0604020202020204" pitchFamily="34" charset="0"/>
            </a:endParaRPr>
          </a:p>
        </p:txBody>
      </p:sp>
      <p:sp>
        <p:nvSpPr>
          <p:cNvPr id="17426" name="Rectangle 18"/>
          <p:cNvSpPr>
            <a:spLocks noChangeArrowheads="1"/>
          </p:cNvSpPr>
          <p:nvPr/>
        </p:nvSpPr>
        <p:spPr bwMode="auto">
          <a:xfrm>
            <a:off x="3851275" y="2708275"/>
            <a:ext cx="1373188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/>
              <a:t>.  Выразим </a:t>
            </a:r>
          </a:p>
        </p:txBody>
      </p:sp>
      <p:sp>
        <p:nvSpPr>
          <p:cNvPr id="17427" name="Rectangle 20"/>
          <p:cNvSpPr>
            <a:spLocks noChangeArrowheads="1"/>
          </p:cNvSpPr>
          <p:nvPr/>
        </p:nvSpPr>
        <p:spPr bwMode="auto">
          <a:xfrm>
            <a:off x="0" y="332581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graphicFrame>
        <p:nvGraphicFramePr>
          <p:cNvPr id="17428" name="Object 19"/>
          <p:cNvGraphicFramePr>
            <a:graphicFrameLocks noChangeAspect="1"/>
          </p:cNvGraphicFramePr>
          <p:nvPr/>
        </p:nvGraphicFramePr>
        <p:xfrm>
          <a:off x="5219700" y="2708275"/>
          <a:ext cx="647700" cy="336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71" name="Формула" r:id="rId13" imgW="393529" imgH="203112" progId="Equation.3">
                  <p:embed/>
                </p:oleObj>
              </mc:Choice>
              <mc:Fallback>
                <p:oleObj name="Формула" r:id="rId13" imgW="393529" imgH="203112" progId="Equation.3">
                  <p:embed/>
                  <p:pic>
                    <p:nvPicPr>
                      <p:cNvPr id="0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19700" y="2708275"/>
                        <a:ext cx="647700" cy="336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429" name="Rectangle 22"/>
          <p:cNvSpPr>
            <a:spLocks noChangeArrowheads="1"/>
          </p:cNvSpPr>
          <p:nvPr/>
        </p:nvSpPr>
        <p:spPr bwMode="auto">
          <a:xfrm>
            <a:off x="0" y="330676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graphicFrame>
        <p:nvGraphicFramePr>
          <p:cNvPr id="17430" name="Object 21"/>
          <p:cNvGraphicFramePr>
            <a:graphicFrameLocks noChangeAspect="1"/>
          </p:cNvGraphicFramePr>
          <p:nvPr/>
        </p:nvGraphicFramePr>
        <p:xfrm>
          <a:off x="6659563" y="2708275"/>
          <a:ext cx="1081087" cy="358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72" name="Формула" r:id="rId15" imgW="685800" imgH="241300" progId="Equation.3">
                  <p:embed/>
                </p:oleObj>
              </mc:Choice>
              <mc:Fallback>
                <p:oleObj name="Формула" r:id="rId15" imgW="685800" imgH="241300" progId="Equation.3">
                  <p:embed/>
                  <p:pic>
                    <p:nvPicPr>
                      <p:cNvPr id="0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59563" y="2708275"/>
                        <a:ext cx="1081087" cy="358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431" name="Rectangle 23"/>
          <p:cNvSpPr>
            <a:spLocks noChangeArrowheads="1"/>
          </p:cNvSpPr>
          <p:nvPr/>
        </p:nvSpPr>
        <p:spPr bwMode="auto">
          <a:xfrm>
            <a:off x="5867400" y="2781300"/>
            <a:ext cx="846138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/>
              <a:t>через </a:t>
            </a:r>
          </a:p>
        </p:txBody>
      </p:sp>
      <p:sp>
        <p:nvSpPr>
          <p:cNvPr id="17432" name="Rectangle 24"/>
          <p:cNvSpPr>
            <a:spLocks noChangeArrowheads="1"/>
          </p:cNvSpPr>
          <p:nvPr/>
        </p:nvSpPr>
        <p:spPr bwMode="auto">
          <a:xfrm>
            <a:off x="684213" y="3213100"/>
            <a:ext cx="424497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/>
              <a:t>и вспомогательные векторы   </a:t>
            </a:r>
            <a:r>
              <a:rPr lang="en-US" altLang="ru-RU" i="1"/>
              <a:t>y</a:t>
            </a:r>
            <a:r>
              <a:rPr lang="ru-RU" altLang="ru-RU"/>
              <a:t>    и   </a:t>
            </a:r>
            <a:r>
              <a:rPr lang="ru-RU" altLang="ru-RU" i="1"/>
              <a:t>z</a:t>
            </a:r>
            <a:r>
              <a:rPr lang="ru-RU" altLang="ru-RU"/>
              <a:t>   </a:t>
            </a:r>
          </a:p>
        </p:txBody>
      </p:sp>
      <p:sp>
        <p:nvSpPr>
          <p:cNvPr id="17433" name="Rectangle 25"/>
          <p:cNvSpPr>
            <a:spLocks noChangeArrowheads="1"/>
          </p:cNvSpPr>
          <p:nvPr/>
        </p:nvSpPr>
        <p:spPr bwMode="auto">
          <a:xfrm>
            <a:off x="4572000" y="3213100"/>
            <a:ext cx="1087438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/>
              <a:t>. Тогда:  </a:t>
            </a:r>
          </a:p>
        </p:txBody>
      </p:sp>
      <p:sp>
        <p:nvSpPr>
          <p:cNvPr id="17434" name="Rectangle 27"/>
          <p:cNvSpPr>
            <a:spLocks noChangeArrowheads="1"/>
          </p:cNvSpPr>
          <p:nvPr/>
        </p:nvSpPr>
        <p:spPr bwMode="auto">
          <a:xfrm>
            <a:off x="0" y="320833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graphicFrame>
        <p:nvGraphicFramePr>
          <p:cNvPr id="17435" name="Object 26"/>
          <p:cNvGraphicFramePr>
            <a:graphicFrameLocks noChangeAspect="1"/>
          </p:cNvGraphicFramePr>
          <p:nvPr/>
        </p:nvGraphicFramePr>
        <p:xfrm>
          <a:off x="5508625" y="3078163"/>
          <a:ext cx="3095625" cy="688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73" name="Формула" r:id="rId17" imgW="1981200" imgH="444500" progId="Equation.3">
                  <p:embed/>
                </p:oleObj>
              </mc:Choice>
              <mc:Fallback>
                <p:oleObj name="Формула" r:id="rId17" imgW="1981200" imgH="444500" progId="Equation.3">
                  <p:embed/>
                  <p:pic>
                    <p:nvPicPr>
                      <p:cNvPr id="0" name="Object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08625" y="3078163"/>
                        <a:ext cx="3095625" cy="688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436" name="Rectangle 28"/>
          <p:cNvSpPr>
            <a:spLocks noChangeArrowheads="1"/>
          </p:cNvSpPr>
          <p:nvPr/>
        </p:nvSpPr>
        <p:spPr bwMode="auto">
          <a:xfrm>
            <a:off x="755650" y="3860800"/>
            <a:ext cx="995363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/>
              <a:t>то есть </a:t>
            </a:r>
          </a:p>
        </p:txBody>
      </p:sp>
      <p:sp>
        <p:nvSpPr>
          <p:cNvPr id="17437" name="Rectangle 29"/>
          <p:cNvSpPr>
            <a:spLocks noChangeArrowheads="1"/>
          </p:cNvSpPr>
          <p:nvPr/>
        </p:nvSpPr>
        <p:spPr bwMode="auto">
          <a:xfrm>
            <a:off x="8604250" y="3141663"/>
            <a:ext cx="24130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/>
              <a:t>,</a:t>
            </a:r>
          </a:p>
        </p:txBody>
      </p:sp>
      <p:sp>
        <p:nvSpPr>
          <p:cNvPr id="17438" name="Rectangle 31"/>
          <p:cNvSpPr>
            <a:spLocks noChangeArrowheads="1"/>
          </p:cNvSpPr>
          <p:nvPr/>
        </p:nvSpPr>
        <p:spPr bwMode="auto">
          <a:xfrm>
            <a:off x="0" y="332581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graphicFrame>
        <p:nvGraphicFramePr>
          <p:cNvPr id="17439" name="Object 30"/>
          <p:cNvGraphicFramePr>
            <a:graphicFrameLocks noChangeAspect="1"/>
          </p:cNvGraphicFramePr>
          <p:nvPr/>
        </p:nvGraphicFramePr>
        <p:xfrm>
          <a:off x="1763713" y="3871913"/>
          <a:ext cx="1944687" cy="339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74" name="Формула" r:id="rId19" imgW="1180588" imgH="203112" progId="Equation.3">
                  <p:embed/>
                </p:oleObj>
              </mc:Choice>
              <mc:Fallback>
                <p:oleObj name="Формула" r:id="rId19" imgW="1180588" imgH="203112" progId="Equation.3">
                  <p:embed/>
                  <p:pic>
                    <p:nvPicPr>
                      <p:cNvPr id="0" name="Object 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63713" y="3871913"/>
                        <a:ext cx="1944687" cy="339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440" name="Rectangle 32"/>
          <p:cNvSpPr>
            <a:spLocks noChangeArrowheads="1"/>
          </p:cNvSpPr>
          <p:nvPr/>
        </p:nvSpPr>
        <p:spPr bwMode="auto">
          <a:xfrm>
            <a:off x="3563938" y="3860800"/>
            <a:ext cx="349567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/>
              <a:t>. Необходимо, чтобы векторы   </a:t>
            </a:r>
          </a:p>
        </p:txBody>
      </p:sp>
      <p:sp>
        <p:nvSpPr>
          <p:cNvPr id="17441" name="Rectangle 33"/>
          <p:cNvSpPr>
            <a:spLocks noChangeArrowheads="1"/>
          </p:cNvSpPr>
          <p:nvPr/>
        </p:nvSpPr>
        <p:spPr bwMode="auto">
          <a:xfrm>
            <a:off x="6611937" y="3870326"/>
            <a:ext cx="9588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ru-RU" i="1" dirty="0"/>
              <a:t>y</a:t>
            </a:r>
            <a:r>
              <a:rPr lang="ru-RU" altLang="ru-RU" dirty="0"/>
              <a:t>   и   </a:t>
            </a:r>
            <a:r>
              <a:rPr lang="en-US" altLang="ru-RU" i="1" dirty="0"/>
              <a:t>z</a:t>
            </a:r>
            <a:r>
              <a:rPr lang="ru-RU" altLang="ru-RU" dirty="0"/>
              <a:t>  </a:t>
            </a:r>
          </a:p>
        </p:txBody>
      </p:sp>
      <p:sp>
        <p:nvSpPr>
          <p:cNvPr id="17442" name="Rectangle 35"/>
          <p:cNvSpPr>
            <a:spLocks noChangeArrowheads="1"/>
          </p:cNvSpPr>
          <p:nvPr/>
        </p:nvSpPr>
        <p:spPr bwMode="auto">
          <a:xfrm>
            <a:off x="827088" y="4391025"/>
            <a:ext cx="2125662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dirty="0">
                <a:cs typeface="Times New Roman" panose="02020603050405020304" pitchFamily="18" charset="0"/>
              </a:rPr>
              <a:t>имели размерность </a:t>
            </a:r>
          </a:p>
        </p:txBody>
      </p:sp>
      <p:graphicFrame>
        <p:nvGraphicFramePr>
          <p:cNvPr id="17443" name="Object 3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72619140"/>
              </p:ext>
            </p:extLst>
          </p:nvPr>
        </p:nvGraphicFramePr>
        <p:xfrm>
          <a:off x="2986088" y="4345782"/>
          <a:ext cx="865187" cy="404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75" name="Формула" r:id="rId21" imgW="444307" imgH="203112" progId="Equation.3">
                  <p:embed/>
                </p:oleObj>
              </mc:Choice>
              <mc:Fallback>
                <p:oleObj name="Формула" r:id="rId21" imgW="444307" imgH="203112" progId="Equation.3">
                  <p:embed/>
                  <p:pic>
                    <p:nvPicPr>
                      <p:cNvPr id="0" name="Object 3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86088" y="4345782"/>
                        <a:ext cx="865187" cy="4048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444" name="Rectangle 36"/>
          <p:cNvSpPr>
            <a:spLocks noChangeArrowheads="1"/>
          </p:cNvSpPr>
          <p:nvPr/>
        </p:nvSpPr>
        <p:spPr bwMode="auto">
          <a:xfrm>
            <a:off x="3851275" y="3644900"/>
            <a:ext cx="247650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sz="1200">
                <a:latin typeface="Arial" panose="020B0604020202020204" pitchFamily="34" charset="0"/>
                <a:cs typeface="Times New Roman" panose="02020603050405020304" pitchFamily="18" charset="0"/>
              </a:rPr>
              <a:t>.</a:t>
            </a:r>
            <a:r>
              <a:rPr lang="ru-RU" altLang="ru-RU" sz="600">
                <a:latin typeface="Arial" panose="020B0604020202020204" pitchFamily="34" charset="0"/>
              </a:rPr>
              <a:t> </a:t>
            </a:r>
            <a:endParaRPr lang="ru-RU" altLang="ru-RU">
              <a:latin typeface="Arial" panose="020B0604020202020204" pitchFamily="34" charset="0"/>
            </a:endParaRPr>
          </a:p>
        </p:txBody>
      </p:sp>
      <p:sp>
        <p:nvSpPr>
          <p:cNvPr id="17445" name="Rectangle 37"/>
          <p:cNvSpPr>
            <a:spLocks noChangeArrowheads="1"/>
          </p:cNvSpPr>
          <p:nvPr/>
        </p:nvSpPr>
        <p:spPr bwMode="auto">
          <a:xfrm>
            <a:off x="3851275" y="4364037"/>
            <a:ext cx="2413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dirty="0"/>
              <a:t>.</a:t>
            </a:r>
          </a:p>
        </p:txBody>
      </p:sp>
      <p:sp>
        <p:nvSpPr>
          <p:cNvPr id="17446" name="Rectangle 38"/>
          <p:cNvSpPr>
            <a:spLocks noChangeArrowheads="1"/>
          </p:cNvSpPr>
          <p:nvPr/>
        </p:nvSpPr>
        <p:spPr bwMode="auto">
          <a:xfrm>
            <a:off x="107950" y="4868863"/>
            <a:ext cx="8867775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/>
              <a:t>В зависимости от подбора векторов  </a:t>
            </a:r>
            <a:r>
              <a:rPr lang="en-US" altLang="ru-RU" i="1"/>
              <a:t>y</a:t>
            </a:r>
            <a:r>
              <a:rPr lang="ru-RU" altLang="ru-RU"/>
              <a:t>  и  </a:t>
            </a:r>
            <a:r>
              <a:rPr lang="en-US" altLang="ru-RU" i="1"/>
              <a:t>z</a:t>
            </a:r>
            <a:r>
              <a:rPr lang="ru-RU" altLang="ru-RU"/>
              <a:t>  получим различные варианты метода </a:t>
            </a:r>
          </a:p>
        </p:txBody>
      </p:sp>
      <p:sp>
        <p:nvSpPr>
          <p:cNvPr id="17447" name="Rectangle 39"/>
          <p:cNvSpPr>
            <a:spLocks noChangeArrowheads="1"/>
          </p:cNvSpPr>
          <p:nvPr/>
        </p:nvSpPr>
        <p:spPr bwMode="auto">
          <a:xfrm>
            <a:off x="179388" y="5373688"/>
            <a:ext cx="2522537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/>
              <a:t>переменной метрики. </a:t>
            </a:r>
          </a:p>
        </p:txBody>
      </p:sp>
      <p:sp>
        <p:nvSpPr>
          <p:cNvPr id="17448" name="Rectangle 41"/>
          <p:cNvSpPr>
            <a:spLocks noChangeArrowheads="1"/>
          </p:cNvSpPr>
          <p:nvPr/>
        </p:nvSpPr>
        <p:spPr bwMode="auto">
          <a:xfrm>
            <a:off x="0" y="32131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graphicFrame>
        <p:nvGraphicFramePr>
          <p:cNvPr id="17449" name="Object 40"/>
          <p:cNvGraphicFramePr>
            <a:graphicFrameLocks noChangeAspect="1"/>
          </p:cNvGraphicFramePr>
          <p:nvPr/>
        </p:nvGraphicFramePr>
        <p:xfrm>
          <a:off x="2843213" y="5300663"/>
          <a:ext cx="1657350" cy="7794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76" name="Формула" r:id="rId23" imgW="939392" imgH="444307" progId="Equation.3">
                  <p:embed/>
                </p:oleObj>
              </mc:Choice>
              <mc:Fallback>
                <p:oleObj name="Формула" r:id="rId23" imgW="939392" imgH="444307" progId="Equation.3">
                  <p:embed/>
                  <p:pic>
                    <p:nvPicPr>
                      <p:cNvPr id="0" name="Object 4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43213" y="5300663"/>
                        <a:ext cx="1657350" cy="7794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450" name="Rectangle 42"/>
          <p:cNvSpPr>
            <a:spLocks noChangeArrowheads="1"/>
          </p:cNvSpPr>
          <p:nvPr/>
        </p:nvSpPr>
        <p:spPr bwMode="auto">
          <a:xfrm>
            <a:off x="4643438" y="5516563"/>
            <a:ext cx="354012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/>
              <a:t> , </a:t>
            </a:r>
          </a:p>
        </p:txBody>
      </p:sp>
      <p:sp>
        <p:nvSpPr>
          <p:cNvPr id="17451" name="Rectangle 44"/>
          <p:cNvSpPr>
            <a:spLocks noChangeArrowheads="1"/>
          </p:cNvSpPr>
          <p:nvPr/>
        </p:nvSpPr>
        <p:spPr bwMode="auto">
          <a:xfrm>
            <a:off x="0" y="320833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graphicFrame>
        <p:nvGraphicFramePr>
          <p:cNvPr id="17452" name="Object 43"/>
          <p:cNvGraphicFramePr>
            <a:graphicFrameLocks noChangeAspect="1"/>
          </p:cNvGraphicFramePr>
          <p:nvPr/>
        </p:nvGraphicFramePr>
        <p:xfrm>
          <a:off x="5003800" y="5300663"/>
          <a:ext cx="2016125" cy="739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77" name="Формула" r:id="rId25" imgW="1205977" imgH="444307" progId="Equation.3">
                  <p:embed/>
                </p:oleObj>
              </mc:Choice>
              <mc:Fallback>
                <p:oleObj name="Формула" r:id="rId25" imgW="1205977" imgH="444307" progId="Equation.3">
                  <p:embed/>
                  <p:pic>
                    <p:nvPicPr>
                      <p:cNvPr id="0" name="Object 4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03800" y="5300663"/>
                        <a:ext cx="2016125" cy="739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453" name="Rectangle 45"/>
          <p:cNvSpPr>
            <a:spLocks noChangeArrowheads="1"/>
          </p:cNvSpPr>
          <p:nvPr/>
        </p:nvSpPr>
        <p:spPr bwMode="auto">
          <a:xfrm>
            <a:off x="7092950" y="5445125"/>
            <a:ext cx="2413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/>
              <a:t>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ru-RU" altLang="ru-RU" sz="3600" b="1" u="sng" dirty="0" err="1"/>
              <a:t>Квазиньютоновские</a:t>
            </a:r>
            <a:r>
              <a:rPr lang="ru-RU" altLang="ru-RU" sz="3600" b="1" u="sng" dirty="0"/>
              <a:t> методы</a:t>
            </a:r>
            <a:r>
              <a:rPr lang="ru-RU" altLang="ru-RU" sz="3600" u="sng" dirty="0"/>
              <a:t> </a:t>
            </a:r>
            <a:br>
              <a:rPr lang="ru-RU" altLang="ru-RU" sz="3600" u="sng" dirty="0"/>
            </a:br>
            <a:r>
              <a:rPr lang="ru-RU" altLang="ru-RU" sz="28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Метод  </a:t>
            </a:r>
            <a:r>
              <a:rPr lang="ru-RU" altLang="ru-RU" sz="2800" b="1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Девидона</a:t>
            </a:r>
            <a:r>
              <a:rPr lang="ru-RU" altLang="ru-RU" sz="28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</a:t>
            </a:r>
            <a:r>
              <a:rPr lang="ru-RU" altLang="ru-RU" sz="2800" b="1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Флетчера</a:t>
            </a:r>
            <a:r>
              <a:rPr lang="ru-RU" altLang="ru-RU" sz="28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Пауэлла (</a:t>
            </a:r>
            <a:r>
              <a:rPr lang="en-US" altLang="ru-RU" sz="28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DFP</a:t>
            </a:r>
            <a:r>
              <a:rPr lang="ru-RU" altLang="ru-RU" sz="28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br>
              <a:rPr lang="ru-RU" altLang="ru-RU" sz="28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ru-RU" altLang="ru-RU" sz="2800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4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FontTx/>
              <a:buNone/>
            </a:pPr>
            <a:endParaRPr lang="ru-RU" altLang="ru-RU" sz="2000" b="1" u="sng"/>
          </a:p>
        </p:txBody>
      </p:sp>
      <p:sp>
        <p:nvSpPr>
          <p:cNvPr id="18436" name="Rectangle 5"/>
          <p:cNvSpPr>
            <a:spLocks noChangeArrowheads="1"/>
          </p:cNvSpPr>
          <p:nvPr/>
        </p:nvSpPr>
        <p:spPr bwMode="auto">
          <a:xfrm>
            <a:off x="0" y="295275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graphicFrame>
        <p:nvGraphicFramePr>
          <p:cNvPr id="18437" name="Object 4"/>
          <p:cNvGraphicFramePr>
            <a:graphicFrameLocks noChangeAspect="1"/>
          </p:cNvGraphicFramePr>
          <p:nvPr/>
        </p:nvGraphicFramePr>
        <p:xfrm>
          <a:off x="755650" y="2390775"/>
          <a:ext cx="6911975" cy="2400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68" name="Формула" r:id="rId3" imgW="2743200" imgH="952500" progId="Equation.3">
                  <p:embed/>
                </p:oleObj>
              </mc:Choice>
              <mc:Fallback>
                <p:oleObj name="Формула" r:id="rId3" imgW="2743200" imgH="9525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5650" y="2390775"/>
                        <a:ext cx="6911975" cy="2400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ru-RU" altLang="ru-RU" sz="3600" b="1" u="sng" dirty="0" err="1"/>
              <a:t>Квазиньютоновские</a:t>
            </a:r>
            <a:r>
              <a:rPr lang="ru-RU" altLang="ru-RU" sz="3600" b="1" u="sng" dirty="0"/>
              <a:t> методы </a:t>
            </a:r>
            <a:br>
              <a:rPr lang="ru-RU" altLang="ru-RU" sz="3600" b="1" u="sng" dirty="0"/>
            </a:br>
            <a:r>
              <a:rPr lang="en-US" altLang="ru-RU" sz="32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</a:t>
            </a:r>
            <a:r>
              <a:rPr lang="ru-RU" altLang="ru-RU" sz="32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Метод </a:t>
            </a:r>
            <a:r>
              <a:rPr lang="ru-RU" altLang="ru-RU" sz="3200" b="1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Бройдена</a:t>
            </a:r>
            <a:r>
              <a:rPr lang="ru-RU" altLang="ru-RU" sz="32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ru-RU" sz="32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(B)</a:t>
            </a:r>
            <a:br>
              <a:rPr lang="ru-RU" altLang="ru-RU" sz="32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ru-RU" altLang="ru-RU" sz="3200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45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FontTx/>
              <a:buNone/>
            </a:pPr>
            <a:endParaRPr lang="ru-RU" altLang="ru-RU" sz="2000" b="1" u="sng"/>
          </a:p>
        </p:txBody>
      </p:sp>
      <p:sp>
        <p:nvSpPr>
          <p:cNvPr id="19460" name="Rectangle 5"/>
          <p:cNvSpPr>
            <a:spLocks noChangeArrowheads="1"/>
          </p:cNvSpPr>
          <p:nvPr/>
        </p:nvSpPr>
        <p:spPr bwMode="auto">
          <a:xfrm>
            <a:off x="0" y="292417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sp>
        <p:nvSpPr>
          <p:cNvPr id="19461" name="Rectangle 7"/>
          <p:cNvSpPr>
            <a:spLocks noChangeArrowheads="1"/>
          </p:cNvSpPr>
          <p:nvPr/>
        </p:nvSpPr>
        <p:spPr bwMode="auto">
          <a:xfrm>
            <a:off x="0" y="330676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graphicFrame>
        <p:nvGraphicFramePr>
          <p:cNvPr id="19462" name="Object 6"/>
          <p:cNvGraphicFramePr>
            <a:graphicFrameLocks noChangeAspect="1"/>
          </p:cNvGraphicFramePr>
          <p:nvPr/>
        </p:nvGraphicFramePr>
        <p:xfrm>
          <a:off x="1547813" y="2036763"/>
          <a:ext cx="4464050" cy="557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00" name="Формула" r:id="rId3" imgW="1955800" imgH="241300" progId="Equation.3">
                  <p:embed/>
                </p:oleObj>
              </mc:Choice>
              <mc:Fallback>
                <p:oleObj name="Формула" r:id="rId3" imgW="1955800" imgH="24130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47813" y="2036763"/>
                        <a:ext cx="4464050" cy="5572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463" name="Rectangle 9"/>
          <p:cNvSpPr>
            <a:spLocks noChangeArrowheads="1"/>
          </p:cNvSpPr>
          <p:nvPr/>
        </p:nvSpPr>
        <p:spPr bwMode="auto">
          <a:xfrm>
            <a:off x="0" y="32004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graphicFrame>
        <p:nvGraphicFramePr>
          <p:cNvPr id="19464" name="Object 8"/>
          <p:cNvGraphicFramePr>
            <a:graphicFrameLocks noChangeAspect="1"/>
          </p:cNvGraphicFramePr>
          <p:nvPr/>
        </p:nvGraphicFramePr>
        <p:xfrm>
          <a:off x="971550" y="2852738"/>
          <a:ext cx="7920038" cy="10080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01" name="Формула" r:id="rId5" imgW="4127500" imgH="457200" progId="Equation.3">
                  <p:embed/>
                </p:oleObj>
              </mc:Choice>
              <mc:Fallback>
                <p:oleObj name="Формула" r:id="rId5" imgW="4127500" imgH="45720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71550" y="2852738"/>
                        <a:ext cx="7920038" cy="10080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465" name="Rectangle 10"/>
          <p:cNvSpPr>
            <a:spLocks noChangeArrowheads="1"/>
          </p:cNvSpPr>
          <p:nvPr/>
        </p:nvSpPr>
        <p:spPr bwMode="auto">
          <a:xfrm>
            <a:off x="539750" y="3940175"/>
            <a:ext cx="8353425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/>
              <a:t>Здесь так же как и в методе сопряженных градиентов на каждой итерации формируется новая матрица сопряжения </a:t>
            </a:r>
          </a:p>
        </p:txBody>
      </p:sp>
      <p:sp>
        <p:nvSpPr>
          <p:cNvPr id="19466" name="Rectangle 1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graphicFrame>
        <p:nvGraphicFramePr>
          <p:cNvPr id="19467" name="Object 11"/>
          <p:cNvGraphicFramePr>
            <a:graphicFrameLocks noChangeAspect="1"/>
          </p:cNvGraphicFramePr>
          <p:nvPr/>
        </p:nvGraphicFramePr>
        <p:xfrm>
          <a:off x="5148263" y="4221163"/>
          <a:ext cx="576262" cy="466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02" name="Формула" r:id="rId7" imgW="279400" imgH="228600" progId="Equation.3">
                  <p:embed/>
                </p:oleObj>
              </mc:Choice>
              <mc:Fallback>
                <p:oleObj name="Формула" r:id="rId7" imgW="279400" imgH="228600" progId="Equation.3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48263" y="4221163"/>
                        <a:ext cx="576262" cy="466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468" name="Rectangle 13"/>
          <p:cNvSpPr>
            <a:spLocks noChangeArrowheads="1"/>
          </p:cNvSpPr>
          <p:nvPr/>
        </p:nvSpPr>
        <p:spPr bwMode="auto">
          <a:xfrm>
            <a:off x="5724525" y="4292600"/>
            <a:ext cx="700088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/>
              <a:t>, где </a:t>
            </a:r>
          </a:p>
        </p:txBody>
      </p:sp>
      <p:sp>
        <p:nvSpPr>
          <p:cNvPr id="19469" name="Rectangle 15"/>
          <p:cNvSpPr>
            <a:spLocks noChangeArrowheads="1"/>
          </p:cNvSpPr>
          <p:nvPr/>
        </p:nvSpPr>
        <p:spPr bwMode="auto">
          <a:xfrm>
            <a:off x="0" y="330676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graphicFrame>
        <p:nvGraphicFramePr>
          <p:cNvPr id="19470" name="Object 14"/>
          <p:cNvGraphicFramePr>
            <a:graphicFrameLocks noChangeAspect="1"/>
          </p:cNvGraphicFramePr>
          <p:nvPr/>
        </p:nvGraphicFramePr>
        <p:xfrm>
          <a:off x="684213" y="4581525"/>
          <a:ext cx="4321175" cy="527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03" name="Формула" r:id="rId9" imgW="2006600" imgH="241300" progId="Equation.3">
                  <p:embed/>
                </p:oleObj>
              </mc:Choice>
              <mc:Fallback>
                <p:oleObj name="Формула" r:id="rId9" imgW="2006600" imgH="241300" progId="Equation.3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4213" y="4581525"/>
                        <a:ext cx="4321175" cy="527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471" name="Rectangle 16"/>
          <p:cNvSpPr>
            <a:spLocks noChangeArrowheads="1"/>
          </p:cNvSpPr>
          <p:nvPr/>
        </p:nvSpPr>
        <p:spPr bwMode="auto">
          <a:xfrm>
            <a:off x="611188" y="5516563"/>
            <a:ext cx="1285875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/>
              <a:t>При этом: </a:t>
            </a:r>
          </a:p>
        </p:txBody>
      </p:sp>
      <p:sp>
        <p:nvSpPr>
          <p:cNvPr id="19472" name="Rectangle 18"/>
          <p:cNvSpPr>
            <a:spLocks noChangeArrowheads="1"/>
          </p:cNvSpPr>
          <p:nvPr/>
        </p:nvSpPr>
        <p:spPr bwMode="auto">
          <a:xfrm>
            <a:off x="0" y="305911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graphicFrame>
        <p:nvGraphicFramePr>
          <p:cNvPr id="19473" name="Object 17"/>
          <p:cNvGraphicFramePr>
            <a:graphicFrameLocks noChangeAspect="1"/>
          </p:cNvGraphicFramePr>
          <p:nvPr/>
        </p:nvGraphicFramePr>
        <p:xfrm>
          <a:off x="1979613" y="5013325"/>
          <a:ext cx="4176712" cy="1501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04" name="Формула" r:id="rId11" imgW="2057400" imgH="736600" progId="Equation.3">
                  <p:embed/>
                </p:oleObj>
              </mc:Choice>
              <mc:Fallback>
                <p:oleObj name="Формула" r:id="rId11" imgW="2057400" imgH="736600" progId="Equation.3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79613" y="5013325"/>
                        <a:ext cx="4176712" cy="1501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474" name="Rectangle 19"/>
          <p:cNvSpPr>
            <a:spLocks noChangeArrowheads="1"/>
          </p:cNvSpPr>
          <p:nvPr/>
        </p:nvSpPr>
        <p:spPr bwMode="auto">
          <a:xfrm>
            <a:off x="5003800" y="4652963"/>
            <a:ext cx="2540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sz="2000"/>
              <a:t>;</a:t>
            </a:r>
          </a:p>
        </p:txBody>
      </p:sp>
      <p:sp>
        <p:nvSpPr>
          <p:cNvPr id="19475" name="Rectangle 20"/>
          <p:cNvSpPr>
            <a:spLocks noChangeArrowheads="1"/>
          </p:cNvSpPr>
          <p:nvPr/>
        </p:nvSpPr>
        <p:spPr bwMode="auto">
          <a:xfrm>
            <a:off x="6011863" y="5589588"/>
            <a:ext cx="2540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sz="2000"/>
              <a:t>;</a:t>
            </a:r>
          </a:p>
        </p:txBody>
      </p:sp>
      <p:sp>
        <p:nvSpPr>
          <p:cNvPr id="19476" name="Rectangle 21"/>
          <p:cNvSpPr>
            <a:spLocks noChangeArrowheads="1"/>
          </p:cNvSpPr>
          <p:nvPr/>
        </p:nvSpPr>
        <p:spPr bwMode="auto">
          <a:xfrm>
            <a:off x="8748713" y="3068638"/>
            <a:ext cx="2476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sz="2000"/>
              <a:t>.</a:t>
            </a:r>
          </a:p>
        </p:txBody>
      </p:sp>
      <p:sp>
        <p:nvSpPr>
          <p:cNvPr id="19477" name="Rectangle 22"/>
          <p:cNvSpPr>
            <a:spLocks noChangeArrowheads="1"/>
          </p:cNvSpPr>
          <p:nvPr/>
        </p:nvSpPr>
        <p:spPr bwMode="auto">
          <a:xfrm>
            <a:off x="6011863" y="6165850"/>
            <a:ext cx="2476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sz="2000"/>
              <a:t>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ru-RU" altLang="ru-RU" sz="3600" b="1" u="sng" dirty="0" err="1"/>
              <a:t>Квазиньютоновские</a:t>
            </a:r>
            <a:r>
              <a:rPr lang="ru-RU" altLang="ru-RU" sz="3600" b="1" u="sng" dirty="0"/>
              <a:t> методы</a:t>
            </a:r>
            <a:r>
              <a:rPr lang="ru-RU" altLang="ru-RU" sz="3600" u="sng" dirty="0"/>
              <a:t> </a:t>
            </a:r>
            <a:br>
              <a:rPr lang="ru-RU" altLang="ru-RU" sz="3600" u="sng" dirty="0"/>
            </a:br>
            <a:r>
              <a:rPr lang="ru-RU" altLang="ru-RU" sz="32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Алгоритм </a:t>
            </a:r>
            <a:r>
              <a:rPr lang="ru-RU" altLang="ru-RU" sz="3200" b="1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квазиньютоновских</a:t>
            </a:r>
            <a:r>
              <a:rPr lang="ru-RU" altLang="ru-RU" sz="32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методов</a:t>
            </a:r>
            <a:br>
              <a:rPr lang="ru-RU" altLang="ru-RU" sz="32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ru-RU" altLang="ru-RU" sz="3200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4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68313" y="1628775"/>
            <a:ext cx="8229600" cy="4525963"/>
          </a:xfrm>
        </p:spPr>
        <p:txBody>
          <a:bodyPr/>
          <a:lstStyle/>
          <a:p>
            <a:pPr eaLnBrk="1" hangingPunct="1">
              <a:buFontTx/>
              <a:buNone/>
            </a:pPr>
            <a:endParaRPr lang="ru-RU" altLang="ru-RU" sz="2000" u="sng"/>
          </a:p>
        </p:txBody>
      </p:sp>
      <p:sp>
        <p:nvSpPr>
          <p:cNvPr id="20484" name="Rectangle 5"/>
          <p:cNvSpPr>
            <a:spLocks noChangeArrowheads="1"/>
          </p:cNvSpPr>
          <p:nvPr/>
        </p:nvSpPr>
        <p:spPr bwMode="auto">
          <a:xfrm>
            <a:off x="539750" y="1773238"/>
            <a:ext cx="763270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just" eaLnBrk="1" hangingPunct="1"/>
            <a:r>
              <a:rPr lang="ru-RU" altLang="ru-RU" b="1" i="1" u="sng">
                <a:latin typeface="Arial" panose="020B0604020202020204" pitchFamily="34" charset="0"/>
                <a:cs typeface="Times New Roman" panose="02020603050405020304" pitchFamily="18" charset="0"/>
              </a:rPr>
              <a:t>Ш0.</a:t>
            </a:r>
            <a:r>
              <a:rPr lang="ru-RU" altLang="ru-RU">
                <a:latin typeface="Arial" panose="020B0604020202020204" pitchFamily="34" charset="0"/>
                <a:cs typeface="Times New Roman" panose="02020603050405020304" pitchFamily="18" charset="0"/>
              </a:rPr>
              <a:t> Выбор параметров точности </a:t>
            </a:r>
            <a:r>
              <a:rPr lang="ru-RU" altLang="ru-RU">
                <a:cs typeface="Times New Roman" panose="02020603050405020304" pitchFamily="18" charset="0"/>
                <a:sym typeface="Symbol" panose="05050102010706020507" pitchFamily="18" charset="2"/>
              </a:rPr>
              <a:t></a:t>
            </a:r>
            <a:r>
              <a:rPr lang="ru-RU" altLang="ru-RU">
                <a:cs typeface="Times New Roman" panose="02020603050405020304" pitchFamily="18" charset="0"/>
              </a:rPr>
              <a:t>,</a:t>
            </a:r>
            <a:r>
              <a:rPr lang="ru-RU" altLang="ru-RU">
                <a:cs typeface="Times New Roman" panose="02020603050405020304" pitchFamily="18" charset="0"/>
                <a:sym typeface="Symbol" panose="05050102010706020507" pitchFamily="18" charset="2"/>
              </a:rPr>
              <a:t></a:t>
            </a:r>
            <a:r>
              <a:rPr lang="ru-RU" altLang="ru-RU">
                <a:cs typeface="Times New Roman" panose="02020603050405020304" pitchFamily="18" charset="0"/>
              </a:rPr>
              <a:t>, </a:t>
            </a:r>
            <a:r>
              <a:rPr lang="en-US" altLang="ru-RU">
                <a:cs typeface="Times New Roman" panose="02020603050405020304" pitchFamily="18" charset="0"/>
                <a:sym typeface="Symbol" panose="05050102010706020507" pitchFamily="18" charset="2"/>
              </a:rPr>
              <a:t>k</a:t>
            </a:r>
            <a:r>
              <a:rPr lang="ru-RU" altLang="ru-RU">
                <a:cs typeface="Times New Roman" panose="02020603050405020304" pitchFamily="18" charset="0"/>
                <a:sym typeface="Symbol" panose="05050102010706020507" pitchFamily="18" charset="2"/>
              </a:rPr>
              <a:t>=0. Выбор нач. точки </a:t>
            </a:r>
          </a:p>
        </p:txBody>
      </p:sp>
      <p:graphicFrame>
        <p:nvGraphicFramePr>
          <p:cNvPr id="20485" name="Object 4"/>
          <p:cNvGraphicFramePr>
            <a:graphicFrameLocks noChangeAspect="1"/>
          </p:cNvGraphicFramePr>
          <p:nvPr/>
        </p:nvGraphicFramePr>
        <p:xfrm>
          <a:off x="6659563" y="1773238"/>
          <a:ext cx="504825" cy="415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28" name="Формула" r:id="rId3" imgW="253780" imgH="203024" progId="Equation.3">
                  <p:embed/>
                </p:oleObj>
              </mc:Choice>
              <mc:Fallback>
                <p:oleObj name="Формула" r:id="rId3" imgW="253780" imgH="203024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59563" y="1773238"/>
                        <a:ext cx="504825" cy="415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486" name="Rectangle 6"/>
          <p:cNvSpPr>
            <a:spLocks noChangeArrowheads="1"/>
          </p:cNvSpPr>
          <p:nvPr/>
        </p:nvSpPr>
        <p:spPr bwMode="auto">
          <a:xfrm>
            <a:off x="7164388" y="2159000"/>
            <a:ext cx="2476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just" eaLnBrk="1" hangingPunct="1"/>
            <a:r>
              <a:rPr lang="ru-RU" altLang="ru-RU">
                <a:latin typeface="Arial" panose="020B0604020202020204" pitchFamily="34" charset="0"/>
                <a:cs typeface="Times New Roman" panose="02020603050405020304" pitchFamily="18" charset="0"/>
              </a:rPr>
              <a:t>.</a:t>
            </a:r>
            <a:endParaRPr lang="ru-RU" altLang="ru-RU">
              <a:latin typeface="Arial" panose="020B0604020202020204" pitchFamily="34" charset="0"/>
            </a:endParaRPr>
          </a:p>
        </p:txBody>
      </p:sp>
      <p:sp>
        <p:nvSpPr>
          <p:cNvPr id="20487" name="Rectangle 7"/>
          <p:cNvSpPr>
            <a:spLocks noChangeArrowheads="1"/>
          </p:cNvSpPr>
          <p:nvPr/>
        </p:nvSpPr>
        <p:spPr bwMode="auto">
          <a:xfrm>
            <a:off x="611188" y="2205038"/>
            <a:ext cx="1919287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b="1" i="1" u="sng"/>
              <a:t>Ш1.</a:t>
            </a:r>
            <a:r>
              <a:rPr lang="ru-RU" altLang="ru-RU"/>
              <a:t> Вычислить: </a:t>
            </a:r>
          </a:p>
        </p:txBody>
      </p:sp>
      <p:sp>
        <p:nvSpPr>
          <p:cNvPr id="20488" name="Rectangle 9"/>
          <p:cNvSpPr>
            <a:spLocks noChangeArrowheads="1"/>
          </p:cNvSpPr>
          <p:nvPr/>
        </p:nvSpPr>
        <p:spPr bwMode="auto">
          <a:xfrm>
            <a:off x="0" y="330676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graphicFrame>
        <p:nvGraphicFramePr>
          <p:cNvPr id="20489" name="Object 8"/>
          <p:cNvGraphicFramePr>
            <a:graphicFrameLocks noChangeAspect="1"/>
          </p:cNvGraphicFramePr>
          <p:nvPr/>
        </p:nvGraphicFramePr>
        <p:xfrm>
          <a:off x="2411413" y="2205038"/>
          <a:ext cx="4392612" cy="4143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29" name="Формула" r:id="rId5" imgW="2590800" imgH="241300" progId="Equation.3">
                  <p:embed/>
                </p:oleObj>
              </mc:Choice>
              <mc:Fallback>
                <p:oleObj name="Формула" r:id="rId5" imgW="2590800" imgH="24130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11413" y="2205038"/>
                        <a:ext cx="4392612" cy="4143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490" name="Rectangle 10"/>
          <p:cNvSpPr>
            <a:spLocks noChangeArrowheads="1"/>
          </p:cNvSpPr>
          <p:nvPr/>
        </p:nvSpPr>
        <p:spPr bwMode="auto">
          <a:xfrm>
            <a:off x="611188" y="2708275"/>
            <a:ext cx="1919287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b="1" i="1" u="sng"/>
              <a:t>Ш2.</a:t>
            </a:r>
            <a:r>
              <a:rPr lang="ru-RU" altLang="ru-RU"/>
              <a:t> Вычислить: </a:t>
            </a:r>
          </a:p>
        </p:txBody>
      </p:sp>
      <p:sp>
        <p:nvSpPr>
          <p:cNvPr id="20491" name="Rectangle 12"/>
          <p:cNvSpPr>
            <a:spLocks noChangeArrowheads="1"/>
          </p:cNvSpPr>
          <p:nvPr/>
        </p:nvSpPr>
        <p:spPr bwMode="auto">
          <a:xfrm>
            <a:off x="0" y="33147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graphicFrame>
        <p:nvGraphicFramePr>
          <p:cNvPr id="20492" name="Object 11"/>
          <p:cNvGraphicFramePr>
            <a:graphicFrameLocks noChangeAspect="1"/>
          </p:cNvGraphicFramePr>
          <p:nvPr/>
        </p:nvGraphicFramePr>
        <p:xfrm>
          <a:off x="2484438" y="2708275"/>
          <a:ext cx="5113337" cy="387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30" name="Формула" r:id="rId7" imgW="3568700" imgH="228600" progId="Equation.3">
                  <p:embed/>
                </p:oleObj>
              </mc:Choice>
              <mc:Fallback>
                <p:oleObj name="Формула" r:id="rId7" imgW="3568700" imgH="228600" progId="Equation.3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84438" y="2708275"/>
                        <a:ext cx="5113337" cy="387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493" name="Rectangle 13"/>
          <p:cNvSpPr>
            <a:spLocks noChangeArrowheads="1"/>
          </p:cNvSpPr>
          <p:nvPr/>
        </p:nvSpPr>
        <p:spPr bwMode="auto">
          <a:xfrm>
            <a:off x="684213" y="3284538"/>
            <a:ext cx="1919287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b="1" i="1" u="sng"/>
              <a:t>Ш3</a:t>
            </a:r>
            <a:r>
              <a:rPr lang="ru-RU" altLang="ru-RU"/>
              <a:t>. Вычислить: </a:t>
            </a:r>
          </a:p>
        </p:txBody>
      </p:sp>
      <p:sp>
        <p:nvSpPr>
          <p:cNvPr id="20494" name="Rectangle 15"/>
          <p:cNvSpPr>
            <a:spLocks noChangeArrowheads="1"/>
          </p:cNvSpPr>
          <p:nvPr/>
        </p:nvSpPr>
        <p:spPr bwMode="auto">
          <a:xfrm>
            <a:off x="0" y="33147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graphicFrame>
        <p:nvGraphicFramePr>
          <p:cNvPr id="20495" name="Object 14"/>
          <p:cNvGraphicFramePr>
            <a:graphicFrameLocks noChangeAspect="1"/>
          </p:cNvGraphicFramePr>
          <p:nvPr/>
        </p:nvGraphicFramePr>
        <p:xfrm>
          <a:off x="2627313" y="3213100"/>
          <a:ext cx="3743325" cy="450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31" name="Формула" r:id="rId9" imgW="2260600" imgH="228600" progId="Equation.3">
                  <p:embed/>
                </p:oleObj>
              </mc:Choice>
              <mc:Fallback>
                <p:oleObj name="Формула" r:id="rId9" imgW="2260600" imgH="228600" progId="Equation.3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27313" y="3213100"/>
                        <a:ext cx="3743325" cy="450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496" name="Rectangle 16"/>
          <p:cNvSpPr>
            <a:spLocks noChangeArrowheads="1"/>
          </p:cNvSpPr>
          <p:nvPr/>
        </p:nvSpPr>
        <p:spPr bwMode="auto">
          <a:xfrm>
            <a:off x="684213" y="3933825"/>
            <a:ext cx="1919287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b="1" i="1" u="sng"/>
              <a:t>Ш4.</a:t>
            </a:r>
            <a:r>
              <a:rPr lang="ru-RU" altLang="ru-RU"/>
              <a:t> Вычислить: </a:t>
            </a:r>
          </a:p>
        </p:txBody>
      </p:sp>
      <p:sp>
        <p:nvSpPr>
          <p:cNvPr id="20497" name="Rectangle 18"/>
          <p:cNvSpPr>
            <a:spLocks noChangeArrowheads="1"/>
          </p:cNvSpPr>
          <p:nvPr/>
        </p:nvSpPr>
        <p:spPr bwMode="auto">
          <a:xfrm>
            <a:off x="0" y="330676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graphicFrame>
        <p:nvGraphicFramePr>
          <p:cNvPr id="20498" name="Object 17"/>
          <p:cNvGraphicFramePr>
            <a:graphicFrameLocks noChangeAspect="1"/>
          </p:cNvGraphicFramePr>
          <p:nvPr/>
        </p:nvGraphicFramePr>
        <p:xfrm>
          <a:off x="2555875" y="3860800"/>
          <a:ext cx="6121400" cy="481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32" name="Формула" r:id="rId11" imgW="4241800" imgH="241300" progId="Equation.3">
                  <p:embed/>
                </p:oleObj>
              </mc:Choice>
              <mc:Fallback>
                <p:oleObj name="Формула" r:id="rId11" imgW="4241800" imgH="241300" progId="Equation.3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55875" y="3860800"/>
                        <a:ext cx="6121400" cy="4810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499" name="Rectangle 19"/>
          <p:cNvSpPr>
            <a:spLocks noChangeArrowheads="1"/>
          </p:cNvSpPr>
          <p:nvPr/>
        </p:nvSpPr>
        <p:spPr bwMode="auto">
          <a:xfrm>
            <a:off x="755650" y="4652963"/>
            <a:ext cx="1220788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b="1" i="1" u="sng"/>
              <a:t>Ш5</a:t>
            </a:r>
            <a:r>
              <a:rPr lang="ru-RU" altLang="ru-RU"/>
              <a:t>. Если </a:t>
            </a:r>
          </a:p>
        </p:txBody>
      </p:sp>
      <p:sp>
        <p:nvSpPr>
          <p:cNvPr id="20500" name="Rectangle 21"/>
          <p:cNvSpPr>
            <a:spLocks noChangeArrowheads="1"/>
          </p:cNvSpPr>
          <p:nvPr/>
        </p:nvSpPr>
        <p:spPr bwMode="auto">
          <a:xfrm>
            <a:off x="0" y="328771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graphicFrame>
        <p:nvGraphicFramePr>
          <p:cNvPr id="20501" name="Object 20"/>
          <p:cNvGraphicFramePr>
            <a:graphicFrameLocks noChangeAspect="1"/>
          </p:cNvGraphicFramePr>
          <p:nvPr/>
        </p:nvGraphicFramePr>
        <p:xfrm>
          <a:off x="1908175" y="4581525"/>
          <a:ext cx="6769100" cy="538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33" name="Формула" r:id="rId13" imgW="3517900" imgH="279400" progId="Equation.3">
                  <p:embed/>
                </p:oleObj>
              </mc:Choice>
              <mc:Fallback>
                <p:oleObj name="Формула" r:id="rId13" imgW="3517900" imgH="279400" progId="Equation.3">
                  <p:embed/>
                  <p:pic>
                    <p:nvPicPr>
                      <p:cNvPr id="0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8175" y="4581525"/>
                        <a:ext cx="6769100" cy="5381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502" name="Rectangle 22"/>
          <p:cNvSpPr>
            <a:spLocks noChangeArrowheads="1"/>
          </p:cNvSpPr>
          <p:nvPr/>
        </p:nvSpPr>
        <p:spPr bwMode="auto">
          <a:xfrm>
            <a:off x="827088" y="5300663"/>
            <a:ext cx="906462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/>
              <a:t>Иначе </a:t>
            </a:r>
          </a:p>
        </p:txBody>
      </p:sp>
      <p:sp>
        <p:nvSpPr>
          <p:cNvPr id="20503" name="Rectangle 24"/>
          <p:cNvSpPr>
            <a:spLocks noChangeArrowheads="1"/>
          </p:cNvSpPr>
          <p:nvPr/>
        </p:nvSpPr>
        <p:spPr bwMode="auto">
          <a:xfrm>
            <a:off x="0" y="33147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graphicFrame>
        <p:nvGraphicFramePr>
          <p:cNvPr id="20504" name="Object 23"/>
          <p:cNvGraphicFramePr>
            <a:graphicFrameLocks noChangeAspect="1"/>
          </p:cNvGraphicFramePr>
          <p:nvPr/>
        </p:nvGraphicFramePr>
        <p:xfrm>
          <a:off x="1979613" y="5300663"/>
          <a:ext cx="4319587" cy="4016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34" name="Формула" r:id="rId15" imgW="2463800" imgH="228600" progId="Equation.3">
                  <p:embed/>
                </p:oleObj>
              </mc:Choice>
              <mc:Fallback>
                <p:oleObj name="Формула" r:id="rId15" imgW="2463800" imgH="228600" progId="Equation.3">
                  <p:embed/>
                  <p:pic>
                    <p:nvPicPr>
                      <p:cNvPr id="0" name="Object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79613" y="5300663"/>
                        <a:ext cx="4319587" cy="4016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ru-RU" altLang="ru-RU" sz="3600" b="1" u="sng" dirty="0" err="1"/>
              <a:t>Квазиньютоновские</a:t>
            </a:r>
            <a:r>
              <a:rPr lang="ru-RU" altLang="ru-RU" sz="3600" b="1" u="sng" dirty="0"/>
              <a:t> методы</a:t>
            </a:r>
            <a:r>
              <a:rPr lang="ru-RU" altLang="ru-RU" sz="3600" u="sng" dirty="0"/>
              <a:t> </a:t>
            </a:r>
            <a:br>
              <a:rPr lang="ru-RU" altLang="ru-RU" sz="3600" u="sng" dirty="0"/>
            </a:br>
            <a:r>
              <a:rPr lang="ru-RU" altLang="ru-RU" sz="2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Метод </a:t>
            </a:r>
            <a:r>
              <a:rPr lang="ru-RU" altLang="ru-RU" sz="2400" b="1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Бройдена</a:t>
            </a:r>
            <a:r>
              <a:rPr lang="ru-RU" altLang="ru-RU" sz="2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ru-RU" altLang="ru-RU" sz="2400" b="1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Флетчера</a:t>
            </a:r>
            <a:r>
              <a:rPr lang="ru-RU" altLang="ru-RU" sz="2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-Гольдфарба-</a:t>
            </a:r>
            <a:r>
              <a:rPr lang="ru-RU" altLang="ru-RU" sz="2400" b="1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Шенно</a:t>
            </a:r>
            <a:r>
              <a:rPr lang="ru-RU" altLang="ru-RU" sz="2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.(</a:t>
            </a:r>
            <a:r>
              <a:rPr lang="en-US" altLang="ru-RU" sz="2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BFGS).</a:t>
            </a:r>
            <a:endParaRPr lang="ru-RU" altLang="ru-RU" sz="2400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5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34181" y="1565274"/>
            <a:ext cx="8229600" cy="4525963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ru-RU" alt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Обозначим</a:t>
            </a:r>
            <a:r>
              <a:rPr lang="ru-RU" altLang="ru-RU" dirty="0"/>
              <a:t> </a:t>
            </a:r>
          </a:p>
        </p:txBody>
      </p:sp>
      <p:sp>
        <p:nvSpPr>
          <p:cNvPr id="21508" name="Rectangle 5"/>
          <p:cNvSpPr>
            <a:spLocks noChangeArrowheads="1"/>
          </p:cNvSpPr>
          <p:nvPr/>
        </p:nvSpPr>
        <p:spPr bwMode="auto">
          <a:xfrm>
            <a:off x="0" y="328453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graphicFrame>
        <p:nvGraphicFramePr>
          <p:cNvPr id="21509" name="Object 4"/>
          <p:cNvGraphicFramePr>
            <a:graphicFrameLocks noChangeAspect="1"/>
          </p:cNvGraphicFramePr>
          <p:nvPr/>
        </p:nvGraphicFramePr>
        <p:xfrm>
          <a:off x="2124075" y="1700213"/>
          <a:ext cx="5040313" cy="503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48" name="Формула" r:id="rId3" imgW="2895600" imgH="241300" progId="Equation.3">
                  <p:embed/>
                </p:oleObj>
              </mc:Choice>
              <mc:Fallback>
                <p:oleObj name="Формула" r:id="rId3" imgW="2895600" imgH="2413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24075" y="1700213"/>
                        <a:ext cx="5040313" cy="5032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510" name="Rectangle 7"/>
          <p:cNvSpPr>
            <a:spLocks noChangeArrowheads="1"/>
          </p:cNvSpPr>
          <p:nvPr/>
        </p:nvSpPr>
        <p:spPr bwMode="auto">
          <a:xfrm>
            <a:off x="539750" y="2330450"/>
            <a:ext cx="10223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sz="2400" dirty="0">
                <a:cs typeface="Times New Roman" panose="02020603050405020304" pitchFamily="18" charset="0"/>
              </a:rPr>
              <a:t>Тогда </a:t>
            </a:r>
          </a:p>
        </p:txBody>
      </p:sp>
      <p:graphicFrame>
        <p:nvGraphicFramePr>
          <p:cNvPr id="21511" name="Object 6"/>
          <p:cNvGraphicFramePr>
            <a:graphicFrameLocks noChangeAspect="1"/>
          </p:cNvGraphicFramePr>
          <p:nvPr/>
        </p:nvGraphicFramePr>
        <p:xfrm>
          <a:off x="1476375" y="2349500"/>
          <a:ext cx="3095625" cy="490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49" name="Формула" r:id="rId5" imgW="1739900" imgH="241300" progId="Equation.3">
                  <p:embed/>
                </p:oleObj>
              </mc:Choice>
              <mc:Fallback>
                <p:oleObj name="Формула" r:id="rId5" imgW="1739900" imgH="24130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76375" y="2349500"/>
                        <a:ext cx="3095625" cy="4905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512" name="Rectangle 9"/>
          <p:cNvSpPr>
            <a:spLocks noChangeArrowheads="1"/>
          </p:cNvSpPr>
          <p:nvPr/>
        </p:nvSpPr>
        <p:spPr bwMode="auto">
          <a:xfrm>
            <a:off x="468313" y="2997200"/>
            <a:ext cx="127476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sz="2400" dirty="0">
                <a:cs typeface="Times New Roman" panose="02020603050405020304" pitchFamily="18" charset="0"/>
              </a:rPr>
              <a:t>Отсюда </a:t>
            </a:r>
          </a:p>
        </p:txBody>
      </p:sp>
      <p:graphicFrame>
        <p:nvGraphicFramePr>
          <p:cNvPr id="21513" name="Object 8"/>
          <p:cNvGraphicFramePr>
            <a:graphicFrameLocks noChangeAspect="1"/>
          </p:cNvGraphicFramePr>
          <p:nvPr/>
        </p:nvGraphicFramePr>
        <p:xfrm>
          <a:off x="1763713" y="2852738"/>
          <a:ext cx="3313112" cy="863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50" name="Формула" r:id="rId7" imgW="2057400" imgH="457200" progId="Equation.3">
                  <p:embed/>
                </p:oleObj>
              </mc:Choice>
              <mc:Fallback>
                <p:oleObj name="Формула" r:id="rId7" imgW="2057400" imgH="45720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63713" y="2852738"/>
                        <a:ext cx="3313112" cy="863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514" name="Rectangle 10"/>
          <p:cNvSpPr>
            <a:spLocks noChangeArrowheads="1"/>
          </p:cNvSpPr>
          <p:nvPr/>
        </p:nvSpPr>
        <p:spPr bwMode="auto">
          <a:xfrm>
            <a:off x="3543300" y="3657600"/>
            <a:ext cx="227013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sz="1200">
                <a:latin typeface="Arial" panose="020B0604020202020204" pitchFamily="34" charset="0"/>
                <a:cs typeface="Times New Roman" panose="02020603050405020304" pitchFamily="18" charset="0"/>
              </a:rPr>
              <a:t>,</a:t>
            </a:r>
            <a:endParaRPr lang="ru-RU" altLang="ru-RU">
              <a:latin typeface="Arial" panose="020B0604020202020204" pitchFamily="34" charset="0"/>
            </a:endParaRPr>
          </a:p>
        </p:txBody>
      </p:sp>
      <p:sp>
        <p:nvSpPr>
          <p:cNvPr id="21515" name="Rectangle 11"/>
          <p:cNvSpPr>
            <a:spLocks noChangeArrowheads="1"/>
          </p:cNvSpPr>
          <p:nvPr/>
        </p:nvSpPr>
        <p:spPr bwMode="auto">
          <a:xfrm>
            <a:off x="5292725" y="2924175"/>
            <a:ext cx="3175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ru-RU" sz="2400"/>
              <a:t>.</a:t>
            </a:r>
            <a:r>
              <a:rPr lang="ru-RU" altLang="ru-RU"/>
              <a:t> </a:t>
            </a:r>
          </a:p>
        </p:txBody>
      </p:sp>
      <p:sp>
        <p:nvSpPr>
          <p:cNvPr id="21516" name="Rectangle 12"/>
          <p:cNvSpPr>
            <a:spLocks noChangeArrowheads="1"/>
          </p:cNvSpPr>
          <p:nvPr/>
        </p:nvSpPr>
        <p:spPr bwMode="auto">
          <a:xfrm>
            <a:off x="7596188" y="3644900"/>
            <a:ext cx="2984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/>
              <a:t>, </a:t>
            </a:r>
          </a:p>
        </p:txBody>
      </p:sp>
      <p:sp>
        <p:nvSpPr>
          <p:cNvPr id="21517" name="Rectangle 13"/>
          <p:cNvSpPr>
            <a:spLocks noChangeArrowheads="1"/>
          </p:cNvSpPr>
          <p:nvPr/>
        </p:nvSpPr>
        <p:spPr bwMode="auto">
          <a:xfrm>
            <a:off x="323850" y="3633788"/>
            <a:ext cx="8067675" cy="822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sz="2400"/>
              <a:t>Такая замена обеспечивает более устойчивый процесс</a:t>
            </a:r>
            <a:endParaRPr lang="en-US" altLang="ru-RU" sz="2400"/>
          </a:p>
          <a:p>
            <a:pPr eaLnBrk="1" hangingPunct="1"/>
            <a:r>
              <a:rPr lang="ru-RU" altLang="ru-RU" sz="2400"/>
              <a:t> поиска экстремума.</a:t>
            </a:r>
          </a:p>
        </p:txBody>
      </p:sp>
      <p:graphicFrame>
        <p:nvGraphicFramePr>
          <p:cNvPr id="21518" name="Object 15"/>
          <p:cNvGraphicFramePr>
            <a:graphicFrameLocks noChangeAspect="1"/>
          </p:cNvGraphicFramePr>
          <p:nvPr/>
        </p:nvGraphicFramePr>
        <p:xfrm>
          <a:off x="4572000" y="4365625"/>
          <a:ext cx="647700" cy="377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51" name="Формула" r:id="rId9" imgW="330057" imgH="190417" progId="Equation.3">
                  <p:embed/>
                </p:oleObj>
              </mc:Choice>
              <mc:Fallback>
                <p:oleObj name="Формула" r:id="rId9" imgW="330057" imgH="190417" progId="Equation.3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0" y="4365625"/>
                        <a:ext cx="647700" cy="377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19" name="Object 14"/>
          <p:cNvGraphicFramePr>
            <a:graphicFrameLocks noChangeAspect="1"/>
          </p:cNvGraphicFramePr>
          <p:nvPr/>
        </p:nvGraphicFramePr>
        <p:xfrm>
          <a:off x="5580063" y="4365625"/>
          <a:ext cx="719137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52" name="Формула" r:id="rId11" imgW="330057" imgH="190417" progId="Equation.3">
                  <p:embed/>
                </p:oleObj>
              </mc:Choice>
              <mc:Fallback>
                <p:oleObj name="Формула" r:id="rId11" imgW="330057" imgH="190417" progId="Equation.3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80063" y="4365625"/>
                        <a:ext cx="719137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520" name="Rectangle 16"/>
          <p:cNvSpPr>
            <a:spLocks noChangeArrowheads="1"/>
          </p:cNvSpPr>
          <p:nvPr/>
        </p:nvSpPr>
        <p:spPr bwMode="auto">
          <a:xfrm>
            <a:off x="323850" y="4365625"/>
            <a:ext cx="435133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sz="2400" dirty="0">
                <a:cs typeface="Times New Roman" panose="02020603050405020304" pitchFamily="18" charset="0"/>
              </a:rPr>
              <a:t>Как видно из соотношений для </a:t>
            </a:r>
          </a:p>
        </p:txBody>
      </p:sp>
      <p:sp>
        <p:nvSpPr>
          <p:cNvPr id="21521" name="Rectangle 17"/>
          <p:cNvSpPr>
            <a:spLocks noChangeArrowheads="1"/>
          </p:cNvSpPr>
          <p:nvPr/>
        </p:nvSpPr>
        <p:spPr bwMode="auto">
          <a:xfrm>
            <a:off x="5219700" y="4365625"/>
            <a:ext cx="51593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sz="2400" dirty="0">
                <a:cs typeface="Times New Roman" panose="02020603050405020304" pitchFamily="18" charset="0"/>
              </a:rPr>
              <a:t> и</a:t>
            </a:r>
            <a:r>
              <a:rPr lang="ru-RU" altLang="ru-RU" sz="2400" dirty="0">
                <a:latin typeface="Arial" panose="020B0604020202020204" pitchFamily="34" charset="0"/>
                <a:cs typeface="Times New Roman" panose="02020603050405020304" pitchFamily="18" charset="0"/>
              </a:rPr>
              <a:t> </a:t>
            </a:r>
            <a:endParaRPr lang="ru-RU" altLang="ru-RU" sz="2400" dirty="0">
              <a:latin typeface="Arial" panose="020B0604020202020204" pitchFamily="34" charset="0"/>
            </a:endParaRPr>
          </a:p>
        </p:txBody>
      </p:sp>
      <p:sp>
        <p:nvSpPr>
          <p:cNvPr id="21522" name="Rectangle 18"/>
          <p:cNvSpPr>
            <a:spLocks noChangeArrowheads="1"/>
          </p:cNvSpPr>
          <p:nvPr/>
        </p:nvSpPr>
        <p:spPr bwMode="auto">
          <a:xfrm>
            <a:off x="395288" y="4868863"/>
            <a:ext cx="684053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sz="2400" dirty="0">
                <a:cs typeface="Times New Roman" panose="02020603050405020304" pitchFamily="18" charset="0"/>
              </a:rPr>
              <a:t>пересчета для </a:t>
            </a:r>
            <a:r>
              <a:rPr lang="en-US" altLang="ru-RU" sz="2400" dirty="0">
                <a:cs typeface="Times New Roman" panose="02020603050405020304" pitchFamily="18" charset="0"/>
              </a:rPr>
              <a:t>DFP </a:t>
            </a:r>
            <a:r>
              <a:rPr lang="ru-RU" altLang="ru-RU" sz="2400" dirty="0">
                <a:cs typeface="Times New Roman" panose="02020603050405020304" pitchFamily="18" charset="0"/>
              </a:rPr>
              <a:t>и </a:t>
            </a:r>
            <a:r>
              <a:rPr lang="en-US" altLang="ru-RU" sz="2400" dirty="0">
                <a:cs typeface="Times New Roman" panose="02020603050405020304" pitchFamily="18" charset="0"/>
              </a:rPr>
              <a:t>BFGS </a:t>
            </a:r>
            <a:r>
              <a:rPr lang="ru-RU" altLang="ru-RU" sz="2400" dirty="0" err="1">
                <a:cs typeface="Times New Roman" panose="02020603050405020304" pitchFamily="18" charset="0"/>
              </a:rPr>
              <a:t>взаимнообратны</a:t>
            </a:r>
            <a:r>
              <a:rPr lang="ru-RU" altLang="ru-RU" sz="2400" dirty="0">
                <a:latin typeface="Arial" panose="020B0604020202020204" pitchFamily="34" charset="0"/>
                <a:cs typeface="Times New Roman" panose="02020603050405020304" pitchFamily="18" charset="0"/>
              </a:rPr>
              <a:t>.</a:t>
            </a:r>
            <a:endParaRPr lang="ru-RU" altLang="ru-RU" sz="2400" dirty="0">
              <a:latin typeface="Arial" panose="020B0604020202020204" pitchFamily="34" charset="0"/>
            </a:endParaRPr>
          </a:p>
        </p:txBody>
      </p:sp>
      <p:sp>
        <p:nvSpPr>
          <p:cNvPr id="21523" name="Rectangle 19"/>
          <p:cNvSpPr>
            <a:spLocks noChangeArrowheads="1"/>
          </p:cNvSpPr>
          <p:nvPr/>
        </p:nvSpPr>
        <p:spPr bwMode="auto">
          <a:xfrm>
            <a:off x="6372225" y="4365625"/>
            <a:ext cx="16859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sz="2400"/>
              <a:t>, формулы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ru-RU" altLang="ru-RU" sz="3600" b="1" u="sng" dirty="0" err="1"/>
              <a:t>Квазиньютоновские</a:t>
            </a:r>
            <a:r>
              <a:rPr lang="ru-RU" altLang="ru-RU" sz="3600" b="1" u="sng" dirty="0"/>
              <a:t> методы</a:t>
            </a:r>
            <a:r>
              <a:rPr lang="ru-RU" altLang="ru-RU" sz="3600" u="sng" dirty="0"/>
              <a:t> </a:t>
            </a:r>
            <a:br>
              <a:rPr lang="ru-RU" altLang="ru-RU" sz="3600" u="sng" dirty="0"/>
            </a:br>
            <a:r>
              <a:rPr lang="ru-RU" altLang="ru-RU" sz="2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Метод </a:t>
            </a:r>
            <a:r>
              <a:rPr lang="ru-RU" altLang="ru-RU" sz="2400" b="1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Бройдена</a:t>
            </a:r>
            <a:r>
              <a:rPr lang="ru-RU" altLang="ru-RU" sz="2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ru-RU" altLang="ru-RU" sz="2400" b="1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Флетчера</a:t>
            </a:r>
            <a:r>
              <a:rPr lang="ru-RU" altLang="ru-RU" sz="2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-Гольдфарба-</a:t>
            </a:r>
            <a:r>
              <a:rPr lang="ru-RU" altLang="ru-RU" sz="2400" b="1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Шенно</a:t>
            </a:r>
            <a:r>
              <a:rPr lang="ru-RU" altLang="ru-RU" sz="2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altLang="ru-RU" sz="2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BFGS)</a:t>
            </a:r>
            <a:endParaRPr lang="ru-RU" altLang="ru-RU" sz="2400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5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FontTx/>
              <a:buNone/>
            </a:pPr>
            <a:endParaRPr lang="ru-RU" altLang="ru-RU"/>
          </a:p>
        </p:txBody>
      </p:sp>
      <p:sp>
        <p:nvSpPr>
          <p:cNvPr id="22532" name="Rectangle 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sp>
        <p:nvSpPr>
          <p:cNvPr id="22533" name="Rectangle 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graphicFrame>
        <p:nvGraphicFramePr>
          <p:cNvPr id="22534" name="Object 6"/>
          <p:cNvGraphicFramePr>
            <a:graphicFrameLocks noChangeAspect="1"/>
          </p:cNvGraphicFramePr>
          <p:nvPr/>
        </p:nvGraphicFramePr>
        <p:xfrm>
          <a:off x="684213" y="1844675"/>
          <a:ext cx="7920037" cy="1728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66" name="Формула" r:id="rId3" imgW="4432300" imgH="939800" progId="Equation.3">
                  <p:embed/>
                </p:oleObj>
              </mc:Choice>
              <mc:Fallback>
                <p:oleObj name="Формула" r:id="rId3" imgW="4432300" imgH="93980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4213" y="1844675"/>
                        <a:ext cx="7920037" cy="17287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535" name="Rectangle 9"/>
          <p:cNvSpPr>
            <a:spLocks noChangeArrowheads="1"/>
          </p:cNvSpPr>
          <p:nvPr/>
        </p:nvSpPr>
        <p:spPr bwMode="auto">
          <a:xfrm>
            <a:off x="0" y="296068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graphicFrame>
        <p:nvGraphicFramePr>
          <p:cNvPr id="22536" name="Object 8"/>
          <p:cNvGraphicFramePr>
            <a:graphicFrameLocks noChangeAspect="1"/>
          </p:cNvGraphicFramePr>
          <p:nvPr/>
        </p:nvGraphicFramePr>
        <p:xfrm>
          <a:off x="684213" y="3860800"/>
          <a:ext cx="7991475" cy="1800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67" name="Формула" r:id="rId5" imgW="4495800" imgH="939800" progId="Equation.3">
                  <p:embed/>
                </p:oleObj>
              </mc:Choice>
              <mc:Fallback>
                <p:oleObj name="Формула" r:id="rId5" imgW="4495800" imgH="93980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4213" y="3860800"/>
                        <a:ext cx="7991475" cy="1800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B60B838-C352-49C2-8635-EA09DFB36F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Метод </a:t>
            </a:r>
            <a:r>
              <a:rPr lang="ru-RU" sz="4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Левенберга-Маркгвардта</a:t>
            </a:r>
            <a:endParaRPr lang="ru-RU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288C98F1-1BDE-4B28-8C4B-9CAC2036B67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57200" y="1600200"/>
                <a:ext cx="8229600" cy="4983162"/>
              </a:xfrm>
            </p:spPr>
            <p:txBody>
              <a:bodyPr/>
              <a:lstStyle/>
              <a:p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Метод </a:t>
                </a:r>
                <a:r>
                  <a:rPr lang="ru-RU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Левенберга-Марквардта</a:t>
                </a:r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состоит в построении последовательности точек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ru-RU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ru-RU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𝑘</m:t>
                            </m:r>
                          </m:sub>
                        </m:sSub>
                      </m:e>
                    </m:d>
                  </m:oMath>
                </a14:m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таких, что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𝑓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𝑘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+1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&lt;</m:t>
                    </m:r>
                    <m:r>
                      <a:rPr lang="en-US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𝑓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𝑘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 </m:t>
                    </m:r>
                    <m:r>
                      <a:rPr lang="en-US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𝑘</m:t>
                    </m:r>
                    <m:r>
                      <a:rPr lang="en-US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=0,1,…,</m:t>
                    </m:r>
                    <m:r>
                      <a:rPr lang="en-US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𝑚</m:t>
                    </m:r>
                    <m:r>
                      <a:rPr lang="en-US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.</m:t>
                    </m:r>
                  </m:oMath>
                </a14:m>
                <a:endParaRPr lang="en-US" b="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Точки последовательности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ru-RU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ru-RU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𝑘</m:t>
                            </m:r>
                          </m:sub>
                        </m:sSub>
                      </m:e>
                    </m:d>
                  </m:oMath>
                </a14:m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вычисляются по правилу: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ru-RU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𝑘</m:t>
                        </m:r>
                        <m:r>
                          <a:rPr lang="ru-RU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+1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</m:oMath>
                </a14:m>
                <a:r>
                  <a:rPr lang="ru-RU" dirty="0"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𝑘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−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𝐻</m:t>
                            </m:r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(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𝑘</m:t>
                                </m:r>
                              </m:sub>
                            </m:sSub>
                            <m:r>
                              <a:rPr lang="en-US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)+</m:t>
                            </m:r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𝜇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𝑘</m:t>
                                </m:r>
                              </m:sub>
                            </m:sSub>
                            <m:r>
                              <a:rPr lang="en-US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𝐸</m:t>
                            </m:r>
                          </m:e>
                        </m:d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−1</m:t>
                        </m:r>
                      </m:sup>
                    </m:sSup>
                    <m:r>
                      <m:rPr>
                        <m:sty m:val="p"/>
                      </m:rP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∇</m:t>
                    </m:r>
                    <m:r>
                      <a:rPr lang="en-US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𝑓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𝑘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:r>
                  <a:rPr lang="en-US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1,…</a:t>
                </a:r>
              </a:p>
              <a:p>
                <a:pPr marL="0" indent="0">
                  <a:buNone/>
                </a:pPr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Где точка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ru-RU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0</m:t>
                        </m:r>
                      </m:sub>
                    </m:sSub>
                    <m:r>
                      <a:rPr lang="ru-RU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задается пользователем, </a:t>
                </a:r>
                <a:r>
                  <a:rPr lang="en-US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 – </a:t>
                </a:r>
                <a:r>
                  <a:rPr lang="ru-RU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единчная</a:t>
                </a:r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матрица.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𝜇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ru-RU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определяется</a:t>
                </a:r>
                <a:r>
                  <a:rPr lang="ru-RU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из характера выпуклости функции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𝑓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𝑘</m:t>
                            </m:r>
                          </m:sub>
                        </m:sSub>
                      </m:e>
                    </m:d>
                  </m:oMath>
                </a14:m>
                <a:r>
                  <a:rPr lang="ru-RU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288C98F1-1BDE-4B28-8C4B-9CAC2036B67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600200"/>
                <a:ext cx="8229600" cy="4983162"/>
              </a:xfrm>
              <a:blipFill>
                <a:blip r:embed="rId2"/>
                <a:stretch>
                  <a:fillRect l="-1852" t="-1714" r="-2222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0667121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41FFFFC-626B-4493-90CE-725E6FA74E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Теорема о «бесплатных завтраках»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85E2CBB-0E44-4571-A631-0B8E9A5066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983162"/>
          </a:xfrm>
        </p:spPr>
        <p:txBody>
          <a:bodyPr/>
          <a:lstStyle/>
          <a:p>
            <a:r>
              <a:rPr lang="ru-RU" sz="2400" b="1" i="0" dirty="0">
                <a:solidFill>
                  <a:srgbClr val="2021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Теорема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ru-RU" sz="2400" b="1" i="0" dirty="0">
                <a:solidFill>
                  <a:srgbClr val="2021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Дэвида </a:t>
            </a:r>
            <a:r>
              <a:rPr lang="ru-RU" sz="2400" b="1" i="0" dirty="0" err="1">
                <a:solidFill>
                  <a:srgbClr val="2021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Волперта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и </a:t>
            </a:r>
            <a:r>
              <a:rPr lang="ru-RU" sz="2400" b="1" i="0" dirty="0">
                <a:solidFill>
                  <a:srgbClr val="2021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Уильяма </a:t>
            </a:r>
            <a:r>
              <a:rPr lang="ru-RU" sz="2400" b="1" i="0" dirty="0" err="1">
                <a:solidFill>
                  <a:srgbClr val="2021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Макриди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о бесплатном обеде (иногда во множественном числе)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“No</a:t>
            </a:r>
            <a:r>
              <a:rPr lang="ru-RU" sz="2400" dirty="0">
                <a:solidFill>
                  <a:srgbClr val="0645AD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2" tooltip="Дэвид Вольперт"/>
              </a:rPr>
              <a:t>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Free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Lunch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" (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NFL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появляется в 1997 году в "No Free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Lunch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Theorems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for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Optimization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». Название отсылает к поговорке «Бесплатных завтраков не бывает», то есть нет простых путей к успеху.</a:t>
            </a:r>
          </a:p>
          <a:p>
            <a:r>
              <a:rPr lang="ru-RU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Формулировка теоремы</a:t>
            </a:r>
          </a:p>
          <a:p>
            <a:pPr marL="0" indent="0">
              <a:buNone/>
            </a:pP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Если алгоритм хорошо работает над определенным классом задач, то он обязательно платит за это снижением производительности на множестве всех оставшихся задач</a:t>
            </a:r>
            <a:r>
              <a:rPr lang="ru-RU" sz="2800" dirty="0"/>
              <a:t>.</a:t>
            </a:r>
            <a:endParaRPr lang="ru-RU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23450209"/>
      </p:ext>
    </p:extLst>
  </p:cSld>
  <p:clrMapOvr>
    <a:masterClrMapping/>
  </p:clrMapOvr>
</p:sld>
</file>

<file path=ppt/theme/theme1.xml><?xml version="1.0" encoding="utf-8"?>
<a:theme xmlns:a="http://schemas.openxmlformats.org/drawingml/2006/main" name="Оформление по умолчанию">
  <a:themeElements>
    <a:clrScheme name="Оформление по умолчанию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Оформление по умолчанию">
      <a:majorFont>
        <a:latin typeface="Arial"/>
        <a:ea typeface=""/>
        <a:cs typeface="Arial"/>
      </a:majorFont>
      <a:minorFont>
        <a:latin typeface="Arial"/>
        <a:ea typeface=""/>
        <a:cs typeface="Arial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>
    <a:extraClrScheme>
      <a:clrScheme name="Оформление по умолчанию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Оформление по умолчанию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Оформление по умолчанию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Оформление по умолчанию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Оформление по умолчанию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Оформление по умолчанию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Оформление по умолчанию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Оформление по умолчанию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Оформление по умолчанию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Оформление по умолчанию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Оформление по умолчанию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Оформление по умолчанию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2590</TotalTime>
  <Words>2505</Words>
  <Application>Microsoft Office PowerPoint</Application>
  <PresentationFormat>Экран (4:3)</PresentationFormat>
  <Paragraphs>272</Paragraphs>
  <Slides>40</Slides>
  <Notes>0</Notes>
  <HiddenSlides>0</HiddenSlides>
  <MMClips>0</MMClips>
  <ScaleCrop>false</ScaleCrop>
  <HeadingPairs>
    <vt:vector size="8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Внедренные серверы OLE</vt:lpstr>
      </vt:variant>
      <vt:variant>
        <vt:i4>1</vt:i4>
      </vt:variant>
      <vt:variant>
        <vt:lpstr>Заголовки слайдов</vt:lpstr>
      </vt:variant>
      <vt:variant>
        <vt:i4>40</vt:i4>
      </vt:variant>
    </vt:vector>
  </HeadingPairs>
  <TitlesOfParts>
    <vt:vector size="45" baseType="lpstr">
      <vt:lpstr>Arial</vt:lpstr>
      <vt:lpstr>Cambria Math</vt:lpstr>
      <vt:lpstr>Times New Roman</vt:lpstr>
      <vt:lpstr>Оформление по умолчанию</vt:lpstr>
      <vt:lpstr>Формула</vt:lpstr>
      <vt:lpstr>ЛЕКЦИЯ № 5</vt:lpstr>
      <vt:lpstr>Постановка задачи многомерной оптимизации</vt:lpstr>
      <vt:lpstr>Классификация типов задач многомерной оптимизации</vt:lpstr>
      <vt:lpstr>Классификация типов задач многомерной оптимизации</vt:lpstr>
      <vt:lpstr>Эффективность численных методов оптимизации</vt:lpstr>
      <vt:lpstr>Эффективность численных методов оптимизации</vt:lpstr>
      <vt:lpstr>Эффективность численных методов оптимизации</vt:lpstr>
      <vt:lpstr>Эффективность численных методов оптимизации</vt:lpstr>
      <vt:lpstr>Эффективность численных методов оптимизации</vt:lpstr>
      <vt:lpstr>Эффективность численных методов оптимизации</vt:lpstr>
      <vt:lpstr>Эффективность численных методов оптимизации</vt:lpstr>
      <vt:lpstr>Методы оракула нулевого порядка</vt:lpstr>
      <vt:lpstr>Методы нулевого порядка</vt:lpstr>
      <vt:lpstr>Метод Хука-Дживса (Х-Д) </vt:lpstr>
      <vt:lpstr>Метод Розенброка </vt:lpstr>
      <vt:lpstr> Метод Розенброка (Девиса-Свена-Кемпи)  </vt:lpstr>
      <vt:lpstr> Метод Розенброка (Девиса-Свена-Кемпи) Ортогонализация Грама-Шмидта</vt:lpstr>
      <vt:lpstr>Метод Розенброка Алгоритм</vt:lpstr>
      <vt:lpstr>Метод Нелдера-Мида      (деформируемых симплексов)</vt:lpstr>
      <vt:lpstr>Метод Нелдера-Мида (деформируемых симплексов)</vt:lpstr>
      <vt:lpstr>Метод Нелдера-Мида  (деформируемых симплексов)</vt:lpstr>
      <vt:lpstr>Метод Нелдера-Мида  (деформируемых симплексов)</vt:lpstr>
      <vt:lpstr>Метод Нелдера-Мида  (деформируемых симплексов)</vt:lpstr>
      <vt:lpstr>Методы оракула первого порядка</vt:lpstr>
      <vt:lpstr>Методы, использующие производные.</vt:lpstr>
      <vt:lpstr>Методы сопряженных градиентов (первого порядка)</vt:lpstr>
      <vt:lpstr>Метод Флетчера-Ривза  </vt:lpstr>
      <vt:lpstr>Алгоритм метода Флетчера-Ривза.</vt:lpstr>
      <vt:lpstr>Методы сопряженных градиентов</vt:lpstr>
      <vt:lpstr>Методы оракула второго порядка</vt:lpstr>
      <vt:lpstr>Квазиньютоновские методы  ( Методы переменной метрики)</vt:lpstr>
      <vt:lpstr>Квазиньютоновские методы  ( Методы переменной метрики). </vt:lpstr>
      <vt:lpstr>Квазиньютоновские методы  ( Методы переменной метрики)</vt:lpstr>
      <vt:lpstr>Квазиньютоновские методы  1. Метод  Девидона – Флетчера – Пауэлла (DFP) </vt:lpstr>
      <vt:lpstr>Квазиньютоновские методы  2.Метод Бройдена (B) </vt:lpstr>
      <vt:lpstr>Квазиньютоновские методы  Алгоритм квазиньютоновских методов </vt:lpstr>
      <vt:lpstr>Квазиньютоновские методы  3. Метод Бройдена-Флетчера-Гольдфарба-Шенно.(BFGS).</vt:lpstr>
      <vt:lpstr>Квазиньютоновские методы  3. Метод Бройдена-Флетчера-Гольдфарба-Шенно (BFGS)</vt:lpstr>
      <vt:lpstr>Метод Левенберга-Маркгвардта</vt:lpstr>
      <vt:lpstr>Теорема о «бесплатных завтраках»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ЛЕКЦИЯ № 3</dc:title>
  <dc:creator>Yura</dc:creator>
  <cp:lastModifiedBy>Yuriy Kaganov</cp:lastModifiedBy>
  <cp:revision>118</cp:revision>
  <dcterms:created xsi:type="dcterms:W3CDTF">2015-10-05T05:25:32Z</dcterms:created>
  <dcterms:modified xsi:type="dcterms:W3CDTF">2025-10-09T12:03:40Z</dcterms:modified>
</cp:coreProperties>
</file>