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359" r:id="rId2"/>
    <p:sldId id="257" r:id="rId3"/>
    <p:sldId id="309" r:id="rId4"/>
    <p:sldId id="310" r:id="rId5"/>
    <p:sldId id="272" r:id="rId6"/>
    <p:sldId id="273" r:id="rId7"/>
    <p:sldId id="280" r:id="rId8"/>
    <p:sldId id="281" r:id="rId9"/>
    <p:sldId id="282" r:id="rId10"/>
    <p:sldId id="283" r:id="rId11"/>
    <p:sldId id="284" r:id="rId12"/>
    <p:sldId id="285" r:id="rId13"/>
    <p:sldId id="286" r:id="rId14"/>
    <p:sldId id="287" r:id="rId15"/>
    <p:sldId id="264" r:id="rId16"/>
    <p:sldId id="265" r:id="rId17"/>
    <p:sldId id="305" r:id="rId18"/>
    <p:sldId id="308" r:id="rId19"/>
    <p:sldId id="306" r:id="rId20"/>
    <p:sldId id="354" r:id="rId21"/>
    <p:sldId id="355" r:id="rId22"/>
    <p:sldId id="315" r:id="rId23"/>
    <p:sldId id="356" r:id="rId24"/>
    <p:sldId id="357" r:id="rId25"/>
    <p:sldId id="358" r:id="rId26"/>
    <p:sldId id="320" r:id="rId27"/>
    <p:sldId id="318" r:id="rId28"/>
    <p:sldId id="321" r:id="rId29"/>
    <p:sldId id="322" r:id="rId30"/>
    <p:sldId id="324" r:id="rId31"/>
    <p:sldId id="323" r:id="rId32"/>
    <p:sldId id="325" r:id="rId3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46" autoAdjust="0"/>
    <p:restoredTop sz="94660"/>
  </p:normalViewPr>
  <p:slideViewPr>
    <p:cSldViewPr snapToGrid="0">
      <p:cViewPr varScale="1">
        <p:scale>
          <a:sx n="88" d="100"/>
          <a:sy n="88" d="100"/>
        </p:scale>
        <p:origin x="18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7" Type="http://schemas.openxmlformats.org/officeDocument/2006/relationships/image" Target="../media/image11.wmf"/><Relationship Id="rId2" Type="http://schemas.openxmlformats.org/officeDocument/2006/relationships/image" Target="../media/image6.wmf"/><Relationship Id="rId1" Type="http://schemas.openxmlformats.org/officeDocument/2006/relationships/image" Target="../media/image5.wmf"/><Relationship Id="rId6" Type="http://schemas.openxmlformats.org/officeDocument/2006/relationships/image" Target="../media/image10.wmf"/><Relationship Id="rId5" Type="http://schemas.openxmlformats.org/officeDocument/2006/relationships/image" Target="../media/image9.wmf"/><Relationship Id="rId4" Type="http://schemas.openxmlformats.org/officeDocument/2006/relationships/image" Target="../media/image8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Relationship Id="rId5" Type="http://schemas.openxmlformats.org/officeDocument/2006/relationships/image" Target="../media/image16.wmf"/><Relationship Id="rId4" Type="http://schemas.openxmlformats.org/officeDocument/2006/relationships/image" Target="../media/image15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3" Type="http://schemas.openxmlformats.org/officeDocument/2006/relationships/image" Target="../media/image22.wmf"/><Relationship Id="rId7" Type="http://schemas.openxmlformats.org/officeDocument/2006/relationships/image" Target="../media/image26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Relationship Id="rId6" Type="http://schemas.openxmlformats.org/officeDocument/2006/relationships/image" Target="../media/image25.wmf"/><Relationship Id="rId11" Type="http://schemas.openxmlformats.org/officeDocument/2006/relationships/image" Target="../media/image30.wmf"/><Relationship Id="rId5" Type="http://schemas.openxmlformats.org/officeDocument/2006/relationships/image" Target="../media/image24.wmf"/><Relationship Id="rId10" Type="http://schemas.openxmlformats.org/officeDocument/2006/relationships/image" Target="../media/image29.wmf"/><Relationship Id="rId4" Type="http://schemas.openxmlformats.org/officeDocument/2006/relationships/image" Target="../media/image23.wmf"/><Relationship Id="rId9" Type="http://schemas.openxmlformats.org/officeDocument/2006/relationships/image" Target="../media/image28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3" Type="http://schemas.openxmlformats.org/officeDocument/2006/relationships/image" Target="../media/image33.wmf"/><Relationship Id="rId7" Type="http://schemas.openxmlformats.org/officeDocument/2006/relationships/image" Target="../media/image37.wmf"/><Relationship Id="rId2" Type="http://schemas.openxmlformats.org/officeDocument/2006/relationships/image" Target="../media/image32.wmf"/><Relationship Id="rId1" Type="http://schemas.openxmlformats.org/officeDocument/2006/relationships/image" Target="../media/image31.wmf"/><Relationship Id="rId6" Type="http://schemas.openxmlformats.org/officeDocument/2006/relationships/image" Target="../media/image36.wmf"/><Relationship Id="rId5" Type="http://schemas.openxmlformats.org/officeDocument/2006/relationships/image" Target="../media/image35.wmf"/><Relationship Id="rId10" Type="http://schemas.openxmlformats.org/officeDocument/2006/relationships/image" Target="../media/image40.wmf"/><Relationship Id="rId4" Type="http://schemas.openxmlformats.org/officeDocument/2006/relationships/image" Target="../media/image34.wmf"/><Relationship Id="rId9" Type="http://schemas.openxmlformats.org/officeDocument/2006/relationships/image" Target="../media/image39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5.wmf"/><Relationship Id="rId2" Type="http://schemas.openxmlformats.org/officeDocument/2006/relationships/image" Target="../media/image44.wmf"/><Relationship Id="rId1" Type="http://schemas.openxmlformats.org/officeDocument/2006/relationships/image" Target="../media/image43.wmf"/><Relationship Id="rId5" Type="http://schemas.openxmlformats.org/officeDocument/2006/relationships/image" Target="../media/image47.wmf"/><Relationship Id="rId4" Type="http://schemas.openxmlformats.org/officeDocument/2006/relationships/image" Target="../media/image4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87C966-0835-4D16-A50C-9F38D91E890B}" type="datetimeFigureOut">
              <a:rPr lang="ru-RU" smtClean="0"/>
              <a:t>23.10.2025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E8BF29-C526-4B5B-BA94-5B625E3D68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4385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6F8A4ECF-E9BE-490F-9F87-BFC63A03AC70}" type="slidenum">
              <a:rPr lang="ru-RU" altLang="ru-RU" smtClean="0"/>
              <a:pPr/>
              <a:t>17</a:t>
            </a:fld>
            <a:endParaRPr lang="ru-RU" altLang="ru-RU"/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Text Box 3"/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</a:pPr>
            <a:r>
              <a:rPr lang="ru-RU" altLang="ru-RU" sz="1200">
                <a:solidFill>
                  <a:srgbClr val="000000"/>
                </a:solidFill>
                <a:latin typeface="Calibri" panose="020F0502020204030204" pitchFamily="34" charset="0"/>
              </a:rPr>
              <a:t>Здравствуйте, уважаемые члены государственной аттестационной комиссии. Тема моей магистерской диссертации ()</a:t>
            </a:r>
          </a:p>
        </p:txBody>
      </p:sp>
      <p:sp>
        <p:nvSpPr>
          <p:cNvPr id="102405" name="Text Box 4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buSzPct val="100000"/>
            </a:pPr>
            <a:fld id="{C8545881-05A8-44F9-8A0E-0C9B85D5369E}" type="slidenum">
              <a:rPr lang="ru-RU" altLang="ru-RU" sz="1200">
                <a:solidFill>
                  <a:srgbClr val="000000"/>
                </a:solidFill>
                <a:latin typeface="Calibri" panose="020F0502020204030204" pitchFamily="34" charset="0"/>
              </a:rPr>
              <a:pPr algn="r" eaLnBrk="1" hangingPunct="1">
                <a:buSzPct val="100000"/>
              </a:pPr>
              <a:t>17</a:t>
            </a:fld>
            <a:endParaRPr lang="ru-RU" altLang="ru-RU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9291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642DF8-AA84-4120-AB25-5F2648FE50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28081FD-37DF-4289-A764-ADEC3205C5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3047626-3E70-4485-86F6-55F2262DA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EB753-BBEB-4C3C-9673-2186C8B64DA5}" type="datetimeFigureOut">
              <a:rPr lang="ru-RU" smtClean="0"/>
              <a:t>23.10.2025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FD84EED-B627-492C-8D13-1D490E016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8A29CE1-DBFD-4E22-B719-B6D51994E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46D1-7E5A-4525-8119-0FE5EDA418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7362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F09660-5726-4204-BED8-A1E9F6DFE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F11D7AA-235F-4B2F-964D-7CC1080990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595A23-1146-495C-BE3B-942C676E4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EB753-BBEB-4C3C-9673-2186C8B64DA5}" type="datetimeFigureOut">
              <a:rPr lang="ru-RU" smtClean="0"/>
              <a:t>23.10.2025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C695294-6C76-4C19-BFD5-F082BCC52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1CA3451-97D5-4F50-AB12-48C4E4FF4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46D1-7E5A-4525-8119-0FE5EDA418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916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332AAB-6ED0-4F57-8F6A-2ED083BDB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264554F-1644-43B1-836F-99B87CE68A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F5C925C-B12A-46CE-ACEA-BBCF0B99D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EB753-BBEB-4C3C-9673-2186C8B64DA5}" type="datetimeFigureOut">
              <a:rPr lang="ru-RU" smtClean="0"/>
              <a:t>23.10.2025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419952B-6677-4E99-A91D-9440C15DE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6BF5188-1502-43B7-A1F9-F2558907C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46D1-7E5A-4525-8119-0FE5EDA418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3145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45BD98-126E-4D56-948F-29F915B5D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D5CF457-37BC-4F70-86B3-C6ECD0614A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2FFBB2C-218D-4E8F-AF2B-47C510D03C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89BCFEC-950F-413B-8DD3-18CACFBC3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EB753-BBEB-4C3C-9673-2186C8B64DA5}" type="datetimeFigureOut">
              <a:rPr lang="ru-RU" smtClean="0"/>
              <a:t>23.10.2025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7CA1E4D-84E1-45DA-B006-E34EE8D78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A5F164F-A078-4CAA-9110-6523E3623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46D1-7E5A-4525-8119-0FE5EDA418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4037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2A5A38-E7B0-4949-BAD6-320F3DFD6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14F734E-422D-47E6-B0EC-29D609E09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0B7FD7C-5949-4C93-BEFA-06AB8E5B34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B905E93-C02C-41CC-A0B5-FCB8A86529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10283BE-F4A0-4F93-83C1-66F77F0B56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E20D3F0-CBCB-4E84-9B68-C1C370652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EB753-BBEB-4C3C-9673-2186C8B64DA5}" type="datetimeFigureOut">
              <a:rPr lang="ru-RU" smtClean="0"/>
              <a:t>23.10.2025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B2150BF-ED4C-4B86-BB8F-104873DEB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E7660CA-0418-4DB1-8869-CFEC6493D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46D1-7E5A-4525-8119-0FE5EDA418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8927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DE77F0-628C-4602-8AF3-7BD2539C3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058F4DA-82F1-4611-8FE9-8A5EBE711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EB753-BBEB-4C3C-9673-2186C8B64DA5}" type="datetimeFigureOut">
              <a:rPr lang="ru-RU" smtClean="0"/>
              <a:t>23.10.2025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25682D9-F9F6-4792-A6D2-9B6723ED9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8AC2CA4-9264-468C-AB2C-51EDF886E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46D1-7E5A-4525-8119-0FE5EDA418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3091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2CA2535-A979-45D7-903A-54BFB60D4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EB753-BBEB-4C3C-9673-2186C8B64DA5}" type="datetimeFigureOut">
              <a:rPr lang="ru-RU" smtClean="0"/>
              <a:t>23.10.2025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DB2865E-A142-439C-BF88-2A5827059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C59EAFE-1EA4-42B4-AEE1-7311B7336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46D1-7E5A-4525-8119-0FE5EDA418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6882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F5EEA7-DCEE-42A1-846E-08E8753B3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9423595-2BBE-4643-8FAF-0C8538B391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F1332E0-8374-4A7B-B593-67B1D50DCF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9732668-6F98-4F8C-AECD-23F69407E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EB753-BBEB-4C3C-9673-2186C8B64DA5}" type="datetimeFigureOut">
              <a:rPr lang="ru-RU" smtClean="0"/>
              <a:t>23.10.2025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9A975DC-8D80-4387-9459-A6118A438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ED5744F-375E-4F21-84F7-5F04686FE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46D1-7E5A-4525-8119-0FE5EDA418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8037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87AE13-17E8-48F0-86B8-053C525D8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CC3D994-B784-4FE8-86A2-F7AF5C57FF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A8CC998-5459-40E1-8E9B-31B5722877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18B9B26-7501-491C-90E6-33449239D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EB753-BBEB-4C3C-9673-2186C8B64DA5}" type="datetimeFigureOut">
              <a:rPr lang="ru-RU" smtClean="0"/>
              <a:t>23.10.2025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303B3DA-D97A-4992-BB67-4DBCDCADE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A3A17B6-DB38-43A8-A70C-C879CE1C4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46D1-7E5A-4525-8119-0FE5EDA418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1589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FFE9A7-B71E-421E-8E5B-BF26B1CBE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5FC261A-5A6E-4A59-9D47-11AACF05D8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BE96BF4-DDD4-43EB-A0C4-82DD12FB5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EB753-BBEB-4C3C-9673-2186C8B64DA5}" type="datetimeFigureOut">
              <a:rPr lang="ru-RU" smtClean="0"/>
              <a:t>23.10.2025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034057B-B145-498C-BE22-ABB178C19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0549325-00FE-4369-933E-B64F818EA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46D1-7E5A-4525-8119-0FE5EDA418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8455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1B6C5D3-FA14-4D1C-8B75-0880059BA5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FBDEFA4-E240-4E10-A27B-C3D498A750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B803179-AF7F-4A15-931E-7C342EB71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EB753-BBEB-4C3C-9673-2186C8B64DA5}" type="datetimeFigureOut">
              <a:rPr lang="ru-RU" smtClean="0"/>
              <a:t>23.10.2025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F9B43E2-75EC-4A4F-A80D-750137A34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7D29654-4268-4E5C-89D1-E96E107CA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46D1-7E5A-4525-8119-0FE5EDA418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3281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Заголовок, текст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fld id="{8310CE31-C5C2-4905-8D68-E58DE77935DB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610997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737023-CA40-4175-BAAF-1CC9DEE5B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FAB59D5-6629-4625-BEE7-0BBDEF651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201CFD2-3A90-43EA-B146-598B9E8B10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8EB753-BBEB-4C3C-9673-2186C8B64DA5}" type="datetimeFigureOut">
              <a:rPr lang="ru-RU" smtClean="0"/>
              <a:t>23.10.2025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07888EB-C156-4101-87D6-52D5A8E3B3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E0F4CD5-54AC-46BE-B3A1-48DCD30733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3246D1-7E5A-4525-8119-0FE5EDA418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6510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4.jpeg"/><Relationship Id="rId4" Type="http://schemas.openxmlformats.org/officeDocument/2006/relationships/image" Target="../media/image3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13" Type="http://schemas.openxmlformats.org/officeDocument/2006/relationships/oleObject" Target="../embeddings/oleObject9.bin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12" Type="http://schemas.openxmlformats.org/officeDocument/2006/relationships/image" Target="../media/image9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1.w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6.wmf"/><Relationship Id="rId11" Type="http://schemas.openxmlformats.org/officeDocument/2006/relationships/oleObject" Target="../embeddings/oleObject8.bin"/><Relationship Id="rId5" Type="http://schemas.openxmlformats.org/officeDocument/2006/relationships/oleObject" Target="../embeddings/oleObject5.bin"/><Relationship Id="rId15" Type="http://schemas.openxmlformats.org/officeDocument/2006/relationships/oleObject" Target="../embeddings/oleObject10.bin"/><Relationship Id="rId10" Type="http://schemas.openxmlformats.org/officeDocument/2006/relationships/image" Target="../media/image8.wmf"/><Relationship Id="rId4" Type="http://schemas.openxmlformats.org/officeDocument/2006/relationships/image" Target="../media/image5.wmf"/><Relationship Id="rId9" Type="http://schemas.openxmlformats.org/officeDocument/2006/relationships/oleObject" Target="../embeddings/oleObject7.bin"/><Relationship Id="rId14" Type="http://schemas.openxmlformats.org/officeDocument/2006/relationships/image" Target="../media/image10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13" Type="http://schemas.openxmlformats.org/officeDocument/2006/relationships/oleObject" Target="../embeddings/oleObject16.bin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12" Type="http://schemas.openxmlformats.org/officeDocument/2006/relationships/image" Target="../media/image15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3.wmf"/><Relationship Id="rId11" Type="http://schemas.openxmlformats.org/officeDocument/2006/relationships/oleObject" Target="../embeddings/oleObject15.bin"/><Relationship Id="rId5" Type="http://schemas.openxmlformats.org/officeDocument/2006/relationships/oleObject" Target="../embeddings/oleObject12.bin"/><Relationship Id="rId10" Type="http://schemas.openxmlformats.org/officeDocument/2006/relationships/image" Target="../media/image17.jpeg"/><Relationship Id="rId4" Type="http://schemas.openxmlformats.org/officeDocument/2006/relationships/image" Target="../media/image12.wmf"/><Relationship Id="rId9" Type="http://schemas.openxmlformats.org/officeDocument/2006/relationships/image" Target="../media/image14.wmf"/><Relationship Id="rId14" Type="http://schemas.openxmlformats.org/officeDocument/2006/relationships/image" Target="../media/image16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13" Type="http://schemas.openxmlformats.org/officeDocument/2006/relationships/oleObject" Target="../embeddings/oleObject22.bin"/><Relationship Id="rId18" Type="http://schemas.openxmlformats.org/officeDocument/2006/relationships/image" Target="../media/image27.wmf"/><Relationship Id="rId3" Type="http://schemas.openxmlformats.org/officeDocument/2006/relationships/oleObject" Target="../embeddings/oleObject17.bin"/><Relationship Id="rId21" Type="http://schemas.openxmlformats.org/officeDocument/2006/relationships/oleObject" Target="../embeddings/oleObject26.bin"/><Relationship Id="rId7" Type="http://schemas.openxmlformats.org/officeDocument/2006/relationships/oleObject" Target="../embeddings/oleObject19.bin"/><Relationship Id="rId12" Type="http://schemas.openxmlformats.org/officeDocument/2006/relationships/image" Target="../media/image24.wmf"/><Relationship Id="rId17" Type="http://schemas.openxmlformats.org/officeDocument/2006/relationships/oleObject" Target="../embeddings/oleObject24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6.wmf"/><Relationship Id="rId20" Type="http://schemas.openxmlformats.org/officeDocument/2006/relationships/image" Target="../media/image28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21.wmf"/><Relationship Id="rId11" Type="http://schemas.openxmlformats.org/officeDocument/2006/relationships/oleObject" Target="../embeddings/oleObject21.bin"/><Relationship Id="rId24" Type="http://schemas.openxmlformats.org/officeDocument/2006/relationships/image" Target="../media/image30.wmf"/><Relationship Id="rId5" Type="http://schemas.openxmlformats.org/officeDocument/2006/relationships/oleObject" Target="../embeddings/oleObject18.bin"/><Relationship Id="rId15" Type="http://schemas.openxmlformats.org/officeDocument/2006/relationships/oleObject" Target="../embeddings/oleObject23.bin"/><Relationship Id="rId23" Type="http://schemas.openxmlformats.org/officeDocument/2006/relationships/oleObject" Target="../embeddings/oleObject27.bin"/><Relationship Id="rId10" Type="http://schemas.openxmlformats.org/officeDocument/2006/relationships/image" Target="../media/image23.wmf"/><Relationship Id="rId19" Type="http://schemas.openxmlformats.org/officeDocument/2006/relationships/oleObject" Target="../embeddings/oleObject25.bin"/><Relationship Id="rId4" Type="http://schemas.openxmlformats.org/officeDocument/2006/relationships/image" Target="../media/image20.wmf"/><Relationship Id="rId9" Type="http://schemas.openxmlformats.org/officeDocument/2006/relationships/oleObject" Target="../embeddings/oleObject20.bin"/><Relationship Id="rId14" Type="http://schemas.openxmlformats.org/officeDocument/2006/relationships/image" Target="../media/image25.wmf"/><Relationship Id="rId22" Type="http://schemas.openxmlformats.org/officeDocument/2006/relationships/image" Target="../media/image29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13" Type="http://schemas.openxmlformats.org/officeDocument/2006/relationships/oleObject" Target="../embeddings/oleObject33.bin"/><Relationship Id="rId18" Type="http://schemas.openxmlformats.org/officeDocument/2006/relationships/image" Target="../media/image38.wmf"/><Relationship Id="rId3" Type="http://schemas.openxmlformats.org/officeDocument/2006/relationships/oleObject" Target="../embeddings/oleObject28.bin"/><Relationship Id="rId21" Type="http://schemas.openxmlformats.org/officeDocument/2006/relationships/oleObject" Target="../embeddings/oleObject37.bin"/><Relationship Id="rId7" Type="http://schemas.openxmlformats.org/officeDocument/2006/relationships/oleObject" Target="../embeddings/oleObject30.bin"/><Relationship Id="rId12" Type="http://schemas.openxmlformats.org/officeDocument/2006/relationships/image" Target="../media/image35.wmf"/><Relationship Id="rId17" Type="http://schemas.openxmlformats.org/officeDocument/2006/relationships/oleObject" Target="../embeddings/oleObject35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37.wmf"/><Relationship Id="rId20" Type="http://schemas.openxmlformats.org/officeDocument/2006/relationships/image" Target="../media/image39.w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32.wmf"/><Relationship Id="rId11" Type="http://schemas.openxmlformats.org/officeDocument/2006/relationships/oleObject" Target="../embeddings/oleObject32.bin"/><Relationship Id="rId5" Type="http://schemas.openxmlformats.org/officeDocument/2006/relationships/oleObject" Target="../embeddings/oleObject29.bin"/><Relationship Id="rId15" Type="http://schemas.openxmlformats.org/officeDocument/2006/relationships/oleObject" Target="../embeddings/oleObject34.bin"/><Relationship Id="rId10" Type="http://schemas.openxmlformats.org/officeDocument/2006/relationships/image" Target="../media/image34.wmf"/><Relationship Id="rId19" Type="http://schemas.openxmlformats.org/officeDocument/2006/relationships/oleObject" Target="../embeddings/oleObject36.bin"/><Relationship Id="rId4" Type="http://schemas.openxmlformats.org/officeDocument/2006/relationships/image" Target="../media/image31.wmf"/><Relationship Id="rId9" Type="http://schemas.openxmlformats.org/officeDocument/2006/relationships/oleObject" Target="../embeddings/oleObject31.bin"/><Relationship Id="rId14" Type="http://schemas.openxmlformats.org/officeDocument/2006/relationships/image" Target="../media/image36.wmf"/><Relationship Id="rId22" Type="http://schemas.openxmlformats.org/officeDocument/2006/relationships/image" Target="../media/image40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wmf"/><Relationship Id="rId3" Type="http://schemas.openxmlformats.org/officeDocument/2006/relationships/oleObject" Target="../embeddings/oleObject38.bin"/><Relationship Id="rId7" Type="http://schemas.openxmlformats.org/officeDocument/2006/relationships/oleObject" Target="../embeddings/oleObject40.bin"/><Relationship Id="rId12" Type="http://schemas.openxmlformats.org/officeDocument/2006/relationships/image" Target="../media/image4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44.wmf"/><Relationship Id="rId11" Type="http://schemas.openxmlformats.org/officeDocument/2006/relationships/oleObject" Target="../embeddings/oleObject42.bin"/><Relationship Id="rId5" Type="http://schemas.openxmlformats.org/officeDocument/2006/relationships/oleObject" Target="../embeddings/oleObject39.bin"/><Relationship Id="rId10" Type="http://schemas.openxmlformats.org/officeDocument/2006/relationships/image" Target="../media/image46.wmf"/><Relationship Id="rId4" Type="http://schemas.openxmlformats.org/officeDocument/2006/relationships/image" Target="../media/image43.wmf"/><Relationship Id="rId9" Type="http://schemas.openxmlformats.org/officeDocument/2006/relationships/oleObject" Target="../embeddings/oleObject41.bin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nsorflow.org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xgboost.ai/" TargetMode="External"/><Relationship Id="rId5" Type="http://schemas.openxmlformats.org/officeDocument/2006/relationships/hyperlink" Target="https://pjreddie.com/darknet/" TargetMode="External"/><Relationship Id="rId4" Type="http://schemas.openxmlformats.org/officeDocument/2006/relationships/hyperlink" Target="https://pytorch.org/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0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703389" y="333375"/>
            <a:ext cx="8785225" cy="3671888"/>
          </a:xfrm>
        </p:spPr>
        <p:txBody>
          <a:bodyPr/>
          <a:lstStyle/>
          <a:p>
            <a:pPr eaLnBrk="1" hangingPunct="1"/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Математические основы искусственного интеллекта</a:t>
            </a:r>
            <a:b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Каганов Ю.Т.</a:t>
            </a:r>
            <a:b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к.т.н., доцент каф. ИУ-5</a:t>
            </a:r>
            <a:b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3200" b="1" dirty="0">
                <a:latin typeface="+mn-lt"/>
              </a:rPr>
            </a:br>
            <a:endParaRPr lang="ru-RU" sz="3200" b="1" dirty="0">
              <a:latin typeface="+mn-lt"/>
            </a:endParaRPr>
          </a:p>
        </p:txBody>
      </p:sp>
      <p:sp>
        <p:nvSpPr>
          <p:cNvPr id="13314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521069" y="4149726"/>
            <a:ext cx="9214339" cy="2016125"/>
          </a:xfrm>
        </p:spPr>
        <p:txBody>
          <a:bodyPr/>
          <a:lstStyle/>
          <a:p>
            <a:pPr eaLnBrk="1" hangingPunct="1"/>
            <a:r>
              <a:rPr lang="ru-RU" sz="3600" b="1" dirty="0"/>
              <a:t>ЛЕКЦИЯ № 6</a:t>
            </a:r>
          </a:p>
          <a:p>
            <a:pPr eaLnBrk="1" hangingPunct="1"/>
            <a:r>
              <a:rPr lang="ru-RU" sz="3200" b="1" dirty="0">
                <a:ea typeface="Times New Roman" panose="02020603050405020304" pitchFamily="18" charset="0"/>
              </a:rPr>
              <a:t>Математические основы ТИНС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74639"/>
            <a:ext cx="8229600" cy="993775"/>
          </a:xfrm>
        </p:spPr>
        <p:txBody>
          <a:bodyPr/>
          <a:lstStyle/>
          <a:p>
            <a:pPr algn="ctr" eaLnBrk="1" hangingPunct="1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ПЛАН ЛЕКЦИИ</a:t>
            </a:r>
          </a:p>
        </p:txBody>
      </p:sp>
      <p:sp>
        <p:nvSpPr>
          <p:cNvPr id="143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47850" y="1196975"/>
            <a:ext cx="8362950" cy="4929188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ru-RU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Классификация типов задач многомерной оптимизации.</a:t>
            </a:r>
          </a:p>
          <a:p>
            <a:pPr marL="0" indent="0">
              <a:buNone/>
            </a:pPr>
            <a:r>
              <a:rPr lang="ru-RU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Градиентные методы в машинном обучении.</a:t>
            </a:r>
          </a:p>
          <a:p>
            <a:pPr marL="0" indent="0">
              <a:buNone/>
            </a:pPr>
            <a:r>
              <a:rPr lang="ru-RU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Фреймворки для работы с глубокими сетями</a:t>
            </a:r>
          </a:p>
          <a:p>
            <a:pPr marL="0" indent="0">
              <a:buNone/>
            </a:pPr>
            <a:r>
              <a:rPr lang="ru-RU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Стохастический градиент.</a:t>
            </a:r>
          </a:p>
          <a:p>
            <a:pPr marL="0" indent="0">
              <a:buNone/>
            </a:pPr>
            <a:r>
              <a:rPr lang="ru-RU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Современные методы многомерной оптимизации ориентированные на использование в искусственных нейронных сетях </a:t>
            </a:r>
            <a:r>
              <a:rPr lang="en-US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en-US" sz="26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1</a:t>
            </a:r>
            <a:r>
              <a:rPr lang="ru-RU" sz="26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)</a:t>
            </a:r>
            <a:r>
              <a:rPr lang="en-US" sz="26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   NAG. (</a:t>
            </a:r>
            <a:r>
              <a:rPr lang="en-US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Nesterov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accelerated gradient</a:t>
            </a:r>
            <a:r>
              <a:rPr lang="en-US" sz="26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US" sz="26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2</a:t>
            </a:r>
            <a:r>
              <a:rPr lang="ru-RU" sz="26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)</a:t>
            </a:r>
            <a:r>
              <a:rPr lang="en-US" sz="26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2600" b="1" dirty="0" err="1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Adagrad</a:t>
            </a:r>
            <a:r>
              <a:rPr lang="en-US" sz="26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. (Adapted gradient)</a:t>
            </a:r>
          </a:p>
          <a:p>
            <a:pPr marL="0" indent="0">
              <a:buNone/>
            </a:pPr>
            <a:r>
              <a:rPr lang="en-US" sz="26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3</a:t>
            </a:r>
            <a:r>
              <a:rPr lang="ru-RU" sz="26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)</a:t>
            </a:r>
            <a:r>
              <a:rPr lang="en-US" sz="26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2600" b="1" dirty="0" err="1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Adadelta</a:t>
            </a:r>
            <a:r>
              <a:rPr lang="en-US" sz="26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. (E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xtension of </a:t>
            </a:r>
            <a:r>
              <a:rPr lang="en-US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Adagrad</a:t>
            </a:r>
            <a:r>
              <a:rPr lang="en-US" sz="26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ru-RU" sz="26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4)    </a:t>
            </a:r>
            <a:r>
              <a:rPr lang="en-US" sz="2600" b="1" dirty="0" err="1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RMSProp</a:t>
            </a:r>
            <a:r>
              <a:rPr lang="en-US" sz="26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. (A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daptive Root Mean Squared)</a:t>
            </a:r>
          </a:p>
          <a:p>
            <a:pPr marL="514350" indent="-514350">
              <a:buAutoNum type="arabicParenR" startAt="5"/>
            </a:pPr>
            <a:r>
              <a:rPr lang="en-US" sz="26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Adam. (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moment estimation)</a:t>
            </a:r>
            <a:endParaRPr lang="ru-RU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Arial" panose="020B0604020202020204" pitchFamily="34" charset="0"/>
              <a:buAutoNum type="arabicParenR" startAt="5"/>
            </a:pPr>
            <a:r>
              <a:rPr lang="en-US" sz="2800" b="1" dirty="0" err="1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AdaMax</a:t>
            </a:r>
            <a:r>
              <a:rPr lang="en-US" sz="28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. (Modification Adam)</a:t>
            </a:r>
            <a:endParaRPr lang="ru-RU" sz="2800" b="1" dirty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Arial" panose="020B0604020202020204" pitchFamily="34" charset="0"/>
              <a:buAutoNum type="arabicParenR" startAt="5"/>
            </a:pPr>
            <a:r>
              <a:rPr lang="en-US" sz="2800" b="1" dirty="0" err="1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Nadam</a:t>
            </a:r>
            <a:r>
              <a:rPr lang="en-US" sz="28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. (</a:t>
            </a:r>
            <a:r>
              <a:rPr lang="en-US" sz="2800" b="1" dirty="0" err="1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Nesterov</a:t>
            </a:r>
            <a:r>
              <a:rPr lang="en-US" sz="28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modification Adam)</a:t>
            </a:r>
          </a:p>
          <a:p>
            <a:pPr marL="514350" indent="-514350">
              <a:buFont typeface="Arial" panose="020B0604020202020204" pitchFamily="34" charset="0"/>
              <a:buAutoNum type="arabicParenR" startAt="5"/>
            </a:pPr>
            <a:endParaRPr lang="en-US" sz="2800" b="1" dirty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arenR" startAt="5"/>
            </a:pPr>
            <a:endParaRPr lang="ru-RU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arenR" startAt="5"/>
            </a:pPr>
            <a:endParaRPr lang="en-US" sz="2600" b="1" dirty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47BD58-21FF-41FF-A04B-EFCFF68EE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Классификация типов задач многомерной оптимизации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2AE29A57-A2E2-4100-9AD4-9E4241B45C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981200" y="1417638"/>
                <a:ext cx="8229600" cy="5257800"/>
              </a:xfrm>
            </p:spPr>
            <p:txBody>
              <a:bodyPr/>
              <a:lstStyle/>
              <a:p>
                <a:r>
                  <a:rPr lang="ru-RU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Задачи на условный экстремум</a:t>
                </a:r>
                <a:r>
                  <a:rPr lang="ru-RU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𝑄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⊂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ru-RU" sz="2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Задачи на безусловный экстремум</a:t>
                </a:r>
                <a:r>
                  <a:rPr lang="ru-RU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𝑄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≡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p>
                    <m:r>
                      <a:rPr 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ru-RU" sz="2400" i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Гладкие задачи</a:t>
                </a:r>
                <a:r>
                  <a:rPr lang="ru-RU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∀</m:t>
                    </m:r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∈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</m:sSup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𝑄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=0,…,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Негладкие задачи</a:t>
                </a:r>
                <a:r>
                  <a:rPr lang="ru-RU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14:m>
                  <m:oMath xmlns:m="http://schemas.openxmlformats.org/officeDocument/2006/math">
                    <m:r>
                      <a:rPr 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∃</m:t>
                    </m:r>
                  </m:oMath>
                </a14:m>
                <a:r>
                  <a:rPr lang="ru-RU" sz="24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∉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</m:sSup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𝑄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=0,…,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;∀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≥1 .</m:t>
                    </m:r>
                  </m:oMath>
                </a14:m>
                <a:endPara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Задачи с линейными ограничениями</a:t>
                </a:r>
                <a:r>
                  <a:rPr lang="ru-RU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все функциональные ограничения являются </a:t>
                </a:r>
                <a:r>
                  <a:rPr lang="ru-RU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линейными функциями: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ru-RU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ru-RU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sSubSup>
                            <m:sSubSupPr>
                              <m:ctrlPr>
                                <a:rPr lang="ru-RU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p>
                          </m:sSubSup>
                          <m:sSup>
                            <m:sSupPr>
                              <m:ctrlPr>
                                <a:rPr lang="ru-RU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=1,…,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 </m:t>
                          </m:r>
                        </m:e>
                      </m:nary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ru-RU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При этом</m:t>
                      </m:r>
                    </m:oMath>
                  </m:oMathPara>
                </a14:m>
                <a:endParaRPr lang="ru-RU" sz="2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базовое множество </a:t>
                </a:r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 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является </a:t>
                </a:r>
                <a:r>
                  <a:rPr lang="ru-RU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многогранником. 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Если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также </a:t>
                </a:r>
                <a:r>
                  <a:rPr lang="ru-RU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линейная функция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то исходная задача (1) называется </a:t>
                </a:r>
                <a:r>
                  <a:rPr lang="ru-RU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задачей линейной оптимизации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2AE29A57-A2E2-4100-9AD4-9E4241B45C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81200" y="1417638"/>
                <a:ext cx="8229600" cy="5257800"/>
              </a:xfrm>
              <a:blipFill>
                <a:blip r:embed="rId2"/>
                <a:stretch>
                  <a:fillRect l="-1111" t="-162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385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1A9E75-D9EB-4FF7-A41A-47E81FCFC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Классификация типов задач многомерной оптимизации</a:t>
            </a:r>
            <a:endParaRPr lang="ru-RU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D76C618-59DF-4C7A-86FA-E37EC4A420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 C</a:t>
                </a:r>
                <a:r>
                  <a:rPr lang="ru-RU" sz="2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войства</a:t>
                </a:r>
                <a:r>
                  <a:rPr lang="ru-RU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допустимых множеств.</a:t>
                </a:r>
              </a:p>
              <a:p>
                <a:pPr marL="0" indent="0">
                  <a:buNone/>
                </a:pP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◦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Задача (1) называется </a:t>
                </a:r>
                <a:r>
                  <a:rPr lang="ru-RU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допустимой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если Q </a:t>
                </a:r>
                <a14:m>
                  <m:oMath xmlns:m="http://schemas.openxmlformats.org/officeDocument/2006/math">
                    <m:r>
                      <a:rPr lang="ru-RU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≠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∅. </a:t>
                </a:r>
              </a:p>
              <a:p>
                <a:pPr marL="0" indent="0">
                  <a:buNone/>
                </a:pP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◦ Задача (1) называется </a:t>
                </a:r>
                <a:r>
                  <a:rPr lang="ru-RU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строго допустимой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если существует такой вектор </a:t>
                </a:r>
                <a:r>
                  <a:rPr lang="ru-RU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 </a:t>
                </a:r>
                <a14:m>
                  <m:oMath xmlns:m="http://schemas.openxmlformats.org/officeDocument/2006/math">
                    <m:r>
                      <a:rPr lang="ru-RU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𝑖𝑛𝑡</m:t>
                    </m:r>
                  </m:oMath>
                </a14:m>
                <a:r>
                  <a:rPr lang="ru-RU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что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&lt; 0 (или &gt; 0) для всех ограничений-неравенств 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0 для всех ограничений-равенств (условие </a:t>
                </a:r>
                <a:r>
                  <a:rPr lang="ru-RU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Слэйтера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</a:t>
                </a: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</a:t>
                </a:r>
                <a:r>
                  <a:rPr lang="ru-RU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Типы решений задачи (1).</a:t>
                </a:r>
              </a:p>
              <a:p>
                <a:pPr marL="0" indent="0">
                  <a:buNone/>
                </a:pP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◦ Точка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называется оптимальным глобальным решением задачи (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если</a:t>
                </a:r>
                <a:r>
                  <a:rPr lang="en-US" sz="20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p>
                      <m:sSupPr>
                        <m:ctrlPr>
                          <a:rPr lang="ru-RU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ru-RU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для всех x ∈ Q (</a:t>
                </a:r>
                <a:r>
                  <a:rPr lang="ru-RU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глобальный минимум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 В этом случае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p>
                      <m:sSupPr>
                        <m:ctrlPr>
                          <a:rPr lang="ru-RU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называется (</a:t>
                </a:r>
                <a:r>
                  <a:rPr lang="ru-RU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глобальным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оптимальным значением задачи. </a:t>
                </a:r>
              </a:p>
              <a:p>
                <a:pPr marL="0" indent="0">
                  <a:buNone/>
                </a:pP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◦ точка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называется </a:t>
                </a:r>
                <a:r>
                  <a:rPr lang="ru-RU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локальным решением задачи 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если для всех </a:t>
                </a: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𝑄</m:t>
                        </m:r>
                      </m:e>
                    </m:acc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⊂ Q выполнено неравенство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p>
                      <m:sSupPr>
                        <m:ctrlPr>
                          <a:rPr lang="ru-RU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ru-RU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ru-RU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локальный минимум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</a:t>
                </a:r>
                <a:endPara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D76C618-59DF-4C7A-86FA-E37EC4A420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1" t="-10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29684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alt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Один экстремум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ru-RU" alt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Виды задач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методы </a:t>
            </a:r>
            <a:r>
              <a:rPr lang="ru-RU" alt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одноэкстремальной</a:t>
            </a:r>
            <a:r>
              <a:rPr lang="ru-RU" alt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оптимизации (единственный экстремум – унимодальная функция);</a:t>
            </a:r>
            <a:endParaRPr lang="ru-RU" alt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5844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6383339" y="2060576"/>
          <a:ext cx="2974975" cy="309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9" r:id="rId3" imgW="2333732" imgH="2010096" progId="">
                  <p:embed/>
                </p:oleObj>
              </mc:Choice>
              <mc:Fallback>
                <p:oleObj r:id="rId3" imgW="2333732" imgH="2010096" progId="">
                  <p:embed/>
                  <p:pic>
                    <p:nvPicPr>
                      <p:cNvPr id="3584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3339" y="2060576"/>
                        <a:ext cx="2974975" cy="309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alt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Много экстремумов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ru-RU" alt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Виды задач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FontTx/>
              <a:buNone/>
            </a:pP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методы </a:t>
            </a:r>
            <a:r>
              <a:rPr lang="ru-RU" alt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многоэкстремальной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оптимизации (много экстремумов – полимодальная функция);</a:t>
            </a:r>
          </a:p>
        </p:txBody>
      </p:sp>
      <p:graphicFrame>
        <p:nvGraphicFramePr>
          <p:cNvPr id="37892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6240464" y="2060575"/>
          <a:ext cx="3671887" cy="338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3" r:id="rId3" imgW="2333732" imgH="2015064" progId="">
                  <p:embed/>
                </p:oleObj>
              </mc:Choice>
              <mc:Fallback>
                <p:oleObj r:id="rId3" imgW="2333732" imgH="2015064" progId="">
                  <p:embed/>
                  <p:pic>
                    <p:nvPicPr>
                      <p:cNvPr id="3789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0464" y="2060575"/>
                        <a:ext cx="3671887" cy="338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0D4AC957-ED8F-47AA-A2D7-5816298D88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eaLnBrk="1" hangingPunct="1"/>
            <a:r>
              <a:rPr lang="ru-RU" alt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покоординатного спуска </a:t>
            </a:r>
            <a:br>
              <a:rPr lang="ru-RU" alt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(метод 0-го порядка)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94F0B5F8-A0A2-4ED4-8D65-1F3C2CBA1B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Функция </a:t>
            </a:r>
            <a:r>
              <a:rPr lang="ru-RU" altLang="ru-RU" dirty="0"/>
              <a:t> 			–  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непрерывная функция</a:t>
            </a:r>
            <a:r>
              <a:rPr lang="ru-RU" altLang="ru-RU" dirty="0"/>
              <a:t>.</a:t>
            </a:r>
          </a:p>
        </p:txBody>
      </p:sp>
      <p:sp>
        <p:nvSpPr>
          <p:cNvPr id="9220" name="Rectangle 5">
            <a:extLst>
              <a:ext uri="{FF2B5EF4-FFF2-40B4-BE49-F238E27FC236}">
                <a16:creationId xmlns:a16="http://schemas.microsoft.com/office/drawing/2014/main" id="{EBDD8FC0-5786-4189-AAF1-186228F4C6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9221" name="Object 4">
            <a:extLst>
              <a:ext uri="{FF2B5EF4-FFF2-40B4-BE49-F238E27FC236}">
                <a16:creationId xmlns:a16="http://schemas.microsoft.com/office/drawing/2014/main" id="{31F0BF36-D68C-4366-8A3D-C47B27D5D4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082212"/>
              </p:ext>
            </p:extLst>
          </p:nvPr>
        </p:nvGraphicFramePr>
        <p:xfrm>
          <a:off x="2525196" y="1778000"/>
          <a:ext cx="1944687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9" name="Формула" r:id="rId3" imgW="889000" imgH="228600" progId="Equation.3">
                  <p:embed/>
                </p:oleObj>
              </mc:Choice>
              <mc:Fallback>
                <p:oleObj name="Формула" r:id="rId3" imgW="889000" imgH="228600" progId="Equation.3">
                  <p:embed/>
                  <p:pic>
                    <p:nvPicPr>
                      <p:cNvPr id="9221" name="Object 4">
                        <a:extLst>
                          <a:ext uri="{FF2B5EF4-FFF2-40B4-BE49-F238E27FC236}">
                            <a16:creationId xmlns:a16="http://schemas.microsoft.com/office/drawing/2014/main" id="{31F0BF36-D68C-4366-8A3D-C47B27D5D4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5196" y="1778000"/>
                        <a:ext cx="1944687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222" name="Picture 6">
            <a:extLst>
              <a:ext uri="{FF2B5EF4-FFF2-40B4-BE49-F238E27FC236}">
                <a16:creationId xmlns:a16="http://schemas.microsoft.com/office/drawing/2014/main" id="{E7B19587-A6B2-43BC-BF2E-AB517F38E8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651" y="2600325"/>
            <a:ext cx="7345363" cy="370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9046E4FD-CC34-4CDD-92A7-741E1BFA3D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eaLnBrk="1" hangingPunct="1"/>
            <a:r>
              <a:rPr lang="ru-RU" alt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Алгоритм: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82D45070-4D7F-4ADF-9347-498811F85C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92313" y="1557338"/>
            <a:ext cx="8229600" cy="4525962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ru-RU" altLang="ru-RU" sz="2000"/>
              <a:t>Ш1. Направление     - выбирается вдоль координаты       от точки       , т.е.   </a:t>
            </a:r>
          </a:p>
        </p:txBody>
      </p:sp>
      <p:sp>
        <p:nvSpPr>
          <p:cNvPr id="10244" name="Rectangle 5">
            <a:extLst>
              <a:ext uri="{FF2B5EF4-FFF2-40B4-BE49-F238E27FC236}">
                <a16:creationId xmlns:a16="http://schemas.microsoft.com/office/drawing/2014/main" id="{23EAA42D-1E5C-4995-827A-7C5ED65B15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0245" name="Object 4">
            <a:extLst>
              <a:ext uri="{FF2B5EF4-FFF2-40B4-BE49-F238E27FC236}">
                <a16:creationId xmlns:a16="http://schemas.microsoft.com/office/drawing/2014/main" id="{22A2616F-2DCC-422F-88D7-F093CAEAE2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0671338"/>
              </p:ext>
            </p:extLst>
          </p:nvPr>
        </p:nvGraphicFramePr>
        <p:xfrm>
          <a:off x="4027032" y="1455699"/>
          <a:ext cx="415925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13" name="Формула" r:id="rId3" imgW="190417" imgH="203112" progId="Equation.3">
                  <p:embed/>
                </p:oleObj>
              </mc:Choice>
              <mc:Fallback>
                <p:oleObj name="Формула" r:id="rId3" imgW="190417" imgH="203112" progId="Equation.3">
                  <p:embed/>
                  <p:pic>
                    <p:nvPicPr>
                      <p:cNvPr id="10245" name="Object 4">
                        <a:extLst>
                          <a:ext uri="{FF2B5EF4-FFF2-40B4-BE49-F238E27FC236}">
                            <a16:creationId xmlns:a16="http://schemas.microsoft.com/office/drawing/2014/main" id="{22A2616F-2DCC-422F-88D7-F093CAEAE2F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7032" y="1455699"/>
                        <a:ext cx="415925" cy="433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6" name="Rectangle 7">
            <a:extLst>
              <a:ext uri="{FF2B5EF4-FFF2-40B4-BE49-F238E27FC236}">
                <a16:creationId xmlns:a16="http://schemas.microsoft.com/office/drawing/2014/main" id="{17007CEB-2313-4FA5-A3B0-D3BC14445B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728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0247" name="Object 6">
            <a:extLst>
              <a:ext uri="{FF2B5EF4-FFF2-40B4-BE49-F238E27FC236}">
                <a16:creationId xmlns:a16="http://schemas.microsoft.com/office/drawing/2014/main" id="{B85B7292-CF48-4540-B08F-E1FE862F1C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9152563"/>
              </p:ext>
            </p:extLst>
          </p:nvPr>
        </p:nvGraphicFramePr>
        <p:xfrm>
          <a:off x="8989203" y="1433512"/>
          <a:ext cx="647700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14" name="Формула" r:id="rId5" imgW="253780" imgH="203024" progId="Equation.3">
                  <p:embed/>
                </p:oleObj>
              </mc:Choice>
              <mc:Fallback>
                <p:oleObj name="Формула" r:id="rId5" imgW="253780" imgH="203024" progId="Equation.3">
                  <p:embed/>
                  <p:pic>
                    <p:nvPicPr>
                      <p:cNvPr id="10247" name="Object 6">
                        <a:extLst>
                          <a:ext uri="{FF2B5EF4-FFF2-40B4-BE49-F238E27FC236}">
                            <a16:creationId xmlns:a16="http://schemas.microsoft.com/office/drawing/2014/main" id="{B85B7292-CF48-4540-B08F-E1FE862F1CF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89203" y="1433512"/>
                        <a:ext cx="647700" cy="496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8" name="Rectangle 9">
            <a:extLst>
              <a:ext uri="{FF2B5EF4-FFF2-40B4-BE49-F238E27FC236}">
                <a16:creationId xmlns:a16="http://schemas.microsoft.com/office/drawing/2014/main" id="{36664BA8-6918-4373-81A5-D2F74F68E6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0249" name="Object 8">
            <a:extLst>
              <a:ext uri="{FF2B5EF4-FFF2-40B4-BE49-F238E27FC236}">
                <a16:creationId xmlns:a16="http://schemas.microsoft.com/office/drawing/2014/main" id="{8927286D-94AD-40F1-9E75-6B159E0457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7642474"/>
              </p:ext>
            </p:extLst>
          </p:nvPr>
        </p:nvGraphicFramePr>
        <p:xfrm>
          <a:off x="7716968" y="1354137"/>
          <a:ext cx="441325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15" name="Формула" r:id="rId7" imgW="177646" imgH="228402" progId="Equation.3">
                  <p:embed/>
                </p:oleObj>
              </mc:Choice>
              <mc:Fallback>
                <p:oleObj name="Формула" r:id="rId7" imgW="177646" imgH="228402" progId="Equation.3">
                  <p:embed/>
                  <p:pic>
                    <p:nvPicPr>
                      <p:cNvPr id="10249" name="Object 8">
                        <a:extLst>
                          <a:ext uri="{FF2B5EF4-FFF2-40B4-BE49-F238E27FC236}">
                            <a16:creationId xmlns:a16="http://schemas.microsoft.com/office/drawing/2014/main" id="{8927286D-94AD-40F1-9E75-6B159E04573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16968" y="1354137"/>
                        <a:ext cx="441325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0" name="Rectangle 11">
            <a:extLst>
              <a:ext uri="{FF2B5EF4-FFF2-40B4-BE49-F238E27FC236}">
                <a16:creationId xmlns:a16="http://schemas.microsoft.com/office/drawing/2014/main" id="{84BE58F7-E21D-4E86-84A7-90B6D0F781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204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0251" name="Object 10">
            <a:extLst>
              <a:ext uri="{FF2B5EF4-FFF2-40B4-BE49-F238E27FC236}">
                <a16:creationId xmlns:a16="http://schemas.microsoft.com/office/drawing/2014/main" id="{5A5CCBDF-4DA2-4F9D-A170-91146CA0B77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3918198"/>
              </p:ext>
            </p:extLst>
          </p:nvPr>
        </p:nvGraphicFramePr>
        <p:xfrm>
          <a:off x="2618125" y="1771305"/>
          <a:ext cx="1439863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16" name="Формула" r:id="rId9" imgW="952087" imgH="444307" progId="Equation.3">
                  <p:embed/>
                </p:oleObj>
              </mc:Choice>
              <mc:Fallback>
                <p:oleObj name="Формула" r:id="rId9" imgW="952087" imgH="444307" progId="Equation.3">
                  <p:embed/>
                  <p:pic>
                    <p:nvPicPr>
                      <p:cNvPr id="10251" name="Object 10">
                        <a:extLst>
                          <a:ext uri="{FF2B5EF4-FFF2-40B4-BE49-F238E27FC236}">
                            <a16:creationId xmlns:a16="http://schemas.microsoft.com/office/drawing/2014/main" id="{5A5CCBDF-4DA2-4F9D-A170-91146CA0B77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8125" y="1771305"/>
                        <a:ext cx="1439863" cy="77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2" name="Rectangle 12">
            <a:extLst>
              <a:ext uri="{FF2B5EF4-FFF2-40B4-BE49-F238E27FC236}">
                <a16:creationId xmlns:a16="http://schemas.microsoft.com/office/drawing/2014/main" id="{34A07DF3-042F-4091-803A-1E5003A51E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826" y="2347269"/>
            <a:ext cx="427540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000"/>
              <a:t>Ш2. Определяется величина шага</a:t>
            </a:r>
            <a:r>
              <a:rPr lang="ru-RU" altLang="ru-RU" sz="2400"/>
              <a:t>     </a:t>
            </a:r>
          </a:p>
        </p:txBody>
      </p:sp>
      <p:sp>
        <p:nvSpPr>
          <p:cNvPr id="10253" name="Rectangle 14">
            <a:extLst>
              <a:ext uri="{FF2B5EF4-FFF2-40B4-BE49-F238E27FC236}">
                <a16:creationId xmlns:a16="http://schemas.microsoft.com/office/drawing/2014/main" id="{E4D8A81C-D5BF-4CEC-A4A1-67C53648C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157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0254" name="Object 13">
            <a:extLst>
              <a:ext uri="{FF2B5EF4-FFF2-40B4-BE49-F238E27FC236}">
                <a16:creationId xmlns:a16="http://schemas.microsoft.com/office/drawing/2014/main" id="{1664A75A-3449-4EC0-92BB-15C8769DF9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0" y="2349500"/>
          <a:ext cx="3455988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17" name="Формула" r:id="rId11" imgW="2336800" imgH="254000" progId="Equation.3">
                  <p:embed/>
                </p:oleObj>
              </mc:Choice>
              <mc:Fallback>
                <p:oleObj name="Формула" r:id="rId11" imgW="2336800" imgH="254000" progId="Equation.3">
                  <p:embed/>
                  <p:pic>
                    <p:nvPicPr>
                      <p:cNvPr id="10254" name="Object 13">
                        <a:extLst>
                          <a:ext uri="{FF2B5EF4-FFF2-40B4-BE49-F238E27FC236}">
                            <a16:creationId xmlns:a16="http://schemas.microsoft.com/office/drawing/2014/main" id="{1664A75A-3449-4EC0-92BB-15C8769DF9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2349500"/>
                        <a:ext cx="3455988" cy="44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5" name="Rectangle 15">
            <a:extLst>
              <a:ext uri="{FF2B5EF4-FFF2-40B4-BE49-F238E27FC236}">
                <a16:creationId xmlns:a16="http://schemas.microsoft.com/office/drawing/2014/main" id="{5C80FF1E-CC38-4A54-9701-5F127B7A3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0" y="2851121"/>
            <a:ext cx="415492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000"/>
              <a:t>Ш3. Формируется новое значение    </a:t>
            </a:r>
          </a:p>
        </p:txBody>
      </p:sp>
      <p:sp>
        <p:nvSpPr>
          <p:cNvPr id="10256" name="Rectangle 17">
            <a:extLst>
              <a:ext uri="{FF2B5EF4-FFF2-40B4-BE49-F238E27FC236}">
                <a16:creationId xmlns:a16="http://schemas.microsoft.com/office/drawing/2014/main" id="{3182C4E8-DF6D-4F2E-A73A-9F46EA7002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459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0257" name="Object 16">
            <a:extLst>
              <a:ext uri="{FF2B5EF4-FFF2-40B4-BE49-F238E27FC236}">
                <a16:creationId xmlns:a16="http://schemas.microsoft.com/office/drawing/2014/main" id="{1B3F7DA8-4484-4B75-AA24-73BDAE48B95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0" y="2852738"/>
          <a:ext cx="316865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18" name="Формула" r:id="rId13" imgW="1371600" imgH="203200" progId="Equation.3">
                  <p:embed/>
                </p:oleObj>
              </mc:Choice>
              <mc:Fallback>
                <p:oleObj name="Формула" r:id="rId13" imgW="1371600" imgH="203200" progId="Equation.3">
                  <p:embed/>
                  <p:pic>
                    <p:nvPicPr>
                      <p:cNvPr id="10257" name="Object 16">
                        <a:extLst>
                          <a:ext uri="{FF2B5EF4-FFF2-40B4-BE49-F238E27FC236}">
                            <a16:creationId xmlns:a16="http://schemas.microsoft.com/office/drawing/2014/main" id="{1B3F7DA8-4484-4B75-AA24-73BDAE48B95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2852738"/>
                        <a:ext cx="316865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8" name="Rectangle 18">
            <a:extLst>
              <a:ext uri="{FF2B5EF4-FFF2-40B4-BE49-F238E27FC236}">
                <a16:creationId xmlns:a16="http://schemas.microsoft.com/office/drawing/2014/main" id="{7DFE3C48-4CC9-44CA-B5A1-512F3D9321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3899" y="3386108"/>
            <a:ext cx="320927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2000"/>
              <a:t>Ш4. Проверка сходимости:</a:t>
            </a:r>
            <a:r>
              <a:rPr lang="ru-RU" altLang="ru-RU"/>
              <a:t> </a:t>
            </a:r>
          </a:p>
        </p:txBody>
      </p:sp>
      <p:sp>
        <p:nvSpPr>
          <p:cNvPr id="10259" name="Rectangle 19">
            <a:extLst>
              <a:ext uri="{FF2B5EF4-FFF2-40B4-BE49-F238E27FC236}">
                <a16:creationId xmlns:a16="http://schemas.microsoft.com/office/drawing/2014/main" id="{B8CACEDE-DBD1-4D64-B086-6070A16410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5550" y="3859491"/>
            <a:ext cx="72487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Если </a:t>
            </a:r>
          </a:p>
        </p:txBody>
      </p:sp>
      <p:sp>
        <p:nvSpPr>
          <p:cNvPr id="10260" name="Rectangle 21">
            <a:extLst>
              <a:ext uri="{FF2B5EF4-FFF2-40B4-BE49-F238E27FC236}">
                <a16:creationId xmlns:a16="http://schemas.microsoft.com/office/drawing/2014/main" id="{92D75901-C5D5-4C85-9BD4-B4039008DE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078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0261" name="Object 20">
            <a:extLst>
              <a:ext uri="{FF2B5EF4-FFF2-40B4-BE49-F238E27FC236}">
                <a16:creationId xmlns:a16="http://schemas.microsoft.com/office/drawing/2014/main" id="{684051E8-39D6-40D9-AEC4-DED244EA2E5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16275" y="3789363"/>
          <a:ext cx="4248150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19" name="Формула" r:id="rId15" imgW="2552700" imgH="279400" progId="Equation.3">
                  <p:embed/>
                </p:oleObj>
              </mc:Choice>
              <mc:Fallback>
                <p:oleObj name="Формула" r:id="rId15" imgW="2552700" imgH="279400" progId="Equation.3">
                  <p:embed/>
                  <p:pic>
                    <p:nvPicPr>
                      <p:cNvPr id="10261" name="Object 20">
                        <a:extLst>
                          <a:ext uri="{FF2B5EF4-FFF2-40B4-BE49-F238E27FC236}">
                            <a16:creationId xmlns:a16="http://schemas.microsoft.com/office/drawing/2014/main" id="{684051E8-39D6-40D9-AEC4-DED244EA2E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6275" y="3789363"/>
                        <a:ext cx="4248150" cy="455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62" name="Rectangle 22">
            <a:extLst>
              <a:ext uri="{FF2B5EF4-FFF2-40B4-BE49-F238E27FC236}">
                <a16:creationId xmlns:a16="http://schemas.microsoft.com/office/drawing/2014/main" id="{F1841370-C8CB-4948-8DF4-017D5F6D8F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4425" y="3789363"/>
            <a:ext cx="1441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, то </a:t>
            </a:r>
            <a:r>
              <a:rPr lang="ru-RU" altLang="ru-RU" i="1"/>
              <a:t>КОНЕЦ</a:t>
            </a:r>
            <a:r>
              <a:rPr lang="ru-RU" altLang="ru-RU"/>
              <a:t> </a:t>
            </a:r>
          </a:p>
        </p:txBody>
      </p:sp>
      <p:sp>
        <p:nvSpPr>
          <p:cNvPr id="10263" name="Rectangle 23">
            <a:extLst>
              <a:ext uri="{FF2B5EF4-FFF2-40B4-BE49-F238E27FC236}">
                <a16:creationId xmlns:a16="http://schemas.microsoft.com/office/drawing/2014/main" id="{CBBCD4F2-9816-44DC-8035-4CECBDA95C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9112" y="4219853"/>
            <a:ext cx="331808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/>
              <a:t>Иначе  к=к+1 и переход на Ш 1.</a:t>
            </a:r>
          </a:p>
        </p:txBody>
      </p:sp>
      <p:sp>
        <p:nvSpPr>
          <p:cNvPr id="10264" name="Rectangle 24">
            <a:extLst>
              <a:ext uri="{FF2B5EF4-FFF2-40B4-BE49-F238E27FC236}">
                <a16:creationId xmlns:a16="http://schemas.microsoft.com/office/drawing/2014/main" id="{2BC207CA-818D-4AF6-8958-60C9692D81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9288" y="4508500"/>
            <a:ext cx="61214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u="sng"/>
              <a:t>Достоинства:</a:t>
            </a:r>
            <a:r>
              <a:rPr lang="ru-RU" altLang="ru-RU"/>
              <a:t> возможность оптимизации для задач с недифференцируемыми функциями.</a:t>
            </a:r>
          </a:p>
        </p:txBody>
      </p:sp>
      <p:sp>
        <p:nvSpPr>
          <p:cNvPr id="10265" name="Rectangle 25">
            <a:extLst>
              <a:ext uri="{FF2B5EF4-FFF2-40B4-BE49-F238E27FC236}">
                <a16:creationId xmlns:a16="http://schemas.microsoft.com/office/drawing/2014/main" id="{D6680172-C409-48B8-8E36-55B6BF43E1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5213" y="5018774"/>
            <a:ext cx="551304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u="sng"/>
              <a:t>Недостатки:</a:t>
            </a:r>
            <a:r>
              <a:rPr lang="ru-RU" altLang="ru-RU"/>
              <a:t> </a:t>
            </a:r>
          </a:p>
          <a:p>
            <a:pPr algn="just" eaLnBrk="1" hangingPunct="1"/>
            <a:r>
              <a:rPr lang="ru-RU" altLang="ru-RU"/>
              <a:t>1. Низкая скорость сходимости (сублинейная, т.е. </a:t>
            </a:r>
            <a:r>
              <a:rPr lang="ru-RU" altLang="ru-RU">
                <a:sym typeface="Symbol" panose="05050102010706020507" pitchFamily="18" charset="2"/>
              </a:rPr>
              <a:t></a:t>
            </a:r>
            <a:r>
              <a:rPr lang="ru-RU" altLang="ru-RU"/>
              <a:t>&lt;1)</a:t>
            </a:r>
          </a:p>
        </p:txBody>
      </p:sp>
      <p:sp>
        <p:nvSpPr>
          <p:cNvPr id="10266" name="Rectangle 26">
            <a:extLst>
              <a:ext uri="{FF2B5EF4-FFF2-40B4-BE49-F238E27FC236}">
                <a16:creationId xmlns:a16="http://schemas.microsoft.com/office/drawing/2014/main" id="{4D3B20DB-F635-4C58-A860-E7C6FCFC47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0" y="5734050"/>
            <a:ext cx="7848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/>
              <a:t>2.Возможность зацикливания при плохой обусловленности задачи, т.е. когда функция </a:t>
            </a:r>
            <a:r>
              <a:rPr lang="ru-RU" altLang="ru-RU">
                <a:sym typeface="Symbol" panose="05050102010706020507" pitchFamily="18" charset="2"/>
              </a:rPr>
              <a:t></a:t>
            </a:r>
            <a:r>
              <a:rPr lang="ru-RU" altLang="ru-RU"/>
              <a:t>(</a:t>
            </a:r>
            <a:r>
              <a:rPr lang="en-US" altLang="ru-RU">
                <a:sym typeface="Symbol" panose="05050102010706020507" pitchFamily="18" charset="2"/>
              </a:rPr>
              <a:t>x</a:t>
            </a:r>
            <a:r>
              <a:rPr lang="ru-RU" altLang="ru-RU">
                <a:sym typeface="Symbol" panose="05050102010706020507" pitchFamily="18" charset="2"/>
              </a:rPr>
              <a:t>) имеет овражный характер.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3FFACE92-94B4-4761-814C-29B8C17E05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eaLnBrk="1" hangingPunct="1"/>
            <a:r>
              <a:rPr lang="ru-RU" alt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Обусловленность задачи 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BEE17BC1-5B4B-481D-900C-A9CA1ABF0A0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81201" y="1600201"/>
            <a:ext cx="8291513" cy="4525963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Определяется числом обусловленности матрицы Гессе (если она существует), т.е. отношением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1268" name="Rectangle 5">
            <a:extLst>
              <a:ext uri="{FF2B5EF4-FFF2-40B4-BE49-F238E27FC236}">
                <a16:creationId xmlns:a16="http://schemas.microsoft.com/office/drawing/2014/main" id="{50A30DE8-9F7B-4A02-8468-70193BE606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1269" name="Object 4">
            <a:extLst>
              <a:ext uri="{FF2B5EF4-FFF2-40B4-BE49-F238E27FC236}">
                <a16:creationId xmlns:a16="http://schemas.microsoft.com/office/drawing/2014/main" id="{AC239070-4288-4E81-BC9C-84ED63DF8F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51538" y="1844676"/>
          <a:ext cx="863600" cy="7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12" name="Формула" r:id="rId3" imgW="431613" imgH="393529" progId="Equation.3">
                  <p:embed/>
                </p:oleObj>
              </mc:Choice>
              <mc:Fallback>
                <p:oleObj name="Формула" r:id="rId3" imgW="431613" imgH="393529" progId="Equation.3">
                  <p:embed/>
                  <p:pic>
                    <p:nvPicPr>
                      <p:cNvPr id="11269" name="Object 4">
                        <a:extLst>
                          <a:ext uri="{FF2B5EF4-FFF2-40B4-BE49-F238E27FC236}">
                            <a16:creationId xmlns:a16="http://schemas.microsoft.com/office/drawing/2014/main" id="{AC239070-4288-4E81-BC9C-84ED63DF8FB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1538" y="1844676"/>
                        <a:ext cx="863600" cy="785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0" name="Rectangle 6">
            <a:extLst>
              <a:ext uri="{FF2B5EF4-FFF2-40B4-BE49-F238E27FC236}">
                <a16:creationId xmlns:a16="http://schemas.microsoft.com/office/drawing/2014/main" id="{6F568B1E-7E54-4483-AA88-AE771F8FCF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9275" y="2476471"/>
            <a:ext cx="548303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2000"/>
              <a:t>Где </a:t>
            </a:r>
            <a:r>
              <a:rPr lang="en-US" altLang="ru-RU" sz="2000"/>
              <a:t>L</a:t>
            </a:r>
            <a:r>
              <a:rPr lang="ru-RU" altLang="ru-RU" sz="2000"/>
              <a:t> - максимальное собственное число            ,</a:t>
            </a:r>
          </a:p>
        </p:txBody>
      </p:sp>
      <p:sp>
        <p:nvSpPr>
          <p:cNvPr id="11271" name="Rectangle 8">
            <a:extLst>
              <a:ext uri="{FF2B5EF4-FFF2-40B4-BE49-F238E27FC236}">
                <a16:creationId xmlns:a16="http://schemas.microsoft.com/office/drawing/2014/main" id="{83E68620-3F36-4AE0-805E-2CD61A9C69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9651" y="2831457"/>
            <a:ext cx="417986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ru-RU" sz="2000" i="1" dirty="0">
                <a:latin typeface="Arial" panose="020B0604020202020204" pitchFamily="34" charset="0"/>
                <a:cs typeface="Times New Roman" panose="02020603050405020304" pitchFamily="18" charset="0"/>
              </a:rPr>
              <a:t>l</a:t>
            </a:r>
            <a:r>
              <a:rPr lang="ru-RU" altLang="ru-RU" sz="2000" dirty="0"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>
                <a:cs typeface="Times New Roman" panose="02020603050405020304" pitchFamily="18" charset="0"/>
              </a:rPr>
              <a:t>– минимальное собственное число</a:t>
            </a:r>
            <a:r>
              <a:rPr lang="ru-RU" altLang="ru-RU" sz="2400" dirty="0">
                <a:cs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11272" name="Object 7">
            <a:extLst>
              <a:ext uri="{FF2B5EF4-FFF2-40B4-BE49-F238E27FC236}">
                <a16:creationId xmlns:a16="http://schemas.microsoft.com/office/drawing/2014/main" id="{63643A6F-A69F-40F2-9070-9F1DAE4EFBB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83338" y="2924176"/>
          <a:ext cx="792162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13" name="Формула" r:id="rId5" imgW="508000" imgH="228600" progId="Equation.3">
                  <p:embed/>
                </p:oleObj>
              </mc:Choice>
              <mc:Fallback>
                <p:oleObj name="Формула" r:id="rId5" imgW="508000" imgH="228600" progId="Equation.3">
                  <p:embed/>
                  <p:pic>
                    <p:nvPicPr>
                      <p:cNvPr id="11272" name="Object 7">
                        <a:extLst>
                          <a:ext uri="{FF2B5EF4-FFF2-40B4-BE49-F238E27FC236}">
                            <a16:creationId xmlns:a16="http://schemas.microsoft.com/office/drawing/2014/main" id="{63643A6F-A69F-40F2-9070-9F1DAE4EFBB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3338" y="2924176"/>
                        <a:ext cx="792162" cy="360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3" name="Rectangle 9">
            <a:extLst>
              <a:ext uri="{FF2B5EF4-FFF2-40B4-BE49-F238E27FC236}">
                <a16:creationId xmlns:a16="http://schemas.microsoft.com/office/drawing/2014/main" id="{3AEE40C8-4959-4AFA-8B01-A2ECD4F1EC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8163" y="1989138"/>
            <a:ext cx="43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400">
                <a:latin typeface="Arial" panose="020B0604020202020204" pitchFamily="34" charset="0"/>
                <a:cs typeface="Times New Roman" panose="02020603050405020304" pitchFamily="18" charset="0"/>
              </a:rPr>
              <a:t>.</a:t>
            </a:r>
            <a:r>
              <a:rPr lang="ru-RU" altLang="ru-RU" sz="600">
                <a:latin typeface="Arial" panose="020B0604020202020204" pitchFamily="34" charset="0"/>
              </a:rPr>
              <a:t> </a:t>
            </a:r>
            <a:endParaRPr lang="ru-RU" altLang="ru-RU">
              <a:latin typeface="Arial" panose="020B0604020202020204" pitchFamily="34" charset="0"/>
            </a:endParaRPr>
          </a:p>
        </p:txBody>
      </p:sp>
      <p:graphicFrame>
        <p:nvGraphicFramePr>
          <p:cNvPr id="11274" name="Object 10">
            <a:extLst>
              <a:ext uri="{FF2B5EF4-FFF2-40B4-BE49-F238E27FC236}">
                <a16:creationId xmlns:a16="http://schemas.microsoft.com/office/drawing/2014/main" id="{B6CD26D1-8EEF-4D56-B177-15D7C8B68620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7104063" y="2492375"/>
          <a:ext cx="792162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14" name="Формула" r:id="rId7" imgW="508000" imgH="228600" progId="Equation.3">
                  <p:embed/>
                </p:oleObj>
              </mc:Choice>
              <mc:Fallback>
                <p:oleObj name="Формула" r:id="rId7" imgW="508000" imgH="228600" progId="Equation.3">
                  <p:embed/>
                  <p:pic>
                    <p:nvPicPr>
                      <p:cNvPr id="11274" name="Object 10">
                        <a:extLst>
                          <a:ext uri="{FF2B5EF4-FFF2-40B4-BE49-F238E27FC236}">
                            <a16:creationId xmlns:a16="http://schemas.microsoft.com/office/drawing/2014/main" id="{B6CD26D1-8EEF-4D56-B177-15D7C8B6862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04063" y="2492375"/>
                        <a:ext cx="792162" cy="357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5" name="Rectangle 12">
            <a:extLst>
              <a:ext uri="{FF2B5EF4-FFF2-40B4-BE49-F238E27FC236}">
                <a16:creationId xmlns:a16="http://schemas.microsoft.com/office/drawing/2014/main" id="{F2AFE42D-FA8D-47DF-AB9A-E0C659756B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5500" y="2852738"/>
            <a:ext cx="43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400">
                <a:latin typeface="Arial" panose="020B0604020202020204" pitchFamily="34" charset="0"/>
                <a:cs typeface="Times New Roman" panose="02020603050405020304" pitchFamily="18" charset="0"/>
              </a:rPr>
              <a:t>.</a:t>
            </a:r>
            <a:r>
              <a:rPr lang="ru-RU" altLang="ru-RU" sz="600">
                <a:latin typeface="Arial" panose="020B0604020202020204" pitchFamily="34" charset="0"/>
              </a:rPr>
              <a:t> </a:t>
            </a:r>
            <a:endParaRPr lang="ru-RU" altLang="ru-RU">
              <a:latin typeface="Arial" panose="020B0604020202020204" pitchFamily="34" charset="0"/>
            </a:endParaRPr>
          </a:p>
        </p:txBody>
      </p:sp>
      <p:sp>
        <p:nvSpPr>
          <p:cNvPr id="11276" name="Rectangle 14">
            <a:extLst>
              <a:ext uri="{FF2B5EF4-FFF2-40B4-BE49-F238E27FC236}">
                <a16:creationId xmlns:a16="http://schemas.microsoft.com/office/drawing/2014/main" id="{DAA86304-1F98-40D9-B85F-73161DAEB0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8214" y="3573464"/>
            <a:ext cx="799147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2000" dirty="0">
                <a:cs typeface="Times New Roman" panose="02020603050405020304" pitchFamily="18" charset="0"/>
              </a:rPr>
              <a:t>В случае отсутствия матрицы Гессе числом обусловленности может быть отношение</a:t>
            </a:r>
            <a:r>
              <a:rPr lang="ru-RU" altLang="ru-RU" sz="2000" dirty="0">
                <a:latin typeface="Arial" panose="020B0604020202020204" pitchFamily="34" charset="0"/>
                <a:cs typeface="Times New Roman" panose="02020603050405020304" pitchFamily="18" charset="0"/>
              </a:rPr>
              <a:t>: </a:t>
            </a:r>
            <a:endParaRPr lang="ru-RU" altLang="ru-RU" sz="2000" dirty="0">
              <a:latin typeface="Arial" panose="020B0604020202020204" pitchFamily="34" charset="0"/>
            </a:endParaRPr>
          </a:p>
        </p:txBody>
      </p:sp>
      <p:graphicFrame>
        <p:nvGraphicFramePr>
          <p:cNvPr id="11277" name="Object 13">
            <a:extLst>
              <a:ext uri="{FF2B5EF4-FFF2-40B4-BE49-F238E27FC236}">
                <a16:creationId xmlns:a16="http://schemas.microsoft.com/office/drawing/2014/main" id="{5D036A9C-392B-4AF4-AC5F-41B6DED1B5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24339" y="3860800"/>
          <a:ext cx="2879725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15" name="Формула" r:id="rId8" imgW="1651000" imgH="609600" progId="Equation.3">
                  <p:embed/>
                </p:oleObj>
              </mc:Choice>
              <mc:Fallback>
                <p:oleObj name="Формула" r:id="rId8" imgW="1651000" imgH="609600" progId="Equation.3">
                  <p:embed/>
                  <p:pic>
                    <p:nvPicPr>
                      <p:cNvPr id="11277" name="Object 13">
                        <a:extLst>
                          <a:ext uri="{FF2B5EF4-FFF2-40B4-BE49-F238E27FC236}">
                            <a16:creationId xmlns:a16="http://schemas.microsoft.com/office/drawing/2014/main" id="{5D036A9C-392B-4AF4-AC5F-41B6DED1B56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4339" y="3860800"/>
                        <a:ext cx="2879725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8" name="Rectangle 15">
            <a:extLst>
              <a:ext uri="{FF2B5EF4-FFF2-40B4-BE49-F238E27FC236}">
                <a16:creationId xmlns:a16="http://schemas.microsoft.com/office/drawing/2014/main" id="{B8A56557-EA3D-4F8C-8E20-8FE608215A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7538" y="3733800"/>
            <a:ext cx="227012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1200">
                <a:latin typeface="Arial" panose="020B0604020202020204" pitchFamily="34" charset="0"/>
                <a:cs typeface="Times New Roman" panose="02020603050405020304" pitchFamily="18" charset="0"/>
              </a:rPr>
              <a:t>.</a:t>
            </a:r>
            <a:endParaRPr lang="ru-RU" altLang="ru-RU">
              <a:latin typeface="Arial" panose="020B0604020202020204" pitchFamily="34" charset="0"/>
            </a:endParaRPr>
          </a:p>
        </p:txBody>
      </p:sp>
      <p:sp>
        <p:nvSpPr>
          <p:cNvPr id="11279" name="Rectangle 16">
            <a:extLst>
              <a:ext uri="{FF2B5EF4-FFF2-40B4-BE49-F238E27FC236}">
                <a16:creationId xmlns:a16="http://schemas.microsoft.com/office/drawing/2014/main" id="{8FE5A1E5-3854-4D51-9A13-D63BED870B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8525" y="4076700"/>
            <a:ext cx="43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400">
                <a:latin typeface="Arial" panose="020B0604020202020204" pitchFamily="34" charset="0"/>
                <a:cs typeface="Times New Roman" panose="02020603050405020304" pitchFamily="18" charset="0"/>
              </a:rPr>
              <a:t>.</a:t>
            </a:r>
            <a:r>
              <a:rPr lang="ru-RU" altLang="ru-RU" sz="600">
                <a:latin typeface="Arial" panose="020B0604020202020204" pitchFamily="34" charset="0"/>
              </a:rPr>
              <a:t> </a:t>
            </a:r>
            <a:endParaRPr lang="ru-RU" altLang="ru-RU">
              <a:latin typeface="Arial" panose="020B0604020202020204" pitchFamily="34" charset="0"/>
            </a:endParaRPr>
          </a:p>
        </p:txBody>
      </p:sp>
      <p:pic>
        <p:nvPicPr>
          <p:cNvPr id="11280" name="Picture 17">
            <a:extLst>
              <a:ext uri="{FF2B5EF4-FFF2-40B4-BE49-F238E27FC236}">
                <a16:creationId xmlns:a16="http://schemas.microsoft.com/office/drawing/2014/main" id="{FAFB1D3C-E6F2-48DF-BCD0-18744E08AA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1950" y="4749800"/>
            <a:ext cx="3816350" cy="210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1281" name="Object 19">
            <a:extLst>
              <a:ext uri="{FF2B5EF4-FFF2-40B4-BE49-F238E27FC236}">
                <a16:creationId xmlns:a16="http://schemas.microsoft.com/office/drawing/2014/main" id="{E8DC45ED-951C-4EA8-9B21-6F0131207A6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87939" y="5805488"/>
          <a:ext cx="5184775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16" name="Формула" r:id="rId11" imgW="2235200" imgH="228600" progId="Equation.3">
                  <p:embed/>
                </p:oleObj>
              </mc:Choice>
              <mc:Fallback>
                <p:oleObj name="Формула" r:id="rId11" imgW="2235200" imgH="228600" progId="Equation.3">
                  <p:embed/>
                  <p:pic>
                    <p:nvPicPr>
                      <p:cNvPr id="11281" name="Object 19">
                        <a:extLst>
                          <a:ext uri="{FF2B5EF4-FFF2-40B4-BE49-F238E27FC236}">
                            <a16:creationId xmlns:a16="http://schemas.microsoft.com/office/drawing/2014/main" id="{E8DC45ED-951C-4EA8-9B21-6F0131207A6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7939" y="5805488"/>
                        <a:ext cx="5184775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82" name="Object 18">
            <a:extLst>
              <a:ext uri="{FF2B5EF4-FFF2-40B4-BE49-F238E27FC236}">
                <a16:creationId xmlns:a16="http://schemas.microsoft.com/office/drawing/2014/main" id="{7E12E328-AC68-4463-B59D-9B26FAE3A1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4000" y="3436939"/>
          <a:ext cx="114300" cy="212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17" name="Формула" r:id="rId13" imgW="114151" imgH="215619" progId="Equation.3">
                  <p:embed/>
                </p:oleObj>
              </mc:Choice>
              <mc:Fallback>
                <p:oleObj name="Формула" r:id="rId13" imgW="114151" imgH="215619" progId="Equation.3">
                  <p:embed/>
                  <p:pic>
                    <p:nvPicPr>
                      <p:cNvPr id="11282" name="Object 18">
                        <a:extLst>
                          <a:ext uri="{FF2B5EF4-FFF2-40B4-BE49-F238E27FC236}">
                            <a16:creationId xmlns:a16="http://schemas.microsoft.com/office/drawing/2014/main" id="{7E12E328-AC68-4463-B59D-9B26FAE3A1C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3436939"/>
                        <a:ext cx="114300" cy="212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83" name="Rectangle 20">
            <a:extLst>
              <a:ext uri="{FF2B5EF4-FFF2-40B4-BE49-F238E27FC236}">
                <a16:creationId xmlns:a16="http://schemas.microsoft.com/office/drawing/2014/main" id="{7E3C71FC-8119-4F19-9A14-BB1255E543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0528" y="5065069"/>
            <a:ext cx="418813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2400" u="sng" dirty="0">
                <a:cs typeface="Times New Roman" panose="02020603050405020304" pitchFamily="18" charset="0"/>
              </a:rPr>
              <a:t>Пример</a:t>
            </a:r>
            <a:r>
              <a:rPr lang="ru-RU" altLang="ru-RU" sz="2400" dirty="0">
                <a:cs typeface="Times New Roman" panose="02020603050405020304" pitchFamily="18" charset="0"/>
              </a:rPr>
              <a:t> функция </a:t>
            </a:r>
            <a:r>
              <a:rPr lang="ru-RU" altLang="ru-RU" sz="2400" dirty="0" err="1">
                <a:cs typeface="Times New Roman" panose="02020603050405020304" pitchFamily="18" charset="0"/>
              </a:rPr>
              <a:t>Розенброка</a:t>
            </a:r>
            <a:r>
              <a:rPr lang="ru-RU" altLang="ru-RU" sz="2400" dirty="0">
                <a:cs typeface="Times New Roman" panose="02020603050405020304" pitchFamily="18" charset="0"/>
              </a:rPr>
              <a:t> </a:t>
            </a:r>
            <a:r>
              <a:rPr lang="ru-RU" altLang="ru-RU" sz="2400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ru-RU" altLang="ru-RU" sz="1200" dirty="0"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ru-RU" altLang="ru-RU" dirty="0">
              <a:latin typeface="Arial" panose="020B0604020202020204" pitchFamily="34" charset="0"/>
            </a:endParaRPr>
          </a:p>
        </p:txBody>
      </p:sp>
      <p:sp>
        <p:nvSpPr>
          <p:cNvPr id="11284" name="Rectangle 21">
            <a:extLst>
              <a:ext uri="{FF2B5EF4-FFF2-40B4-BE49-F238E27FC236}">
                <a16:creationId xmlns:a16="http://schemas.microsoft.com/office/drawing/2014/main" id="{272CCF43-2689-45B6-B4C5-011542BD2F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2522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1285" name="Rectangle 22">
            <a:extLst>
              <a:ext uri="{FF2B5EF4-FFF2-40B4-BE49-F238E27FC236}">
                <a16:creationId xmlns:a16="http://schemas.microsoft.com/office/drawing/2014/main" id="{9CAD3255-37C6-466E-B29D-883C5A01B2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649664"/>
            <a:ext cx="227013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1200">
                <a:latin typeface="Arial" panose="020B0604020202020204" pitchFamily="34" charset="0"/>
                <a:cs typeface="Times New Roman" panose="02020603050405020304" pitchFamily="18" charset="0"/>
              </a:rPr>
              <a:t>.</a:t>
            </a:r>
            <a:endParaRPr lang="ru-RU" altLang="ru-RU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1AC596FD-BE54-4534-82E1-8635809B40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ru-RU" alt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наискорейшего спуска </a:t>
            </a:r>
            <a:br>
              <a:rPr lang="ru-RU" alt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(метод 1-го порядка).</a:t>
            </a:r>
            <a:r>
              <a:rPr lang="ru-RU" alt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pic>
        <p:nvPicPr>
          <p:cNvPr id="12291" name="Picture 4">
            <a:extLst>
              <a:ext uri="{FF2B5EF4-FFF2-40B4-BE49-F238E27FC236}">
                <a16:creationId xmlns:a16="http://schemas.microsoft.com/office/drawing/2014/main" id="{D4FE4874-B90F-488A-A9D5-7E55E9618BD4}"/>
              </a:ext>
            </a:extLst>
          </p:cNvPr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92314" y="1844676"/>
            <a:ext cx="6624637" cy="28622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2292" name="Picture 5">
            <a:extLst>
              <a:ext uri="{FF2B5EF4-FFF2-40B4-BE49-F238E27FC236}">
                <a16:creationId xmlns:a16="http://schemas.microsoft.com/office/drawing/2014/main" id="{14221315-E609-40CC-991C-C0A5215108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5050" y="4797426"/>
            <a:ext cx="3816350" cy="187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520D6F4B-993A-4541-ABEE-6584EBC0E0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ru-RU" alt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наискорейшего спуска </a:t>
            </a:r>
            <a:br>
              <a:rPr lang="ru-RU" alt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(метод 1-го порядка).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01F32D13-553B-4591-8683-DF1A629A4E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03388" y="1600200"/>
            <a:ext cx="8856662" cy="5068888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ru-RU" altLang="ru-RU" sz="2000" b="1" i="1" dirty="0"/>
              <a:t>Функция                                - класс 1 раз дифференцируемых функций.</a:t>
            </a:r>
          </a:p>
        </p:txBody>
      </p:sp>
      <p:graphicFrame>
        <p:nvGraphicFramePr>
          <p:cNvPr id="13316" name="Object 4">
            <a:extLst>
              <a:ext uri="{FF2B5EF4-FFF2-40B4-BE49-F238E27FC236}">
                <a16:creationId xmlns:a16="http://schemas.microsoft.com/office/drawing/2014/main" id="{28FDD183-6CC4-45DB-9B77-7A800FF03F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6690513"/>
              </p:ext>
            </p:extLst>
          </p:nvPr>
        </p:nvGraphicFramePr>
        <p:xfrm>
          <a:off x="2928938" y="1536184"/>
          <a:ext cx="1582738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61" name="Формула" r:id="rId3" imgW="889000" imgH="228600" progId="Equation.3">
                  <p:embed/>
                </p:oleObj>
              </mc:Choice>
              <mc:Fallback>
                <p:oleObj name="Формула" r:id="rId3" imgW="889000" imgH="228600" progId="Equation.3">
                  <p:embed/>
                  <p:pic>
                    <p:nvPicPr>
                      <p:cNvPr id="13316" name="Object 4">
                        <a:extLst>
                          <a:ext uri="{FF2B5EF4-FFF2-40B4-BE49-F238E27FC236}">
                            <a16:creationId xmlns:a16="http://schemas.microsoft.com/office/drawing/2014/main" id="{28FDD183-6CC4-45DB-9B77-7A800FF03FF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8938" y="1536184"/>
                        <a:ext cx="1582738" cy="407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7" name="Rectangle 8">
            <a:extLst>
              <a:ext uri="{FF2B5EF4-FFF2-40B4-BE49-F238E27FC236}">
                <a16:creationId xmlns:a16="http://schemas.microsoft.com/office/drawing/2014/main" id="{2FDF85A3-4768-4EE0-AE0A-12C03D05E5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459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3318" name="Object 7">
            <a:extLst>
              <a:ext uri="{FF2B5EF4-FFF2-40B4-BE49-F238E27FC236}">
                <a16:creationId xmlns:a16="http://schemas.microsoft.com/office/drawing/2014/main" id="{BB3F43DE-2CD5-4892-BCE7-33E6E20783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47850" y="2060575"/>
          <a:ext cx="4103688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62" name="Формула" r:id="rId5" imgW="2209800" imgH="203200" progId="Equation.3">
                  <p:embed/>
                </p:oleObj>
              </mc:Choice>
              <mc:Fallback>
                <p:oleObj name="Формула" r:id="rId5" imgW="2209800" imgH="203200" progId="Equation.3">
                  <p:embed/>
                  <p:pic>
                    <p:nvPicPr>
                      <p:cNvPr id="13318" name="Object 7">
                        <a:extLst>
                          <a:ext uri="{FF2B5EF4-FFF2-40B4-BE49-F238E27FC236}">
                            <a16:creationId xmlns:a16="http://schemas.microsoft.com/office/drawing/2014/main" id="{BB3F43DE-2CD5-4892-BCE7-33E6E20783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850" y="2060575"/>
                        <a:ext cx="4103688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9" name="Rectangle 9">
            <a:extLst>
              <a:ext uri="{FF2B5EF4-FFF2-40B4-BE49-F238E27FC236}">
                <a16:creationId xmlns:a16="http://schemas.microsoft.com/office/drawing/2014/main" id="{044BEAF4-C644-4275-8209-5B82927346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0" y="2491066"/>
            <a:ext cx="218970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Разложим функцию </a:t>
            </a:r>
          </a:p>
        </p:txBody>
      </p:sp>
      <p:sp>
        <p:nvSpPr>
          <p:cNvPr id="13320" name="Rectangle 11">
            <a:extLst>
              <a:ext uri="{FF2B5EF4-FFF2-40B4-BE49-F238E27FC236}">
                <a16:creationId xmlns:a16="http://schemas.microsoft.com/office/drawing/2014/main" id="{45F3AEBD-DF80-495D-ABE8-0619E18C53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3321" name="Object 10">
            <a:extLst>
              <a:ext uri="{FF2B5EF4-FFF2-40B4-BE49-F238E27FC236}">
                <a16:creationId xmlns:a16="http://schemas.microsoft.com/office/drawing/2014/main" id="{64C84F2F-F700-4ED4-93B0-EDF2831E4C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51314" y="2492376"/>
          <a:ext cx="180022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63" name="Формула" r:id="rId7" imgW="1040948" imgH="228501" progId="Equation.3">
                  <p:embed/>
                </p:oleObj>
              </mc:Choice>
              <mc:Fallback>
                <p:oleObj name="Формула" r:id="rId7" imgW="1040948" imgH="228501" progId="Equation.3">
                  <p:embed/>
                  <p:pic>
                    <p:nvPicPr>
                      <p:cNvPr id="13321" name="Object 10">
                        <a:extLst>
                          <a:ext uri="{FF2B5EF4-FFF2-40B4-BE49-F238E27FC236}">
                            <a16:creationId xmlns:a16="http://schemas.microsoft.com/office/drawing/2014/main" id="{64C84F2F-F700-4ED4-93B0-EDF2831E4C1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1314" y="2492376"/>
                        <a:ext cx="1800225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2" name="Rectangle 12">
            <a:extLst>
              <a:ext uri="{FF2B5EF4-FFF2-40B4-BE49-F238E27FC236}">
                <a16:creationId xmlns:a16="http://schemas.microsoft.com/office/drawing/2014/main" id="{28A859D7-D941-426E-BFAB-D3EC7F0D28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1" y="2195404"/>
            <a:ext cx="43211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/>
              <a:t>– в ряд Тейлора, тогда, если учитывать только 2 члена ряда, получим:</a:t>
            </a:r>
          </a:p>
        </p:txBody>
      </p:sp>
      <p:sp>
        <p:nvSpPr>
          <p:cNvPr id="13323" name="Rectangle 14">
            <a:extLst>
              <a:ext uri="{FF2B5EF4-FFF2-40B4-BE49-F238E27FC236}">
                <a16:creationId xmlns:a16="http://schemas.microsoft.com/office/drawing/2014/main" id="{668D97D1-E270-4AC1-A394-8551B1784F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078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3324" name="Object 13">
            <a:extLst>
              <a:ext uri="{FF2B5EF4-FFF2-40B4-BE49-F238E27FC236}">
                <a16:creationId xmlns:a16="http://schemas.microsoft.com/office/drawing/2014/main" id="{ABE03F5F-10D6-40F5-B51F-768F4B6674E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51089" y="2997200"/>
          <a:ext cx="6192837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64" name="Формула" r:id="rId9" imgW="2908300" imgH="279400" progId="Equation.3">
                  <p:embed/>
                </p:oleObj>
              </mc:Choice>
              <mc:Fallback>
                <p:oleObj name="Формула" r:id="rId9" imgW="2908300" imgH="279400" progId="Equation.3">
                  <p:embed/>
                  <p:pic>
                    <p:nvPicPr>
                      <p:cNvPr id="13324" name="Object 13">
                        <a:extLst>
                          <a:ext uri="{FF2B5EF4-FFF2-40B4-BE49-F238E27FC236}">
                            <a16:creationId xmlns:a16="http://schemas.microsoft.com/office/drawing/2014/main" id="{ABE03F5F-10D6-40F5-B51F-768F4B6674E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89" y="2997200"/>
                        <a:ext cx="6192837" cy="585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5" name="Rectangle 15">
            <a:extLst>
              <a:ext uri="{FF2B5EF4-FFF2-40B4-BE49-F238E27FC236}">
                <a16:creationId xmlns:a16="http://schemas.microsoft.com/office/drawing/2014/main" id="{F7EAB59F-A92D-49FB-ACA7-5839FC8DC7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5189" y="3643591"/>
            <a:ext cx="607320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Для того, чтобы функция уменьшалась, необходимо, чтобы </a:t>
            </a:r>
          </a:p>
        </p:txBody>
      </p:sp>
      <p:sp>
        <p:nvSpPr>
          <p:cNvPr id="13326" name="Rectangle 17">
            <a:extLst>
              <a:ext uri="{FF2B5EF4-FFF2-40B4-BE49-F238E27FC236}">
                <a16:creationId xmlns:a16="http://schemas.microsoft.com/office/drawing/2014/main" id="{45EB9993-0549-423F-A869-1F9E6A23DA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3327" name="Object 16">
            <a:extLst>
              <a:ext uri="{FF2B5EF4-FFF2-40B4-BE49-F238E27FC236}">
                <a16:creationId xmlns:a16="http://schemas.microsoft.com/office/drawing/2014/main" id="{846E551D-FA55-489E-85D5-CF33F5E8C6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616950" y="3644900"/>
          <a:ext cx="1728788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65" name="Формула" r:id="rId11" imgW="1066800" imgH="228600" progId="Equation.3">
                  <p:embed/>
                </p:oleObj>
              </mc:Choice>
              <mc:Fallback>
                <p:oleObj name="Формула" r:id="rId11" imgW="1066800" imgH="228600" progId="Equation.3">
                  <p:embed/>
                  <p:pic>
                    <p:nvPicPr>
                      <p:cNvPr id="13327" name="Object 16">
                        <a:extLst>
                          <a:ext uri="{FF2B5EF4-FFF2-40B4-BE49-F238E27FC236}">
                            <a16:creationId xmlns:a16="http://schemas.microsoft.com/office/drawing/2014/main" id="{846E551D-FA55-489E-85D5-CF33F5E8C6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16950" y="3644900"/>
                        <a:ext cx="1728788" cy="369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8" name="Rectangle 19">
            <a:extLst>
              <a:ext uri="{FF2B5EF4-FFF2-40B4-BE49-F238E27FC236}">
                <a16:creationId xmlns:a16="http://schemas.microsoft.com/office/drawing/2014/main" id="{7E774A5D-9FF3-4E86-BE10-A5B4B41951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9966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3329" name="Object 18">
            <a:extLst>
              <a:ext uri="{FF2B5EF4-FFF2-40B4-BE49-F238E27FC236}">
                <a16:creationId xmlns:a16="http://schemas.microsoft.com/office/drawing/2014/main" id="{179806AB-02EE-450F-A6BD-50C5521266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63751" y="3986213"/>
          <a:ext cx="1871663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66" name="Формула" r:id="rId13" imgW="1193800" imgH="495300" progId="Equation.3">
                  <p:embed/>
                </p:oleObj>
              </mc:Choice>
              <mc:Fallback>
                <p:oleObj name="Формула" r:id="rId13" imgW="1193800" imgH="495300" progId="Equation.3">
                  <p:embed/>
                  <p:pic>
                    <p:nvPicPr>
                      <p:cNvPr id="13329" name="Object 18">
                        <a:extLst>
                          <a:ext uri="{FF2B5EF4-FFF2-40B4-BE49-F238E27FC236}">
                            <a16:creationId xmlns:a16="http://schemas.microsoft.com/office/drawing/2014/main" id="{179806AB-02EE-450F-A6BD-50C5521266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1" y="3986213"/>
                        <a:ext cx="1871663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30" name="Rectangle 20">
            <a:extLst>
              <a:ext uri="{FF2B5EF4-FFF2-40B4-BE49-F238E27FC236}">
                <a16:creationId xmlns:a16="http://schemas.microsoft.com/office/drawing/2014/main" id="{EDF3B4F0-0030-4A8E-B8C1-D71CA14F3D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8439" y="4075391"/>
            <a:ext cx="101502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.  Тогда  </a:t>
            </a:r>
          </a:p>
        </p:txBody>
      </p:sp>
      <p:sp>
        <p:nvSpPr>
          <p:cNvPr id="13331" name="Rectangle 22">
            <a:extLst>
              <a:ext uri="{FF2B5EF4-FFF2-40B4-BE49-F238E27FC236}">
                <a16:creationId xmlns:a16="http://schemas.microsoft.com/office/drawing/2014/main" id="{D32FA5D7-ABBF-45C4-8384-0BFDB43C3C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9966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3332" name="Object 21">
            <a:extLst>
              <a:ext uri="{FF2B5EF4-FFF2-40B4-BE49-F238E27FC236}">
                <a16:creationId xmlns:a16="http://schemas.microsoft.com/office/drawing/2014/main" id="{9A582A4C-9F94-4B0E-AF08-BFBB4F431A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87938" y="3933826"/>
          <a:ext cx="3097212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67" name="Формула" r:id="rId15" imgW="1803400" imgH="495300" progId="Equation.3">
                  <p:embed/>
                </p:oleObj>
              </mc:Choice>
              <mc:Fallback>
                <p:oleObj name="Формула" r:id="rId15" imgW="1803400" imgH="495300" progId="Equation.3">
                  <p:embed/>
                  <p:pic>
                    <p:nvPicPr>
                      <p:cNvPr id="13332" name="Object 21">
                        <a:extLst>
                          <a:ext uri="{FF2B5EF4-FFF2-40B4-BE49-F238E27FC236}">
                            <a16:creationId xmlns:a16="http://schemas.microsoft.com/office/drawing/2014/main" id="{9A582A4C-9F94-4B0E-AF08-BFBB4F431A5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7938" y="3933826"/>
                        <a:ext cx="3097212" cy="85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33" name="Rectangle 23">
            <a:extLst>
              <a:ext uri="{FF2B5EF4-FFF2-40B4-BE49-F238E27FC236}">
                <a16:creationId xmlns:a16="http://schemas.microsoft.com/office/drawing/2014/main" id="{C0B272B7-2B4B-4BF4-A8E8-0D169B48A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4" y="4723091"/>
            <a:ext cx="121757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При этом  </a:t>
            </a:r>
          </a:p>
        </p:txBody>
      </p:sp>
      <p:sp>
        <p:nvSpPr>
          <p:cNvPr id="13334" name="Rectangle 25">
            <a:extLst>
              <a:ext uri="{FF2B5EF4-FFF2-40B4-BE49-F238E27FC236}">
                <a16:creationId xmlns:a16="http://schemas.microsoft.com/office/drawing/2014/main" id="{81451B62-2613-4BB2-BE37-78EF688525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157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3335" name="Object 24">
            <a:extLst>
              <a:ext uri="{FF2B5EF4-FFF2-40B4-BE49-F238E27FC236}">
                <a16:creationId xmlns:a16="http://schemas.microsoft.com/office/drawing/2014/main" id="{67DB4F27-A6B3-484C-86F9-15C65D7A97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43251" y="4724400"/>
          <a:ext cx="3097213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68" name="Формула" r:id="rId17" imgW="2311400" imgH="254000" progId="Equation.3">
                  <p:embed/>
                </p:oleObj>
              </mc:Choice>
              <mc:Fallback>
                <p:oleObj name="Формула" r:id="rId17" imgW="2311400" imgH="254000" progId="Equation.3">
                  <p:embed/>
                  <p:pic>
                    <p:nvPicPr>
                      <p:cNvPr id="13335" name="Object 24">
                        <a:extLst>
                          <a:ext uri="{FF2B5EF4-FFF2-40B4-BE49-F238E27FC236}">
                            <a16:creationId xmlns:a16="http://schemas.microsoft.com/office/drawing/2014/main" id="{67DB4F27-A6B3-484C-86F9-15C65D7A971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251" y="4724400"/>
                        <a:ext cx="3097213" cy="407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36" name="Rectangle 26">
            <a:extLst>
              <a:ext uri="{FF2B5EF4-FFF2-40B4-BE49-F238E27FC236}">
                <a16:creationId xmlns:a16="http://schemas.microsoft.com/office/drawing/2014/main" id="{148D2CE4-DACF-45C1-8985-D9671CACBF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4" y="5083453"/>
            <a:ext cx="216873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u="sng"/>
              <a:t>Особенность МНС:</a:t>
            </a:r>
            <a:r>
              <a:rPr lang="ru-RU" altLang="ru-RU"/>
              <a:t> </a:t>
            </a:r>
          </a:p>
        </p:txBody>
      </p:sp>
      <p:sp>
        <p:nvSpPr>
          <p:cNvPr id="13337" name="Rectangle 28">
            <a:extLst>
              <a:ext uri="{FF2B5EF4-FFF2-40B4-BE49-F238E27FC236}">
                <a16:creationId xmlns:a16="http://schemas.microsoft.com/office/drawing/2014/main" id="{CCF20329-9CAA-4B65-A378-5B26BB27D8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3338" name="Object 27">
            <a:extLst>
              <a:ext uri="{FF2B5EF4-FFF2-40B4-BE49-F238E27FC236}">
                <a16:creationId xmlns:a16="http://schemas.microsoft.com/office/drawing/2014/main" id="{C57AD135-7F3B-444B-ADD7-143FF16876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79875" y="5084763"/>
          <a:ext cx="2376488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69" name="Формула" r:id="rId19" imgW="1536700" imgH="228600" progId="Equation.3">
                  <p:embed/>
                </p:oleObj>
              </mc:Choice>
              <mc:Fallback>
                <p:oleObj name="Формула" r:id="rId19" imgW="1536700" imgH="228600" progId="Equation.3">
                  <p:embed/>
                  <p:pic>
                    <p:nvPicPr>
                      <p:cNvPr id="13338" name="Object 27">
                        <a:extLst>
                          <a:ext uri="{FF2B5EF4-FFF2-40B4-BE49-F238E27FC236}">
                            <a16:creationId xmlns:a16="http://schemas.microsoft.com/office/drawing/2014/main" id="{C57AD135-7F3B-444B-ADD7-143FF16876A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9875" y="5084763"/>
                        <a:ext cx="2376488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39" name="Rectangle 29">
            <a:extLst>
              <a:ext uri="{FF2B5EF4-FFF2-40B4-BE49-F238E27FC236}">
                <a16:creationId xmlns:a16="http://schemas.microsoft.com/office/drawing/2014/main" id="{942A656B-2016-4692-B13D-D8F8FB21B1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7801" y="5012016"/>
            <a:ext cx="93121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то есть </a:t>
            </a:r>
          </a:p>
        </p:txBody>
      </p:sp>
      <p:sp>
        <p:nvSpPr>
          <p:cNvPr id="13340" name="Rectangle 31">
            <a:extLst>
              <a:ext uri="{FF2B5EF4-FFF2-40B4-BE49-F238E27FC236}">
                <a16:creationId xmlns:a16="http://schemas.microsoft.com/office/drawing/2014/main" id="{A9D1C46D-D5F5-4DD6-86D7-3CC779458F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459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3341" name="Object 30">
            <a:extLst>
              <a:ext uri="{FF2B5EF4-FFF2-40B4-BE49-F238E27FC236}">
                <a16:creationId xmlns:a16="http://schemas.microsoft.com/office/drawing/2014/main" id="{4A163139-B336-42F7-AE48-2377F929BC2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35863" y="5013326"/>
          <a:ext cx="1655762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70" name="Формула" r:id="rId21" imgW="939392" imgH="203112" progId="Equation.3">
                  <p:embed/>
                </p:oleObj>
              </mc:Choice>
              <mc:Fallback>
                <p:oleObj name="Формула" r:id="rId21" imgW="939392" imgH="203112" progId="Equation.3">
                  <p:embed/>
                  <p:pic>
                    <p:nvPicPr>
                      <p:cNvPr id="13341" name="Object 30">
                        <a:extLst>
                          <a:ext uri="{FF2B5EF4-FFF2-40B4-BE49-F238E27FC236}">
                            <a16:creationId xmlns:a16="http://schemas.microsoft.com/office/drawing/2014/main" id="{4A163139-B336-42F7-AE48-2377F929BC2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35863" y="5013326"/>
                        <a:ext cx="1655762" cy="347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42" name="Rectangle 32">
            <a:extLst>
              <a:ext uri="{FF2B5EF4-FFF2-40B4-BE49-F238E27FC236}">
                <a16:creationId xmlns:a16="http://schemas.microsoft.com/office/drawing/2014/main" id="{8324EC7A-EA63-4C1B-8362-130941304A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91625" y="5013326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000"/>
              <a:t>. </a:t>
            </a:r>
          </a:p>
        </p:txBody>
      </p:sp>
      <p:sp>
        <p:nvSpPr>
          <p:cNvPr id="13343" name="Rectangle 33">
            <a:extLst>
              <a:ext uri="{FF2B5EF4-FFF2-40B4-BE49-F238E27FC236}">
                <a16:creationId xmlns:a16="http://schemas.microsoft.com/office/drawing/2014/main" id="{22F1365A-2C35-4F8B-8F68-22925AFA34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4" y="5494923"/>
            <a:ext cx="835183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600" u="sng"/>
              <a:t>Достоинства.</a:t>
            </a:r>
            <a:r>
              <a:rPr lang="ru-RU" altLang="ru-RU" sz="1600"/>
              <a:t> Линейная скорость сходимости для функций </a:t>
            </a:r>
            <a:r>
              <a:rPr lang="ru-RU" altLang="ru-RU" sz="1600">
                <a:sym typeface="Symbol" panose="05050102010706020507" pitchFamily="18" charset="2"/>
              </a:rPr>
              <a:t></a:t>
            </a:r>
            <a:r>
              <a:rPr lang="ru-RU" altLang="ru-RU" sz="1600"/>
              <a:t>(</a:t>
            </a:r>
            <a:r>
              <a:rPr lang="en-US" altLang="ru-RU" sz="1600">
                <a:sym typeface="Symbol" panose="05050102010706020507" pitchFamily="18" charset="2"/>
              </a:rPr>
              <a:t>x</a:t>
            </a:r>
            <a:r>
              <a:rPr lang="ru-RU" altLang="ru-RU" sz="1600">
                <a:sym typeface="Symbol" panose="05050102010706020507" pitchFamily="18" charset="2"/>
              </a:rPr>
              <a:t>) близких к квадратичным. </a:t>
            </a:r>
          </a:p>
        </p:txBody>
      </p:sp>
      <p:sp>
        <p:nvSpPr>
          <p:cNvPr id="13344" name="Rectangle 34">
            <a:extLst>
              <a:ext uri="{FF2B5EF4-FFF2-40B4-BE49-F238E27FC236}">
                <a16:creationId xmlns:a16="http://schemas.microsoft.com/office/drawing/2014/main" id="{30A4B667-28AE-4407-887B-9A294A37E5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0703" y="5963236"/>
            <a:ext cx="125989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1600" u="sng"/>
              <a:t>Недостатки:</a:t>
            </a:r>
          </a:p>
        </p:txBody>
      </p:sp>
      <p:sp>
        <p:nvSpPr>
          <p:cNvPr id="13345" name="Rectangle 37">
            <a:extLst>
              <a:ext uri="{FF2B5EF4-FFF2-40B4-BE49-F238E27FC236}">
                <a16:creationId xmlns:a16="http://schemas.microsoft.com/office/drawing/2014/main" id="{E62E56D1-F8BF-44B7-B22D-0A433D8B3C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565" y="5845761"/>
            <a:ext cx="126188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1600">
                <a:latin typeface="Arial" panose="020B0604020202020204" pitchFamily="34" charset="0"/>
                <a:cs typeface="Times New Roman" panose="02020603050405020304" pitchFamily="18" charset="0"/>
              </a:rPr>
              <a:t>1.Функция </a:t>
            </a:r>
            <a:r>
              <a:rPr lang="ru-RU" altLang="ru-RU" sz="1200"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ru-RU" altLang="ru-RU">
              <a:latin typeface="Arial" panose="020B0604020202020204" pitchFamily="34" charset="0"/>
            </a:endParaRPr>
          </a:p>
        </p:txBody>
      </p:sp>
      <p:graphicFrame>
        <p:nvGraphicFramePr>
          <p:cNvPr id="13346" name="Object 36">
            <a:extLst>
              <a:ext uri="{FF2B5EF4-FFF2-40B4-BE49-F238E27FC236}">
                <a16:creationId xmlns:a16="http://schemas.microsoft.com/office/drawing/2014/main" id="{418C9064-A52B-4609-A096-F1A81D140D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11676" y="5876925"/>
          <a:ext cx="1152525" cy="300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71" name="Формула" r:id="rId23" imgW="876300" imgH="228600" progId="Equation.3">
                  <p:embed/>
                </p:oleObj>
              </mc:Choice>
              <mc:Fallback>
                <p:oleObj name="Формула" r:id="rId23" imgW="876300" imgH="228600" progId="Equation.3">
                  <p:embed/>
                  <p:pic>
                    <p:nvPicPr>
                      <p:cNvPr id="13346" name="Object 36">
                        <a:extLst>
                          <a:ext uri="{FF2B5EF4-FFF2-40B4-BE49-F238E27FC236}">
                            <a16:creationId xmlns:a16="http://schemas.microsoft.com/office/drawing/2014/main" id="{418C9064-A52B-4609-A096-F1A81D140D0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1676" y="5876925"/>
                        <a:ext cx="1152525" cy="300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47" name="Rectangle 38">
            <a:extLst>
              <a:ext uri="{FF2B5EF4-FFF2-40B4-BE49-F238E27FC236}">
                <a16:creationId xmlns:a16="http://schemas.microsoft.com/office/drawing/2014/main" id="{E8E4F62B-2E4E-4C24-B3DF-AADBC09C2D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4480" y="5845761"/>
            <a:ext cx="359476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1200"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ru-RU" altLang="ru-RU" sz="1600">
                <a:latin typeface="Arial" panose="020B0604020202020204" pitchFamily="34" charset="0"/>
                <a:cs typeface="Times New Roman" panose="02020603050405020304" pitchFamily="18" charset="0"/>
              </a:rPr>
              <a:t>– должна быть дифференцируема.</a:t>
            </a:r>
            <a:endParaRPr lang="ru-RU" altLang="ru-RU" sz="1600">
              <a:latin typeface="Arial" panose="020B0604020202020204" pitchFamily="34" charset="0"/>
            </a:endParaRPr>
          </a:p>
        </p:txBody>
      </p:sp>
      <p:sp>
        <p:nvSpPr>
          <p:cNvPr id="13348" name="Rectangle 39">
            <a:extLst>
              <a:ext uri="{FF2B5EF4-FFF2-40B4-BE49-F238E27FC236}">
                <a16:creationId xmlns:a16="http://schemas.microsoft.com/office/drawing/2014/main" id="{C167D4EB-0BEA-4381-B6C3-1AD512A2F5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1702" y="6164848"/>
            <a:ext cx="605479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1600"/>
              <a:t>2.Возможность зацикливания при плохой обусловленности задачи.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CD76865A-E892-4A08-90B0-40EC915205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 eaLnBrk="1" hangingPunct="1"/>
            <a:r>
              <a:rPr lang="ru-RU" alt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Ньютона </a:t>
            </a:r>
            <a:br>
              <a:rPr lang="ru-RU" alt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(метод второго порядка)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959709F1-4E9A-4D74-B83B-76C3E153D27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Условием использования этого метода является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</p:txBody>
      </p:sp>
      <p:sp>
        <p:nvSpPr>
          <p:cNvPr id="14340" name="Rectangle 5">
            <a:extLst>
              <a:ext uri="{FF2B5EF4-FFF2-40B4-BE49-F238E27FC236}">
                <a16:creationId xmlns:a16="http://schemas.microsoft.com/office/drawing/2014/main" id="{EB865BEF-592E-4DCC-A6A4-32E9956E9C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4341" name="Object 4">
            <a:extLst>
              <a:ext uri="{FF2B5EF4-FFF2-40B4-BE49-F238E27FC236}">
                <a16:creationId xmlns:a16="http://schemas.microsoft.com/office/drawing/2014/main" id="{D88C8045-5454-403D-B56E-295C0649541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12125" y="1700214"/>
          <a:ext cx="1728788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60" name="Формула" r:id="rId3" imgW="889000" imgH="228600" progId="Equation.3">
                  <p:embed/>
                </p:oleObj>
              </mc:Choice>
              <mc:Fallback>
                <p:oleObj name="Формула" r:id="rId3" imgW="889000" imgH="228600" progId="Equation.3">
                  <p:embed/>
                  <p:pic>
                    <p:nvPicPr>
                      <p:cNvPr id="14341" name="Object 4">
                        <a:extLst>
                          <a:ext uri="{FF2B5EF4-FFF2-40B4-BE49-F238E27FC236}">
                            <a16:creationId xmlns:a16="http://schemas.microsoft.com/office/drawing/2014/main" id="{D88C8045-5454-403D-B56E-295C0649541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12125" y="1700214"/>
                        <a:ext cx="1728788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2" name="Rectangle 6">
            <a:extLst>
              <a:ext uri="{FF2B5EF4-FFF2-40B4-BE49-F238E27FC236}">
                <a16:creationId xmlns:a16="http://schemas.microsoft.com/office/drawing/2014/main" id="{533E72F5-E681-4D56-A999-770830FEE4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67888" y="177323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, </a:t>
            </a:r>
          </a:p>
        </p:txBody>
      </p:sp>
      <p:sp>
        <p:nvSpPr>
          <p:cNvPr id="14343" name="Rectangle 7">
            <a:extLst>
              <a:ext uri="{FF2B5EF4-FFF2-40B4-BE49-F238E27FC236}">
                <a16:creationId xmlns:a16="http://schemas.microsoft.com/office/drawing/2014/main" id="{69DB55E9-80B0-44E6-99F7-F5E4722D95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1" y="2203728"/>
            <a:ext cx="644105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а также условие выпуклости </a:t>
            </a:r>
            <a:r>
              <a:rPr lang="ru-RU" altLang="ru-RU">
                <a:sym typeface="Symbol" panose="05050102010706020507" pitchFamily="18" charset="2"/>
              </a:rPr>
              <a:t></a:t>
            </a:r>
            <a:r>
              <a:rPr lang="ru-RU" altLang="ru-RU"/>
              <a:t>(</a:t>
            </a:r>
            <a:r>
              <a:rPr lang="en-US" altLang="ru-RU">
                <a:sym typeface="Symbol" panose="05050102010706020507" pitchFamily="18" charset="2"/>
              </a:rPr>
              <a:t>x</a:t>
            </a:r>
            <a:r>
              <a:rPr lang="ru-RU" altLang="ru-RU">
                <a:sym typeface="Symbol" panose="05050102010706020507" pitchFamily="18" charset="2"/>
              </a:rPr>
              <a:t>)  в окрестности точки поиска. </a:t>
            </a:r>
          </a:p>
        </p:txBody>
      </p:sp>
      <p:sp>
        <p:nvSpPr>
          <p:cNvPr id="14344" name="Rectangle 9">
            <a:extLst>
              <a:ext uri="{FF2B5EF4-FFF2-40B4-BE49-F238E27FC236}">
                <a16:creationId xmlns:a16="http://schemas.microsoft.com/office/drawing/2014/main" id="{2B9EC536-4301-4DAD-8159-5E3C6CA430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3" y="2418707"/>
            <a:ext cx="88415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000" dirty="0">
                <a:cs typeface="Times New Roman" panose="02020603050405020304" pitchFamily="18" charset="0"/>
              </a:rPr>
              <a:t>Точка</a:t>
            </a:r>
            <a:r>
              <a:rPr lang="ru-RU" altLang="ru-RU" sz="2400" dirty="0">
                <a:cs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14345" name="Object 8">
            <a:extLst>
              <a:ext uri="{FF2B5EF4-FFF2-40B4-BE49-F238E27FC236}">
                <a16:creationId xmlns:a16="http://schemas.microsoft.com/office/drawing/2014/main" id="{E3787030-9232-49A8-8E62-05EC3A9F4A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55913" y="2492376"/>
          <a:ext cx="290512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61" name="Формула" r:id="rId5" imgW="164957" imgH="203024" progId="Equation.3">
                  <p:embed/>
                </p:oleObj>
              </mc:Choice>
              <mc:Fallback>
                <p:oleObj name="Формула" r:id="rId5" imgW="164957" imgH="203024" progId="Equation.3">
                  <p:embed/>
                  <p:pic>
                    <p:nvPicPr>
                      <p:cNvPr id="14345" name="Object 8">
                        <a:extLst>
                          <a:ext uri="{FF2B5EF4-FFF2-40B4-BE49-F238E27FC236}">
                            <a16:creationId xmlns:a16="http://schemas.microsoft.com/office/drawing/2014/main" id="{E3787030-9232-49A8-8E62-05EC3A9F4A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913" y="2492376"/>
                        <a:ext cx="290512" cy="35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6" name="Rectangle 10">
            <a:extLst>
              <a:ext uri="{FF2B5EF4-FFF2-40B4-BE49-F238E27FC236}">
                <a16:creationId xmlns:a16="http://schemas.microsoft.com/office/drawing/2014/main" id="{EE11A6C5-5089-44B3-8B90-019256A79D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6276" y="2490758"/>
            <a:ext cx="613058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000" dirty="0">
                <a:latin typeface="Arial" panose="020B0604020202020204" pitchFamily="34" charset="0"/>
                <a:cs typeface="Times New Roman" panose="02020603050405020304" pitchFamily="18" charset="0"/>
              </a:rPr>
              <a:t>– </a:t>
            </a:r>
            <a:r>
              <a:rPr lang="ru-RU" altLang="ru-RU" sz="2000" dirty="0">
                <a:cs typeface="Times New Roman" panose="02020603050405020304" pitchFamily="18" charset="0"/>
              </a:rPr>
              <a:t>стационарная точка (точка локального экстремума ) </a:t>
            </a:r>
          </a:p>
        </p:txBody>
      </p:sp>
      <p:sp>
        <p:nvSpPr>
          <p:cNvPr id="14347" name="Rectangle 11">
            <a:extLst>
              <a:ext uri="{FF2B5EF4-FFF2-40B4-BE49-F238E27FC236}">
                <a16:creationId xmlns:a16="http://schemas.microsoft.com/office/drawing/2014/main" id="{F0F60CDD-FE3E-471B-ADE6-7A00A9D19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91625" y="2492376"/>
            <a:ext cx="2413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>
                <a:sym typeface="Symbol" panose="05050102010706020507" pitchFamily="18" charset="2"/>
              </a:rPr>
              <a:t>.</a:t>
            </a:r>
          </a:p>
        </p:txBody>
      </p:sp>
      <p:sp>
        <p:nvSpPr>
          <p:cNvPr id="14348" name="Rectangle 12">
            <a:extLst>
              <a:ext uri="{FF2B5EF4-FFF2-40B4-BE49-F238E27FC236}">
                <a16:creationId xmlns:a16="http://schemas.microsoft.com/office/drawing/2014/main" id="{9BF1B3B5-00EA-4180-AEC1-20DD4B189F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4" y="2924176"/>
            <a:ext cx="8651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Пусть:</a:t>
            </a:r>
          </a:p>
        </p:txBody>
      </p:sp>
      <p:sp>
        <p:nvSpPr>
          <p:cNvPr id="14349" name="Rectangle 14">
            <a:extLst>
              <a:ext uri="{FF2B5EF4-FFF2-40B4-BE49-F238E27FC236}">
                <a16:creationId xmlns:a16="http://schemas.microsoft.com/office/drawing/2014/main" id="{56CD8D76-8D1F-43F6-B956-35EF14B6E5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8934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4350" name="Object 13">
            <a:extLst>
              <a:ext uri="{FF2B5EF4-FFF2-40B4-BE49-F238E27FC236}">
                <a16:creationId xmlns:a16="http://schemas.microsoft.com/office/drawing/2014/main" id="{9DE89CA7-8646-40A6-84DF-58E3C3E42EB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55914" y="2852738"/>
          <a:ext cx="2160587" cy="1301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62" name="Формула" r:id="rId7" imgW="1168400" imgH="698500" progId="Equation.3">
                  <p:embed/>
                </p:oleObj>
              </mc:Choice>
              <mc:Fallback>
                <p:oleObj name="Формула" r:id="rId7" imgW="1168400" imgH="698500" progId="Equation.3">
                  <p:embed/>
                  <p:pic>
                    <p:nvPicPr>
                      <p:cNvPr id="14350" name="Object 13">
                        <a:extLst>
                          <a:ext uri="{FF2B5EF4-FFF2-40B4-BE49-F238E27FC236}">
                            <a16:creationId xmlns:a16="http://schemas.microsoft.com/office/drawing/2014/main" id="{9DE89CA7-8646-40A6-84DF-58E3C3E42EB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914" y="2852738"/>
                        <a:ext cx="2160587" cy="1301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1" name="Rectangle 15">
            <a:extLst>
              <a:ext uri="{FF2B5EF4-FFF2-40B4-BE49-F238E27FC236}">
                <a16:creationId xmlns:a16="http://schemas.microsoft.com/office/drawing/2014/main" id="{813F1311-22D4-427B-A67B-3BE4482087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9376" y="2922866"/>
            <a:ext cx="84830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Тогда :</a:t>
            </a:r>
          </a:p>
        </p:txBody>
      </p:sp>
      <p:sp>
        <p:nvSpPr>
          <p:cNvPr id="14352" name="Rectangle 17">
            <a:extLst>
              <a:ext uri="{FF2B5EF4-FFF2-40B4-BE49-F238E27FC236}">
                <a16:creationId xmlns:a16="http://schemas.microsoft.com/office/drawing/2014/main" id="{CCBD88F0-DD5F-421F-93DB-4B19342277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284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4353" name="Rectangle 18">
            <a:extLst>
              <a:ext uri="{FF2B5EF4-FFF2-40B4-BE49-F238E27FC236}">
                <a16:creationId xmlns:a16="http://schemas.microsoft.com/office/drawing/2014/main" id="{F45964DB-1A90-444C-B200-70B6EE607C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0238" y="3932516"/>
            <a:ext cx="5450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где </a:t>
            </a:r>
          </a:p>
        </p:txBody>
      </p:sp>
      <p:sp>
        <p:nvSpPr>
          <p:cNvPr id="14354" name="Rectangle 20">
            <a:extLst>
              <a:ext uri="{FF2B5EF4-FFF2-40B4-BE49-F238E27FC236}">
                <a16:creationId xmlns:a16="http://schemas.microsoft.com/office/drawing/2014/main" id="{CE281A9E-CF4E-4D11-B2D3-EF6A3F89A9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8839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4355" name="Object 19">
            <a:extLst>
              <a:ext uri="{FF2B5EF4-FFF2-40B4-BE49-F238E27FC236}">
                <a16:creationId xmlns:a16="http://schemas.microsoft.com/office/drawing/2014/main" id="{19000D4C-B926-4F8F-BC2C-C3C8EC646B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16501" y="3644900"/>
          <a:ext cx="3167063" cy="1100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63" name="Формула" r:id="rId9" imgW="1371600" imgH="571500" progId="Equation.3">
                  <p:embed/>
                </p:oleObj>
              </mc:Choice>
              <mc:Fallback>
                <p:oleObj name="Формула" r:id="rId9" imgW="1371600" imgH="571500" progId="Equation.3">
                  <p:embed/>
                  <p:pic>
                    <p:nvPicPr>
                      <p:cNvPr id="14355" name="Object 19">
                        <a:extLst>
                          <a:ext uri="{FF2B5EF4-FFF2-40B4-BE49-F238E27FC236}">
                            <a16:creationId xmlns:a16="http://schemas.microsoft.com/office/drawing/2014/main" id="{19000D4C-B926-4F8F-BC2C-C3C8EC646B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6501" y="3644900"/>
                        <a:ext cx="3167063" cy="1100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6" name="Rectangle 21">
            <a:extLst>
              <a:ext uri="{FF2B5EF4-FFF2-40B4-BE49-F238E27FC236}">
                <a16:creationId xmlns:a16="http://schemas.microsoft.com/office/drawing/2014/main" id="{6082E652-0B7E-4614-B03D-E30D8E0DEB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3" y="4581525"/>
            <a:ext cx="8424862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Разложение функции </a:t>
            </a:r>
            <a:r>
              <a:rPr lang="ru-RU" altLang="ru-RU">
                <a:sym typeface="Symbol" panose="05050102010706020507" pitchFamily="18" charset="2"/>
              </a:rPr>
              <a:t></a:t>
            </a:r>
            <a:r>
              <a:rPr lang="ru-RU" altLang="ru-RU"/>
              <a:t>(х*) в окрестности х* в ряд Тейлора до 3-го члена дает квадратичную аппроксимацию этой функции в </a:t>
            </a:r>
            <a:r>
              <a:rPr lang="en-US" altLang="ru-RU">
                <a:sym typeface="Symbol" panose="05050102010706020507" pitchFamily="18" charset="2"/>
              </a:rPr>
              <a:t>U</a:t>
            </a:r>
            <a:r>
              <a:rPr lang="ru-RU" altLang="ru-RU"/>
              <a:t>(</a:t>
            </a:r>
            <a:r>
              <a:rPr lang="en-US" altLang="ru-RU">
                <a:sym typeface="Symbol" panose="05050102010706020507" pitchFamily="18" charset="2"/>
              </a:rPr>
              <a:t>x</a:t>
            </a:r>
            <a:r>
              <a:rPr lang="ru-RU" altLang="ru-RU">
                <a:sym typeface="Symbol" panose="05050102010706020507" pitchFamily="18" charset="2"/>
              </a:rPr>
              <a:t>*):</a:t>
            </a:r>
          </a:p>
        </p:txBody>
      </p:sp>
      <p:sp>
        <p:nvSpPr>
          <p:cNvPr id="14357" name="Rectangle 23">
            <a:extLst>
              <a:ext uri="{FF2B5EF4-FFF2-40B4-BE49-F238E27FC236}">
                <a16:creationId xmlns:a16="http://schemas.microsoft.com/office/drawing/2014/main" id="{A5CE2E69-59CC-4EBC-8E95-B146FD7F02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4358" name="Object 22">
            <a:extLst>
              <a:ext uri="{FF2B5EF4-FFF2-40B4-BE49-F238E27FC236}">
                <a16:creationId xmlns:a16="http://schemas.microsoft.com/office/drawing/2014/main" id="{B8D52444-434E-470A-80BE-7BDE18EA96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63750" y="5300663"/>
          <a:ext cx="360045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64" name="Формула" r:id="rId11" imgW="1765300" imgH="228600" progId="Equation.3">
                  <p:embed/>
                </p:oleObj>
              </mc:Choice>
              <mc:Fallback>
                <p:oleObj name="Формула" r:id="rId11" imgW="1765300" imgH="228600" progId="Equation.3">
                  <p:embed/>
                  <p:pic>
                    <p:nvPicPr>
                      <p:cNvPr id="14358" name="Object 22">
                        <a:extLst>
                          <a:ext uri="{FF2B5EF4-FFF2-40B4-BE49-F238E27FC236}">
                            <a16:creationId xmlns:a16="http://schemas.microsoft.com/office/drawing/2014/main" id="{B8D52444-434E-470A-80BE-7BDE18EA96C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0" y="5300663"/>
                        <a:ext cx="3600450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9" name="Rectangle 25">
            <a:extLst>
              <a:ext uri="{FF2B5EF4-FFF2-40B4-BE49-F238E27FC236}">
                <a16:creationId xmlns:a16="http://schemas.microsoft.com/office/drawing/2014/main" id="{76DCDDC0-4D90-4795-BC55-17EA200748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4360" name="Object 24">
            <a:extLst>
              <a:ext uri="{FF2B5EF4-FFF2-40B4-BE49-F238E27FC236}">
                <a16:creationId xmlns:a16="http://schemas.microsoft.com/office/drawing/2014/main" id="{B1A5C943-A0D3-4B6B-A767-BE7DA6B9DAD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40464" y="5300664"/>
          <a:ext cx="4105275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65" name="Формула" r:id="rId13" imgW="2070100" imgH="228600" progId="Equation.3">
                  <p:embed/>
                </p:oleObj>
              </mc:Choice>
              <mc:Fallback>
                <p:oleObj name="Формула" r:id="rId13" imgW="2070100" imgH="228600" progId="Equation.3">
                  <p:embed/>
                  <p:pic>
                    <p:nvPicPr>
                      <p:cNvPr id="14360" name="Object 24">
                        <a:extLst>
                          <a:ext uri="{FF2B5EF4-FFF2-40B4-BE49-F238E27FC236}">
                            <a16:creationId xmlns:a16="http://schemas.microsoft.com/office/drawing/2014/main" id="{B1A5C943-A0D3-4B6B-A767-BE7DA6B9DAD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0464" y="5300664"/>
                        <a:ext cx="4105275" cy="452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61" name="Rectangle 26">
            <a:extLst>
              <a:ext uri="{FF2B5EF4-FFF2-40B4-BE49-F238E27FC236}">
                <a16:creationId xmlns:a16="http://schemas.microsoft.com/office/drawing/2014/main" id="{E7761BFB-A875-4D3C-88E8-9865A0B1C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5638" y="5300663"/>
            <a:ext cx="2413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>
                <a:sym typeface="Symbol" panose="05050102010706020507" pitchFamily="18" charset="2"/>
              </a:rPr>
              <a:t>.</a:t>
            </a:r>
          </a:p>
        </p:txBody>
      </p:sp>
      <p:sp>
        <p:nvSpPr>
          <p:cNvPr id="14362" name="Rectangle 28">
            <a:extLst>
              <a:ext uri="{FF2B5EF4-FFF2-40B4-BE49-F238E27FC236}">
                <a16:creationId xmlns:a16="http://schemas.microsoft.com/office/drawing/2014/main" id="{1742B285-A34A-43D7-8BB9-A452930D88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4363" name="Object 27">
            <a:extLst>
              <a:ext uri="{FF2B5EF4-FFF2-40B4-BE49-F238E27FC236}">
                <a16:creationId xmlns:a16="http://schemas.microsoft.com/office/drawing/2014/main" id="{CF95B998-5ED1-45E4-8088-A43177E694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92313" y="5805488"/>
          <a:ext cx="2736850" cy="373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66" name="Формула" r:id="rId15" imgW="1676400" imgH="228600" progId="Equation.3">
                  <p:embed/>
                </p:oleObj>
              </mc:Choice>
              <mc:Fallback>
                <p:oleObj name="Формула" r:id="rId15" imgW="1676400" imgH="228600" progId="Equation.3">
                  <p:embed/>
                  <p:pic>
                    <p:nvPicPr>
                      <p:cNvPr id="14363" name="Object 27">
                        <a:extLst>
                          <a:ext uri="{FF2B5EF4-FFF2-40B4-BE49-F238E27FC236}">
                            <a16:creationId xmlns:a16="http://schemas.microsoft.com/office/drawing/2014/main" id="{CF95B998-5ED1-45E4-8088-A43177E6945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3" y="5805488"/>
                        <a:ext cx="2736850" cy="373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64" name="Rectangle 30">
            <a:extLst>
              <a:ext uri="{FF2B5EF4-FFF2-40B4-BE49-F238E27FC236}">
                <a16:creationId xmlns:a16="http://schemas.microsoft.com/office/drawing/2014/main" id="{AD0ED72A-B7E7-4FC4-9D50-E53382CD72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2685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4365" name="Object 29">
            <a:extLst>
              <a:ext uri="{FF2B5EF4-FFF2-40B4-BE49-F238E27FC236}">
                <a16:creationId xmlns:a16="http://schemas.microsoft.com/office/drawing/2014/main" id="{B38285AC-5146-4A19-9B04-9E0E61C093F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72039" y="5805488"/>
          <a:ext cx="2663825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67" name="Формула" r:id="rId17" imgW="1536700" imgH="241300" progId="Equation.3">
                  <p:embed/>
                </p:oleObj>
              </mc:Choice>
              <mc:Fallback>
                <p:oleObj name="Формула" r:id="rId17" imgW="1536700" imgH="241300" progId="Equation.3">
                  <p:embed/>
                  <p:pic>
                    <p:nvPicPr>
                      <p:cNvPr id="14365" name="Object 29">
                        <a:extLst>
                          <a:ext uri="{FF2B5EF4-FFF2-40B4-BE49-F238E27FC236}">
                            <a16:creationId xmlns:a16="http://schemas.microsoft.com/office/drawing/2014/main" id="{B38285AC-5146-4A19-9B04-9E0E61C093F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2039" y="5805488"/>
                        <a:ext cx="2663825" cy="411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66" name="Rectangle 32">
            <a:extLst>
              <a:ext uri="{FF2B5EF4-FFF2-40B4-BE49-F238E27FC236}">
                <a16:creationId xmlns:a16="http://schemas.microsoft.com/office/drawing/2014/main" id="{84FC44D8-1FA1-4D6F-B161-25E58EFF55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459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4367" name="Object 31">
            <a:extLst>
              <a:ext uri="{FF2B5EF4-FFF2-40B4-BE49-F238E27FC236}">
                <a16:creationId xmlns:a16="http://schemas.microsoft.com/office/drawing/2014/main" id="{396730EC-032D-48C9-89FE-87A20F5EBF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51764" y="5876925"/>
          <a:ext cx="2376487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68" name="Формула" r:id="rId19" imgW="1371600" imgH="203200" progId="Equation.3">
                  <p:embed/>
                </p:oleObj>
              </mc:Choice>
              <mc:Fallback>
                <p:oleObj name="Формула" r:id="rId19" imgW="1371600" imgH="203200" progId="Equation.3">
                  <p:embed/>
                  <p:pic>
                    <p:nvPicPr>
                      <p:cNvPr id="14367" name="Object 31">
                        <a:extLst>
                          <a:ext uri="{FF2B5EF4-FFF2-40B4-BE49-F238E27FC236}">
                            <a16:creationId xmlns:a16="http://schemas.microsoft.com/office/drawing/2014/main" id="{396730EC-032D-48C9-89FE-87A20F5EBF9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51764" y="5876925"/>
                        <a:ext cx="2376487" cy="344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68" name="Rectangle 34">
            <a:extLst>
              <a:ext uri="{FF2B5EF4-FFF2-40B4-BE49-F238E27FC236}">
                <a16:creationId xmlns:a16="http://schemas.microsoft.com/office/drawing/2014/main" id="{EFE192E2-B9D3-418A-B630-8A879D1FBD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459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4369" name="Rectangle 35">
            <a:extLst>
              <a:ext uri="{FF2B5EF4-FFF2-40B4-BE49-F238E27FC236}">
                <a16:creationId xmlns:a16="http://schemas.microsoft.com/office/drawing/2014/main" id="{AECC8EFF-028C-46FE-A466-854CD8D5AA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6138" y="5805488"/>
            <a:ext cx="3048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; </a:t>
            </a:r>
          </a:p>
        </p:txBody>
      </p:sp>
      <p:sp>
        <p:nvSpPr>
          <p:cNvPr id="14370" name="Rectangle 36">
            <a:extLst>
              <a:ext uri="{FF2B5EF4-FFF2-40B4-BE49-F238E27FC236}">
                <a16:creationId xmlns:a16="http://schemas.microsoft.com/office/drawing/2014/main" id="{8B6CEA71-B47C-41DB-A0F7-61422A44AE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5876926"/>
            <a:ext cx="304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; </a:t>
            </a:r>
          </a:p>
        </p:txBody>
      </p:sp>
      <p:sp>
        <p:nvSpPr>
          <p:cNvPr id="14371" name="Rectangle 37">
            <a:extLst>
              <a:ext uri="{FF2B5EF4-FFF2-40B4-BE49-F238E27FC236}">
                <a16:creationId xmlns:a16="http://schemas.microsoft.com/office/drawing/2014/main" id="{F9C59969-4DE5-43B1-B4B5-AA888CF55D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56813" y="5876926"/>
            <a:ext cx="2413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>
                <a:sym typeface="Symbol" panose="05050102010706020507" pitchFamily="18" charset="2"/>
              </a:rPr>
              <a:t>.</a:t>
            </a:r>
          </a:p>
        </p:txBody>
      </p:sp>
      <p:graphicFrame>
        <p:nvGraphicFramePr>
          <p:cNvPr id="14372" name="Object 38">
            <a:extLst>
              <a:ext uri="{FF2B5EF4-FFF2-40B4-BE49-F238E27FC236}">
                <a16:creationId xmlns:a16="http://schemas.microsoft.com/office/drawing/2014/main" id="{EEF48CE6-8EAA-4ADC-9723-4EA79D91506E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4440238" y="3284538"/>
          <a:ext cx="575945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69" name="Формула" r:id="rId21" imgW="4051300" imgH="393700" progId="Equation.3">
                  <p:embed/>
                </p:oleObj>
              </mc:Choice>
              <mc:Fallback>
                <p:oleObj name="Формула" r:id="rId21" imgW="4051300" imgH="393700" progId="Equation.3">
                  <p:embed/>
                  <p:pic>
                    <p:nvPicPr>
                      <p:cNvPr id="14372" name="Object 38">
                        <a:extLst>
                          <a:ext uri="{FF2B5EF4-FFF2-40B4-BE49-F238E27FC236}">
                            <a16:creationId xmlns:a16="http://schemas.microsoft.com/office/drawing/2014/main" id="{EEF48CE6-8EAA-4ADC-9723-4EA79D91506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0238" y="3284538"/>
                        <a:ext cx="575945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A7E73DC4-DC19-4FA8-8324-26893A710D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ru-RU" alt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Ньютона </a:t>
            </a:r>
            <a:br>
              <a:rPr lang="ru-RU" alt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(метод второго порядка)</a:t>
            </a:r>
          </a:p>
        </p:txBody>
      </p:sp>
      <p:pic>
        <p:nvPicPr>
          <p:cNvPr id="15363" name="Picture 4">
            <a:extLst>
              <a:ext uri="{FF2B5EF4-FFF2-40B4-BE49-F238E27FC236}">
                <a16:creationId xmlns:a16="http://schemas.microsoft.com/office/drawing/2014/main" id="{1A6202BF-EA89-402A-A783-1B1F39473C68}"/>
              </a:ext>
            </a:extLst>
          </p:cNvPr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57400" y="1925638"/>
            <a:ext cx="5334000" cy="36639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5364" name="Picture 5">
            <a:extLst>
              <a:ext uri="{FF2B5EF4-FFF2-40B4-BE49-F238E27FC236}">
                <a16:creationId xmlns:a16="http://schemas.microsoft.com/office/drawing/2014/main" id="{ECE06511-6BE7-407F-ABE2-DA733A0078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1763" y="2492376"/>
            <a:ext cx="2400300" cy="2449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204E884A-78EA-4A8F-BAF9-973ACDB005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ru-RU" alt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Ньютона </a:t>
            </a:r>
            <a:br>
              <a:rPr lang="ru-RU" alt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(метод второго порядка).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C451375E-C514-4878-8D5F-7886C5E508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901031"/>
            <a:ext cx="10515600" cy="4351338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ru-RU" altLang="ru-RU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Сопряженность: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6388" name="Rectangle 5">
            <a:extLst>
              <a:ext uri="{FF2B5EF4-FFF2-40B4-BE49-F238E27FC236}">
                <a16:creationId xmlns:a16="http://schemas.microsoft.com/office/drawing/2014/main" id="{1210A526-E317-4577-9FD7-81E8E72144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998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6389" name="Object 4">
            <a:extLst>
              <a:ext uri="{FF2B5EF4-FFF2-40B4-BE49-F238E27FC236}">
                <a16:creationId xmlns:a16="http://schemas.microsoft.com/office/drawing/2014/main" id="{944FAEC8-508B-4A78-901E-5F1537C4B7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4939819"/>
              </p:ext>
            </p:extLst>
          </p:nvPr>
        </p:nvGraphicFramePr>
        <p:xfrm>
          <a:off x="4181476" y="1869588"/>
          <a:ext cx="2808287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59" name="Формула" r:id="rId3" imgW="1397000" imgH="228600" progId="Equation.3">
                  <p:embed/>
                </p:oleObj>
              </mc:Choice>
              <mc:Fallback>
                <p:oleObj name="Формула" r:id="rId3" imgW="1397000" imgH="228600" progId="Equation.3">
                  <p:embed/>
                  <p:pic>
                    <p:nvPicPr>
                      <p:cNvPr id="16389" name="Object 4">
                        <a:extLst>
                          <a:ext uri="{FF2B5EF4-FFF2-40B4-BE49-F238E27FC236}">
                            <a16:creationId xmlns:a16="http://schemas.microsoft.com/office/drawing/2014/main" id="{944FAEC8-508B-4A78-901E-5F1537C4B71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1476" y="1869588"/>
                        <a:ext cx="2808287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0" name="Rectangle 6">
            <a:extLst>
              <a:ext uri="{FF2B5EF4-FFF2-40B4-BE49-F238E27FC236}">
                <a16:creationId xmlns:a16="http://schemas.microsoft.com/office/drawing/2014/main" id="{3FFEBD23-771D-442A-9FC6-DAC85E597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3586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6391" name="Rectangle 7">
            <a:extLst>
              <a:ext uri="{FF2B5EF4-FFF2-40B4-BE49-F238E27FC236}">
                <a16:creationId xmlns:a16="http://schemas.microsoft.com/office/drawing/2014/main" id="{79DCCE1E-4321-4794-98C6-4CF8D0BC16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3" y="2095501"/>
            <a:ext cx="828040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400" u="sng"/>
              <a:t>Достоинства :</a:t>
            </a:r>
            <a:r>
              <a:rPr lang="ru-RU" altLang="ru-RU" u="sng"/>
              <a:t> </a:t>
            </a:r>
            <a:r>
              <a:rPr lang="ru-RU" altLang="ru-RU"/>
              <a:t>  </a:t>
            </a:r>
          </a:p>
          <a:p>
            <a:pPr eaLnBrk="1" hangingPunct="1"/>
            <a:r>
              <a:rPr lang="ru-RU" altLang="ru-RU"/>
              <a:t>Для функций, близких к квадратичным, скорость сходимости алгоритма суперлинейная.</a:t>
            </a:r>
          </a:p>
        </p:txBody>
      </p:sp>
      <p:sp>
        <p:nvSpPr>
          <p:cNvPr id="16392" name="Rectangle 8">
            <a:extLst>
              <a:ext uri="{FF2B5EF4-FFF2-40B4-BE49-F238E27FC236}">
                <a16:creationId xmlns:a16="http://schemas.microsoft.com/office/drawing/2014/main" id="{18E3DF10-08FE-48B1-8057-09FFEC72B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0" y="2994969"/>
            <a:ext cx="187211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400" u="sng"/>
              <a:t>Недостатки:</a:t>
            </a:r>
            <a:r>
              <a:rPr lang="ru-RU" altLang="ru-RU" sz="2400"/>
              <a:t> </a:t>
            </a:r>
          </a:p>
        </p:txBody>
      </p:sp>
      <p:sp>
        <p:nvSpPr>
          <p:cNvPr id="16393" name="Rectangle 9">
            <a:extLst>
              <a:ext uri="{FF2B5EF4-FFF2-40B4-BE49-F238E27FC236}">
                <a16:creationId xmlns:a16="http://schemas.microsoft.com/office/drawing/2014/main" id="{773D0CE6-ED0B-4891-B44D-052E2C1D24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825" y="3370541"/>
            <a:ext cx="31750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1.Необходимость вычисления </a:t>
            </a:r>
          </a:p>
        </p:txBody>
      </p:sp>
      <p:sp>
        <p:nvSpPr>
          <p:cNvPr id="16394" name="Rectangle 11">
            <a:extLst>
              <a:ext uri="{FF2B5EF4-FFF2-40B4-BE49-F238E27FC236}">
                <a16:creationId xmlns:a16="http://schemas.microsoft.com/office/drawing/2014/main" id="{59BDBA98-DF85-4407-B152-B28AC578C9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6395" name="Object 10">
            <a:extLst>
              <a:ext uri="{FF2B5EF4-FFF2-40B4-BE49-F238E27FC236}">
                <a16:creationId xmlns:a16="http://schemas.microsoft.com/office/drawing/2014/main" id="{94781E6B-A18A-4D7D-A5AF-A4821FAE3A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48300" y="3357564"/>
          <a:ext cx="129540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60" name="Формула" r:id="rId5" imgW="622030" imgH="228501" progId="Equation.3">
                  <p:embed/>
                </p:oleObj>
              </mc:Choice>
              <mc:Fallback>
                <p:oleObj name="Формула" r:id="rId5" imgW="622030" imgH="228501" progId="Equation.3">
                  <p:embed/>
                  <p:pic>
                    <p:nvPicPr>
                      <p:cNvPr id="16395" name="Object 10">
                        <a:extLst>
                          <a:ext uri="{FF2B5EF4-FFF2-40B4-BE49-F238E27FC236}">
                            <a16:creationId xmlns:a16="http://schemas.microsoft.com/office/drawing/2014/main" id="{94781E6B-A18A-4D7D-A5AF-A4821FAE3A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8300" y="3357564"/>
                        <a:ext cx="1295400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6" name="Rectangle 12">
            <a:extLst>
              <a:ext uri="{FF2B5EF4-FFF2-40B4-BE49-F238E27FC236}">
                <a16:creationId xmlns:a16="http://schemas.microsoft.com/office/drawing/2014/main" id="{5DA16338-C003-4265-8BD5-F809CF7ACB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2263" y="3384550"/>
            <a:ext cx="317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400"/>
              <a:t>.</a:t>
            </a:r>
            <a:r>
              <a:rPr lang="ru-RU" altLang="ru-RU"/>
              <a:t> </a:t>
            </a:r>
          </a:p>
        </p:txBody>
      </p:sp>
      <p:sp>
        <p:nvSpPr>
          <p:cNvPr id="16397" name="Rectangle 14">
            <a:extLst>
              <a:ext uri="{FF2B5EF4-FFF2-40B4-BE49-F238E27FC236}">
                <a16:creationId xmlns:a16="http://schemas.microsoft.com/office/drawing/2014/main" id="{1D272351-C9BB-4DE1-95B2-7B1F5AF4E8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3389" y="3740151"/>
            <a:ext cx="55451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>
                <a:latin typeface="Arial" panose="020B0604020202020204" pitchFamily="34" charset="0"/>
                <a:cs typeface="Times New Roman" panose="02020603050405020304" pitchFamily="18" charset="0"/>
              </a:rPr>
              <a:t>2.Процесс решения сильно зависит от выбора </a:t>
            </a:r>
            <a:endParaRPr lang="ru-RU" altLang="ru-RU">
              <a:latin typeface="Arial" panose="020B0604020202020204" pitchFamily="34" charset="0"/>
            </a:endParaRPr>
          </a:p>
        </p:txBody>
      </p:sp>
      <p:graphicFrame>
        <p:nvGraphicFramePr>
          <p:cNvPr id="16398" name="Object 13">
            <a:extLst>
              <a:ext uri="{FF2B5EF4-FFF2-40B4-BE49-F238E27FC236}">
                <a16:creationId xmlns:a16="http://schemas.microsoft.com/office/drawing/2014/main" id="{3FFA216E-B536-45D7-AB0E-0E5A550BA44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88163" y="3716339"/>
          <a:ext cx="576262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61" name="Формула" r:id="rId7" imgW="253780" imgH="203024" progId="Equation.3">
                  <p:embed/>
                </p:oleObj>
              </mc:Choice>
              <mc:Fallback>
                <p:oleObj name="Формула" r:id="rId7" imgW="253780" imgH="203024" progId="Equation.3">
                  <p:embed/>
                  <p:pic>
                    <p:nvPicPr>
                      <p:cNvPr id="16398" name="Object 13">
                        <a:extLst>
                          <a:ext uri="{FF2B5EF4-FFF2-40B4-BE49-F238E27FC236}">
                            <a16:creationId xmlns:a16="http://schemas.microsoft.com/office/drawing/2014/main" id="{3FFA216E-B536-45D7-AB0E-0E5A550BA4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8163" y="3716339"/>
                        <a:ext cx="576262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9" name="Rectangle 15">
            <a:extLst>
              <a:ext uri="{FF2B5EF4-FFF2-40B4-BE49-F238E27FC236}">
                <a16:creationId xmlns:a16="http://schemas.microsoft.com/office/drawing/2014/main" id="{AE5F1ACA-7258-414F-937B-A81554F5C5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3802341"/>
            <a:ext cx="281192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>
                <a:latin typeface="Arial" panose="020B0604020202020204" pitchFamily="34" charset="0"/>
                <a:cs typeface="Times New Roman" panose="02020603050405020304" pitchFamily="18" charset="0"/>
              </a:rPr>
              <a:t>(т.е. от начальной точки)</a:t>
            </a:r>
            <a:endParaRPr lang="ru-RU" altLang="ru-RU">
              <a:latin typeface="Arial" panose="020B0604020202020204" pitchFamily="34" charset="0"/>
            </a:endParaRPr>
          </a:p>
        </p:txBody>
      </p:sp>
      <p:sp>
        <p:nvSpPr>
          <p:cNvPr id="16400" name="Rectangle 16">
            <a:extLst>
              <a:ext uri="{FF2B5EF4-FFF2-40B4-BE49-F238E27FC236}">
                <a16:creationId xmlns:a16="http://schemas.microsoft.com/office/drawing/2014/main" id="{E46C9506-35AC-4488-BE76-6EC0926C69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12350" y="3716338"/>
            <a:ext cx="317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400"/>
              <a:t>.</a:t>
            </a:r>
            <a:r>
              <a:rPr lang="ru-RU" altLang="ru-RU"/>
              <a:t> </a:t>
            </a:r>
          </a:p>
        </p:txBody>
      </p:sp>
      <p:sp>
        <p:nvSpPr>
          <p:cNvPr id="16401" name="Rectangle 17">
            <a:extLst>
              <a:ext uri="{FF2B5EF4-FFF2-40B4-BE49-F238E27FC236}">
                <a16:creationId xmlns:a16="http://schemas.microsoft.com/office/drawing/2014/main" id="{2B24271C-B3CA-4B56-A712-9D1EF56938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3389" y="4148416"/>
            <a:ext cx="559383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3.Функция </a:t>
            </a:r>
            <a:r>
              <a:rPr lang="ru-RU" altLang="ru-RU">
                <a:sym typeface="Symbol" panose="05050102010706020507" pitchFamily="18" charset="2"/>
              </a:rPr>
              <a:t></a:t>
            </a:r>
            <a:r>
              <a:rPr lang="ru-RU" altLang="ru-RU"/>
              <a:t>(х) должна быть выпуклой во всех точках </a:t>
            </a:r>
          </a:p>
        </p:txBody>
      </p:sp>
      <p:sp>
        <p:nvSpPr>
          <p:cNvPr id="16402" name="Rectangle 19">
            <a:extLst>
              <a:ext uri="{FF2B5EF4-FFF2-40B4-BE49-F238E27FC236}">
                <a16:creationId xmlns:a16="http://schemas.microsoft.com/office/drawing/2014/main" id="{CEFFB27D-15A7-4302-8CF8-7ECE571D71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459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6403" name="Object 18">
            <a:extLst>
              <a:ext uri="{FF2B5EF4-FFF2-40B4-BE49-F238E27FC236}">
                <a16:creationId xmlns:a16="http://schemas.microsoft.com/office/drawing/2014/main" id="{685BA3D4-9780-4523-8437-B76DABFC5D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64425" y="4149725"/>
          <a:ext cx="431800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62" name="Формула" r:id="rId9" imgW="253780" imgH="203024" progId="Equation.3">
                  <p:embed/>
                </p:oleObj>
              </mc:Choice>
              <mc:Fallback>
                <p:oleObj name="Формула" r:id="rId9" imgW="253780" imgH="203024" progId="Equation.3">
                  <p:embed/>
                  <p:pic>
                    <p:nvPicPr>
                      <p:cNvPr id="16403" name="Object 18">
                        <a:extLst>
                          <a:ext uri="{FF2B5EF4-FFF2-40B4-BE49-F238E27FC236}">
                            <a16:creationId xmlns:a16="http://schemas.microsoft.com/office/drawing/2014/main" id="{685BA3D4-9780-4523-8437-B76DABFC5DD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4425" y="4149725"/>
                        <a:ext cx="431800" cy="331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4" name="Rectangle 22">
            <a:extLst>
              <a:ext uri="{FF2B5EF4-FFF2-40B4-BE49-F238E27FC236}">
                <a16:creationId xmlns:a16="http://schemas.microsoft.com/office/drawing/2014/main" id="{3347BC4D-4D04-4DFC-B54C-2E1F56F3FF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8712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6405" name="Rectangle 23">
            <a:extLst>
              <a:ext uri="{FF2B5EF4-FFF2-40B4-BE49-F238E27FC236}">
                <a16:creationId xmlns:a16="http://schemas.microsoft.com/office/drawing/2014/main" id="{9F7C6488-2E27-4BA6-A75D-56723A6C1E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664" y="4148416"/>
            <a:ext cx="112146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>
                <a:latin typeface="Arial" panose="020B0604020202020204" pitchFamily="34" charset="0"/>
                <a:cs typeface="Times New Roman" panose="02020603050405020304" pitchFamily="18" charset="0"/>
              </a:rPr>
              <a:t>, то есть</a:t>
            </a:r>
            <a:r>
              <a:rPr lang="ru-RU" altLang="ru-RU" sz="1200"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ru-RU" altLang="ru-RU">
              <a:latin typeface="Arial" panose="020B0604020202020204" pitchFamily="34" charset="0"/>
            </a:endParaRPr>
          </a:p>
        </p:txBody>
      </p:sp>
      <p:sp>
        <p:nvSpPr>
          <p:cNvPr id="16406" name="Rectangle 25">
            <a:extLst>
              <a:ext uri="{FF2B5EF4-FFF2-40B4-BE49-F238E27FC236}">
                <a16:creationId xmlns:a16="http://schemas.microsoft.com/office/drawing/2014/main" id="{CFA7F9A9-A2EA-4231-9A8B-4D4F2B20A9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6407" name="Object 24">
            <a:extLst>
              <a:ext uri="{FF2B5EF4-FFF2-40B4-BE49-F238E27FC236}">
                <a16:creationId xmlns:a16="http://schemas.microsoft.com/office/drawing/2014/main" id="{BE2B792D-88B9-4455-BD89-57EE9EC7A9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904288" y="4149725"/>
          <a:ext cx="1441450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63" name="Формула" r:id="rId11" imgW="889000" imgH="228600" progId="Equation.3">
                  <p:embed/>
                </p:oleObj>
              </mc:Choice>
              <mc:Fallback>
                <p:oleObj name="Формула" r:id="rId11" imgW="889000" imgH="228600" progId="Equation.3">
                  <p:embed/>
                  <p:pic>
                    <p:nvPicPr>
                      <p:cNvPr id="16407" name="Object 24">
                        <a:extLst>
                          <a:ext uri="{FF2B5EF4-FFF2-40B4-BE49-F238E27FC236}">
                            <a16:creationId xmlns:a16="http://schemas.microsoft.com/office/drawing/2014/main" id="{BE2B792D-88B9-4455-BD89-57EE9EC7A9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04288" y="4149725"/>
                        <a:ext cx="1441450" cy="369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8" name="Rectangle 26">
            <a:extLst>
              <a:ext uri="{FF2B5EF4-FFF2-40B4-BE49-F238E27FC236}">
                <a16:creationId xmlns:a16="http://schemas.microsoft.com/office/drawing/2014/main" id="{9DB6E284-DC5F-4CF7-95A5-DF5E387F49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50500" y="4076700"/>
            <a:ext cx="317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400"/>
              <a:t>.</a:t>
            </a:r>
            <a:r>
              <a:rPr lang="ru-RU" altLang="ru-RU"/>
              <a:t>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18F7EF-7813-485D-9A32-65C71A41E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ГРАДИЕНТНЫЕ МЕТОДЫ В МАШИННОМ ОБУЧЕНИИ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19A55B-327F-42B8-9615-A2D0B1E244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 последние 18-20 лет произошел огромный скачок в развитии систем искусственного интеллекта на основе машинного обучения и глубоких нейронных сетей. Это было обусловлено четырьмя  основными факторами:</a:t>
            </a:r>
          </a:p>
          <a:p>
            <a:pPr marL="385763" indent="-385763">
              <a:buAutoNum type="arabicPeriod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Значительным повышением производительности компьютерных систем.</a:t>
            </a:r>
          </a:p>
          <a:p>
            <a:pPr marL="385763" indent="-385763">
              <a:buAutoNum type="arabicPeriod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Наличием доступных очень больших баз данных.</a:t>
            </a:r>
          </a:p>
          <a:p>
            <a:pPr marL="385763" indent="-385763">
              <a:buAutoNum type="arabicPeriod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Созданием новых методов оптимизации на основе стохастического градиентного спуска.</a:t>
            </a:r>
          </a:p>
          <a:p>
            <a:pPr marL="385763" indent="-385763">
              <a:buAutoNum type="arabicPeriod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Разработкой и созданием систем параллельной обработки информации на основе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CUDA, GPU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TPU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Мы рассмотрим те методы оптимизации, которые легли в основу машинного обучения и теории глубоких нейронных сетей.</a:t>
            </a:r>
          </a:p>
          <a:p>
            <a:pPr marL="0" indent="0">
              <a:buNone/>
            </a:pP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5763" indent="-385763">
              <a:buAutoNum type="arabicPeriod"/>
            </a:pPr>
            <a:endParaRPr lang="ru-RU" sz="1800" dirty="0"/>
          </a:p>
          <a:p>
            <a:pPr marL="385763" indent="-385763">
              <a:buAutoNum type="arabicPeriod"/>
            </a:pPr>
            <a:endParaRPr lang="ru-RU" sz="1800" dirty="0"/>
          </a:p>
          <a:p>
            <a:pPr marL="0" indent="0">
              <a:buNone/>
            </a:pPr>
            <a:r>
              <a:rPr lang="ru-RU" sz="1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482628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FD1F0A6-64AD-4008-BFD3-5A83CB9F9A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73915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градиентного спуска является одним из наиболее популярных алгоритмов в области оптимизации для реализации обучения в современных нейронных сетях. В настоящее время разработан целый ряд библиотек глубокого машинного обучения, реализованных в виде соответствующих фреймворков. Ядром этих фреймворков являются методы оптимизации, основанные на использовании различных вариантов стохастического градиентного спуска.</a:t>
            </a:r>
          </a:p>
          <a:p>
            <a:pPr marL="0" indent="0">
              <a:buNone/>
            </a:pPr>
            <a:endParaRPr lang="ru-RU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0FFCC61-6EB3-458E-9499-B2FDE4ADED70}"/>
              </a:ext>
            </a:extLst>
          </p:cNvPr>
          <p:cNvSpPr txBox="1">
            <a:spLocks/>
          </p:cNvSpPr>
          <p:nvPr/>
        </p:nvSpPr>
        <p:spPr>
          <a:xfrm>
            <a:off x="2183841" y="234751"/>
            <a:ext cx="7886700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ГРАДИЕНТНЫЕ МЕТОДЫ В МАШИННОМ ОБУЧЕНИИ</a:t>
            </a:r>
            <a:endParaRPr lang="ru-RU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77C482B3-7691-4F91-8AFD-BEFCD4969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3547" y="99514"/>
            <a:ext cx="8507288" cy="1143000"/>
          </a:xfrm>
        </p:spPr>
        <p:txBody>
          <a:bodyPr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151703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Text Box 2"/>
          <p:cNvSpPr txBox="1">
            <a:spLocks noChangeArrowheads="1"/>
          </p:cNvSpPr>
          <p:nvPr/>
        </p:nvSpPr>
        <p:spPr bwMode="auto">
          <a:xfrm>
            <a:off x="1605116" y="193574"/>
            <a:ext cx="9144000" cy="63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67500" tIns="35100" rIns="67500" bIns="35100"/>
          <a:lstStyle>
            <a:lvl1pPr defTabSz="449263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449263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449263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449263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449263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ru-RU" altLang="ru-RU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Фреймворки для работы с глубокими сетями</a:t>
            </a:r>
          </a:p>
        </p:txBody>
      </p:sp>
      <p:sp>
        <p:nvSpPr>
          <p:cNvPr id="101380" name="Text Box 4"/>
          <p:cNvSpPr txBox="1">
            <a:spLocks noChangeArrowheads="1"/>
          </p:cNvSpPr>
          <p:nvPr/>
        </p:nvSpPr>
        <p:spPr bwMode="auto">
          <a:xfrm>
            <a:off x="81116" y="830559"/>
            <a:ext cx="12029768" cy="5733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67500" tIns="35100" rIns="67500" bIns="35100">
            <a:spAutoFit/>
          </a:bodyPr>
          <a:lstStyle>
            <a:lvl1pPr defTabSz="449263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449263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449263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449263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449263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>
                <a:srgbClr val="000000"/>
              </a:buClr>
              <a:buNone/>
            </a:pPr>
            <a:r>
              <a:rPr lang="ru-RU" altLang="ru-RU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Особенности</a:t>
            </a:r>
          </a:p>
          <a:p>
            <a:pPr eaLnBrk="1" hangingPunct="1">
              <a:spcBef>
                <a:spcPct val="0"/>
              </a:spcBef>
              <a:buClr>
                <a:srgbClr val="000000"/>
              </a:buClr>
              <a:buNone/>
            </a:pPr>
            <a:r>
              <a:rPr lang="ru-RU" alt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Определение графа вычислений</a:t>
            </a:r>
          </a:p>
          <a:p>
            <a:pPr eaLnBrk="1" hangingPunct="1">
              <a:spcBef>
                <a:spcPct val="0"/>
              </a:spcBef>
              <a:buClr>
                <a:srgbClr val="000000"/>
              </a:buClr>
              <a:buNone/>
            </a:pPr>
            <a:r>
              <a:rPr lang="ru-RU" alt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 Расчет графа вычислений</a:t>
            </a:r>
          </a:p>
          <a:p>
            <a:pPr eaLnBrk="1" hangingPunct="1">
              <a:spcBef>
                <a:spcPct val="0"/>
              </a:spcBef>
              <a:buClr>
                <a:srgbClr val="000000"/>
              </a:buClr>
              <a:buNone/>
            </a:pPr>
            <a:r>
              <a:rPr lang="ru-RU" alt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Дифференцирование графа</a:t>
            </a:r>
          </a:p>
          <a:p>
            <a:pPr algn="ctr" eaLnBrk="1" hangingPunct="1">
              <a:spcBef>
                <a:spcPct val="0"/>
              </a:spcBef>
              <a:buClr>
                <a:srgbClr val="000000"/>
              </a:buClr>
              <a:buNone/>
            </a:pPr>
            <a:r>
              <a:rPr lang="ru-RU" altLang="ru-RU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</a:t>
            </a:r>
            <a:r>
              <a:rPr lang="ru-RU" altLang="ru-RU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ипы фреймворков</a:t>
            </a:r>
          </a:p>
          <a:p>
            <a:pPr marL="457200" indent="-457200" algn="just" eaLnBrk="1" hangingPunct="1">
              <a:spcBef>
                <a:spcPct val="0"/>
              </a:spcBef>
              <a:buClr>
                <a:srgbClr val="000000"/>
              </a:buClr>
              <a:buAutoNum type="arabicPeriod"/>
            </a:pPr>
            <a:r>
              <a:rPr lang="ru-RU" sz="2000" b="0" i="0" u="none" strike="noStrike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TensorFlow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это комплексная платформа для машинного обучения с открытым исходным кодом. Она была разработана командой Google 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Brain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Ориентирован на большие проекты.</a:t>
            </a:r>
            <a:endParaRPr lang="en-US" sz="20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 eaLnBrk="1" hangingPunct="1">
              <a:spcBef>
                <a:spcPct val="0"/>
              </a:spcBef>
              <a:buClr>
                <a:srgbClr val="000000"/>
              </a:buClr>
              <a:buAutoNum type="arabicPeriod"/>
            </a:pPr>
            <a:r>
              <a:rPr lang="ru-RU" sz="2000" b="0" i="0" u="none" strike="noStrike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PyTorch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это среда машинного обучения на языке Python с открытым исходным кодом, обеспечивающая тензорные вычисления с GPU-ускорением. Она была разработана компанией Facebook и представлена в октябре 2016 года, а открыта для сторонних разработчиков — в январе 2017 года. Фреймворк подходит для быстрого прототипирования в исследованиях, а также для любителей и небольших проектов.</a:t>
            </a:r>
          </a:p>
          <a:p>
            <a:pPr marL="457200" indent="-457200" algn="just" eaLnBrk="1" hangingPunct="1">
              <a:spcBef>
                <a:spcPct val="0"/>
              </a:spcBef>
              <a:buClr>
                <a:srgbClr val="000000"/>
              </a:buClr>
              <a:buAutoNum type="arabicPeriod"/>
            </a:pPr>
            <a:r>
              <a:rPr lang="ru-RU" sz="2000" b="0" i="0" u="none" strike="noStrike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Darknet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это фреймворк с открытым исходным кодом, написанный на языке C с использованием программно-аппаратной архитектуры параллельных вычислений CUDA. Он быстрый, лёгкий и удобный в использовании. Также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Darknet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поддерживает вычисления на базе CPU и GPU. </a:t>
            </a:r>
          </a:p>
          <a:p>
            <a:pPr marL="457200" indent="-457200" algn="just" eaLnBrk="1" hangingPunct="1">
              <a:spcBef>
                <a:spcPct val="0"/>
              </a:spcBef>
              <a:buClr>
                <a:srgbClr val="000000"/>
              </a:buClr>
              <a:buAutoNum type="arabicPeriod"/>
            </a:pPr>
            <a:r>
              <a:rPr lang="ru-RU" sz="2000" b="0" i="0" u="none" strike="noStrike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XGBoost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это фреймворк с открытым исходным кодом, который предлагает систему градиентного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бустинга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для C++, Java, Python, R,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Julia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Он разработан для обеспечения высокой эффективности, гибкости и портативности.</a:t>
            </a:r>
            <a:endParaRPr lang="ru-RU" altLang="ru-RU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249602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75F06B-4790-414E-99CD-56A81FF20C6F}"/>
              </a:ext>
            </a:extLst>
          </p:cNvPr>
          <p:cNvSpPr txBox="1">
            <a:spLocks/>
          </p:cNvSpPr>
          <p:nvPr/>
        </p:nvSpPr>
        <p:spPr>
          <a:xfrm>
            <a:off x="2152650" y="1091906"/>
            <a:ext cx="7886700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ГРАДИЕНТНЫЕ МЕТОДЫ В МАШИННОМ ОБУЧЕНИИ</a:t>
            </a:r>
            <a:endParaRPr lang="ru-RU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155F01B-CCB0-42A3-B6E5-53D96F5D68B6}"/>
              </a:ext>
            </a:extLst>
          </p:cNvPr>
          <p:cNvSpPr txBox="1">
            <a:spLocks/>
          </p:cNvSpPr>
          <p:nvPr/>
        </p:nvSpPr>
        <p:spPr>
          <a:xfrm>
            <a:off x="2152650" y="2226469"/>
            <a:ext cx="7886700" cy="326350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ru-RU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1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B46887B-30AC-4550-A1E5-F8B18960CAA4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1890" y="2226470"/>
            <a:ext cx="6652259" cy="304929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609479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CB2B2B-422C-439F-8FD3-B5CB718161DE}"/>
              </a:ext>
            </a:extLst>
          </p:cNvPr>
          <p:cNvSpPr txBox="1"/>
          <p:nvPr/>
        </p:nvSpPr>
        <p:spPr>
          <a:xfrm>
            <a:off x="2053118" y="692696"/>
            <a:ext cx="81988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ГРАДИЕНТНЫЕ МЕТОДЫ В ИСКУССТВЕННЫХ НЕЙРОННЫХ СЕТЯХ</a:t>
            </a:r>
            <a:endParaRPr lang="ru-RU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Объект 2">
                <a:extLst>
                  <a:ext uri="{FF2B5EF4-FFF2-40B4-BE49-F238E27FC236}">
                    <a16:creationId xmlns:a16="http://schemas.microsoft.com/office/drawing/2014/main" id="{88CB823A-B60F-4065-BB8A-41753101885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070764" y="1878451"/>
                <a:ext cx="7886700" cy="3263504"/>
              </a:xfrm>
              <a:prstGeom prst="rect">
                <a:avLst/>
              </a:prstGeom>
            </p:spPr>
            <p:txBody>
              <a:bodyPr>
                <a:normAutofit fontScale="92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Введем следующие обозначения: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ru-RU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переменные оптимизации (веса синапсов искусственных нейронов, т.е.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𝑊</m:t>
                    </m:r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в</m:t>
                    </m:r>
                  </m:oMath>
                </a14:m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обозначениях на рисунке)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ru-RU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a:rPr lang="ru-RU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sSup>
                      <m:sSupPr>
                        <m:ctrlPr>
                          <a:rPr lang="ru-RU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sup>
                    </m:sSup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</m:oMath>
                </a14:m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где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</m:oMath>
                </a14:m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</a:t>
                </a:r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размерность вектора оптимизации.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𝐽</m:t>
                    </m:r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– </a:t>
                </a:r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целевая функция (функция ошибки или «потери»</a:t>
                </a:r>
                <a:endParaRPr lang="en-US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r>
                      <a:rPr lang="ru-RU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𝑊</m:t>
                    </m:r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</a:t>
                </a:r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 обозначениях на рисунке).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u-RU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∇</m:t>
                        </m:r>
                      </m:e>
                      <m:sub>
                        <m:r>
                          <a:rPr lang="ru-RU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𝐽</m:t>
                    </m:r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m:rPr>
                        <m:nor/>
                      </m:rPr>
                      <a:rPr lang="en-US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градиент целевой функции.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ru-RU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𝜂</m:t>
                    </m:r>
                  </m:oMath>
                </a14:m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коэффициент обучения, определяющий величину шага в направлении локального минимума.</a:t>
                </a:r>
              </a:p>
              <a:p>
                <a:pPr marL="0" indent="0">
                  <a:buNone/>
                </a:pPr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Выделим три основных варианта градиентного спуска. </a:t>
                </a:r>
              </a:p>
              <a:p>
                <a:pPr marL="0" indent="0">
                  <a:buNone/>
                </a:pPr>
                <a:endParaRPr lang="ru-RU" sz="2100" dirty="0"/>
              </a:p>
            </p:txBody>
          </p:sp>
        </mc:Choice>
        <mc:Fallback xmlns="">
          <p:sp>
            <p:nvSpPr>
              <p:cNvPr id="4" name="Объект 2">
                <a:extLst>
                  <a:ext uri="{FF2B5EF4-FFF2-40B4-BE49-F238E27FC236}">
                    <a16:creationId xmlns:a16="http://schemas.microsoft.com/office/drawing/2014/main" id="{88CB823A-B60F-4065-BB8A-4175310188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0764" y="1878451"/>
                <a:ext cx="7886700" cy="3263504"/>
              </a:xfrm>
              <a:prstGeom prst="rect">
                <a:avLst/>
              </a:prstGeom>
              <a:blipFill>
                <a:blip r:embed="rId2"/>
                <a:stretch>
                  <a:fillRect l="-773" t="-3364" r="-139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11632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F6A7B5-F632-4DD4-8412-EEF352CE4626}"/>
              </a:ext>
            </a:extLst>
          </p:cNvPr>
          <p:cNvSpPr txBox="1"/>
          <p:nvPr/>
        </p:nvSpPr>
        <p:spPr>
          <a:xfrm>
            <a:off x="1996555" y="1082121"/>
            <a:ext cx="81988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ГРАДИЕНТНЫЕ МЕТОДЫ В ИСКУССТВЕННЫХ НЕЙРОННЫХ СЕТЯХ</a:t>
            </a:r>
            <a:endParaRPr lang="ru-RU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2A8A58A-D964-4F72-BEE9-002A70D7204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52649" y="2246940"/>
                <a:ext cx="7886700" cy="3263504"/>
              </a:xfrm>
              <a:prstGeom prst="rect">
                <a:avLst/>
              </a:prstGeom>
            </p:spPr>
            <p:txBody>
              <a:bodyPr>
                <a:normAutofit fontScale="85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2925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Batch gradient descent</a:t>
                </a:r>
                <a:r>
                  <a:rPr lang="ru-RU" sz="2925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ru-RU" sz="2925" b="1" i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ru-RU" sz="2925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a:rPr lang="en-US" sz="2925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ru-RU" sz="2925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2925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ru-RU" sz="292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925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2925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𝜂</m:t>
                        </m:r>
                        <m:r>
                          <m:rPr>
                            <m:nor/>
                          </m:rPr>
                          <a:rPr lang="ru-RU" sz="2925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ru-RU" sz="2925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∇</m:t>
                        </m:r>
                      </m:e>
                      <m:sub>
                        <m:r>
                          <a:rPr lang="ru-RU" sz="2925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sub>
                    </m:sSub>
                    <m:r>
                      <a:rPr lang="en-US" sz="2925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𝐽</m:t>
                    </m:r>
                    <m:r>
                      <a:rPr lang="en-US" sz="2925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2925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m:rPr>
                        <m:nor/>
                      </m:rPr>
                      <a:rPr lang="en-US" sz="2925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endParaRPr lang="ru-RU" sz="2925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225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Градиентный метод, который рассчитан на вычисление градиента для </a:t>
                </a:r>
                <a:r>
                  <a:rPr lang="ru-RU" sz="225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всего набора данных (выборке  - </a:t>
                </a:r>
                <a:r>
                  <a:rPr lang="en-US" sz="225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batch)</a:t>
                </a:r>
                <a:r>
                  <a:rPr lang="ru-RU" sz="225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0" indent="0">
                  <a:buNone/>
                </a:pPr>
                <a:r>
                  <a:rPr lang="ru-RU" sz="225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Применение этого метода обладает следующими особенностями: </a:t>
                </a:r>
              </a:p>
              <a:p>
                <a:pPr marL="385763" indent="-385763">
                  <a:buAutoNum type="arabicParenR"/>
                </a:pPr>
                <a:r>
                  <a:rPr lang="ru-RU" sz="225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Требует достаточно большого объема памяти.</a:t>
                </a:r>
              </a:p>
              <a:p>
                <a:pPr marL="385763" indent="-385763">
                  <a:buAutoNum type="arabicParenR"/>
                </a:pPr>
                <a:r>
                  <a:rPr lang="ru-RU" sz="225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Обладает низкой скоростью сходимости.</a:t>
                </a:r>
              </a:p>
              <a:p>
                <a:pPr marL="385763" indent="-385763">
                  <a:buAutoNum type="arabicParenR"/>
                </a:pPr>
                <a:r>
                  <a:rPr lang="ru-RU" sz="225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Низкой точностью.</a:t>
                </a:r>
              </a:p>
              <a:p>
                <a:pPr marL="0" indent="0">
                  <a:buNone/>
                </a:pPr>
                <a:endParaRPr lang="ru-RU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ru-RU" sz="21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2A8A58A-D964-4F72-BEE9-002A70D720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2649" y="2246940"/>
                <a:ext cx="7886700" cy="3263504"/>
              </a:xfrm>
              <a:prstGeom prst="rect">
                <a:avLst/>
              </a:prstGeom>
              <a:blipFill>
                <a:blip r:embed="rId2"/>
                <a:stretch>
                  <a:fillRect l="-696" t="-486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33388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AC104E-2898-49A7-A874-B62EFF445A3F}"/>
              </a:ext>
            </a:extLst>
          </p:cNvPr>
          <p:cNvSpPr txBox="1">
            <a:spLocks/>
          </p:cNvSpPr>
          <p:nvPr/>
        </p:nvSpPr>
        <p:spPr>
          <a:xfrm>
            <a:off x="2152650" y="1091906"/>
            <a:ext cx="7886700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ru-RU" sz="27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B5263E-1085-4898-85D4-DDABA6B9AC04}"/>
              </a:ext>
            </a:extLst>
          </p:cNvPr>
          <p:cNvSpPr txBox="1"/>
          <p:nvPr/>
        </p:nvSpPr>
        <p:spPr>
          <a:xfrm>
            <a:off x="1996555" y="1082121"/>
            <a:ext cx="81988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ГРАДИЕНТНЫЕ МЕТОДЫ В ИСКУССТВЕННЫХ НЕЙРОННЫХ СЕТЯХ</a:t>
            </a:r>
            <a:endParaRPr lang="ru-RU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Объект 2">
                <a:extLst>
                  <a:ext uri="{FF2B5EF4-FFF2-40B4-BE49-F238E27FC236}">
                    <a16:creationId xmlns:a16="http://schemas.microsoft.com/office/drawing/2014/main" id="{9D6DCD5D-F9F0-410E-B26A-14A21DDF754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52649" y="2246940"/>
                <a:ext cx="7886700" cy="3263504"/>
              </a:xfrm>
              <a:prstGeom prst="rect">
                <a:avLst/>
              </a:prstGeom>
            </p:spPr>
            <p:txBody>
              <a:bodyPr>
                <a:normAutofit fontScale="25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9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Stochastic gradient descent</a:t>
                </a:r>
                <a:r>
                  <a:rPr lang="ru-RU" sz="9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en-US" sz="9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SGD)</a:t>
                </a:r>
                <a:endParaRPr lang="ru-RU" sz="9600" b="1" i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ru-RU" sz="9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a:rPr lang="en-US" sz="9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ru-RU" sz="96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9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ru-RU" sz="9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9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9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𝜂</m:t>
                        </m:r>
                        <m:r>
                          <m:rPr>
                            <m:nor/>
                          </m:rPr>
                          <a:rPr lang="ru-RU" sz="96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ru-RU" sz="9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∇</m:t>
                        </m:r>
                      </m:e>
                      <m:sub>
                        <m:r>
                          <a:rPr lang="ru-RU" sz="9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sub>
                    </m:sSub>
                    <m:r>
                      <a:rPr lang="en-US" sz="9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𝐽</m:t>
                    </m:r>
                    <m:r>
                      <a:rPr lang="en-US" sz="9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9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a:rPr lang="en-US" sz="9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;</m:t>
                    </m:r>
                    <m:sSup>
                      <m:sSupPr>
                        <m:ctrlPr>
                          <a:rPr lang="en-US" sz="9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9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d>
                          <m:dPr>
                            <m:ctrlPr>
                              <a:rPr lang="en-US" sz="9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9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e>
                        </m:d>
                      </m:sup>
                    </m:sSup>
                    <m:r>
                      <a:rPr lang="en-US" sz="9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;</m:t>
                    </m:r>
                    <m:sSup>
                      <m:sSupPr>
                        <m:ctrlPr>
                          <a:rPr lang="en-US" sz="9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9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9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9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9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nor/>
                      </m:rPr>
                      <a:rPr lang="en-US" sz="9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endParaRPr lang="ru-RU" sz="960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72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В отличии от традиционного градиентного метода, метод стохастического градиента позволяет обрабатывать за одну итерацию относительно </a:t>
                </a:r>
                <a:r>
                  <a:rPr lang="ru-RU" sz="720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небольшой набор обучающих данных и</a:t>
                </a:r>
                <a:r>
                  <a:rPr lang="ru-RU" sz="72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з </a:t>
                </a:r>
                <a:r>
                  <a:rPr lang="ru-RU" sz="720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всего набора данных </a:t>
                </a:r>
                <a:r>
                  <a:rPr lang="en-US" sz="720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ru-RU" sz="720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выборки - </a:t>
                </a:r>
                <a:r>
                  <a:rPr lang="en-US" sz="720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batch)</a:t>
                </a:r>
                <a:r>
                  <a:rPr lang="ru-RU" sz="72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0" indent="0">
                  <a:buNone/>
                </a:pPr>
                <a:r>
                  <a:rPr lang="ru-RU" sz="7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Применение этого метода позволяет избежать недостатки традиционного градиентного метода: </a:t>
                </a:r>
              </a:p>
              <a:p>
                <a:pPr marL="385763" indent="-385763">
                  <a:buAutoNum type="arabicParenR"/>
                </a:pPr>
                <a:r>
                  <a:rPr lang="ru-RU" sz="7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Требуется значительно меньше необходимого объема памяти.</a:t>
                </a:r>
              </a:p>
              <a:p>
                <a:pPr marL="385763" indent="-385763">
                  <a:buAutoNum type="arabicParenR"/>
                </a:pPr>
                <a:r>
                  <a:rPr lang="ru-RU" sz="7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Повышается скорость сходимости.</a:t>
                </a:r>
              </a:p>
              <a:p>
                <a:pPr marL="385763" indent="-385763">
                  <a:buAutoNum type="arabicParenR"/>
                </a:pPr>
                <a:r>
                  <a:rPr lang="ru-RU" sz="7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Увеличивается робастность к </a:t>
                </a:r>
                <a:r>
                  <a:rPr lang="ru-RU" sz="7200" dirty="0" err="1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невыпуклости</a:t>
                </a:r>
                <a:r>
                  <a:rPr lang="ru-RU" sz="7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целевых функций.</a:t>
                </a:r>
              </a:p>
              <a:p>
                <a:pPr marL="385763" indent="-385763">
                  <a:buAutoNum type="arabicParenR"/>
                </a:pPr>
                <a:r>
                  <a:rPr lang="ru-RU" sz="7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Возможна оптимизация многоэкстремальных целевых функций.</a:t>
                </a:r>
              </a:p>
              <a:p>
                <a:pPr marL="0" indent="0">
                  <a:buNone/>
                </a:pPr>
                <a:endParaRPr lang="ru-RU" sz="7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7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ru-RU" sz="7200" dirty="0"/>
              </a:p>
            </p:txBody>
          </p:sp>
        </mc:Choice>
        <mc:Fallback xmlns="">
          <p:sp>
            <p:nvSpPr>
              <p:cNvPr id="4" name="Объект 2">
                <a:extLst>
                  <a:ext uri="{FF2B5EF4-FFF2-40B4-BE49-F238E27FC236}">
                    <a16:creationId xmlns:a16="http://schemas.microsoft.com/office/drawing/2014/main" id="{9D6DCD5D-F9F0-410E-B26A-14A21DDF75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2649" y="2246940"/>
                <a:ext cx="7886700" cy="3263504"/>
              </a:xfrm>
              <a:prstGeom prst="rect">
                <a:avLst/>
              </a:prstGeom>
              <a:blipFill>
                <a:blip r:embed="rId2"/>
                <a:stretch>
                  <a:fillRect l="-618" t="-4486" b="-84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67564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AB21A6-2507-4951-8F98-98429DF5F4FC}"/>
              </a:ext>
            </a:extLst>
          </p:cNvPr>
          <p:cNvSpPr txBox="1"/>
          <p:nvPr/>
        </p:nvSpPr>
        <p:spPr>
          <a:xfrm>
            <a:off x="1996555" y="1082121"/>
            <a:ext cx="81988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ГРАДИЕНТНЫЕ МЕТОДЫ В ИСКУССТВЕННЫХ НЕЙРОННЫХ СЕТЯХ</a:t>
            </a:r>
            <a:endParaRPr lang="ru-RU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3DFF056-614D-461F-8D5A-A4C64CB879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5135" y="1975270"/>
            <a:ext cx="7240088" cy="3369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F8E71A8-3A0D-448D-94BA-005CB3680B83}"/>
              </a:ext>
            </a:extLst>
          </p:cNvPr>
          <p:cNvSpPr txBox="1"/>
          <p:nvPr/>
        </p:nvSpPr>
        <p:spPr>
          <a:xfrm>
            <a:off x="1996554" y="5414409"/>
            <a:ext cx="819889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100" dirty="0">
                <a:solidFill>
                  <a:srgbClr val="2021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Флуктуации целевой функции в процессе работы алгоритма</a:t>
            </a:r>
            <a:endParaRPr lang="ru-RU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60646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4D9B666-6A30-4FAC-9702-1CF61C79CD4E}"/>
              </a:ext>
            </a:extLst>
          </p:cNvPr>
          <p:cNvSpPr txBox="1"/>
          <p:nvPr/>
        </p:nvSpPr>
        <p:spPr>
          <a:xfrm>
            <a:off x="1996555" y="1082121"/>
            <a:ext cx="81988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ГРАДИЕНТНЫЕ МЕТОДЫ В ИСКУССТВЕННЫХ НЕЙРОННЫХ СЕТЯХ</a:t>
            </a:r>
            <a:endParaRPr lang="ru-RU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7E9EB55-BF3A-4BE8-B27F-FED1132BCD5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52649" y="2246941"/>
                <a:ext cx="7886700" cy="3761973"/>
              </a:xfrm>
              <a:prstGeom prst="rect">
                <a:avLst/>
              </a:prstGeom>
            </p:spPr>
            <p:txBody>
              <a:bodyPr>
                <a:normAutofit fontScale="25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9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Mini-batch gradient descent</a:t>
                </a:r>
                <a:endParaRPr lang="ru-RU" sz="9600" b="1" i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ru-RU" sz="8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a:rPr lang="en-US" sz="8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ru-RU" sz="84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8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ru-RU" sz="8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𝜂</m:t>
                        </m:r>
                        <m:r>
                          <m:rPr>
                            <m:nor/>
                          </m:rPr>
                          <a:rPr lang="ru-RU" sz="8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ru-RU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∇</m:t>
                        </m:r>
                      </m:e>
                      <m:sub>
                        <m:r>
                          <a:rPr lang="ru-RU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sub>
                    </m:sSub>
                    <m:r>
                      <a:rPr lang="en-US" sz="8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𝐽</m:t>
                    </m:r>
                    <m:r>
                      <a:rPr lang="en-US" sz="8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8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a:rPr lang="en-US" sz="8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;</m:t>
                    </m:r>
                    <m:sSup>
                      <m:sSupPr>
                        <m:ctrlP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d>
                          <m:dPr>
                            <m:ctrlPr>
                              <a:rPr lang="en-US" sz="8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8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en-US" sz="8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:</m:t>
                            </m:r>
                            <m:r>
                              <a:rPr lang="en-US" sz="8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en-US" sz="8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a:rPr lang="en-US" sz="8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</m:d>
                      </m:sup>
                    </m:sSup>
                    <m:r>
                      <a:rPr lang="en-US" sz="8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;</m:t>
                    </m:r>
                    <m:sSup>
                      <m:sSupPr>
                        <m:ctrlP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:</m:t>
                        </m:r>
                        <m: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nor/>
                      </m:rPr>
                      <a:rPr lang="en-US" sz="8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endParaRPr lang="ru-RU" sz="840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720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За каждую эпоху отбирается </a:t>
                </a:r>
                <a:r>
                  <a:rPr lang="en-US" sz="720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72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𝒏</m:t>
                    </m:r>
                    <m:r>
                      <a:rPr lang="en-US" sz="72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720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данных  (</a:t>
                </a:r>
                <a14:m>
                  <m:oMath xmlns:m="http://schemas.openxmlformats.org/officeDocument/2006/math">
                    <m:r>
                      <a:rPr lang="en-US" sz="72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𝒏</m:t>
                    </m:r>
                    <m:r>
                      <a:rPr lang="en-US" sz="72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72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𝟓𝟎</m:t>
                    </m:r>
                    <m:r>
                      <a:rPr lang="en-US" sz="72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ru-RU" sz="72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𝟐𝟓</m:t>
                    </m:r>
                    <m:r>
                      <a:rPr lang="en-US" sz="72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  <m:r>
                      <a:rPr lang="en-US" sz="72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r>
                  <a:rPr lang="ru-RU" sz="720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небольшой набор обучающих данных и</a:t>
                </a:r>
                <a:r>
                  <a:rPr lang="ru-RU" sz="72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з </a:t>
                </a:r>
                <a:r>
                  <a:rPr lang="ru-RU" sz="720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всего набора данных </a:t>
                </a:r>
                <a:r>
                  <a:rPr lang="en-US" sz="720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ru-RU" sz="720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выборки - </a:t>
                </a:r>
                <a:r>
                  <a:rPr lang="en-US" sz="720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batch)</a:t>
                </a:r>
                <a:r>
                  <a:rPr lang="ru-RU" sz="72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0" indent="0">
                  <a:buNone/>
                </a:pPr>
                <a:r>
                  <a:rPr lang="ru-RU" sz="7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Применение этого метода дает следующие преимущества: </a:t>
                </a:r>
              </a:p>
              <a:p>
                <a:pPr marL="385763" indent="-385763">
                  <a:buAutoNum type="arabicParenR"/>
                </a:pPr>
                <a:r>
                  <a:rPr lang="ru-RU" sz="7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Уменьшает дисперсию разброса параметров что ведет к более устойчивой сходимости.</a:t>
                </a:r>
              </a:p>
              <a:p>
                <a:pPr marL="385763" indent="-385763">
                  <a:buAutoNum type="arabicParenR"/>
                </a:pPr>
                <a:r>
                  <a:rPr lang="ru-RU" sz="7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Позволяет использовать матричные и тензорные операции, входящие в состав современных  библиотек методов глубокого обучения (смотри слайд 28).</a:t>
                </a:r>
              </a:p>
              <a:p>
                <a:pPr marL="0" indent="0">
                  <a:buNone/>
                </a:pPr>
                <a:r>
                  <a:rPr lang="ru-RU" sz="7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Все это делает использование </a:t>
                </a:r>
                <a:r>
                  <a:rPr lang="en-US" sz="7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SGD </a:t>
                </a:r>
                <a:r>
                  <a:rPr lang="ru-RU" sz="7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на </a:t>
                </a:r>
                <a:r>
                  <a:rPr lang="ru-RU" sz="7200" dirty="0" err="1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минибатчах</a:t>
                </a:r>
                <a:r>
                  <a:rPr lang="ru-RU" sz="7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очень эффективными для решения задач по глубокому обучению.</a:t>
                </a:r>
              </a:p>
              <a:p>
                <a:pPr marL="0" indent="0" algn="ctr">
                  <a:buNone/>
                </a:pPr>
                <a:r>
                  <a:rPr lang="ru-RU" sz="8400" b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Далее мы рассмотрим дальнейшее развитие методов </a:t>
                </a:r>
                <a:r>
                  <a:rPr lang="en-US" sz="8400" b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SGD.</a:t>
                </a:r>
                <a:endParaRPr lang="ru-RU" sz="84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7E9EB55-BF3A-4BE8-B27F-FED1132BCD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2649" y="2246941"/>
                <a:ext cx="7886700" cy="3761973"/>
              </a:xfrm>
              <a:prstGeom prst="rect">
                <a:avLst/>
              </a:prstGeom>
              <a:blipFill>
                <a:blip r:embed="rId2"/>
                <a:stretch>
                  <a:fillRect l="-618" t="-3890" r="-46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05193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B5D23A-5C1D-47E2-9911-D34A98CF6747}"/>
              </a:ext>
            </a:extLst>
          </p:cNvPr>
          <p:cNvSpPr txBox="1"/>
          <p:nvPr/>
        </p:nvSpPr>
        <p:spPr>
          <a:xfrm>
            <a:off x="1996555" y="1082121"/>
            <a:ext cx="81988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ГРАДИЕНТНЫЕ МЕТОДЫ В ИСКУССТВЕННЫХ НЕЙРОННЫХ СЕТЯХ</a:t>
            </a:r>
            <a:endParaRPr lang="ru-RU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37680D5-D895-4DF6-B85E-6C0B213D801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52649" y="2246940"/>
                <a:ext cx="7886700" cy="3625862"/>
              </a:xfrm>
              <a:prstGeom prst="rect">
                <a:avLst/>
              </a:prstGeom>
            </p:spPr>
            <p:txBody>
              <a:bodyPr>
                <a:normAutofit fontScale="25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9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Momentum</a:t>
                </a:r>
                <a:endParaRPr lang="ru-RU" sz="9600" b="1" i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sz="8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  <m:r>
                      <a:rPr lang="en-US" sz="8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ru-RU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𝜂</m:t>
                        </m:r>
                        <m:r>
                          <m:rPr>
                            <m:nor/>
                          </m:rPr>
                          <a:rPr lang="ru-RU" sz="8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ru-RU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∇</m:t>
                        </m:r>
                      </m:e>
                      <m:sub>
                        <m:r>
                          <a:rPr lang="ru-RU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sub>
                    </m:sSub>
                    <m:r>
                      <a:rPr lang="en-US" sz="8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𝐽</m:t>
                    </m:r>
                    <m:r>
                      <a:rPr lang="en-US" sz="8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8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en-US" sz="8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ru-RU" sz="8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a:rPr lang="en-US" sz="8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ru-RU" sz="84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8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ru-RU" sz="8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ru-RU" sz="840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84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Этот метод, применительно к </a:t>
                </a:r>
                <a:r>
                  <a:rPr lang="en-US" sz="84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SGD</a:t>
                </a:r>
                <a:r>
                  <a:rPr lang="ru-RU" sz="84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позволяет преодолевать овраги.</a:t>
                </a:r>
                <a:r>
                  <a:rPr lang="en-US" sz="84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84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Кроме того, он позволяет увеличить скорость сходимости алгоритмов </a:t>
                </a:r>
                <a:r>
                  <a:rPr lang="en-US" sz="84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SGD</a:t>
                </a:r>
                <a:r>
                  <a:rPr lang="ru-RU" sz="84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ru-RU" sz="84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Метод моментов был предложен в 1964 году Б.Т. Поляком.</a:t>
                </a:r>
                <a:endParaRPr lang="en-US" sz="84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84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Другое название этого метода - «метод тяжелого шарика». Он рассматривался нами раньше в лекции посвященной многоэкстремальной оптимизации. </a:t>
                </a:r>
              </a:p>
              <a:p>
                <a:pPr marL="0" indent="0">
                  <a:buNone/>
                </a:pPr>
                <a:r>
                  <a:rPr lang="ru-RU" sz="84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В 1986 году этот метод был использован  Джеффри Хинтоном и Дэвидом </a:t>
                </a:r>
                <a:r>
                  <a:rPr lang="ru-RU" sz="8400" dirty="0" err="1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Руммельхартом</a:t>
                </a:r>
                <a:r>
                  <a:rPr lang="ru-RU" sz="84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для обучения нейронных сетей методом обратного распространения ошибки.</a:t>
                </a:r>
              </a:p>
              <a:p>
                <a:pPr marL="0" indent="0">
                  <a:buNone/>
                </a:pPr>
                <a:endParaRPr lang="en-US" sz="84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sz="84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37680D5-D895-4DF6-B85E-6C0B213D80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2649" y="2246940"/>
                <a:ext cx="7886700" cy="3625862"/>
              </a:xfrm>
              <a:prstGeom prst="rect">
                <a:avLst/>
              </a:prstGeom>
              <a:blipFill>
                <a:blip r:embed="rId2"/>
                <a:stretch>
                  <a:fillRect l="-927" t="-4040" b="-841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13308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6EA6D89-E184-49DB-BEF6-99B68BFBE3DE}"/>
              </a:ext>
            </a:extLst>
          </p:cNvPr>
          <p:cNvSpPr txBox="1"/>
          <p:nvPr/>
        </p:nvSpPr>
        <p:spPr>
          <a:xfrm>
            <a:off x="1996555" y="1082121"/>
            <a:ext cx="81988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ГРАДИЕНТНЫЕ МЕТОДЫ В ИСКУССТВЕННЫХ НЕЙРОННЫХ СЕТЯХ</a:t>
            </a:r>
            <a:endParaRPr lang="ru-RU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7B7291B-D3FC-48A0-90EB-FC4FEDF357EE}"/>
              </a:ext>
            </a:extLst>
          </p:cNvPr>
          <p:cNvSpPr txBox="1">
            <a:spLocks/>
          </p:cNvSpPr>
          <p:nvPr/>
        </p:nvSpPr>
        <p:spPr>
          <a:xfrm>
            <a:off x="2152649" y="2246941"/>
            <a:ext cx="7886700" cy="3528939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sz="30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Адаптивные методы</a:t>
            </a:r>
          </a:p>
          <a:p>
            <a:pPr marL="557213" indent="-557213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NAG. (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Nesterov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accelerated gradient</a:t>
            </a:r>
            <a:r>
              <a:rPr lang="en-US" sz="24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)</a:t>
            </a:r>
          </a:p>
          <a:p>
            <a:pPr marL="557213" indent="-557213">
              <a:buFont typeface="+mj-lt"/>
              <a:buAutoNum type="arabicPeriod"/>
            </a:pPr>
            <a:r>
              <a:rPr lang="en-US" sz="2400" b="1" dirty="0" err="1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Adagrad</a:t>
            </a:r>
            <a:r>
              <a:rPr lang="en-US" sz="24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. (Adapted gradient)</a:t>
            </a:r>
          </a:p>
          <a:p>
            <a:pPr marL="557213" indent="-557213">
              <a:buFont typeface="+mj-lt"/>
              <a:buAutoNum type="arabicPeriod"/>
            </a:pPr>
            <a:r>
              <a:rPr lang="en-US" sz="2400" b="1" dirty="0" err="1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Adadelta</a:t>
            </a:r>
            <a:r>
              <a:rPr lang="en-US" sz="24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. (E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xtension of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Adagrad</a:t>
            </a:r>
            <a:r>
              <a:rPr lang="en-US" sz="24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)</a:t>
            </a:r>
          </a:p>
          <a:p>
            <a:pPr marL="557213" indent="-557213">
              <a:buFont typeface="+mj-lt"/>
              <a:buAutoNum type="arabicPeriod"/>
            </a:pPr>
            <a:r>
              <a:rPr lang="en-US" sz="2400" b="1" dirty="0" err="1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RMSProp</a:t>
            </a:r>
            <a:r>
              <a:rPr lang="en-US" sz="24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. (A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daptive Root Mean Squared)</a:t>
            </a:r>
            <a:endParaRPr lang="en-US" sz="2400" b="1" dirty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557213" indent="-557213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Adam. (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moment estimation)</a:t>
            </a:r>
            <a:endParaRPr lang="en-US" sz="2400" b="1" dirty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557213" indent="-557213">
              <a:buFont typeface="+mj-lt"/>
              <a:buAutoNum type="arabicPeriod"/>
            </a:pPr>
            <a:r>
              <a:rPr lang="en-US" sz="2400" b="1" dirty="0" err="1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AdaMax</a:t>
            </a:r>
            <a:r>
              <a:rPr lang="en-US" sz="24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. (Modification Adam)</a:t>
            </a:r>
          </a:p>
          <a:p>
            <a:pPr marL="557213" indent="-557213">
              <a:buFont typeface="+mj-lt"/>
              <a:buAutoNum type="arabicPeriod"/>
            </a:pPr>
            <a:r>
              <a:rPr lang="en-US" sz="2400" b="1" dirty="0" err="1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Nadam</a:t>
            </a:r>
            <a:r>
              <a:rPr lang="en-US" sz="24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. (</a:t>
            </a:r>
            <a:r>
              <a:rPr lang="en-US" sz="2400" b="1" dirty="0" err="1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Nesterov</a:t>
            </a:r>
            <a:r>
              <a:rPr lang="en-US" sz="24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modification Adam)</a:t>
            </a:r>
          </a:p>
          <a:p>
            <a:pPr marL="557213" indent="-557213">
              <a:buFont typeface="+mj-lt"/>
              <a:buAutoNum type="arabicPeriod"/>
            </a:pPr>
            <a:endParaRPr lang="en-US" sz="2400" b="1" dirty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557213" indent="-557213">
              <a:buFont typeface="+mj-lt"/>
              <a:buAutoNum type="arabicPeriod"/>
            </a:pPr>
            <a:endParaRPr lang="ru-RU" sz="3000" b="1" dirty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7200" dirty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8400" b="1" dirty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76587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22CDAB-487D-4561-A49F-182E5F086669}"/>
              </a:ext>
            </a:extLst>
          </p:cNvPr>
          <p:cNvSpPr txBox="1"/>
          <p:nvPr/>
        </p:nvSpPr>
        <p:spPr>
          <a:xfrm>
            <a:off x="1996555" y="1082121"/>
            <a:ext cx="81988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ГРАДИЕНТНЫЕ МЕТОДЫ В ИСКУССТВЕННЫХ НЕЙРОННЫХ СЕТЯХ</a:t>
            </a:r>
            <a:endParaRPr lang="ru-RU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F78415B-D12D-4F8C-914E-8BBE2AECF8D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52649" y="2246941"/>
                <a:ext cx="7886700" cy="3528939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2400" b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NAG. (</a:t>
                </a:r>
                <a:r>
                  <a:rPr lang="en-US" sz="2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Nesterov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accelerated gradient</a:t>
                </a:r>
                <a:r>
                  <a:rPr lang="en-US" sz="2400" b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𝜂</m:t>
                        </m:r>
                        <m:r>
                          <m:rPr>
                            <m:nor/>
                          </m:rPr>
                          <a:rPr lang="ru-RU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∇</m:t>
                        </m:r>
                      </m:e>
                      <m:sub>
                        <m: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𝐽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𝛾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ru-RU" sz="24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ru-RU" sz="240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en-US" sz="24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557213" indent="-557213">
                  <a:buFont typeface="+mj-lt"/>
                  <a:buAutoNum type="arabicPeriod"/>
                </a:pPr>
                <a:endParaRPr lang="ru-RU" sz="30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72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sz="84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F78415B-D12D-4F8C-914E-8BBE2AECF8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2649" y="2246941"/>
                <a:ext cx="7886700" cy="3528939"/>
              </a:xfrm>
              <a:prstGeom prst="rect">
                <a:avLst/>
              </a:prstGeom>
              <a:blipFill>
                <a:blip r:embed="rId2"/>
                <a:stretch>
                  <a:fillRect t="-24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1964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22CDAB-487D-4561-A49F-182E5F086669}"/>
              </a:ext>
            </a:extLst>
          </p:cNvPr>
          <p:cNvSpPr txBox="1"/>
          <p:nvPr/>
        </p:nvSpPr>
        <p:spPr>
          <a:xfrm>
            <a:off x="1996555" y="1082121"/>
            <a:ext cx="81988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ГРАДИЕНТНЫЕ МЕТОДЫ В ИСКУССТВЕННЫХ НЕЙРОННЫХ СЕТЯХ</a:t>
            </a:r>
            <a:endParaRPr lang="ru-RU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F78415B-D12D-4F8C-914E-8BBE2AECF8D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52649" y="2246941"/>
                <a:ext cx="7886700" cy="3528939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2400" b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Adagrad. (Adapted gradient)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ru-RU" sz="24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ru-RU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∇</m:t>
                        </m:r>
                      </m:e>
                      <m:sub>
                        <m:sSub>
                          <m:sSubPr>
                            <m:ctrlPr>
                              <a:rPr lang="ru-RU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ru-RU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𝐽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ru-RU" sz="240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+1,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𝜂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𝑖𝑖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𝜀</m:t>
                              </m:r>
                            </m:e>
                          </m:rad>
                        </m:den>
                      </m:f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ru-RU" sz="240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ru-RU" sz="240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en-US" sz="24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557213" indent="-557213">
                  <a:buFont typeface="+mj-lt"/>
                  <a:buAutoNum type="arabicPeriod"/>
                </a:pPr>
                <a:endParaRPr lang="ru-RU" sz="30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72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sz="84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F78415B-D12D-4F8C-914E-8BBE2AECF8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2649" y="2246941"/>
                <a:ext cx="7886700" cy="3528939"/>
              </a:xfrm>
              <a:prstGeom prst="rect">
                <a:avLst/>
              </a:prstGeom>
              <a:blipFill>
                <a:blip r:embed="rId2"/>
                <a:stretch>
                  <a:fillRect t="-24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37262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22CDAB-487D-4561-A49F-182E5F086669}"/>
              </a:ext>
            </a:extLst>
          </p:cNvPr>
          <p:cNvSpPr txBox="1"/>
          <p:nvPr/>
        </p:nvSpPr>
        <p:spPr>
          <a:xfrm>
            <a:off x="1996555" y="1082121"/>
            <a:ext cx="81988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700" b="1" dirty="0"/>
              <a:t>ГРАДИЕНТНЫЕ МЕТОДЫ В ИСКУССТВЕННЫХ НЕЙРОННЫХ СЕТЯХ</a:t>
            </a:r>
            <a:endParaRPr lang="ru-RU" sz="27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F78415B-D12D-4F8C-914E-8BBE2AECF8D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52649" y="2246941"/>
                <a:ext cx="7886700" cy="3528939"/>
              </a:xfrm>
              <a:prstGeom prst="rect">
                <a:avLst/>
              </a:prstGeom>
            </p:spPr>
            <p:txBody>
              <a:bodyPr>
                <a:normAutofit fontScale="925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2400" b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Adadelta. (E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xtension of </a:t>
                </a:r>
                <a:r>
                  <a:rPr lang="en-US" sz="2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Adagrad</a:t>
                </a:r>
                <a:r>
                  <a:rPr lang="en-US" sz="2400" b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∆</m:t>
                    </m:r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𝑅𝑀𝑆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∆</m:t>
                              </m:r>
                              <m:sSub>
                                <m:sSub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𝑅𝑀𝑆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𝑀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ru-RU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∆</m:t>
                            </m:r>
                            <m:sSub>
                              <m:sSubPr>
                                <m:ctrlPr>
                                  <a:rPr lang="ru-RU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𝛾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𝑀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ru-RU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∆</m:t>
                            </m:r>
                            <m:sSub>
                              <m:sSubPr>
                                <m:ctrlPr>
                                  <a:rPr lang="ru-RU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sz="24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+(1−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𝛾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sz="24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ru-RU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ru-RU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sz="240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𝑀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ru-RU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𝛾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𝑀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ru-RU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sz="24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+(1−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𝛾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sz="24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ru-RU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sz="2400" dirty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𝑅𝑀𝑆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ru-RU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𝑀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∆</m:t>
                                  </m:r>
                                  <m:sSub>
                                    <m:sSubPr>
                                      <m:ctrlPr>
                                        <a:rPr lang="ru-RU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𝜀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</m:e>
                      </m:rad>
                    </m:oMath>
                  </m:oMathPara>
                </a14:m>
                <a:endParaRPr lang="en-US" sz="24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𝑅𝑀𝑆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𝑀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𝑔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𝜀</m:t>
                          </m:r>
                        </m:e>
                      </m:rad>
                    </m:oMath>
                  </m:oMathPara>
                </a14:m>
                <a:endParaRPr lang="en-US" sz="24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825F15A7-03F4-43D7-82C5-3E23DA2F108C}" type="mathplaceholder"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.</a:t>
                      </a:fld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557213" indent="-557213">
                  <a:buFont typeface="+mj-lt"/>
                  <a:buAutoNum type="arabicPeriod"/>
                </a:pPr>
                <a:endParaRPr lang="ru-RU" sz="30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72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sz="84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F78415B-D12D-4F8C-914E-8BBE2AECF8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2649" y="2246941"/>
                <a:ext cx="7886700" cy="3528939"/>
              </a:xfrm>
              <a:prstGeom prst="rect">
                <a:avLst/>
              </a:prstGeom>
              <a:blipFill>
                <a:blip r:embed="rId2"/>
                <a:stretch>
                  <a:fillRect t="-311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54826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22CDAB-487D-4561-A49F-182E5F086669}"/>
              </a:ext>
            </a:extLst>
          </p:cNvPr>
          <p:cNvSpPr txBox="1"/>
          <p:nvPr/>
        </p:nvSpPr>
        <p:spPr>
          <a:xfrm>
            <a:off x="1996555" y="1082121"/>
            <a:ext cx="81988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ГРАДИЕНТНЫЕ МЕТОДЫ В ИСКУССТВЕННЫХ НЕЙРОННЫХ СЕТЯХ</a:t>
            </a:r>
            <a:endParaRPr lang="ru-RU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F78415B-D12D-4F8C-914E-8BBE2AECF8D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52649" y="2246941"/>
                <a:ext cx="7886700" cy="3528939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400" b="1" dirty="0"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RMSProp</m:t>
                      </m:r>
                      <m:r>
                        <m:rPr>
                          <m:nor/>
                        </m:rPr>
                        <a:rPr lang="en-US" sz="2400" b="1" dirty="0"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. (</m:t>
                      </m:r>
                      <m:r>
                        <m:rPr>
                          <m:nor/>
                        </m:rPr>
                        <a:rPr lang="en-US" sz="2400" b="1" dirty="0"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Adaptive</m:t>
                      </m:r>
                      <m:r>
                        <m:rPr>
                          <m:nor/>
                        </m:rP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Root</m:t>
                      </m:r>
                      <m:r>
                        <m:rPr>
                          <m:nor/>
                        </m:rP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Mean</m:t>
                      </m:r>
                      <m:r>
                        <m:rPr>
                          <m:nor/>
                        </m:rP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Squared</m:t>
                      </m:r>
                      <m:r>
                        <m:rPr>
                          <m:nor/>
                        </m:rP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𝜂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𝑀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𝑔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  <m:sup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𝜀</m:t>
                            </m:r>
                          </m:e>
                        </m:rad>
                      </m:den>
                    </m:f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𝑀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ru-RU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0.9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𝑀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ru-RU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sz="24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0.1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ru-RU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sz="2400" dirty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en-US" sz="24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en-US" sz="240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557213" indent="-557213">
                  <a:buFont typeface="+mj-lt"/>
                  <a:buAutoNum type="arabicPeriod"/>
                </a:pPr>
                <a:endParaRPr lang="ru-RU" sz="30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72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sz="84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F78415B-D12D-4F8C-914E-8BBE2AECF8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2649" y="2246941"/>
                <a:ext cx="7886700" cy="352893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48734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22CDAB-487D-4561-A49F-182E5F086669}"/>
              </a:ext>
            </a:extLst>
          </p:cNvPr>
          <p:cNvSpPr txBox="1"/>
          <p:nvPr/>
        </p:nvSpPr>
        <p:spPr>
          <a:xfrm>
            <a:off x="1996555" y="1082121"/>
            <a:ext cx="81988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ГРАДИЕНТНЫЕ МЕТОДЫ В ИСКУССТВЕННЫХ НЕЙРОННЫХ СЕТЯХ</a:t>
            </a:r>
            <a:endParaRPr lang="ru-RU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F78415B-D12D-4F8C-914E-8BBE2AECF8D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52649" y="2246941"/>
                <a:ext cx="7886700" cy="3528939"/>
              </a:xfrm>
              <a:prstGeom prst="rect">
                <a:avLst/>
              </a:prstGeom>
            </p:spPr>
            <p:txBody>
              <a:bodyPr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2400" b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Adam. (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Adaptive moment estimation)</a:t>
                </a:r>
                <a:endParaRPr lang="en-US" sz="24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𝜂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𝑣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𝜀</m:t>
                            </m:r>
                          </m:e>
                        </m:rad>
                      </m:den>
                    </m:f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𝑚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e>
                      <m:sub/>
                    </m:sSub>
                  </m:oMath>
                </a14:m>
                <a:r>
                  <a:rPr lang="en-US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+(1−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i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sz="24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sz="2400" dirty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+(1−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i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sz="24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sz="2400" dirty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e>
                    </m:acc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1−</m:t>
                        </m:r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p>
                        </m:sSubSup>
                      </m:den>
                    </m:f>
                  </m:oMath>
                </a14:m>
                <a:r>
                  <a:rPr lang="en-US" sz="24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e>
                    </m:acc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1−</m:t>
                        </m:r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p>
                        </m:sSubSup>
                      </m:den>
                    </m:f>
                  </m:oMath>
                </a14:m>
                <a:r>
                  <a:rPr lang="en-US" sz="24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=0.98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ctr">
                  <a:buNone/>
                </a:pPr>
                <a:endParaRPr lang="en-US" sz="2400" dirty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en-US" sz="2400" dirty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en-US" sz="2400" i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en-US" sz="240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557213" indent="-557213">
                  <a:buFont typeface="+mj-lt"/>
                  <a:buAutoNum type="arabicPeriod"/>
                </a:pPr>
                <a:endParaRPr lang="ru-RU" sz="30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72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sz="84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F78415B-D12D-4F8C-914E-8BBE2AECF8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2649" y="2246941"/>
                <a:ext cx="7886700" cy="3528939"/>
              </a:xfrm>
              <a:prstGeom prst="rect">
                <a:avLst/>
              </a:prstGeom>
              <a:blipFill>
                <a:blip r:embed="rId2"/>
                <a:stretch>
                  <a:fillRect t="-346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35999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22CDAB-487D-4561-A49F-182E5F086669}"/>
              </a:ext>
            </a:extLst>
          </p:cNvPr>
          <p:cNvSpPr txBox="1"/>
          <p:nvPr/>
        </p:nvSpPr>
        <p:spPr>
          <a:xfrm>
            <a:off x="1996555" y="1082121"/>
            <a:ext cx="81988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ГРАДИЕНТНЫЕ МЕТОДЫ В ИСКУССТВЕННЫХ НЕЙРОННЫХ СЕТЯХ</a:t>
            </a:r>
            <a:endParaRPr lang="ru-RU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F78415B-D12D-4F8C-914E-8BBE2AECF8D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52649" y="2246941"/>
                <a:ext cx="7886700" cy="3528939"/>
              </a:xfrm>
              <a:prstGeom prst="rect">
                <a:avLst/>
              </a:prstGeom>
            </p:spPr>
            <p:txBody>
              <a:bodyPr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2400" b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AdaMax. (Modification Adam)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</m:oMath>
                </a14:m>
                <a:r>
                  <a:rPr lang="en-US" sz="21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𝜂</m:t>
                        </m:r>
                      </m:num>
                      <m:den>
                        <m:sSub>
                          <m:sSubPr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den>
                    </m:f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1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+(1−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100" i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sz="21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sz="2100" dirty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+(1−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100" i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sz="21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sz="2100" dirty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e>
                    </m:acc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1−</m:t>
                        </m:r>
                        <m:sSubSup>
                          <m:sSubSupPr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p>
                        </m:sSubSup>
                      </m:den>
                    </m:f>
                  </m:oMath>
                </a14:m>
                <a:r>
                  <a:rPr lang="en-US" sz="21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e>
                    </m:acc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1−</m:t>
                        </m:r>
                        <m:sSubSup>
                          <m:sSubSupPr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p>
                        </m:sSubSup>
                      </m:den>
                    </m:f>
                  </m:oMath>
                </a14:m>
                <a:r>
                  <a:rPr lang="en-US" sz="21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𝑚𝑎𝑥</m:t>
                    </m:r>
                  </m:oMath>
                </a14:m>
                <a:r>
                  <a:rPr lang="en-US" sz="21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sz="21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,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1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1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1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sz="21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sz="21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sz="2100" dirty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𝜂</m:t>
                    </m:r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=0.002;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=0.9; 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=0.9</m:t>
                    </m:r>
                  </m:oMath>
                </a14:m>
                <a:r>
                  <a:rPr lang="en-US" sz="21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99.</a:t>
                </a:r>
              </a:p>
              <a:p>
                <a:pPr marL="0" indent="0" algn="ctr">
                  <a:buNone/>
                </a:pPr>
                <a:endParaRPr lang="en-US" sz="2400" dirty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en-US" sz="2400" dirty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en-US" sz="2400" i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en-US" sz="240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557213" indent="-557213">
                  <a:buFont typeface="+mj-lt"/>
                  <a:buAutoNum type="arabicPeriod"/>
                </a:pPr>
                <a:endParaRPr lang="ru-RU" sz="30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72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sz="84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F78415B-D12D-4F8C-914E-8BBE2AECF8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2649" y="2246941"/>
                <a:ext cx="7886700" cy="3528939"/>
              </a:xfrm>
              <a:prstGeom prst="rect">
                <a:avLst/>
              </a:prstGeom>
              <a:blipFill>
                <a:blip r:embed="rId2"/>
                <a:stretch>
                  <a:fillRect t="-3460" b="-12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81629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22CDAB-487D-4561-A49F-182E5F086669}"/>
              </a:ext>
            </a:extLst>
          </p:cNvPr>
          <p:cNvSpPr txBox="1"/>
          <p:nvPr/>
        </p:nvSpPr>
        <p:spPr>
          <a:xfrm>
            <a:off x="1996555" y="1082121"/>
            <a:ext cx="81988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ГРАДИЕНТНЫЕ МЕТОДЫ В ИСКУССТВЕННЫХ НЕЙРОННЫХ СЕТЯХ</a:t>
            </a:r>
            <a:endParaRPr lang="ru-RU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F78415B-D12D-4F8C-914E-8BBE2AECF8D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52649" y="1982369"/>
                <a:ext cx="7886700" cy="3793511"/>
              </a:xfrm>
              <a:prstGeom prst="rect">
                <a:avLst/>
              </a:prstGeom>
            </p:spPr>
            <p:txBody>
              <a:bodyPr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2625" b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Nadam. (</a:t>
                </a:r>
                <a:r>
                  <a:rPr lang="en-US" sz="2625" b="1" dirty="0" err="1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Nesterov</a:t>
                </a:r>
                <a:r>
                  <a:rPr lang="en-US" sz="2625" b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modification Adam)</a:t>
                </a:r>
              </a:p>
              <a:p>
                <a:pPr marL="0" indent="0" algn="ctr">
                  <a:buNone/>
                </a:pPr>
                <a:r>
                  <a:rPr lang="ru-RU" sz="210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Является комбинацией </a:t>
                </a:r>
                <a:r>
                  <a:rPr lang="en-US" sz="210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NAG </a:t>
                </a:r>
                <a:r>
                  <a:rPr lang="ru-RU" sz="210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и </a:t>
                </a:r>
                <a:r>
                  <a:rPr lang="en-US" sz="210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Adam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</m:oMath>
                </a14:m>
                <a:r>
                  <a:rPr lang="en-US" sz="21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𝜂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sz="2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21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1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𝑣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2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𝜀</m:t>
                            </m:r>
                          </m:e>
                        </m:rad>
                      </m:den>
                    </m:f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(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acc>
                      <m:accPr>
                        <m:chr m:val="̂"/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e>
                    </m:acc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</m:oMath>
                </a14:m>
                <a:r>
                  <a:rPr lang="en-US" sz="21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(1−</m:t>
                        </m:r>
                        <m:sSub>
                          <m:sSubPr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100" i="1" dirty="0"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n-US" sz="2100" dirty="0"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1−</m:t>
                        </m:r>
                        <m:sSubSup>
                          <m:sSubSupPr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p>
                        </m:sSubSup>
                      </m:den>
                    </m:f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1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+(1−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100" i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sz="21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sz="2100" dirty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+(1−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100" i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sz="21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sz="2100" dirty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e>
                    </m:acc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1−</m:t>
                        </m:r>
                        <m:sSubSup>
                          <m:sSubSupPr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p>
                        </m:sSubSup>
                      </m:den>
                    </m:f>
                  </m:oMath>
                </a14:m>
                <a:r>
                  <a:rPr lang="en-US" sz="21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e>
                    </m:acc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1−</m:t>
                        </m:r>
                        <m:sSubSup>
                          <m:sSubSupPr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p>
                        </m:sSubSup>
                      </m:den>
                    </m:f>
                  </m:oMath>
                </a14:m>
                <a:r>
                  <a:rPr lang="en-US" sz="21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𝜂</m:t>
                    </m:r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=0.002;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=0.9; 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=0.9</m:t>
                    </m:r>
                  </m:oMath>
                </a14:m>
                <a:r>
                  <a:rPr lang="en-US" sz="21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99.</a:t>
                </a:r>
              </a:p>
              <a:p>
                <a:pPr marL="0" indent="0" algn="ctr">
                  <a:buNone/>
                </a:pPr>
                <a:endParaRPr lang="en-US" sz="2400" dirty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en-US" sz="2400" dirty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en-US" sz="2400" i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en-US" sz="240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557213" indent="-557213">
                  <a:buFont typeface="+mj-lt"/>
                  <a:buAutoNum type="arabicPeriod"/>
                </a:pPr>
                <a:endParaRPr lang="ru-RU" sz="30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72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sz="84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F78415B-D12D-4F8C-914E-8BBE2AECF8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2649" y="1982369"/>
                <a:ext cx="7886700" cy="3793511"/>
              </a:xfrm>
              <a:prstGeom prst="rect">
                <a:avLst/>
              </a:prstGeom>
              <a:blipFill>
                <a:blip r:embed="rId2"/>
                <a:stretch>
                  <a:fillRect t="-353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339354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2052</Words>
  <Application>Microsoft Office PowerPoint</Application>
  <PresentationFormat>Широкоэкранный</PresentationFormat>
  <Paragraphs>275</Paragraphs>
  <Slides>32</Slides>
  <Notes>1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32</vt:i4>
      </vt:variant>
    </vt:vector>
  </HeadingPairs>
  <TitlesOfParts>
    <vt:vector size="39" baseType="lpstr">
      <vt:lpstr>Arial</vt:lpstr>
      <vt:lpstr>Calibri</vt:lpstr>
      <vt:lpstr>Calibri Light</vt:lpstr>
      <vt:lpstr>Cambria Math</vt:lpstr>
      <vt:lpstr>Times New Roman</vt:lpstr>
      <vt:lpstr>Тема Office</vt:lpstr>
      <vt:lpstr>Формула</vt:lpstr>
      <vt:lpstr>Математические основы искусственного интеллекта Каганов Ю.Т. к.т.н., доцент каф. ИУ-5  </vt:lpstr>
      <vt:lpstr>ПЛАН ЛЕКЦИИ</vt:lpstr>
      <vt:lpstr>Классификация типов задач многомерной оптимизации</vt:lpstr>
      <vt:lpstr>Классификация типов задач многомерной оптимизации</vt:lpstr>
      <vt:lpstr>Один экстремум</vt:lpstr>
      <vt:lpstr>Много экстремумов</vt:lpstr>
      <vt:lpstr>Метод покоординатного спуска  (метод 0-го порядка)</vt:lpstr>
      <vt:lpstr>Алгоритм:</vt:lpstr>
      <vt:lpstr>Обусловленность задачи </vt:lpstr>
      <vt:lpstr>Метод наискорейшего спуска  (метод 1-го порядка).  </vt:lpstr>
      <vt:lpstr>Метод наискорейшего спуска  (метод 1-го порядка).</vt:lpstr>
      <vt:lpstr>Метод Ньютона  (метод второго порядка)</vt:lpstr>
      <vt:lpstr>Метод Ньютона  (метод второго порядка)</vt:lpstr>
      <vt:lpstr>Метод Ньютона  (метод второго порядка).</vt:lpstr>
      <vt:lpstr>ГРАДИЕНТНЫЕ МЕТОДЫ В МАШИННОМ ОБУЧЕНИИ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ТЕОРИЯ ИСКУССТВЕННЫХ НЕЙРОННЫХ СЕТЕЙ Каганов Ю.Т. к.т.н., доцент каф. ИУ-9 «Теоретическая информатика и компьютерные технологии»</dc:title>
  <dc:creator>Yuriy Kaganov</dc:creator>
  <cp:lastModifiedBy>Yuriy Kaganov</cp:lastModifiedBy>
  <cp:revision>27</cp:revision>
  <dcterms:created xsi:type="dcterms:W3CDTF">2022-09-19T18:39:18Z</dcterms:created>
  <dcterms:modified xsi:type="dcterms:W3CDTF">2025-10-23T09:48:03Z</dcterms:modified>
</cp:coreProperties>
</file>