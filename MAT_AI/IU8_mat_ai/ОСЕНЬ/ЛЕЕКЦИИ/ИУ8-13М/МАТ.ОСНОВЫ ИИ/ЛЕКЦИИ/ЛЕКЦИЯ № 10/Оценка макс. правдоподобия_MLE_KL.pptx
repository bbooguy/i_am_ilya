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3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72662" y="675083"/>
            <a:ext cx="8050924" cy="3989281"/>
          </a:xfrm>
        </p:spPr>
        <p:txBody>
          <a:bodyPr>
            <a:normAutofit fontScale="90000"/>
          </a:bodyPr>
          <a:lstStyle/>
          <a:p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МАТЕМАТИЧЕСКИЕ ОСНОВЫ ИСКУССТВЕННОГО ИНТЕЛЛЕКТА</a:t>
            </a:r>
            <a:b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Каганов Ю.Т.</a:t>
            </a:r>
            <a:b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10</a:t>
            </a:r>
            <a:b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МАКСИМАЛЬНОГО ПРАВДОПОДОБИЯ</a:t>
            </a:r>
            <a:b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(MLE Maximum Likelihood Estimation)</a:t>
            </a:r>
            <a:b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MLE Maximum Likelihood Estimation</a:t>
            </a:r>
            <a:endParaRPr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7289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</a:t>
                </a:r>
                <a:r>
                  <a:rPr lang="el-G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 — </a:t>
                </a:r>
                <a:r>
                  <a:rPr lang="ru-RU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модели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— </a:t>
                </a:r>
                <a:r>
                  <a:rPr lang="ru-RU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наблюдаемые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MLE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определяется следующим образом: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𝑚𝑙𝑒</m:t>
                          </m:r>
                        </m:sub>
                      </m:sSub>
                      <m:r>
                        <a:rPr lang="ru-RU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argm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𝑎𝑥</m:t>
                              </m:r>
                            </m:e>
                            <m:li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 </m:t>
                      </m:r>
                    </m:oMath>
                  </m:oMathPara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Обычно предполагается, что обучающие примеры независимо выбраны из одного и того же распределения. Так что условное правдоподобие принимает вид: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предположение приводит к форме записи как логарифмическое правдоподобие: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𝐿𝐿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8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18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18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e>
                          </m:nary>
                        </m:fName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Таким образом получаем формулу поиска максимального правдоподобия: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𝑚𝑙𝑒</m:t>
                          </m:r>
                        </m:sub>
                      </m:sSub>
                      <m:r>
                        <a:rPr lang="ru-RU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argm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ax</m:t>
                              </m:r>
                            </m:e>
                            <m:lim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nary>
                                <m:naryPr>
                                  <m:chr m:val="∑"/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1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log</m:t>
                                  </m:r>
                                </m:e>
                              </m:nary>
                            </m:fNam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72891"/>
              </a:xfrm>
              <a:blipFill>
                <a:blip r:embed="rId2"/>
                <a:stretch>
                  <a:fillRect l="-593" t="-767" r="-8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MLE Maximum Likelihood Estimation</a:t>
            </a:r>
            <a:endParaRPr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Поскольку большинство алгоритмов оптимизации ориентированы на минимизацию функций, то целевая функция может быть представлена как отрицательное логарифмическое правдоподобие: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𝐿𝐿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</m:fName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func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∑"/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</m:nary>
                      </m:fName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func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Минимизация этого выражения даёт 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MLE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случае обучения без учителя мы получаем формулу 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MLE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𝑚𝑙𝑒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argm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𝑖𝑛</m:t>
                              </m:r>
                            </m:e>
                            <m:lim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nary>
                                    <m:naryPr>
                                      <m:chr m:val="∑"/>
                                      <m:ctrlPr>
                                        <a:rPr lang="en-US" sz="1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1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=</m:t>
                                      </m:r>
                                      <m:r>
                                        <m:rPr>
                                          <m:brk m:alnAt="23"/>
                                        </m:rPr>
                                        <a:rPr lang="en-US" sz="1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log</m:t>
                                      </m:r>
                                    </m:e>
                                  </m:nary>
                                </m:fName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/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d>
                          <m:r>
                            <a:rPr lang="ru-RU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lang="ru-RU" sz="18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 как мы имеем выходы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но не имеем входов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обучения с учителем бывает необходимо максимизировать правдоподобие входов и выходов. Тогда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MLE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приобретает такой вид: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𝑚𝑙𝑒</m:t>
                          </m:r>
                        </m:sub>
                      </m:sSub>
                      <m:r>
                        <a:rPr lang="en-US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argm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𝑖𝑛</m:t>
                              </m:r>
                            </m:e>
                            <m:lim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nary>
                                    <m:naryPr>
                                      <m:chr m:val="∑"/>
                                      <m:ctrlPr>
                                        <a:rPr lang="en-US" sz="1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1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=</m:t>
                                      </m:r>
                                      <m:r>
                                        <m:rPr>
                                          <m:brk m:alnAt="23"/>
                                        </m:rPr>
                                        <a:rPr lang="en-US" sz="1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log</m:t>
                                      </m:r>
                                    </m:e>
                                  </m:nary>
                                </m:fName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/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d>
                          <m:r>
                            <a:rPr lang="ru-RU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1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MLE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4678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Существуе 2 основных подхода к обоснованию </a:t>
                </a: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</a:t>
                </a: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Можно рассматривать как байесовское апостериорное распределение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ru-RU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</m:d>
                    <m:r>
                      <a:rPr lang="ru-RU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когда априорное распределение равномерное. Мы получаем </a:t>
                </a:r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MAP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ru-RU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максимальная апостериорная вероятность). </a:t>
                </a:r>
              </a:p>
              <a:p>
                <a:pPr marL="0" indent="0">
                  <a:buNone/>
                </a:pP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(Вспомним формулу Байеса ) </a:t>
                </a:r>
              </a:p>
              <a:p>
                <a:pPr marL="0" indent="0">
                  <a:buNone/>
                </a:pP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Если предположить, что апостериорное распределение </a:t>
                </a:r>
              </a:p>
              <a:p>
                <a:pPr marL="0" indent="0">
                  <a:buNone/>
                </a:pP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аппроксимируется 	дельта-функцией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𝑚𝑎𝑝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𝑚𝑎𝑝</m:t>
                        </m:r>
                      </m:sub>
                    </m:sSub>
                  </m:oMath>
                </a14:m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апостериорное 	значение 	параметров: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𝑚𝑎𝑝</m:t>
                        </m:r>
                      </m:sub>
                    </m:sSub>
                    <m:r>
                      <a:rPr lang="ru-RU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1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argm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</m:t>
                        </m:r>
                      </m:e>
                      <m:lim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lim>
                    </m:limLow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limLow>
                      <m:limLow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argm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[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</m:t>
                        </m:r>
                      </m:e>
                      <m:lim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lim>
                    </m:limLow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unc>
                      <m:func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en-US" sz="1400" b="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buAutoNum type="arabicPeriod" startAt="2"/>
                </a:pP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Другой подход заключается в том, что результирующее прогнозное распределение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𝑚𝑙𝑒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максимально близко к </a:t>
                </a:r>
                <a:r>
                  <a:rPr lang="ru-RU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эмпирическому распределению данных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В этом 	случае эмпирическое распределение можно определить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𝛿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этом случае нужно создать модель, распределение которой,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близко к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Для измерения сходства распределения вероятностей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используется </a:t>
                </a:r>
                <a:r>
                  <a:rPr lang="ru-RU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расхождение 	</a:t>
                </a:r>
                <a:r>
                  <a:rPr lang="ru-RU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Кульбака</a:t>
                </a:r>
                <a:r>
                  <a:rPr lang="ru-RU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ru-RU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Лейблера</a:t>
                </a:r>
                <a:r>
                  <a:rPr lang="ru-RU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𝐊𝐋</m:t>
                    </m:r>
                    <m:r>
                      <a:rPr lang="en-US" sz="18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||q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  <m:sup/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ru-RU" sz="1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Э</a:t>
                </a:r>
                <a:r>
                  <a:rPr lang="ru-RU" sz="1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 можно переписать в таком виде: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𝐊𝐋</m:t>
                    </m:r>
                    <m:r>
                      <a:rPr lang="en-US" sz="18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m:rPr>
                        <m:nor/>
                      </m:rPr>
                      <a:rPr lang="en-US" sz="1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||</m:t>
                    </m:r>
                    <m:r>
                      <m:rPr>
                        <m:nor/>
                      </m:rPr>
                      <a:rPr lang="en-US" sz="1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m:rPr>
                        <m:nor/>
                      </m:rPr>
                      <a: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1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  <m:sup/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d>
                        <m:func>
                          <m:funcPr>
                            <m:ctrlPr>
                              <a:rPr lang="ru-RU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sub>
                              <m:sup/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func>
                                  <m:func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nary>
                          </m:e>
                        </m:func>
                      </m:e>
                    </m:nary>
                  </m:oMath>
                </a14:m>
                <a:endParaRPr lang="ru-RU" sz="1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46782"/>
              </a:xfrm>
              <a:blipFill>
                <a:blip r:embed="rId2"/>
                <a:stretch>
                  <a:fillRect l="-667" t="-1384" b="-71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B4369C-B0C2-45C6-9E6A-5B2609460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164" y="2161308"/>
            <a:ext cx="2299854" cy="637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MLE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37107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этом случае  </a:t>
                </a:r>
                <a14:m>
                  <m:oMath xmlns:m="http://schemas.openxmlformats.org/officeDocument/2006/math">
                    <m:r>
                      <a:rPr lang="ru-RU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𝑯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d>
                        <m:func>
                          <m:funcPr>
                            <m:ctrlP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энтропия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𝑯</m:t>
                    </m:r>
                    <m:d>
                      <m:dPr>
                        <m:ctrlP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d>
                        <m:func>
                          <m:funcPr>
                            <m:ctrlP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перекрестная энтропия. Можно показать, что </a:t>
                </a:r>
                <a14:m>
                  <m:oMath xmlns:m="http://schemas.openxmlformats.org/officeDocument/2006/math">
                    <m:r>
                      <a:rPr lang="en-US" sz="20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𝐊𝐋</m:t>
                    </m:r>
                    <m:r>
                      <a:rPr lang="en-US" sz="20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m:rPr>
                        <m:nor/>
                      </m:rPr>
                      <a: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||</m:t>
                    </m:r>
                    <m:r>
                      <m:rPr>
                        <m:nor/>
                      </m:rPr>
                      <a: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m:rPr>
                        <m:nor/>
                      </m:rP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ru-RU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ru-RU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причем равенство нулю достигается тогда, и только тогда,  когда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Если определить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положить </a:t>
                </a:r>
                <a:endParaRPr lang="ru-RU" sz="20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расхождение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Кульбака-Лейблера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принимает вид: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𝐊𝐋</m:t>
                    </m:r>
                    <m:r>
                      <a:rPr lang="en-US" sz="20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m:rPr>
                        <m:nor/>
                      </m:rPr>
                      <a: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||</m:t>
                    </m:r>
                    <m:r>
                      <m:rPr>
                        <m:nor/>
                      </m:rPr>
                      <a: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m:rPr>
                        <m:nor/>
                      </m:rP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ru-RU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𝑯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</m:d>
                    <m:r>
                      <a:rPr lang="ru-RU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e>
                            <m:r>
                              <m:rPr>
                                <m:sty m:val="p"/>
                              </m:rP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θ</m:t>
                            </m:r>
                          </m:e>
                        </m:d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cons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𝑁𝐿𝐿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Первый член в этом выражении – константа, его можно отбросить, оставить только второй член. Таким образом минимизация расхождения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Кульбака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Лейблера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эквивалентна минимизации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NLL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и, следовательно эквивалентна вычислению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MLE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</a:t>
                </a:r>
                <a:endParaRPr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3710709"/>
              </a:xfrm>
              <a:blipFill>
                <a:blip r:embed="rId2"/>
                <a:stretch>
                  <a:fillRect l="-741" t="-131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MLE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гауссового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распределния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независимая и одинаково распределенная выборка размера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NLL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равное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ru-RU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8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18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18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e>
                          </m:nary>
                        </m:fName>
                        <m:e>
                          <m:d>
                            <m:d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ru-RU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ru-RU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𝜋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18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𝑒𝑥𝑝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sz="18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8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80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sz="18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e>
                    </m:nary>
                  </m:oMath>
                </a14:m>
                <a:r>
                  <a:rPr lang="en-US" sz="1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num>
                      <m:den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Минимум этой функции должен удовлетворять следующим условиям: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1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𝜕𝜇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𝑁𝐿𝐿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=0,</m:t>
                      </m:r>
                      <m:f>
                        <m:fPr>
                          <m:ctrlPr>
                            <a:rPr lang="ru-RU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𝑁𝐿𝐿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 </m:t>
                      </m:r>
                    </m:oMath>
                  </m:oMathPara>
                </a14:m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Поэтому необходимо найти эту стационарную точку: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</m:acc>
                    <m:r>
                      <a:rPr lang="ru-RU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nor/>
                      </m:rPr>
                      <a:rPr lang="en-US" sz="1800" dirty="0">
                        <a:cs typeface="Times New Roman" panose="020206030504050203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 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acc>
                      <m:accPr>
                        <m:chr m:val="̂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nor/>
                      </m:rPr>
                      <a:rPr lang="en-US" sz="1800" dirty="0">
                        <a:cs typeface="Times New Roman" panose="020206030504050203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 </m:t>
                            </m:r>
                          </m:e>
                        </m:acc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nor/>
                      </m:rPr>
                      <a:rPr lang="en-US" sz="1800" dirty="0">
                        <a:cs typeface="Times New Roman" panose="020206030504050203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</m:e>
                    </m:nary>
                  </m:oMath>
                </a14:m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Величины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называются достаточными статистиками данных, </a:t>
                </a:r>
                <a:r>
                  <a:rPr lang="ru-RU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посколку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их достаточно для вычисления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MLE 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без потери информации о статистической модели. 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1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Априорное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Априор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P(θ)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выражает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Нормировочная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константа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P(X)=∫P(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X|θ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)P(θ)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нормировка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байесовского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обновления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обновления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максимального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правдоподобия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MLE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оценивает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θ,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максимизируя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P(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X|θ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Сущность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MLE: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максимизация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правдоподобия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аргмакс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θ L(θ).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MLE и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лог-правдоподобие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Логарифм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упрощает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ln L(θ).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байесовского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частотного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подхода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Байес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точечная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Дивергенция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Кульбака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Лейблера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мотивация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KL(P‖Q)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измеряет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формулы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KL-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дивергенции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KL(P‖Q) = ∫ P(x) ln(P(x)/Q(x)) dx.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Интерпретация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KL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меры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различия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KL ≥ 0 и =0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P=Q.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Перекрестная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энтропия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H(P,Q)=−∫ P(x) ln Q(x) dx.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Связь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KL-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дивергенции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перекрестной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энтропии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KL(P‖Q)=H(P,Q)−H(P).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машинном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обучении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сетей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831</Words>
  <Application>Microsoft Office PowerPoint</Application>
  <PresentationFormat>Экран (4:3)</PresentationFormat>
  <Paragraphs>75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Times New Roman</vt:lpstr>
      <vt:lpstr>Office Theme</vt:lpstr>
      <vt:lpstr>МАТЕМАТИЧЕСКИЕ ОСНОВЫ ИСКУССТВЕННОГО ИНТЕЛЛЕКТА Каганов Ю.Т.  ЛЕКЦИЯ № 10    ОЦЕНКА МАКСИМАЛЬНОГО ПРАВДОПОДОБИЯ (MLE Maximum Likelihood Estimation) </vt:lpstr>
      <vt:lpstr>MLE Maximum Likelihood Estimation</vt:lpstr>
      <vt:lpstr>MLE Maximum Likelihood Estimation</vt:lpstr>
      <vt:lpstr>ОБОСНОВАНИЕ MLE </vt:lpstr>
      <vt:lpstr>ОБОСНОВАНИЕ MLE </vt:lpstr>
      <vt:lpstr>Пример MLE для гауссового распределния</vt:lpstr>
      <vt:lpstr>Априорное распределение</vt:lpstr>
      <vt:lpstr>Нормировочная константа</vt:lpstr>
      <vt:lpstr>Пример байесовского обновления</vt:lpstr>
      <vt:lpstr>Оценка максимального правдоподобия (MLE)</vt:lpstr>
      <vt:lpstr>Сущность MLE: максимизация правдоподобия</vt:lpstr>
      <vt:lpstr>MLE и лог-правдоподобие</vt:lpstr>
      <vt:lpstr>Сравнение байесовского и частотного подхода</vt:lpstr>
      <vt:lpstr>Дивергенция Кульбака–Лейблера: мотивация</vt:lpstr>
      <vt:lpstr>Вывод формулы KL-дивергенции</vt:lpstr>
      <vt:lpstr>Интерпретация KL как меры различия</vt:lpstr>
      <vt:lpstr>Перекрестная энтропия</vt:lpstr>
      <vt:lpstr>Связь KL-дивергенции и перекрестной энтропии</vt:lpstr>
      <vt:lpstr>Применение в машинном обучении</vt:lpstr>
      <vt:lpstr>Выводы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Формула Байеса для оценки параметров модели</dc:title>
  <dc:subject/>
  <dc:creator>User</dc:creator>
  <cp:keywords/>
  <dc:description>generated using python-pptx</dc:description>
  <cp:lastModifiedBy>Yuriy Kaganov</cp:lastModifiedBy>
  <cp:revision>31</cp:revision>
  <dcterms:created xsi:type="dcterms:W3CDTF">2013-01-27T09:14:16Z</dcterms:created>
  <dcterms:modified xsi:type="dcterms:W3CDTF">2025-12-04T10:23:02Z</dcterms:modified>
  <cp:category/>
</cp:coreProperties>
</file>