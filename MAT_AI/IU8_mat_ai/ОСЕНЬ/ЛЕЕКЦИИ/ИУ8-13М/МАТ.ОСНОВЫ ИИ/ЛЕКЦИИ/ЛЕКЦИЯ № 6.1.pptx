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59" r:id="rId2"/>
    <p:sldId id="257" r:id="rId3"/>
    <p:sldId id="309" r:id="rId4"/>
    <p:sldId id="310" r:id="rId5"/>
    <p:sldId id="272" r:id="rId6"/>
    <p:sldId id="273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64" r:id="rId16"/>
    <p:sldId id="265" r:id="rId17"/>
    <p:sldId id="305" r:id="rId18"/>
    <p:sldId id="308" r:id="rId19"/>
    <p:sldId id="306" r:id="rId20"/>
    <p:sldId id="354" r:id="rId21"/>
    <p:sldId id="355" r:id="rId22"/>
    <p:sldId id="315" r:id="rId23"/>
    <p:sldId id="356" r:id="rId24"/>
    <p:sldId id="357" r:id="rId25"/>
    <p:sldId id="358" r:id="rId26"/>
    <p:sldId id="320" r:id="rId27"/>
    <p:sldId id="318" r:id="rId28"/>
    <p:sldId id="321" r:id="rId29"/>
    <p:sldId id="322" r:id="rId30"/>
    <p:sldId id="324" r:id="rId31"/>
    <p:sldId id="323" r:id="rId32"/>
    <p:sldId id="325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24.wmf"/><Relationship Id="rId10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7C966-0835-4D16-A50C-9F38D91E890B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8BF29-C526-4B5B-BA94-5B625E3D68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38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8A4ECF-E9BE-490F-9F87-BFC63A03AC70}" type="slidenum">
              <a:rPr lang="ru-RU" altLang="ru-RU" smtClean="0"/>
              <a:pPr/>
              <a:t>17</a:t>
            </a:fld>
            <a:endParaRPr lang="ru-RU" altLang="ru-RU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Text Box 3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t>Здравствуйте, уважаемые члены государственной аттестационной комиссии. Тема моей магистерской диссертации ()</a:t>
            </a:r>
          </a:p>
        </p:txBody>
      </p:sp>
      <p:sp>
        <p:nvSpPr>
          <p:cNvPr id="102405" name="Text Box 4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SzPct val="100000"/>
            </a:pPr>
            <a:fld id="{C8545881-05A8-44F9-8A0E-0C9B85D5369E}" type="slidenum"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>
                <a:buSzPct val="100000"/>
              </a:pPr>
              <a:t>17</a:t>
            </a:fld>
            <a:endParaRPr lang="ru-RU" altLang="ru-RU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291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42DF8-AA84-4120-AB25-5F2648FE5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8081FD-37DF-4289-A764-ADEC3205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047626-3E70-4485-86F6-55F2262D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D84EED-B627-492C-8D13-1D490E01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A29CE1-DBFD-4E22-B719-B6D51994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3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09660-5726-4204-BED8-A1E9F6DF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11D7AA-235F-4B2F-964D-7CC108099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595A23-1146-495C-BE3B-942C676E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695294-6C76-4C19-BFD5-F082BCC5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CA3451-97D5-4F50-AB12-48C4E4FF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1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32AAB-6ED0-4F57-8F6A-2ED083BD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64554F-1644-43B1-836F-99B87CE68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5C925C-B12A-46CE-ACEA-BBCF0B99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9952B-6677-4E99-A91D-9440C15D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BF5188-1502-43B7-A1F9-F2558907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14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5BD98-126E-4D56-948F-29F915B5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5CF457-37BC-4F70-86B3-C6ECD0614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FFBB2C-218D-4E8F-AF2B-47C510D03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9BCFEC-950F-413B-8DD3-18CACFBC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CA1E4D-84E1-45DA-B006-E34EE8D7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5F164F-A078-4CAA-9110-6523E362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03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A5A38-E7B0-4949-BAD6-320F3DFD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4F734E-422D-47E6-B0EC-29D609E09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B7FD7C-5949-4C93-BEFA-06AB8E5B3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905E93-C02C-41CC-A0B5-FCB8A8652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0283BE-F4A0-4F93-83C1-66F77F0B5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20D3F0-CBCB-4E84-9B68-C1C37065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2150BF-ED4C-4B86-BB8F-104873DEB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7660CA-0418-4DB1-8869-CFEC6493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92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E77F0-628C-4602-8AF3-7BD2539C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58F4DA-82F1-4611-8FE9-8A5EBE71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682D9-F9F6-4792-A6D2-9B6723ED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AC2CA4-9264-468C-AB2C-51EDF886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09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2CA2535-A979-45D7-903A-54BFB60D4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B2865E-A142-439C-BF88-2A582705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9EAFE-1EA4-42B4-AEE1-7311B733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88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5EEA7-DCEE-42A1-846E-08E8753B3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423595-2BBE-4643-8FAF-0C8538B3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1332E0-8374-4A7B-B593-67B1D50DC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32668-6F98-4F8C-AECD-23F69407E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A975DC-8D80-4387-9459-A6118A43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D5744F-375E-4F21-84F7-5F04686F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3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7AE13-17E8-48F0-86B8-053C525D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C3D994-B784-4FE8-86A2-F7AF5C57F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8CC998-5459-40E1-8E9B-31B572287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8B9B26-7501-491C-90E6-33449239D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03B3DA-D97A-4992-BB67-4DBCDCAD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3A17B6-DB38-43A8-A70C-C879CE1C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58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FFE9A7-B71E-421E-8E5B-BF26B1CB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FC261A-5A6E-4A59-9D47-11AACF05D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96BF4-DDD4-43EB-A0C4-82DD12FB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4057B-B145-498C-BE22-ABB178C1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49325-00FE-4369-933E-B64F818E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45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B6C5D3-FA14-4D1C-8B75-0880059BA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BDEFA4-E240-4E10-A27B-C3D498A75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803179-AF7F-4A15-931E-7C342EB7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B43E2-75EC-4A4F-A80D-750137A34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D29654-4268-4E5C-89D1-E96E107C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28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310CE31-C5C2-4905-8D68-E58DE77935D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1099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37023-CA40-4175-BAAF-1CC9DEE5B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AB59D5-6629-4625-BEE7-0BBDEF651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01CFD2-3A90-43EA-B146-598B9E8B1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888EB-C156-4101-87D6-52D5A8E3B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0F4CD5-54AC-46BE-B3A1-48DCD3073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51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jpeg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jpeg"/><Relationship Id="rId4" Type="http://schemas.openxmlformats.org/officeDocument/2006/relationships/image" Target="../media/image12.wmf"/><Relationship Id="rId9" Type="http://schemas.openxmlformats.org/officeDocument/2006/relationships/image" Target="../media/image14.wmf"/><Relationship Id="rId1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26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1.bin"/><Relationship Id="rId24" Type="http://schemas.openxmlformats.org/officeDocument/2006/relationships/image" Target="../media/image30.wmf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23" Type="http://schemas.openxmlformats.org/officeDocument/2006/relationships/oleObject" Target="../embeddings/oleObject27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5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5.wmf"/><Relationship Id="rId22" Type="http://schemas.openxmlformats.org/officeDocument/2006/relationships/image" Target="../media/image2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28.bin"/><Relationship Id="rId21" Type="http://schemas.openxmlformats.org/officeDocument/2006/relationships/oleObject" Target="../embeddings/oleObject37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1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xgboost.ai/" TargetMode="External"/><Relationship Id="rId5" Type="http://schemas.openxmlformats.org/officeDocument/2006/relationships/hyperlink" Target="https://pjreddie.com/darknet/" TargetMode="External"/><Relationship Id="rId4" Type="http://schemas.openxmlformats.org/officeDocument/2006/relationships/hyperlink" Target="https://pytorch.org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3389" y="333375"/>
            <a:ext cx="8785225" cy="3671888"/>
          </a:xfrm>
        </p:spPr>
        <p:txBody>
          <a:bodyPr/>
          <a:lstStyle/>
          <a:p>
            <a:pPr eaLnBrk="1" hangingPunct="1"/>
            <a:r>
              <a:rPr lang="ru-RU" sz="4000" b="1" dirty="0">
                <a:latin typeface="+mn-lt"/>
              </a:rPr>
              <a:t>ТЕОРИЯ ИСКУССТВЕННЫХ НЕЙРОННЫХ СЕТЕЙ</a:t>
            </a:r>
            <a:br>
              <a:rPr lang="ru-RU" sz="4000" b="1" dirty="0">
                <a:latin typeface="+mn-lt"/>
              </a:rPr>
            </a:br>
            <a:r>
              <a:rPr lang="ru-RU" sz="4000" b="1" dirty="0">
                <a:latin typeface="+mn-lt"/>
              </a:rPr>
              <a:t>Каганов Ю.Т.</a:t>
            </a:r>
            <a:br>
              <a:rPr lang="ru-RU" sz="4000" b="1" dirty="0">
                <a:latin typeface="+mn-lt"/>
              </a:rPr>
            </a:br>
            <a:r>
              <a:rPr lang="ru-RU" sz="3200" b="1" dirty="0">
                <a:latin typeface="+mn-lt"/>
              </a:rPr>
              <a:t>к.т.н., доцент каф. ИУ-9</a:t>
            </a:r>
            <a:br>
              <a:rPr lang="ru-RU" sz="3200" b="1" dirty="0">
                <a:latin typeface="+mn-lt"/>
              </a:rPr>
            </a:br>
            <a:r>
              <a:rPr lang="ru-RU" sz="3200" b="1" dirty="0">
                <a:latin typeface="+mn-lt"/>
              </a:rPr>
              <a:t>«Теоретическая информатика и компьютерные технологии»</a:t>
            </a:r>
            <a:br>
              <a:rPr lang="ru-RU" sz="3200" b="1" dirty="0">
                <a:latin typeface="+mn-lt"/>
              </a:rPr>
            </a:br>
            <a:endParaRPr lang="ru-RU" sz="3200" b="1" dirty="0">
              <a:latin typeface="+mn-lt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1069" y="4149726"/>
            <a:ext cx="9214339" cy="2016125"/>
          </a:xfrm>
        </p:spPr>
        <p:txBody>
          <a:bodyPr/>
          <a:lstStyle/>
          <a:p>
            <a:pPr eaLnBrk="1" hangingPunct="1"/>
            <a:r>
              <a:rPr lang="ru-RU" sz="3600" b="1" dirty="0"/>
              <a:t>ЛЕКЦИЯ № 6</a:t>
            </a:r>
          </a:p>
          <a:p>
            <a:pPr eaLnBrk="1" hangingPunct="1"/>
            <a:r>
              <a:rPr lang="ru-RU" sz="3200" b="1" dirty="0">
                <a:ea typeface="Times New Roman" panose="02020603050405020304" pitchFamily="18" charset="0"/>
              </a:rPr>
              <a:t>Математические основы ТИНС</a:t>
            </a:r>
          </a:p>
          <a:p>
            <a:pPr eaLnBrk="1" hangingPunct="1"/>
            <a:r>
              <a:rPr lang="ru-RU" sz="2800" b="1" dirty="0"/>
              <a:t>Часть 3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993775"/>
          </a:xfrm>
        </p:spPr>
        <p:txBody>
          <a:bodyPr/>
          <a:lstStyle/>
          <a:p>
            <a:pPr algn="ctr" eaLnBrk="1" hangingPunct="1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ЛЕКЦИИ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1196975"/>
            <a:ext cx="8362950" cy="49291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Градиентные методы в машинном обучении.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Фреймворки для работы с глубокими сетями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Стохастический градиент.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Современные методы многомерной оптимизации ориентированные на использование в искусственных нейронных сетях 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NAG. (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Nesterov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accelerated gradient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Adagrad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(Adapted gradient)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Adadelta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(E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xtension of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Adagrad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4)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RMSProp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 Root Mean Squared)</a:t>
            </a:r>
          </a:p>
          <a:p>
            <a:pPr marL="514350" indent="-514350">
              <a:buAutoNum type="arabicParenR" startAt="5"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Adam. (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moment estimation)</a:t>
            </a: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arenR" startAt="5"/>
            </a:pPr>
            <a:r>
              <a:rPr lang="en-US" sz="28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AdaMax</a:t>
            </a:r>
            <a:r>
              <a:rPr lang="en-US" sz="28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(Modification Adam)</a:t>
            </a:r>
            <a:endParaRPr lang="ru-RU" sz="28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arenR" startAt="5"/>
            </a:pPr>
            <a:r>
              <a:rPr lang="en-US" sz="28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Nadam</a:t>
            </a:r>
            <a:r>
              <a:rPr lang="en-US" sz="28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</a:t>
            </a:r>
            <a:r>
              <a:rPr lang="en-US" sz="28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Nesterov</a:t>
            </a:r>
            <a:r>
              <a:rPr lang="en-US" sz="28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modification Adam)</a:t>
            </a:r>
          </a:p>
          <a:p>
            <a:pPr marL="514350" indent="-514350">
              <a:buFont typeface="Arial" panose="020B0604020202020204" pitchFamily="34" charset="0"/>
              <a:buAutoNum type="arabicParenR" startAt="5"/>
            </a:pPr>
            <a:endParaRPr lang="en-US" sz="28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 startAt="5"/>
            </a:pP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 startAt="5"/>
            </a:pPr>
            <a:endParaRPr lang="en-US" sz="26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7BD58-21FF-41FF-A04B-EFCFF68E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7638"/>
                <a:ext cx="8229600" cy="5257800"/>
              </a:xfrm>
            </p:spPr>
            <p:txBody>
              <a:bodyPr/>
              <a:lstStyle/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безусловный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∃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 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с линейными ограничениями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все функциональные ограничения являются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линейными функциями: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 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При этом</m:t>
                      </m:r>
                    </m:oMath>
                  </m:oMathPara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базовое множество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является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многогранником.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также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линейная функция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исходная задача (1) называется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задачей линейной оптимизации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7638"/>
                <a:ext cx="8229600" cy="5257800"/>
              </a:xfrm>
              <a:blipFill>
                <a:blip r:embed="rId2"/>
                <a:stretch>
                  <a:fillRect l="-1111" t="-16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8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A9E75-D9EB-4FF7-A41A-47E81FCF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</a:t>
                </a:r>
                <a:r>
                  <a:rPr lang="ru-RU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войства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допустимых множеств.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Q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∅.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строго 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существует такой вектор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𝑖𝑛𝑡</m:t>
                    </m:r>
                  </m:oMath>
                </a14:m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0 (или &gt; 0) для всех ограничений-неравенств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 для всех ограничений-равенств (условие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Слэйтера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Типы решений задачи (1).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оптимальным глобальным решением задачи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всех x ∈ Q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В этом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оптимальным значением задачи.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локальным решением задачи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 для всех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⊂ Q выполнено неравенство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96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экстремум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задач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alt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одноэкстремальной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оптимизации (единственный экстремум – унимодальная функция);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383339" y="2060576"/>
          <a:ext cx="2974975" cy="309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r:id="rId3" imgW="2333732" imgH="2010096" progId="">
                  <p:embed/>
                </p:oleObj>
              </mc:Choice>
              <mc:Fallback>
                <p:oleObj r:id="rId3" imgW="2333732" imgH="2010096" progId="">
                  <p:embed/>
                  <p:pic>
                    <p:nvPicPr>
                      <p:cNvPr id="35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060576"/>
                        <a:ext cx="2974975" cy="309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 экстремумов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задач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многоэкстремальной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оптимизации (много экстремумов – полимодальная функция);</a:t>
            </a:r>
          </a:p>
        </p:txBody>
      </p:sp>
      <p:graphicFrame>
        <p:nvGraphicFramePr>
          <p:cNvPr id="3789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240464" y="2060575"/>
          <a:ext cx="3671887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r:id="rId3" imgW="2333732" imgH="2015064" progId="">
                  <p:embed/>
                </p:oleObj>
              </mc:Choice>
              <mc:Fallback>
                <p:oleObj r:id="rId3" imgW="2333732" imgH="2015064" progId="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2060575"/>
                        <a:ext cx="3671887" cy="338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4AC957-ED8F-47AA-A2D7-5816298D8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покоординатного спуска </a:t>
            </a:r>
            <a:b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0-го порядка)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4F0B5F8-A0A2-4ED4-8D65-1F3C2CBA1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ru-RU" altLang="ru-RU" dirty="0"/>
              <a:t> 			– 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функция</a:t>
            </a:r>
            <a:r>
              <a:rPr lang="ru-RU" altLang="ru-RU" dirty="0"/>
              <a:t>.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EBDD8FC0-5786-4189-AAF1-186228F4C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31F0BF36-D68C-4366-8A3D-C47B27D5D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82212"/>
              </p:ext>
            </p:extLst>
          </p:nvPr>
        </p:nvGraphicFramePr>
        <p:xfrm>
          <a:off x="2525196" y="1778000"/>
          <a:ext cx="19446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31F0BF36-D68C-4366-8A3D-C47B27D5D4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196" y="1778000"/>
                        <a:ext cx="19446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2" name="Picture 6">
            <a:extLst>
              <a:ext uri="{FF2B5EF4-FFF2-40B4-BE49-F238E27FC236}">
                <a16:creationId xmlns:a16="http://schemas.microsoft.com/office/drawing/2014/main" id="{E7B19587-A6B2-43BC-BF2E-AB517F38E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600325"/>
            <a:ext cx="7345363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046E4FD-CC34-4CDD-92A7-741E1BFA3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Алгоритм: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D45070-4D7F-4ADF-9347-498811F85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557338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/>
              <a:t>Ш1. Направление     - выбирается вдоль координаты       от точки       , т.е.   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23EAA42D-1E5C-4995-827A-7C5ED65B1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5" name="Object 4">
            <a:extLst>
              <a:ext uri="{FF2B5EF4-FFF2-40B4-BE49-F238E27FC236}">
                <a16:creationId xmlns:a16="http://schemas.microsoft.com/office/drawing/2014/main" id="{22A2616F-2DCC-422F-88D7-F093CAEAE2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671338"/>
              </p:ext>
            </p:extLst>
          </p:nvPr>
        </p:nvGraphicFramePr>
        <p:xfrm>
          <a:off x="4027032" y="1455699"/>
          <a:ext cx="4159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9" name="Формула" r:id="rId3" imgW="190417" imgH="203112" progId="Equation.3">
                  <p:embed/>
                </p:oleObj>
              </mc:Choice>
              <mc:Fallback>
                <p:oleObj name="Формула" r:id="rId3" imgW="190417" imgH="203112" progId="Equation.3">
                  <p:embed/>
                  <p:pic>
                    <p:nvPicPr>
                      <p:cNvPr id="10245" name="Object 4">
                        <a:extLst>
                          <a:ext uri="{FF2B5EF4-FFF2-40B4-BE49-F238E27FC236}">
                            <a16:creationId xmlns:a16="http://schemas.microsoft.com/office/drawing/2014/main" id="{22A2616F-2DCC-422F-88D7-F093CAEAE2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032" y="1455699"/>
                        <a:ext cx="4159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7">
            <a:extLst>
              <a:ext uri="{FF2B5EF4-FFF2-40B4-BE49-F238E27FC236}">
                <a16:creationId xmlns:a16="http://schemas.microsoft.com/office/drawing/2014/main" id="{17007CEB-2313-4FA5-A3B0-D3BC14445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7" name="Object 6">
            <a:extLst>
              <a:ext uri="{FF2B5EF4-FFF2-40B4-BE49-F238E27FC236}">
                <a16:creationId xmlns:a16="http://schemas.microsoft.com/office/drawing/2014/main" id="{B85B7292-CF48-4540-B08F-E1FE862F1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152563"/>
              </p:ext>
            </p:extLst>
          </p:nvPr>
        </p:nvGraphicFramePr>
        <p:xfrm>
          <a:off x="8989203" y="1433512"/>
          <a:ext cx="6477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0" name="Формула" r:id="rId5" imgW="253780" imgH="203024" progId="Equation.3">
                  <p:embed/>
                </p:oleObj>
              </mc:Choice>
              <mc:Fallback>
                <p:oleObj name="Формула" r:id="rId5" imgW="253780" imgH="203024" progId="Equation.3">
                  <p:embed/>
                  <p:pic>
                    <p:nvPicPr>
                      <p:cNvPr id="10247" name="Object 6">
                        <a:extLst>
                          <a:ext uri="{FF2B5EF4-FFF2-40B4-BE49-F238E27FC236}">
                            <a16:creationId xmlns:a16="http://schemas.microsoft.com/office/drawing/2014/main" id="{B85B7292-CF48-4540-B08F-E1FE862F1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9203" y="1433512"/>
                        <a:ext cx="6477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9">
            <a:extLst>
              <a:ext uri="{FF2B5EF4-FFF2-40B4-BE49-F238E27FC236}">
                <a16:creationId xmlns:a16="http://schemas.microsoft.com/office/drawing/2014/main" id="{36664BA8-6918-4373-81A5-D2F74F68E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9" name="Object 8">
            <a:extLst>
              <a:ext uri="{FF2B5EF4-FFF2-40B4-BE49-F238E27FC236}">
                <a16:creationId xmlns:a16="http://schemas.microsoft.com/office/drawing/2014/main" id="{8927286D-94AD-40F1-9E75-6B159E0457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642474"/>
              </p:ext>
            </p:extLst>
          </p:nvPr>
        </p:nvGraphicFramePr>
        <p:xfrm>
          <a:off x="7716968" y="1354137"/>
          <a:ext cx="4413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1" name="Формула" r:id="rId7" imgW="177646" imgH="228402" progId="Equation.3">
                  <p:embed/>
                </p:oleObj>
              </mc:Choice>
              <mc:Fallback>
                <p:oleObj name="Формула" r:id="rId7" imgW="177646" imgH="228402" progId="Equation.3">
                  <p:embed/>
                  <p:pic>
                    <p:nvPicPr>
                      <p:cNvPr id="10249" name="Object 8">
                        <a:extLst>
                          <a:ext uri="{FF2B5EF4-FFF2-40B4-BE49-F238E27FC236}">
                            <a16:creationId xmlns:a16="http://schemas.microsoft.com/office/drawing/2014/main" id="{8927286D-94AD-40F1-9E75-6B159E045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968" y="1354137"/>
                        <a:ext cx="4413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Rectangle 11">
            <a:extLst>
              <a:ext uri="{FF2B5EF4-FFF2-40B4-BE49-F238E27FC236}">
                <a16:creationId xmlns:a16="http://schemas.microsoft.com/office/drawing/2014/main" id="{84BE58F7-E21D-4E86-84A7-90B6D0F78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1" name="Object 10">
            <a:extLst>
              <a:ext uri="{FF2B5EF4-FFF2-40B4-BE49-F238E27FC236}">
                <a16:creationId xmlns:a16="http://schemas.microsoft.com/office/drawing/2014/main" id="{5A5CCBDF-4DA2-4F9D-A170-91146CA0B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918198"/>
              </p:ext>
            </p:extLst>
          </p:nvPr>
        </p:nvGraphicFramePr>
        <p:xfrm>
          <a:off x="2618125" y="1771305"/>
          <a:ext cx="14398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2" name="Формула" r:id="rId9" imgW="952087" imgH="444307" progId="Equation.3">
                  <p:embed/>
                </p:oleObj>
              </mc:Choice>
              <mc:Fallback>
                <p:oleObj name="Формула" r:id="rId9" imgW="952087" imgH="444307" progId="Equation.3">
                  <p:embed/>
                  <p:pic>
                    <p:nvPicPr>
                      <p:cNvPr id="10251" name="Object 10">
                        <a:extLst>
                          <a:ext uri="{FF2B5EF4-FFF2-40B4-BE49-F238E27FC236}">
                            <a16:creationId xmlns:a16="http://schemas.microsoft.com/office/drawing/2014/main" id="{5A5CCBDF-4DA2-4F9D-A170-91146CA0B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25" y="1771305"/>
                        <a:ext cx="1439863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12">
            <a:extLst>
              <a:ext uri="{FF2B5EF4-FFF2-40B4-BE49-F238E27FC236}">
                <a16:creationId xmlns:a16="http://schemas.microsoft.com/office/drawing/2014/main" id="{34A07DF3-042F-4091-803A-1E5003A51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2347269"/>
            <a:ext cx="42754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Ш2. Определяется величина шага</a:t>
            </a:r>
            <a:r>
              <a:rPr lang="ru-RU" altLang="ru-RU" sz="2400"/>
              <a:t>     </a:t>
            </a:r>
          </a:p>
        </p:txBody>
      </p:sp>
      <p:sp>
        <p:nvSpPr>
          <p:cNvPr id="10253" name="Rectangle 14">
            <a:extLst>
              <a:ext uri="{FF2B5EF4-FFF2-40B4-BE49-F238E27FC236}">
                <a16:creationId xmlns:a16="http://schemas.microsoft.com/office/drawing/2014/main" id="{E4D8A81C-D5BF-4CEC-A4A1-67C53648C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4" name="Object 13">
            <a:extLst>
              <a:ext uri="{FF2B5EF4-FFF2-40B4-BE49-F238E27FC236}">
                <a16:creationId xmlns:a16="http://schemas.microsoft.com/office/drawing/2014/main" id="{1664A75A-3449-4EC0-92BB-15C8769DF9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349500"/>
          <a:ext cx="34559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3" name="Формула" r:id="rId11" imgW="2336800" imgH="254000" progId="Equation.3">
                  <p:embed/>
                </p:oleObj>
              </mc:Choice>
              <mc:Fallback>
                <p:oleObj name="Формула" r:id="rId11" imgW="2336800" imgH="254000" progId="Equation.3">
                  <p:embed/>
                  <p:pic>
                    <p:nvPicPr>
                      <p:cNvPr id="10254" name="Object 13">
                        <a:extLst>
                          <a:ext uri="{FF2B5EF4-FFF2-40B4-BE49-F238E27FC236}">
                            <a16:creationId xmlns:a16="http://schemas.microsoft.com/office/drawing/2014/main" id="{1664A75A-3449-4EC0-92BB-15C8769DF9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349500"/>
                        <a:ext cx="345598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Rectangle 15">
            <a:extLst>
              <a:ext uri="{FF2B5EF4-FFF2-40B4-BE49-F238E27FC236}">
                <a16:creationId xmlns:a16="http://schemas.microsoft.com/office/drawing/2014/main" id="{5C80FF1E-CC38-4A54-9701-5F127B7A3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851121"/>
            <a:ext cx="41549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Ш3. Формируется новое значение    </a:t>
            </a:r>
          </a:p>
        </p:txBody>
      </p:sp>
      <p:sp>
        <p:nvSpPr>
          <p:cNvPr id="10256" name="Rectangle 17">
            <a:extLst>
              <a:ext uri="{FF2B5EF4-FFF2-40B4-BE49-F238E27FC236}">
                <a16:creationId xmlns:a16="http://schemas.microsoft.com/office/drawing/2014/main" id="{3182C4E8-DF6D-4F2E-A73A-9F46EA700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7" name="Object 16">
            <a:extLst>
              <a:ext uri="{FF2B5EF4-FFF2-40B4-BE49-F238E27FC236}">
                <a16:creationId xmlns:a16="http://schemas.microsoft.com/office/drawing/2014/main" id="{1B3F7DA8-4484-4B75-AA24-73BDAE48B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852738"/>
          <a:ext cx="31686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4" name="Формула" r:id="rId13" imgW="1371600" imgH="203200" progId="Equation.3">
                  <p:embed/>
                </p:oleObj>
              </mc:Choice>
              <mc:Fallback>
                <p:oleObj name="Формула" r:id="rId13" imgW="1371600" imgH="203200" progId="Equation.3">
                  <p:embed/>
                  <p:pic>
                    <p:nvPicPr>
                      <p:cNvPr id="10257" name="Object 16">
                        <a:extLst>
                          <a:ext uri="{FF2B5EF4-FFF2-40B4-BE49-F238E27FC236}">
                            <a16:creationId xmlns:a16="http://schemas.microsoft.com/office/drawing/2014/main" id="{1B3F7DA8-4484-4B75-AA24-73BDAE48B9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852738"/>
                        <a:ext cx="31686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Rectangle 18">
            <a:extLst>
              <a:ext uri="{FF2B5EF4-FFF2-40B4-BE49-F238E27FC236}">
                <a16:creationId xmlns:a16="http://schemas.microsoft.com/office/drawing/2014/main" id="{7DFE3C48-4CC9-44CA-B5A1-512F3D932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899" y="3386108"/>
            <a:ext cx="32092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Ш4. Проверка сходимости:</a:t>
            </a:r>
            <a:r>
              <a:rPr lang="ru-RU" altLang="ru-RU"/>
              <a:t> 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B8CACEDE-DBD1-4D64-B086-6070A164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3859491"/>
            <a:ext cx="724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Если </a:t>
            </a:r>
          </a:p>
        </p:txBody>
      </p:sp>
      <p:sp>
        <p:nvSpPr>
          <p:cNvPr id="10260" name="Rectangle 21">
            <a:extLst>
              <a:ext uri="{FF2B5EF4-FFF2-40B4-BE49-F238E27FC236}">
                <a16:creationId xmlns:a16="http://schemas.microsoft.com/office/drawing/2014/main" id="{92D75901-C5D5-4C85-9BD4-B4039008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61" name="Object 20">
            <a:extLst>
              <a:ext uri="{FF2B5EF4-FFF2-40B4-BE49-F238E27FC236}">
                <a16:creationId xmlns:a16="http://schemas.microsoft.com/office/drawing/2014/main" id="{684051E8-39D6-40D9-AEC4-DED244EA2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3789363"/>
          <a:ext cx="42481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5" name="Формула" r:id="rId15" imgW="2552700" imgH="279400" progId="Equation.3">
                  <p:embed/>
                </p:oleObj>
              </mc:Choice>
              <mc:Fallback>
                <p:oleObj name="Формула" r:id="rId15" imgW="2552700" imgH="279400" progId="Equation.3">
                  <p:embed/>
                  <p:pic>
                    <p:nvPicPr>
                      <p:cNvPr id="10261" name="Object 20">
                        <a:extLst>
                          <a:ext uri="{FF2B5EF4-FFF2-40B4-BE49-F238E27FC236}">
                            <a16:creationId xmlns:a16="http://schemas.microsoft.com/office/drawing/2014/main" id="{684051E8-39D6-40D9-AEC4-DED244EA2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789363"/>
                        <a:ext cx="42481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2" name="Rectangle 22">
            <a:extLst>
              <a:ext uri="{FF2B5EF4-FFF2-40B4-BE49-F238E27FC236}">
                <a16:creationId xmlns:a16="http://schemas.microsoft.com/office/drawing/2014/main" id="{F1841370-C8CB-4948-8DF4-017D5F6D8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3789363"/>
            <a:ext cx="1441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  <a:r>
              <a:rPr lang="ru-RU" altLang="ru-RU" i="1"/>
              <a:t>КОНЕЦ</a:t>
            </a:r>
            <a:r>
              <a:rPr lang="ru-RU" altLang="ru-RU"/>
              <a:t> </a:t>
            </a:r>
          </a:p>
        </p:txBody>
      </p:sp>
      <p:sp>
        <p:nvSpPr>
          <p:cNvPr id="10263" name="Rectangle 23">
            <a:extLst>
              <a:ext uri="{FF2B5EF4-FFF2-40B4-BE49-F238E27FC236}">
                <a16:creationId xmlns:a16="http://schemas.microsoft.com/office/drawing/2014/main" id="{CBBCD4F2-9816-44DC-8035-4CECBDA95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112" y="4219853"/>
            <a:ext cx="33180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Иначе  к=к+1 и переход на Ш 1.</a:t>
            </a:r>
          </a:p>
        </p:txBody>
      </p:sp>
      <p:sp>
        <p:nvSpPr>
          <p:cNvPr id="10264" name="Rectangle 24">
            <a:extLst>
              <a:ext uri="{FF2B5EF4-FFF2-40B4-BE49-F238E27FC236}">
                <a16:creationId xmlns:a16="http://schemas.microsoft.com/office/drawing/2014/main" id="{2BC207CA-818D-4AF6-8958-60C9692D8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508500"/>
            <a:ext cx="612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u="sng"/>
              <a:t>Достоинства:</a:t>
            </a:r>
            <a:r>
              <a:rPr lang="ru-RU" altLang="ru-RU"/>
              <a:t> возможность оптимизации для задач с недифференцируемыми функциями.</a:t>
            </a:r>
          </a:p>
        </p:txBody>
      </p:sp>
      <p:sp>
        <p:nvSpPr>
          <p:cNvPr id="10265" name="Rectangle 25">
            <a:extLst>
              <a:ext uri="{FF2B5EF4-FFF2-40B4-BE49-F238E27FC236}">
                <a16:creationId xmlns:a16="http://schemas.microsoft.com/office/drawing/2014/main" id="{D6680172-C409-48B8-8E36-55B6BF43E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213" y="5018774"/>
            <a:ext cx="55130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u="sng"/>
              <a:t>Недостатки:</a:t>
            </a:r>
            <a:r>
              <a:rPr lang="ru-RU" altLang="ru-RU"/>
              <a:t> </a:t>
            </a:r>
          </a:p>
          <a:p>
            <a:pPr algn="just" eaLnBrk="1" hangingPunct="1"/>
            <a:r>
              <a:rPr lang="ru-RU" altLang="ru-RU"/>
              <a:t>1. Низкая скорость сходимости (сублинейная, т.е. </a:t>
            </a:r>
            <a:r>
              <a:rPr lang="ru-RU" altLang="ru-RU">
                <a:sym typeface="Symbol" panose="05050102010706020507" pitchFamily="18" charset="2"/>
              </a:rPr>
              <a:t></a:t>
            </a:r>
            <a:r>
              <a:rPr lang="ru-RU" altLang="ru-RU"/>
              <a:t>&lt;1)</a:t>
            </a:r>
          </a:p>
        </p:txBody>
      </p:sp>
      <p:sp>
        <p:nvSpPr>
          <p:cNvPr id="10266" name="Rectangle 26">
            <a:extLst>
              <a:ext uri="{FF2B5EF4-FFF2-40B4-BE49-F238E27FC236}">
                <a16:creationId xmlns:a16="http://schemas.microsoft.com/office/drawing/2014/main" id="{4D3B20DB-F635-4C58-A860-E7C6FCFC4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5734050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2.Возможность зацикливания при плохой обусловленности задачи, т.е. когда 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имеет овражный характер.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FFACE92-94B4-4761-814C-29B8C17E0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Обусловленность задачи 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EE17BC1-5B4B-481D-900C-A9CA1ABF0A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600201"/>
            <a:ext cx="8291513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Определяется числом обусловленности матрицы Гессе (если она существует), т.е. отношением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50A30DE8-9F7B-4A02-8468-70193BE60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69" name="Object 4">
            <a:extLst>
              <a:ext uri="{FF2B5EF4-FFF2-40B4-BE49-F238E27FC236}">
                <a16:creationId xmlns:a16="http://schemas.microsoft.com/office/drawing/2014/main" id="{AC239070-4288-4E81-BC9C-84ED63DF8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8" y="1844676"/>
          <a:ext cx="8636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0" name="Формула" r:id="rId3" imgW="431613" imgH="393529" progId="Equation.3">
                  <p:embed/>
                </p:oleObj>
              </mc:Choice>
              <mc:Fallback>
                <p:oleObj name="Формула" r:id="rId3" imgW="431613" imgH="393529" progId="Equation.3">
                  <p:embed/>
                  <p:pic>
                    <p:nvPicPr>
                      <p:cNvPr id="11269" name="Object 4">
                        <a:extLst>
                          <a:ext uri="{FF2B5EF4-FFF2-40B4-BE49-F238E27FC236}">
                            <a16:creationId xmlns:a16="http://schemas.microsoft.com/office/drawing/2014/main" id="{AC239070-4288-4E81-BC9C-84ED63DF8F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1844676"/>
                        <a:ext cx="8636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6">
            <a:extLst>
              <a:ext uri="{FF2B5EF4-FFF2-40B4-BE49-F238E27FC236}">
                <a16:creationId xmlns:a16="http://schemas.microsoft.com/office/drawing/2014/main" id="{6F568B1E-7E54-4483-AA88-AE771F8FC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275" y="2476471"/>
            <a:ext cx="54830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Где </a:t>
            </a:r>
            <a:r>
              <a:rPr lang="en-US" altLang="ru-RU" sz="2000"/>
              <a:t>L</a:t>
            </a:r>
            <a:r>
              <a:rPr lang="ru-RU" altLang="ru-RU" sz="2000"/>
              <a:t> - максимальное собственное число            ,</a:t>
            </a:r>
          </a:p>
        </p:txBody>
      </p:sp>
      <p:sp>
        <p:nvSpPr>
          <p:cNvPr id="11271" name="Rectangle 8">
            <a:extLst>
              <a:ext uri="{FF2B5EF4-FFF2-40B4-BE49-F238E27FC236}">
                <a16:creationId xmlns:a16="http://schemas.microsoft.com/office/drawing/2014/main" id="{83E68620-3F36-4AE0-805E-2CD61A9C6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2831457"/>
            <a:ext cx="4179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000" i="1" dirty="0"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cs typeface="Times New Roman" panose="02020603050405020304" pitchFamily="18" charset="0"/>
              </a:rPr>
              <a:t>– минимальное собственное число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1272" name="Object 7">
            <a:extLst>
              <a:ext uri="{FF2B5EF4-FFF2-40B4-BE49-F238E27FC236}">
                <a16:creationId xmlns:a16="http://schemas.microsoft.com/office/drawing/2014/main" id="{63643A6F-A69F-40F2-9070-9F1DAE4EFB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2924176"/>
          <a:ext cx="79216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1" name="Формула" r:id="rId5" imgW="508000" imgH="228600" progId="Equation.3">
                  <p:embed/>
                </p:oleObj>
              </mc:Choice>
              <mc:Fallback>
                <p:oleObj name="Формула" r:id="rId5" imgW="508000" imgH="228600" progId="Equation.3">
                  <p:embed/>
                  <p:pic>
                    <p:nvPicPr>
                      <p:cNvPr id="11272" name="Object 7">
                        <a:extLst>
                          <a:ext uri="{FF2B5EF4-FFF2-40B4-BE49-F238E27FC236}">
                            <a16:creationId xmlns:a16="http://schemas.microsoft.com/office/drawing/2014/main" id="{63643A6F-A69F-40F2-9070-9F1DAE4EFB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2924176"/>
                        <a:ext cx="79216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>
            <a:extLst>
              <a:ext uri="{FF2B5EF4-FFF2-40B4-BE49-F238E27FC236}">
                <a16:creationId xmlns:a16="http://schemas.microsoft.com/office/drawing/2014/main" id="{3AEE40C8-4959-4AFA-8B01-A2ECD4F1E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19891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1274" name="Object 10">
            <a:extLst>
              <a:ext uri="{FF2B5EF4-FFF2-40B4-BE49-F238E27FC236}">
                <a16:creationId xmlns:a16="http://schemas.microsoft.com/office/drawing/2014/main" id="{B6CD26D1-8EEF-4D56-B177-15D7C8B6862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104063" y="2492375"/>
          <a:ext cx="7921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2" name="Формула" r:id="rId7" imgW="508000" imgH="228600" progId="Equation.3">
                  <p:embed/>
                </p:oleObj>
              </mc:Choice>
              <mc:Fallback>
                <p:oleObj name="Формула" r:id="rId7" imgW="508000" imgH="228600" progId="Equation.3">
                  <p:embed/>
                  <p:pic>
                    <p:nvPicPr>
                      <p:cNvPr id="11274" name="Object 10">
                        <a:extLst>
                          <a:ext uri="{FF2B5EF4-FFF2-40B4-BE49-F238E27FC236}">
                            <a16:creationId xmlns:a16="http://schemas.microsoft.com/office/drawing/2014/main" id="{B6CD26D1-8EEF-4D56-B177-15D7C8B686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2492375"/>
                        <a:ext cx="792162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2">
            <a:extLst>
              <a:ext uri="{FF2B5EF4-FFF2-40B4-BE49-F238E27FC236}">
                <a16:creationId xmlns:a16="http://schemas.microsoft.com/office/drawing/2014/main" id="{F2AFE42D-FA8D-47DF-AB9A-E0C659756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28527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76" name="Rectangle 14">
            <a:extLst>
              <a:ext uri="{FF2B5EF4-FFF2-40B4-BE49-F238E27FC236}">
                <a16:creationId xmlns:a16="http://schemas.microsoft.com/office/drawing/2014/main" id="{DAA86304-1F98-40D9-B85F-73161DAEB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3573464"/>
            <a:ext cx="7991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cs typeface="Times New Roman" panose="02020603050405020304" pitchFamily="18" charset="0"/>
              </a:rPr>
              <a:t>В случае отсутствия матрицы Гессе числом обусловленности может быть отношение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graphicFrame>
        <p:nvGraphicFramePr>
          <p:cNvPr id="11277" name="Object 13">
            <a:extLst>
              <a:ext uri="{FF2B5EF4-FFF2-40B4-BE49-F238E27FC236}">
                <a16:creationId xmlns:a16="http://schemas.microsoft.com/office/drawing/2014/main" id="{5D036A9C-392B-4AF4-AC5F-41B6DED1B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9" y="3860800"/>
          <a:ext cx="28797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" name="Формула" r:id="rId8" imgW="1651000" imgH="609600" progId="Equation.3">
                  <p:embed/>
                </p:oleObj>
              </mc:Choice>
              <mc:Fallback>
                <p:oleObj name="Формула" r:id="rId8" imgW="1651000" imgH="609600" progId="Equation.3">
                  <p:embed/>
                  <p:pic>
                    <p:nvPicPr>
                      <p:cNvPr id="11277" name="Object 13">
                        <a:extLst>
                          <a:ext uri="{FF2B5EF4-FFF2-40B4-BE49-F238E27FC236}">
                            <a16:creationId xmlns:a16="http://schemas.microsoft.com/office/drawing/2014/main" id="{5D036A9C-392B-4AF4-AC5F-41B6DED1B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3860800"/>
                        <a:ext cx="28797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15">
            <a:extLst>
              <a:ext uri="{FF2B5EF4-FFF2-40B4-BE49-F238E27FC236}">
                <a16:creationId xmlns:a16="http://schemas.microsoft.com/office/drawing/2014/main" id="{B8A56557-EA3D-4F8C-8E20-8FE608215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3733800"/>
            <a:ext cx="227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79" name="Rectangle 16">
            <a:extLst>
              <a:ext uri="{FF2B5EF4-FFF2-40B4-BE49-F238E27FC236}">
                <a16:creationId xmlns:a16="http://schemas.microsoft.com/office/drawing/2014/main" id="{8FE5A1E5-3854-4D51-9A13-D63BED870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40767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pic>
        <p:nvPicPr>
          <p:cNvPr id="11280" name="Picture 17">
            <a:extLst>
              <a:ext uri="{FF2B5EF4-FFF2-40B4-BE49-F238E27FC236}">
                <a16:creationId xmlns:a16="http://schemas.microsoft.com/office/drawing/2014/main" id="{FAFB1D3C-E6F2-48DF-BCD0-18744E08A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4749800"/>
            <a:ext cx="381635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81" name="Object 19">
            <a:extLst>
              <a:ext uri="{FF2B5EF4-FFF2-40B4-BE49-F238E27FC236}">
                <a16:creationId xmlns:a16="http://schemas.microsoft.com/office/drawing/2014/main" id="{E8DC45ED-951C-4EA8-9B21-6F0131207A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9" y="5805488"/>
          <a:ext cx="51847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" name="Формула" r:id="rId11" imgW="2235200" imgH="228600" progId="Equation.3">
                  <p:embed/>
                </p:oleObj>
              </mc:Choice>
              <mc:Fallback>
                <p:oleObj name="Формула" r:id="rId11" imgW="2235200" imgH="228600" progId="Equation.3">
                  <p:embed/>
                  <p:pic>
                    <p:nvPicPr>
                      <p:cNvPr id="11281" name="Object 19">
                        <a:extLst>
                          <a:ext uri="{FF2B5EF4-FFF2-40B4-BE49-F238E27FC236}">
                            <a16:creationId xmlns:a16="http://schemas.microsoft.com/office/drawing/2014/main" id="{E8DC45ED-951C-4EA8-9B21-6F0131207A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9" y="5805488"/>
                        <a:ext cx="51847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2" name="Object 18">
            <a:extLst>
              <a:ext uri="{FF2B5EF4-FFF2-40B4-BE49-F238E27FC236}">
                <a16:creationId xmlns:a16="http://schemas.microsoft.com/office/drawing/2014/main" id="{7E12E328-AC68-4463-B59D-9B26FAE3A1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436939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5" name="Формула" r:id="rId13" imgW="114151" imgH="215619" progId="Equation.3">
                  <p:embed/>
                </p:oleObj>
              </mc:Choice>
              <mc:Fallback>
                <p:oleObj name="Формула" r:id="rId13" imgW="114151" imgH="215619" progId="Equation.3">
                  <p:embed/>
                  <p:pic>
                    <p:nvPicPr>
                      <p:cNvPr id="11282" name="Object 18">
                        <a:extLst>
                          <a:ext uri="{FF2B5EF4-FFF2-40B4-BE49-F238E27FC236}">
                            <a16:creationId xmlns:a16="http://schemas.microsoft.com/office/drawing/2014/main" id="{7E12E328-AC68-4463-B59D-9B26FAE3A1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436939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Rectangle 20">
            <a:extLst>
              <a:ext uri="{FF2B5EF4-FFF2-40B4-BE49-F238E27FC236}">
                <a16:creationId xmlns:a16="http://schemas.microsoft.com/office/drawing/2014/main" id="{7E3C71FC-8119-4F19-9A14-BB1255E54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528" y="5065069"/>
            <a:ext cx="41881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u="sng" dirty="0">
                <a:cs typeface="Times New Roman" panose="02020603050405020304" pitchFamily="18" charset="0"/>
              </a:rPr>
              <a:t>Пример</a:t>
            </a:r>
            <a:r>
              <a:rPr lang="ru-RU" altLang="ru-RU" sz="2400" dirty="0">
                <a:cs typeface="Times New Roman" panose="02020603050405020304" pitchFamily="18" charset="0"/>
              </a:rPr>
              <a:t> функция </a:t>
            </a:r>
            <a:r>
              <a:rPr lang="ru-RU" altLang="ru-RU" sz="2400" dirty="0" err="1">
                <a:cs typeface="Times New Roman" panose="02020603050405020304" pitchFamily="18" charset="0"/>
              </a:rPr>
              <a:t>Розенброка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ru-RU" altLang="ru-RU" sz="12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11284" name="Rectangle 21">
            <a:extLst>
              <a:ext uri="{FF2B5EF4-FFF2-40B4-BE49-F238E27FC236}">
                <a16:creationId xmlns:a16="http://schemas.microsoft.com/office/drawing/2014/main" id="{272CCF43-2689-45B6-B4C5-011542BD2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52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85" name="Rectangle 22">
            <a:extLst>
              <a:ext uri="{FF2B5EF4-FFF2-40B4-BE49-F238E27FC236}">
                <a16:creationId xmlns:a16="http://schemas.microsoft.com/office/drawing/2014/main" id="{9CAD3255-37C6-466E-B29D-883C5A01B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49664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AC596FD-BE54-4534-82E1-8635809B4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1-го порядка).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2291" name="Picture 4">
            <a:extLst>
              <a:ext uri="{FF2B5EF4-FFF2-40B4-BE49-F238E27FC236}">
                <a16:creationId xmlns:a16="http://schemas.microsoft.com/office/drawing/2014/main" id="{D4FE4874-B90F-488A-A9D5-7E55E9618BD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2314" y="1844676"/>
            <a:ext cx="6624637" cy="2862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2" name="Picture 5">
            <a:extLst>
              <a:ext uri="{FF2B5EF4-FFF2-40B4-BE49-F238E27FC236}">
                <a16:creationId xmlns:a16="http://schemas.microsoft.com/office/drawing/2014/main" id="{14221315-E609-40CC-991C-C0A521510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4797426"/>
            <a:ext cx="381635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20D6F4B-993A-4541-ABEE-6584EBC0E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1-го порядка).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1F32D13-553B-4591-8683-DF1A629A4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3388" y="1600200"/>
            <a:ext cx="8856662" cy="50688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b="1" i="1" dirty="0"/>
              <a:t>Функция                                - класс 1 раз дифференцируемых функций.</a:t>
            </a: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28FDD183-6CC4-45DB-9B77-7A800FF03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690513"/>
              </p:ext>
            </p:extLst>
          </p:nvPr>
        </p:nvGraphicFramePr>
        <p:xfrm>
          <a:off x="2928938" y="1536184"/>
          <a:ext cx="158273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9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28FDD183-6CC4-45DB-9B77-7A800FF03F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1536184"/>
                        <a:ext cx="158273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8">
            <a:extLst>
              <a:ext uri="{FF2B5EF4-FFF2-40B4-BE49-F238E27FC236}">
                <a16:creationId xmlns:a16="http://schemas.microsoft.com/office/drawing/2014/main" id="{2FDF85A3-4768-4EE0-AE0A-12C03D05E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18" name="Object 7">
            <a:extLst>
              <a:ext uri="{FF2B5EF4-FFF2-40B4-BE49-F238E27FC236}">
                <a16:creationId xmlns:a16="http://schemas.microsoft.com/office/drawing/2014/main" id="{BB3F43DE-2CD5-4892-BCE7-33E6E2078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060575"/>
          <a:ext cx="41036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0" name="Формула" r:id="rId5" imgW="2209800" imgH="203200" progId="Equation.3">
                  <p:embed/>
                </p:oleObj>
              </mc:Choice>
              <mc:Fallback>
                <p:oleObj name="Формула" r:id="rId5" imgW="2209800" imgH="203200" progId="Equation.3">
                  <p:embed/>
                  <p:pic>
                    <p:nvPicPr>
                      <p:cNvPr id="13318" name="Object 7">
                        <a:extLst>
                          <a:ext uri="{FF2B5EF4-FFF2-40B4-BE49-F238E27FC236}">
                            <a16:creationId xmlns:a16="http://schemas.microsoft.com/office/drawing/2014/main" id="{BB3F43DE-2CD5-4892-BCE7-33E6E2078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060575"/>
                        <a:ext cx="41036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9">
            <a:extLst>
              <a:ext uri="{FF2B5EF4-FFF2-40B4-BE49-F238E27FC236}">
                <a16:creationId xmlns:a16="http://schemas.microsoft.com/office/drawing/2014/main" id="{044BEAF4-C644-4275-8209-5B8292734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491066"/>
            <a:ext cx="21897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Разложим функцию </a:t>
            </a:r>
          </a:p>
        </p:txBody>
      </p:sp>
      <p:sp>
        <p:nvSpPr>
          <p:cNvPr id="13320" name="Rectangle 11">
            <a:extLst>
              <a:ext uri="{FF2B5EF4-FFF2-40B4-BE49-F238E27FC236}">
                <a16:creationId xmlns:a16="http://schemas.microsoft.com/office/drawing/2014/main" id="{45F3AEBD-DF80-495D-ABE8-0619E18C5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1" name="Object 10">
            <a:extLst>
              <a:ext uri="{FF2B5EF4-FFF2-40B4-BE49-F238E27FC236}">
                <a16:creationId xmlns:a16="http://schemas.microsoft.com/office/drawing/2014/main" id="{64C84F2F-F700-4ED4-93B0-EDF2831E4C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2492376"/>
          <a:ext cx="18002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1" name="Формула" r:id="rId7" imgW="1040948" imgH="228501" progId="Equation.3">
                  <p:embed/>
                </p:oleObj>
              </mc:Choice>
              <mc:Fallback>
                <p:oleObj name="Формула" r:id="rId7" imgW="1040948" imgH="228501" progId="Equation.3">
                  <p:embed/>
                  <p:pic>
                    <p:nvPicPr>
                      <p:cNvPr id="13321" name="Object 10">
                        <a:extLst>
                          <a:ext uri="{FF2B5EF4-FFF2-40B4-BE49-F238E27FC236}">
                            <a16:creationId xmlns:a16="http://schemas.microsoft.com/office/drawing/2014/main" id="{64C84F2F-F700-4ED4-93B0-EDF2831E4C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2492376"/>
                        <a:ext cx="18002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12">
            <a:extLst>
              <a:ext uri="{FF2B5EF4-FFF2-40B4-BE49-F238E27FC236}">
                <a16:creationId xmlns:a16="http://schemas.microsoft.com/office/drawing/2014/main" id="{28A859D7-D941-426E-BFAB-D3EC7F0D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2195404"/>
            <a:ext cx="4321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– в ряд Тейлора, тогда, если учитывать только 2 члена ряда, получим:</a:t>
            </a:r>
          </a:p>
        </p:txBody>
      </p:sp>
      <p:sp>
        <p:nvSpPr>
          <p:cNvPr id="13323" name="Rectangle 14">
            <a:extLst>
              <a:ext uri="{FF2B5EF4-FFF2-40B4-BE49-F238E27FC236}">
                <a16:creationId xmlns:a16="http://schemas.microsoft.com/office/drawing/2014/main" id="{668D97D1-E270-4AC1-A394-8551B1784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4" name="Object 13">
            <a:extLst>
              <a:ext uri="{FF2B5EF4-FFF2-40B4-BE49-F238E27FC236}">
                <a16:creationId xmlns:a16="http://schemas.microsoft.com/office/drawing/2014/main" id="{ABE03F5F-10D6-40F5-B51F-768F4B667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2997200"/>
          <a:ext cx="619283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2" name="Формула" r:id="rId9" imgW="2908300" imgH="279400" progId="Equation.3">
                  <p:embed/>
                </p:oleObj>
              </mc:Choice>
              <mc:Fallback>
                <p:oleObj name="Формула" r:id="rId9" imgW="2908300" imgH="279400" progId="Equation.3">
                  <p:embed/>
                  <p:pic>
                    <p:nvPicPr>
                      <p:cNvPr id="13324" name="Object 13">
                        <a:extLst>
                          <a:ext uri="{FF2B5EF4-FFF2-40B4-BE49-F238E27FC236}">
                            <a16:creationId xmlns:a16="http://schemas.microsoft.com/office/drawing/2014/main" id="{ABE03F5F-10D6-40F5-B51F-768F4B667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997200"/>
                        <a:ext cx="6192837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5">
            <a:extLst>
              <a:ext uri="{FF2B5EF4-FFF2-40B4-BE49-F238E27FC236}">
                <a16:creationId xmlns:a16="http://schemas.microsoft.com/office/drawing/2014/main" id="{F7EAB59F-A92D-49FB-ACA7-5839FC8DC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3643591"/>
            <a:ext cx="60732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того, чтобы функция уменьшалась, необходимо, чтобы </a:t>
            </a:r>
          </a:p>
        </p:txBody>
      </p:sp>
      <p:sp>
        <p:nvSpPr>
          <p:cNvPr id="13326" name="Rectangle 17">
            <a:extLst>
              <a:ext uri="{FF2B5EF4-FFF2-40B4-BE49-F238E27FC236}">
                <a16:creationId xmlns:a16="http://schemas.microsoft.com/office/drawing/2014/main" id="{45EB9993-0549-423F-A869-1F9E6A23D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7" name="Object 16">
            <a:extLst>
              <a:ext uri="{FF2B5EF4-FFF2-40B4-BE49-F238E27FC236}">
                <a16:creationId xmlns:a16="http://schemas.microsoft.com/office/drawing/2014/main" id="{846E551D-FA55-489E-85D5-CF33F5E8C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6950" y="3644900"/>
          <a:ext cx="17287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3" name="Формула" r:id="rId11" imgW="1066800" imgH="228600" progId="Equation.3">
                  <p:embed/>
                </p:oleObj>
              </mc:Choice>
              <mc:Fallback>
                <p:oleObj name="Формула" r:id="rId11" imgW="1066800" imgH="228600" progId="Equation.3">
                  <p:embed/>
                  <p:pic>
                    <p:nvPicPr>
                      <p:cNvPr id="13327" name="Object 16">
                        <a:extLst>
                          <a:ext uri="{FF2B5EF4-FFF2-40B4-BE49-F238E27FC236}">
                            <a16:creationId xmlns:a16="http://schemas.microsoft.com/office/drawing/2014/main" id="{846E551D-FA55-489E-85D5-CF33F5E8C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3644900"/>
                        <a:ext cx="172878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Rectangle 19">
            <a:extLst>
              <a:ext uri="{FF2B5EF4-FFF2-40B4-BE49-F238E27FC236}">
                <a16:creationId xmlns:a16="http://schemas.microsoft.com/office/drawing/2014/main" id="{7E774A5D-9FF3-4E86-BE10-A5B4B4195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9" name="Object 18">
            <a:extLst>
              <a:ext uri="{FF2B5EF4-FFF2-40B4-BE49-F238E27FC236}">
                <a16:creationId xmlns:a16="http://schemas.microsoft.com/office/drawing/2014/main" id="{179806AB-02EE-450F-A6BD-50C552126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3986213"/>
          <a:ext cx="18716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4" name="Формула" r:id="rId13" imgW="1193800" imgH="495300" progId="Equation.3">
                  <p:embed/>
                </p:oleObj>
              </mc:Choice>
              <mc:Fallback>
                <p:oleObj name="Формула" r:id="rId13" imgW="1193800" imgH="495300" progId="Equation.3">
                  <p:embed/>
                  <p:pic>
                    <p:nvPicPr>
                      <p:cNvPr id="13329" name="Object 18">
                        <a:extLst>
                          <a:ext uri="{FF2B5EF4-FFF2-40B4-BE49-F238E27FC236}">
                            <a16:creationId xmlns:a16="http://schemas.microsoft.com/office/drawing/2014/main" id="{179806AB-02EE-450F-A6BD-50C552126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3986213"/>
                        <a:ext cx="18716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Rectangle 20">
            <a:extLst>
              <a:ext uri="{FF2B5EF4-FFF2-40B4-BE49-F238E27FC236}">
                <a16:creationId xmlns:a16="http://schemas.microsoft.com/office/drawing/2014/main" id="{EDF3B4F0-0030-4A8E-B8C1-D71CA14F3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9" y="4075391"/>
            <a:ext cx="10150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 Тогда  </a:t>
            </a:r>
          </a:p>
        </p:txBody>
      </p:sp>
      <p:sp>
        <p:nvSpPr>
          <p:cNvPr id="13331" name="Rectangle 22">
            <a:extLst>
              <a:ext uri="{FF2B5EF4-FFF2-40B4-BE49-F238E27FC236}">
                <a16:creationId xmlns:a16="http://schemas.microsoft.com/office/drawing/2014/main" id="{D32FA5D7-ABBF-45C4-8384-0BFDB43C3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2" name="Object 21">
            <a:extLst>
              <a:ext uri="{FF2B5EF4-FFF2-40B4-BE49-F238E27FC236}">
                <a16:creationId xmlns:a16="http://schemas.microsoft.com/office/drawing/2014/main" id="{9A582A4C-9F94-4B0E-AF08-BFBB4F431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3933826"/>
          <a:ext cx="309721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5" name="Формула" r:id="rId15" imgW="1803400" imgH="495300" progId="Equation.3">
                  <p:embed/>
                </p:oleObj>
              </mc:Choice>
              <mc:Fallback>
                <p:oleObj name="Формула" r:id="rId15" imgW="1803400" imgH="495300" progId="Equation.3">
                  <p:embed/>
                  <p:pic>
                    <p:nvPicPr>
                      <p:cNvPr id="13332" name="Object 21">
                        <a:extLst>
                          <a:ext uri="{FF2B5EF4-FFF2-40B4-BE49-F238E27FC236}">
                            <a16:creationId xmlns:a16="http://schemas.microsoft.com/office/drawing/2014/main" id="{9A582A4C-9F94-4B0E-AF08-BFBB4F431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933826"/>
                        <a:ext cx="309721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3" name="Rectangle 23">
            <a:extLst>
              <a:ext uri="{FF2B5EF4-FFF2-40B4-BE49-F238E27FC236}">
                <a16:creationId xmlns:a16="http://schemas.microsoft.com/office/drawing/2014/main" id="{C0B272B7-2B4B-4BF4-A8E8-0D169B48A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723091"/>
            <a:ext cx="12175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этом  </a:t>
            </a:r>
          </a:p>
        </p:txBody>
      </p:sp>
      <p:sp>
        <p:nvSpPr>
          <p:cNvPr id="13334" name="Rectangle 25">
            <a:extLst>
              <a:ext uri="{FF2B5EF4-FFF2-40B4-BE49-F238E27FC236}">
                <a16:creationId xmlns:a16="http://schemas.microsoft.com/office/drawing/2014/main" id="{81451B62-2613-4BB2-BE37-78EF68852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5" name="Object 24">
            <a:extLst>
              <a:ext uri="{FF2B5EF4-FFF2-40B4-BE49-F238E27FC236}">
                <a16:creationId xmlns:a16="http://schemas.microsoft.com/office/drawing/2014/main" id="{67DB4F27-A6B3-484C-86F9-15C65D7A9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4724400"/>
          <a:ext cx="30972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6" name="Формула" r:id="rId17" imgW="2311400" imgH="254000" progId="Equation.3">
                  <p:embed/>
                </p:oleObj>
              </mc:Choice>
              <mc:Fallback>
                <p:oleObj name="Формула" r:id="rId17" imgW="2311400" imgH="254000" progId="Equation.3">
                  <p:embed/>
                  <p:pic>
                    <p:nvPicPr>
                      <p:cNvPr id="13335" name="Object 24">
                        <a:extLst>
                          <a:ext uri="{FF2B5EF4-FFF2-40B4-BE49-F238E27FC236}">
                            <a16:creationId xmlns:a16="http://schemas.microsoft.com/office/drawing/2014/main" id="{67DB4F27-A6B3-484C-86F9-15C65D7A9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724400"/>
                        <a:ext cx="309721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Rectangle 26">
            <a:extLst>
              <a:ext uri="{FF2B5EF4-FFF2-40B4-BE49-F238E27FC236}">
                <a16:creationId xmlns:a16="http://schemas.microsoft.com/office/drawing/2014/main" id="{148D2CE4-DACF-45C1-8985-D9671CACB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5083453"/>
            <a:ext cx="21687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u="sng"/>
              <a:t>Особенность МНС:</a:t>
            </a:r>
            <a:r>
              <a:rPr lang="ru-RU" altLang="ru-RU"/>
              <a:t> </a:t>
            </a:r>
          </a:p>
        </p:txBody>
      </p:sp>
      <p:sp>
        <p:nvSpPr>
          <p:cNvPr id="13337" name="Rectangle 28">
            <a:extLst>
              <a:ext uri="{FF2B5EF4-FFF2-40B4-BE49-F238E27FC236}">
                <a16:creationId xmlns:a16="http://schemas.microsoft.com/office/drawing/2014/main" id="{CCF20329-9CAA-4B65-A378-5B26BB27D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8" name="Object 27">
            <a:extLst>
              <a:ext uri="{FF2B5EF4-FFF2-40B4-BE49-F238E27FC236}">
                <a16:creationId xmlns:a16="http://schemas.microsoft.com/office/drawing/2014/main" id="{C57AD135-7F3B-444B-ADD7-143FF1687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5084763"/>
          <a:ext cx="23764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7" name="Формула" r:id="rId19" imgW="1536700" imgH="228600" progId="Equation.3">
                  <p:embed/>
                </p:oleObj>
              </mc:Choice>
              <mc:Fallback>
                <p:oleObj name="Формула" r:id="rId19" imgW="1536700" imgH="228600" progId="Equation.3">
                  <p:embed/>
                  <p:pic>
                    <p:nvPicPr>
                      <p:cNvPr id="13338" name="Object 27">
                        <a:extLst>
                          <a:ext uri="{FF2B5EF4-FFF2-40B4-BE49-F238E27FC236}">
                            <a16:creationId xmlns:a16="http://schemas.microsoft.com/office/drawing/2014/main" id="{C57AD135-7F3B-444B-ADD7-143FF1687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5084763"/>
                        <a:ext cx="23764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9" name="Rectangle 29">
            <a:extLst>
              <a:ext uri="{FF2B5EF4-FFF2-40B4-BE49-F238E27FC236}">
                <a16:creationId xmlns:a16="http://schemas.microsoft.com/office/drawing/2014/main" id="{942A656B-2016-4692-B13D-D8F8FB21B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1" y="5012016"/>
            <a:ext cx="9312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 есть </a:t>
            </a:r>
          </a:p>
        </p:txBody>
      </p:sp>
      <p:sp>
        <p:nvSpPr>
          <p:cNvPr id="13340" name="Rectangle 31">
            <a:extLst>
              <a:ext uri="{FF2B5EF4-FFF2-40B4-BE49-F238E27FC236}">
                <a16:creationId xmlns:a16="http://schemas.microsoft.com/office/drawing/2014/main" id="{A9D1C46D-D5F5-4DD6-86D7-3CC779458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41" name="Object 30">
            <a:extLst>
              <a:ext uri="{FF2B5EF4-FFF2-40B4-BE49-F238E27FC236}">
                <a16:creationId xmlns:a16="http://schemas.microsoft.com/office/drawing/2014/main" id="{4A163139-B336-42F7-AE48-2377F929BC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5863" y="5013326"/>
          <a:ext cx="16557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8" name="Формула" r:id="rId21" imgW="939392" imgH="203112" progId="Equation.3">
                  <p:embed/>
                </p:oleObj>
              </mc:Choice>
              <mc:Fallback>
                <p:oleObj name="Формула" r:id="rId21" imgW="939392" imgH="203112" progId="Equation.3">
                  <p:embed/>
                  <p:pic>
                    <p:nvPicPr>
                      <p:cNvPr id="13341" name="Object 30">
                        <a:extLst>
                          <a:ext uri="{FF2B5EF4-FFF2-40B4-BE49-F238E27FC236}">
                            <a16:creationId xmlns:a16="http://schemas.microsoft.com/office/drawing/2014/main" id="{4A163139-B336-42F7-AE48-2377F929BC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5013326"/>
                        <a:ext cx="165576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2" name="Rectangle 32">
            <a:extLst>
              <a:ext uri="{FF2B5EF4-FFF2-40B4-BE49-F238E27FC236}">
                <a16:creationId xmlns:a16="http://schemas.microsoft.com/office/drawing/2014/main" id="{8324EC7A-EA63-4C1B-8362-130941304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5013326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 </a:t>
            </a:r>
          </a:p>
        </p:txBody>
      </p:sp>
      <p:sp>
        <p:nvSpPr>
          <p:cNvPr id="13343" name="Rectangle 33">
            <a:extLst>
              <a:ext uri="{FF2B5EF4-FFF2-40B4-BE49-F238E27FC236}">
                <a16:creationId xmlns:a16="http://schemas.microsoft.com/office/drawing/2014/main" id="{22F1365A-2C35-4F8B-8F68-22925AFA3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5494923"/>
            <a:ext cx="83518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 u="sng"/>
              <a:t>Достоинства.</a:t>
            </a:r>
            <a:r>
              <a:rPr lang="ru-RU" altLang="ru-RU" sz="1600"/>
              <a:t> Линейная скорость сходимости для функций </a:t>
            </a:r>
            <a:r>
              <a:rPr lang="ru-RU" altLang="ru-RU" sz="1600">
                <a:sym typeface="Symbol" panose="05050102010706020507" pitchFamily="18" charset="2"/>
              </a:rPr>
              <a:t></a:t>
            </a:r>
            <a:r>
              <a:rPr lang="ru-RU" altLang="ru-RU" sz="1600"/>
              <a:t>(</a:t>
            </a:r>
            <a:r>
              <a:rPr lang="en-US" altLang="ru-RU" sz="1600">
                <a:sym typeface="Symbol" panose="05050102010706020507" pitchFamily="18" charset="2"/>
              </a:rPr>
              <a:t>x</a:t>
            </a:r>
            <a:r>
              <a:rPr lang="ru-RU" altLang="ru-RU" sz="1600">
                <a:sym typeface="Symbol" panose="05050102010706020507" pitchFamily="18" charset="2"/>
              </a:rPr>
              <a:t>) близких к квадратичным. </a:t>
            </a:r>
          </a:p>
        </p:txBody>
      </p:sp>
      <p:sp>
        <p:nvSpPr>
          <p:cNvPr id="13344" name="Rectangle 34">
            <a:extLst>
              <a:ext uri="{FF2B5EF4-FFF2-40B4-BE49-F238E27FC236}">
                <a16:creationId xmlns:a16="http://schemas.microsoft.com/office/drawing/2014/main" id="{30A4B667-28AE-4407-887B-9A294A37E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703" y="5963236"/>
            <a:ext cx="12598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 u="sng"/>
              <a:t>Недостатки:</a:t>
            </a:r>
          </a:p>
        </p:txBody>
      </p:sp>
      <p:sp>
        <p:nvSpPr>
          <p:cNvPr id="13345" name="Rectangle 37">
            <a:extLst>
              <a:ext uri="{FF2B5EF4-FFF2-40B4-BE49-F238E27FC236}">
                <a16:creationId xmlns:a16="http://schemas.microsoft.com/office/drawing/2014/main" id="{E62E56D1-F8BF-44B7-B22D-0A433D8B3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565" y="5845761"/>
            <a:ext cx="12618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1.Функция 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3346" name="Object 36">
            <a:extLst>
              <a:ext uri="{FF2B5EF4-FFF2-40B4-BE49-F238E27FC236}">
                <a16:creationId xmlns:a16="http://schemas.microsoft.com/office/drawing/2014/main" id="{418C9064-A52B-4609-A096-F1A81D140D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5876925"/>
          <a:ext cx="11525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9" name="Формула" r:id="rId23" imgW="876300" imgH="228600" progId="Equation.3">
                  <p:embed/>
                </p:oleObj>
              </mc:Choice>
              <mc:Fallback>
                <p:oleObj name="Формула" r:id="rId23" imgW="876300" imgH="228600" progId="Equation.3">
                  <p:embed/>
                  <p:pic>
                    <p:nvPicPr>
                      <p:cNvPr id="13346" name="Object 36">
                        <a:extLst>
                          <a:ext uri="{FF2B5EF4-FFF2-40B4-BE49-F238E27FC236}">
                            <a16:creationId xmlns:a16="http://schemas.microsoft.com/office/drawing/2014/main" id="{418C9064-A52B-4609-A096-F1A81D140D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5876925"/>
                        <a:ext cx="115252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7" name="Rectangle 38">
            <a:extLst>
              <a:ext uri="{FF2B5EF4-FFF2-40B4-BE49-F238E27FC236}">
                <a16:creationId xmlns:a16="http://schemas.microsoft.com/office/drawing/2014/main" id="{E8E4F62B-2E4E-4C24-B3DF-AADBC09C2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480" y="5845761"/>
            <a:ext cx="35947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– должна быть дифференцируема.</a:t>
            </a:r>
            <a:endParaRPr lang="ru-RU" altLang="ru-RU" sz="1600">
              <a:latin typeface="Arial" panose="020B0604020202020204" pitchFamily="34" charset="0"/>
            </a:endParaRPr>
          </a:p>
        </p:txBody>
      </p:sp>
      <p:sp>
        <p:nvSpPr>
          <p:cNvPr id="13348" name="Rectangle 39">
            <a:extLst>
              <a:ext uri="{FF2B5EF4-FFF2-40B4-BE49-F238E27FC236}">
                <a16:creationId xmlns:a16="http://schemas.microsoft.com/office/drawing/2014/main" id="{C167D4EB-0BEA-4381-B6C3-1AD512A2F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702" y="6164848"/>
            <a:ext cx="60547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/>
              <a:t>2.Возможность зацикливания при плохой обусловленности задачи.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D76865A-E892-4A08-90B0-40EC91520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59709F1-4E9A-4D74-B83B-76C3E153D2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Условием использования этого метода является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EB865BEF-592E-4DCC-A6A4-32E9956E9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41" name="Object 4">
            <a:extLst>
              <a:ext uri="{FF2B5EF4-FFF2-40B4-BE49-F238E27FC236}">
                <a16:creationId xmlns:a16="http://schemas.microsoft.com/office/drawing/2014/main" id="{D88C8045-5454-403D-B56E-295C064954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5" y="1700214"/>
          <a:ext cx="17287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0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14341" name="Object 4">
                        <a:extLst>
                          <a:ext uri="{FF2B5EF4-FFF2-40B4-BE49-F238E27FC236}">
                            <a16:creationId xmlns:a16="http://schemas.microsoft.com/office/drawing/2014/main" id="{D88C8045-5454-403D-B56E-295C064954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1700214"/>
                        <a:ext cx="172878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>
            <a:extLst>
              <a:ext uri="{FF2B5EF4-FFF2-40B4-BE49-F238E27FC236}">
                <a16:creationId xmlns:a16="http://schemas.microsoft.com/office/drawing/2014/main" id="{533E72F5-E681-4D56-A999-770830FEE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888" y="17732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69DB55E9-80B0-44E6-99F7-F5E4722D9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203728"/>
            <a:ext cx="64410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а также условие выпуклости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 в окрестности точки поиска. </a:t>
            </a:r>
          </a:p>
        </p:txBody>
      </p:sp>
      <p:sp>
        <p:nvSpPr>
          <p:cNvPr id="14344" name="Rectangle 9">
            <a:extLst>
              <a:ext uri="{FF2B5EF4-FFF2-40B4-BE49-F238E27FC236}">
                <a16:creationId xmlns:a16="http://schemas.microsoft.com/office/drawing/2014/main" id="{2B9EC536-4301-4DAD-8159-5E3C6CA43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418707"/>
            <a:ext cx="8841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cs typeface="Times New Roman" panose="02020603050405020304" pitchFamily="18" charset="0"/>
              </a:rPr>
              <a:t>Точка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4345" name="Object 8">
            <a:extLst>
              <a:ext uri="{FF2B5EF4-FFF2-40B4-BE49-F238E27FC236}">
                <a16:creationId xmlns:a16="http://schemas.microsoft.com/office/drawing/2014/main" id="{E3787030-9232-49A8-8E62-05EC3A9F4A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3" y="2492376"/>
          <a:ext cx="2905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1" name="Формула" r:id="rId5" imgW="164957" imgH="203024" progId="Equation.3">
                  <p:embed/>
                </p:oleObj>
              </mc:Choice>
              <mc:Fallback>
                <p:oleObj name="Формула" r:id="rId5" imgW="164957" imgH="203024" progId="Equation.3">
                  <p:embed/>
                  <p:pic>
                    <p:nvPicPr>
                      <p:cNvPr id="14345" name="Object 8">
                        <a:extLst>
                          <a:ext uri="{FF2B5EF4-FFF2-40B4-BE49-F238E27FC236}">
                            <a16:creationId xmlns:a16="http://schemas.microsoft.com/office/drawing/2014/main" id="{E3787030-9232-49A8-8E62-05EC3A9F4A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492376"/>
                        <a:ext cx="2905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0">
            <a:extLst>
              <a:ext uri="{FF2B5EF4-FFF2-40B4-BE49-F238E27FC236}">
                <a16:creationId xmlns:a16="http://schemas.microsoft.com/office/drawing/2014/main" id="{EE11A6C5-5089-44B3-8B90-019256A79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2490758"/>
            <a:ext cx="61305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altLang="ru-RU" sz="2000" dirty="0">
                <a:cs typeface="Times New Roman" panose="02020603050405020304" pitchFamily="18" charset="0"/>
              </a:rPr>
              <a:t>стационарная точка (точка локального экстремума ) </a:t>
            </a:r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F0F60CDD-FE3E-471B-ADE6-7A00A9D19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249237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9BF1B3B5-00EA-4180-AEC1-20DD4B189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924176"/>
            <a:ext cx="865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Пусть:</a:t>
            </a:r>
          </a:p>
        </p:txBody>
      </p:sp>
      <p:sp>
        <p:nvSpPr>
          <p:cNvPr id="14349" name="Rectangle 14">
            <a:extLst>
              <a:ext uri="{FF2B5EF4-FFF2-40B4-BE49-F238E27FC236}">
                <a16:creationId xmlns:a16="http://schemas.microsoft.com/office/drawing/2014/main" id="{56CD8D76-8D1F-43F6-B956-35EF14B6E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3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0" name="Object 13">
            <a:extLst>
              <a:ext uri="{FF2B5EF4-FFF2-40B4-BE49-F238E27FC236}">
                <a16:creationId xmlns:a16="http://schemas.microsoft.com/office/drawing/2014/main" id="{9DE89CA7-8646-40A6-84DF-58E3C3E42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2852738"/>
          <a:ext cx="21605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2" name="Формула" r:id="rId7" imgW="1168400" imgH="698500" progId="Equation.3">
                  <p:embed/>
                </p:oleObj>
              </mc:Choice>
              <mc:Fallback>
                <p:oleObj name="Формула" r:id="rId7" imgW="1168400" imgH="698500" progId="Equation.3">
                  <p:embed/>
                  <p:pic>
                    <p:nvPicPr>
                      <p:cNvPr id="14350" name="Object 13">
                        <a:extLst>
                          <a:ext uri="{FF2B5EF4-FFF2-40B4-BE49-F238E27FC236}">
                            <a16:creationId xmlns:a16="http://schemas.microsoft.com/office/drawing/2014/main" id="{9DE89CA7-8646-40A6-84DF-58E3C3E42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852738"/>
                        <a:ext cx="2160587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5">
            <a:extLst>
              <a:ext uri="{FF2B5EF4-FFF2-40B4-BE49-F238E27FC236}">
                <a16:creationId xmlns:a16="http://schemas.microsoft.com/office/drawing/2014/main" id="{813F1311-22D4-427B-A67B-3BE44820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6" y="2922866"/>
            <a:ext cx="848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Тогда :</a:t>
            </a:r>
          </a:p>
        </p:txBody>
      </p:sp>
      <p:sp>
        <p:nvSpPr>
          <p:cNvPr id="14352" name="Rectangle 17">
            <a:extLst>
              <a:ext uri="{FF2B5EF4-FFF2-40B4-BE49-F238E27FC236}">
                <a16:creationId xmlns:a16="http://schemas.microsoft.com/office/drawing/2014/main" id="{CCBD88F0-DD5F-421F-93DB-4B1934227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53" name="Rectangle 18">
            <a:extLst>
              <a:ext uri="{FF2B5EF4-FFF2-40B4-BE49-F238E27FC236}">
                <a16:creationId xmlns:a16="http://schemas.microsoft.com/office/drawing/2014/main" id="{F45964DB-1A90-444C-B200-70B6EE607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3932516"/>
            <a:ext cx="5450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где </a:t>
            </a:r>
          </a:p>
        </p:txBody>
      </p:sp>
      <p:sp>
        <p:nvSpPr>
          <p:cNvPr id="14354" name="Rectangle 20">
            <a:extLst>
              <a:ext uri="{FF2B5EF4-FFF2-40B4-BE49-F238E27FC236}">
                <a16:creationId xmlns:a16="http://schemas.microsoft.com/office/drawing/2014/main" id="{CE281A9E-CF4E-4D11-B2D3-EF6A3F89A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5" name="Object 19">
            <a:extLst>
              <a:ext uri="{FF2B5EF4-FFF2-40B4-BE49-F238E27FC236}">
                <a16:creationId xmlns:a16="http://schemas.microsoft.com/office/drawing/2014/main" id="{19000D4C-B926-4F8F-BC2C-C3C8EC646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1" y="3644900"/>
          <a:ext cx="3167063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3" name="Формула" r:id="rId9" imgW="1371600" imgH="571500" progId="Equation.3">
                  <p:embed/>
                </p:oleObj>
              </mc:Choice>
              <mc:Fallback>
                <p:oleObj name="Формула" r:id="rId9" imgW="1371600" imgH="571500" progId="Equation.3">
                  <p:embed/>
                  <p:pic>
                    <p:nvPicPr>
                      <p:cNvPr id="14355" name="Object 19">
                        <a:extLst>
                          <a:ext uri="{FF2B5EF4-FFF2-40B4-BE49-F238E27FC236}">
                            <a16:creationId xmlns:a16="http://schemas.microsoft.com/office/drawing/2014/main" id="{19000D4C-B926-4F8F-BC2C-C3C8EC646B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3644900"/>
                        <a:ext cx="3167063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Rectangle 21">
            <a:extLst>
              <a:ext uri="{FF2B5EF4-FFF2-40B4-BE49-F238E27FC236}">
                <a16:creationId xmlns:a16="http://schemas.microsoft.com/office/drawing/2014/main" id="{6082E652-0B7E-4614-B03D-E30D8E0DE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581525"/>
            <a:ext cx="8424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Разложение функции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(х*) в окрестности х* в ряд Тейлора до 3-го члена дает квадратичную аппроксимацию этой функции в </a:t>
            </a:r>
            <a:r>
              <a:rPr lang="en-US" altLang="ru-RU">
                <a:sym typeface="Symbol" panose="05050102010706020507" pitchFamily="18" charset="2"/>
              </a:rPr>
              <a:t>U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*):</a:t>
            </a:r>
          </a:p>
        </p:txBody>
      </p:sp>
      <p:sp>
        <p:nvSpPr>
          <p:cNvPr id="14357" name="Rectangle 23">
            <a:extLst>
              <a:ext uri="{FF2B5EF4-FFF2-40B4-BE49-F238E27FC236}">
                <a16:creationId xmlns:a16="http://schemas.microsoft.com/office/drawing/2014/main" id="{A5CE2E69-59CC-4EBC-8E95-B146FD7F0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8" name="Object 22">
            <a:extLst>
              <a:ext uri="{FF2B5EF4-FFF2-40B4-BE49-F238E27FC236}">
                <a16:creationId xmlns:a16="http://schemas.microsoft.com/office/drawing/2014/main" id="{B8D52444-434E-470A-80BE-7BDE18EA9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5300663"/>
          <a:ext cx="3600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4" name="Формула" r:id="rId11" imgW="1765300" imgH="228600" progId="Equation.3">
                  <p:embed/>
                </p:oleObj>
              </mc:Choice>
              <mc:Fallback>
                <p:oleObj name="Формула" r:id="rId11" imgW="1765300" imgH="228600" progId="Equation.3">
                  <p:embed/>
                  <p:pic>
                    <p:nvPicPr>
                      <p:cNvPr id="14358" name="Object 22">
                        <a:extLst>
                          <a:ext uri="{FF2B5EF4-FFF2-40B4-BE49-F238E27FC236}">
                            <a16:creationId xmlns:a16="http://schemas.microsoft.com/office/drawing/2014/main" id="{B8D52444-434E-470A-80BE-7BDE18EA9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5300663"/>
                        <a:ext cx="36004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Rectangle 25">
            <a:extLst>
              <a:ext uri="{FF2B5EF4-FFF2-40B4-BE49-F238E27FC236}">
                <a16:creationId xmlns:a16="http://schemas.microsoft.com/office/drawing/2014/main" id="{76DCDDC0-4D90-4795-BC55-17EA2007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0" name="Object 24">
            <a:extLst>
              <a:ext uri="{FF2B5EF4-FFF2-40B4-BE49-F238E27FC236}">
                <a16:creationId xmlns:a16="http://schemas.microsoft.com/office/drawing/2014/main" id="{B1A5C943-A0D3-4B6B-A767-BE7DA6B9DA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4" y="5300664"/>
          <a:ext cx="41052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5" name="Формула" r:id="rId13" imgW="2070100" imgH="228600" progId="Equation.3">
                  <p:embed/>
                </p:oleObj>
              </mc:Choice>
              <mc:Fallback>
                <p:oleObj name="Формула" r:id="rId13" imgW="2070100" imgH="228600" progId="Equation.3">
                  <p:embed/>
                  <p:pic>
                    <p:nvPicPr>
                      <p:cNvPr id="14360" name="Object 24">
                        <a:extLst>
                          <a:ext uri="{FF2B5EF4-FFF2-40B4-BE49-F238E27FC236}">
                            <a16:creationId xmlns:a16="http://schemas.microsoft.com/office/drawing/2014/main" id="{B1A5C943-A0D3-4B6B-A767-BE7DA6B9DA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5300664"/>
                        <a:ext cx="41052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Rectangle 26">
            <a:extLst>
              <a:ext uri="{FF2B5EF4-FFF2-40B4-BE49-F238E27FC236}">
                <a16:creationId xmlns:a16="http://schemas.microsoft.com/office/drawing/2014/main" id="{E7761BFB-A875-4D3C-88E8-9865A0B1C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5300663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62" name="Rectangle 28">
            <a:extLst>
              <a:ext uri="{FF2B5EF4-FFF2-40B4-BE49-F238E27FC236}">
                <a16:creationId xmlns:a16="http://schemas.microsoft.com/office/drawing/2014/main" id="{1742B285-A34A-43D7-8BB9-A452930D8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3" name="Object 27">
            <a:extLst>
              <a:ext uri="{FF2B5EF4-FFF2-40B4-BE49-F238E27FC236}">
                <a16:creationId xmlns:a16="http://schemas.microsoft.com/office/drawing/2014/main" id="{CF95B998-5ED1-45E4-8088-A43177E694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5805488"/>
          <a:ext cx="27368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6" name="Формула" r:id="rId15" imgW="1676400" imgH="228600" progId="Equation.3">
                  <p:embed/>
                </p:oleObj>
              </mc:Choice>
              <mc:Fallback>
                <p:oleObj name="Формула" r:id="rId15" imgW="1676400" imgH="228600" progId="Equation.3">
                  <p:embed/>
                  <p:pic>
                    <p:nvPicPr>
                      <p:cNvPr id="14363" name="Object 27">
                        <a:extLst>
                          <a:ext uri="{FF2B5EF4-FFF2-40B4-BE49-F238E27FC236}">
                            <a16:creationId xmlns:a16="http://schemas.microsoft.com/office/drawing/2014/main" id="{CF95B998-5ED1-45E4-8088-A43177E694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805488"/>
                        <a:ext cx="27368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4" name="Rectangle 30">
            <a:extLst>
              <a:ext uri="{FF2B5EF4-FFF2-40B4-BE49-F238E27FC236}">
                <a16:creationId xmlns:a16="http://schemas.microsoft.com/office/drawing/2014/main" id="{AD0ED72A-B7E7-4FC4-9D50-E53382CD7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5" name="Object 29">
            <a:extLst>
              <a:ext uri="{FF2B5EF4-FFF2-40B4-BE49-F238E27FC236}">
                <a16:creationId xmlns:a16="http://schemas.microsoft.com/office/drawing/2014/main" id="{B38285AC-5146-4A19-9B04-9E0E61C093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9" y="5805488"/>
          <a:ext cx="26638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7" name="Формула" r:id="rId17" imgW="1536700" imgH="241300" progId="Equation.3">
                  <p:embed/>
                </p:oleObj>
              </mc:Choice>
              <mc:Fallback>
                <p:oleObj name="Формула" r:id="rId17" imgW="1536700" imgH="241300" progId="Equation.3">
                  <p:embed/>
                  <p:pic>
                    <p:nvPicPr>
                      <p:cNvPr id="14365" name="Object 29">
                        <a:extLst>
                          <a:ext uri="{FF2B5EF4-FFF2-40B4-BE49-F238E27FC236}">
                            <a16:creationId xmlns:a16="http://schemas.microsoft.com/office/drawing/2014/main" id="{B38285AC-5146-4A19-9B04-9E0E61C09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9" y="5805488"/>
                        <a:ext cx="26638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Rectangle 32">
            <a:extLst>
              <a:ext uri="{FF2B5EF4-FFF2-40B4-BE49-F238E27FC236}">
                <a16:creationId xmlns:a16="http://schemas.microsoft.com/office/drawing/2014/main" id="{84FC44D8-1FA1-4D6F-B161-25E58EFF5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7" name="Object 31">
            <a:extLst>
              <a:ext uri="{FF2B5EF4-FFF2-40B4-BE49-F238E27FC236}">
                <a16:creationId xmlns:a16="http://schemas.microsoft.com/office/drawing/2014/main" id="{396730EC-032D-48C9-89FE-87A20F5EB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1764" y="5876925"/>
          <a:ext cx="23764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8" name="Формула" r:id="rId19" imgW="1371600" imgH="203200" progId="Equation.3">
                  <p:embed/>
                </p:oleObj>
              </mc:Choice>
              <mc:Fallback>
                <p:oleObj name="Формула" r:id="rId19" imgW="1371600" imgH="203200" progId="Equation.3">
                  <p:embed/>
                  <p:pic>
                    <p:nvPicPr>
                      <p:cNvPr id="14367" name="Object 31">
                        <a:extLst>
                          <a:ext uri="{FF2B5EF4-FFF2-40B4-BE49-F238E27FC236}">
                            <a16:creationId xmlns:a16="http://schemas.microsoft.com/office/drawing/2014/main" id="{396730EC-032D-48C9-89FE-87A20F5EB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4" y="5876925"/>
                        <a:ext cx="237648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8" name="Rectangle 34">
            <a:extLst>
              <a:ext uri="{FF2B5EF4-FFF2-40B4-BE49-F238E27FC236}">
                <a16:creationId xmlns:a16="http://schemas.microsoft.com/office/drawing/2014/main" id="{EFE192E2-B9D3-418A-B630-8A879D1FB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69" name="Rectangle 35">
            <a:extLst>
              <a:ext uri="{FF2B5EF4-FFF2-40B4-BE49-F238E27FC236}">
                <a16:creationId xmlns:a16="http://schemas.microsoft.com/office/drawing/2014/main" id="{AECC8EFF-028C-46FE-A466-854CD8D5A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5805488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; </a:t>
            </a:r>
          </a:p>
        </p:txBody>
      </p:sp>
      <p:sp>
        <p:nvSpPr>
          <p:cNvPr id="14370" name="Rectangle 36">
            <a:extLst>
              <a:ext uri="{FF2B5EF4-FFF2-40B4-BE49-F238E27FC236}">
                <a16:creationId xmlns:a16="http://schemas.microsoft.com/office/drawing/2014/main" id="{8B6CEA71-B47C-41DB-A0F7-61422A44A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876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; </a:t>
            </a:r>
          </a:p>
        </p:txBody>
      </p:sp>
      <p:sp>
        <p:nvSpPr>
          <p:cNvPr id="14371" name="Rectangle 37">
            <a:extLst>
              <a:ext uri="{FF2B5EF4-FFF2-40B4-BE49-F238E27FC236}">
                <a16:creationId xmlns:a16="http://schemas.microsoft.com/office/drawing/2014/main" id="{F9C59969-4DE5-43B1-B4B5-AA888CF5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3" y="587692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14372" name="Object 38">
            <a:extLst>
              <a:ext uri="{FF2B5EF4-FFF2-40B4-BE49-F238E27FC236}">
                <a16:creationId xmlns:a16="http://schemas.microsoft.com/office/drawing/2014/main" id="{EEF48CE6-8EAA-4ADC-9723-4EA79D91506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440238" y="3284538"/>
          <a:ext cx="57594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9" name="Формула" r:id="rId21" imgW="4051300" imgH="393700" progId="Equation.3">
                  <p:embed/>
                </p:oleObj>
              </mc:Choice>
              <mc:Fallback>
                <p:oleObj name="Формула" r:id="rId21" imgW="4051300" imgH="393700" progId="Equation.3">
                  <p:embed/>
                  <p:pic>
                    <p:nvPicPr>
                      <p:cNvPr id="14372" name="Object 38">
                        <a:extLst>
                          <a:ext uri="{FF2B5EF4-FFF2-40B4-BE49-F238E27FC236}">
                            <a16:creationId xmlns:a16="http://schemas.microsoft.com/office/drawing/2014/main" id="{EEF48CE6-8EAA-4ADC-9723-4EA79D9150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3284538"/>
                        <a:ext cx="57594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7E73DC4-DC19-4FA8-8324-26893A710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</a:t>
            </a:r>
          </a:p>
        </p:txBody>
      </p:sp>
      <p:pic>
        <p:nvPicPr>
          <p:cNvPr id="15363" name="Picture 4">
            <a:extLst>
              <a:ext uri="{FF2B5EF4-FFF2-40B4-BE49-F238E27FC236}">
                <a16:creationId xmlns:a16="http://schemas.microsoft.com/office/drawing/2014/main" id="{1A6202BF-EA89-402A-A783-1B1F39473C68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925638"/>
            <a:ext cx="5334000" cy="3663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4" name="Picture 5">
            <a:extLst>
              <a:ext uri="{FF2B5EF4-FFF2-40B4-BE49-F238E27FC236}">
                <a16:creationId xmlns:a16="http://schemas.microsoft.com/office/drawing/2014/main" id="{ECE06511-6BE7-407F-ABE2-DA733A007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763" y="2492376"/>
            <a:ext cx="2400300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04E884A-78EA-4A8F-BAF9-973ACDB00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порядка).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451375E-C514-4878-8D5F-7886C5E50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1031"/>
            <a:ext cx="10515600" cy="43513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Сопряженность: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1210A526-E317-4577-9FD7-81E8E7214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89" name="Object 4">
            <a:extLst>
              <a:ext uri="{FF2B5EF4-FFF2-40B4-BE49-F238E27FC236}">
                <a16:creationId xmlns:a16="http://schemas.microsoft.com/office/drawing/2014/main" id="{944FAEC8-508B-4A78-901E-5F1537C4B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939819"/>
              </p:ext>
            </p:extLst>
          </p:nvPr>
        </p:nvGraphicFramePr>
        <p:xfrm>
          <a:off x="4181476" y="1869588"/>
          <a:ext cx="28082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9" name="Формула" r:id="rId3" imgW="1397000" imgH="228600" progId="Equation.3">
                  <p:embed/>
                </p:oleObj>
              </mc:Choice>
              <mc:Fallback>
                <p:oleObj name="Формула" r:id="rId3" imgW="1397000" imgH="228600" progId="Equation.3">
                  <p:embed/>
                  <p:pic>
                    <p:nvPicPr>
                      <p:cNvPr id="16389" name="Object 4">
                        <a:extLst>
                          <a:ext uri="{FF2B5EF4-FFF2-40B4-BE49-F238E27FC236}">
                            <a16:creationId xmlns:a16="http://schemas.microsoft.com/office/drawing/2014/main" id="{944FAEC8-508B-4A78-901E-5F1537C4B7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6" y="1869588"/>
                        <a:ext cx="28082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6">
            <a:extLst>
              <a:ext uri="{FF2B5EF4-FFF2-40B4-BE49-F238E27FC236}">
                <a16:creationId xmlns:a16="http://schemas.microsoft.com/office/drawing/2014/main" id="{3FFEBD23-771D-442A-9FC6-DAC85E59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79DCCE1E-4321-4794-98C6-4CF8D0BC1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095501"/>
            <a:ext cx="828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u="sng"/>
              <a:t>Достоинства :</a:t>
            </a:r>
            <a:r>
              <a:rPr lang="ru-RU" altLang="ru-RU" u="sng"/>
              <a:t> </a:t>
            </a:r>
            <a:r>
              <a:rPr lang="ru-RU" altLang="ru-RU"/>
              <a:t>  </a:t>
            </a:r>
          </a:p>
          <a:p>
            <a:pPr eaLnBrk="1" hangingPunct="1"/>
            <a:r>
              <a:rPr lang="ru-RU" altLang="ru-RU"/>
              <a:t>Для функций, близких к квадратичным, скорость сходимости алгоритма суперлинейная.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18E3DF10-08FE-48B1-8057-09FFEC72B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2994969"/>
            <a:ext cx="18721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u="sng"/>
              <a:t>Недостатки:</a:t>
            </a:r>
            <a:r>
              <a:rPr lang="ru-RU" altLang="ru-RU" sz="2400"/>
              <a:t> 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773D0CE6-ED0B-4891-B44D-052E2C1D2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370541"/>
            <a:ext cx="3175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1.Необходимость вычисления </a:t>
            </a:r>
          </a:p>
        </p:txBody>
      </p:sp>
      <p:sp>
        <p:nvSpPr>
          <p:cNvPr id="16394" name="Rectangle 11">
            <a:extLst>
              <a:ext uri="{FF2B5EF4-FFF2-40B4-BE49-F238E27FC236}">
                <a16:creationId xmlns:a16="http://schemas.microsoft.com/office/drawing/2014/main" id="{59BDBA98-DF85-4407-B152-B28AC578C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5" name="Object 10">
            <a:extLst>
              <a:ext uri="{FF2B5EF4-FFF2-40B4-BE49-F238E27FC236}">
                <a16:creationId xmlns:a16="http://schemas.microsoft.com/office/drawing/2014/main" id="{94781E6B-A18A-4D7D-A5AF-A4821FAE3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3357564"/>
          <a:ext cx="1295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0" name="Формула" r:id="rId5" imgW="622030" imgH="228501" progId="Equation.3">
                  <p:embed/>
                </p:oleObj>
              </mc:Choice>
              <mc:Fallback>
                <p:oleObj name="Формула" r:id="rId5" imgW="622030" imgH="228501" progId="Equation.3">
                  <p:embed/>
                  <p:pic>
                    <p:nvPicPr>
                      <p:cNvPr id="16395" name="Object 10">
                        <a:extLst>
                          <a:ext uri="{FF2B5EF4-FFF2-40B4-BE49-F238E27FC236}">
                            <a16:creationId xmlns:a16="http://schemas.microsoft.com/office/drawing/2014/main" id="{94781E6B-A18A-4D7D-A5AF-A4821FAE3A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357564"/>
                        <a:ext cx="1295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12">
            <a:extLst>
              <a:ext uri="{FF2B5EF4-FFF2-40B4-BE49-F238E27FC236}">
                <a16:creationId xmlns:a16="http://schemas.microsoft.com/office/drawing/2014/main" id="{5DA16338-C003-4265-8BD5-F809CF7A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338455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16397" name="Rectangle 14">
            <a:extLst>
              <a:ext uri="{FF2B5EF4-FFF2-40B4-BE49-F238E27FC236}">
                <a16:creationId xmlns:a16="http://schemas.microsoft.com/office/drawing/2014/main" id="{1D272351-C9BB-4DE1-95B2-7B1F5AF4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740151"/>
            <a:ext cx="554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2.Процесс решения сильно зависит от выбора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6398" name="Object 13">
            <a:extLst>
              <a:ext uri="{FF2B5EF4-FFF2-40B4-BE49-F238E27FC236}">
                <a16:creationId xmlns:a16="http://schemas.microsoft.com/office/drawing/2014/main" id="{3FFA216E-B536-45D7-AB0E-0E5A550BA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3" y="3716339"/>
          <a:ext cx="5762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1" name="Формула" r:id="rId7" imgW="253780" imgH="203024" progId="Equation.3">
                  <p:embed/>
                </p:oleObj>
              </mc:Choice>
              <mc:Fallback>
                <p:oleObj name="Формула" r:id="rId7" imgW="253780" imgH="203024" progId="Equation.3">
                  <p:embed/>
                  <p:pic>
                    <p:nvPicPr>
                      <p:cNvPr id="16398" name="Object 13">
                        <a:extLst>
                          <a:ext uri="{FF2B5EF4-FFF2-40B4-BE49-F238E27FC236}">
                            <a16:creationId xmlns:a16="http://schemas.microsoft.com/office/drawing/2014/main" id="{3FFA216E-B536-45D7-AB0E-0E5A550BA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3716339"/>
                        <a:ext cx="5762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Rectangle 15">
            <a:extLst>
              <a:ext uri="{FF2B5EF4-FFF2-40B4-BE49-F238E27FC236}">
                <a16:creationId xmlns:a16="http://schemas.microsoft.com/office/drawing/2014/main" id="{AE5F1ACA-7258-414F-937B-A81554F5C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802341"/>
            <a:ext cx="28119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(т.е. от начальной точки)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E46C9506-35AC-4488-BE76-6EC0926C6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2350" y="3716338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2B24271C-B3CA-4B56-A712-9D1EF5693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4148416"/>
            <a:ext cx="55938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3.Функция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(х) должна быть выпуклой во всех точках </a:t>
            </a:r>
          </a:p>
        </p:txBody>
      </p:sp>
      <p:sp>
        <p:nvSpPr>
          <p:cNvPr id="16402" name="Rectangle 19">
            <a:extLst>
              <a:ext uri="{FF2B5EF4-FFF2-40B4-BE49-F238E27FC236}">
                <a16:creationId xmlns:a16="http://schemas.microsoft.com/office/drawing/2014/main" id="{CEFFB27D-15A7-4302-8CF8-7ECE571D7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3" name="Object 18">
            <a:extLst>
              <a:ext uri="{FF2B5EF4-FFF2-40B4-BE49-F238E27FC236}">
                <a16:creationId xmlns:a16="http://schemas.microsoft.com/office/drawing/2014/main" id="{685BA3D4-9780-4523-8437-B76DABFC5D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4149725"/>
          <a:ext cx="4318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2" name="Формула" r:id="rId9" imgW="253780" imgH="203024" progId="Equation.3">
                  <p:embed/>
                </p:oleObj>
              </mc:Choice>
              <mc:Fallback>
                <p:oleObj name="Формула" r:id="rId9" imgW="253780" imgH="203024" progId="Equation.3">
                  <p:embed/>
                  <p:pic>
                    <p:nvPicPr>
                      <p:cNvPr id="16403" name="Object 18">
                        <a:extLst>
                          <a:ext uri="{FF2B5EF4-FFF2-40B4-BE49-F238E27FC236}">
                            <a16:creationId xmlns:a16="http://schemas.microsoft.com/office/drawing/2014/main" id="{685BA3D4-9780-4523-8437-B76DABFC5D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4149725"/>
                        <a:ext cx="43180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Rectangle 22">
            <a:extLst>
              <a:ext uri="{FF2B5EF4-FFF2-40B4-BE49-F238E27FC236}">
                <a16:creationId xmlns:a16="http://schemas.microsoft.com/office/drawing/2014/main" id="{3347BC4D-4D04-4DFC-B54C-2E1F56F3F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71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405" name="Rectangle 23">
            <a:extLst>
              <a:ext uri="{FF2B5EF4-FFF2-40B4-BE49-F238E27FC236}">
                <a16:creationId xmlns:a16="http://schemas.microsoft.com/office/drawing/2014/main" id="{9F7C6488-2E27-4BA6-A75D-56723A6C1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4" y="4148416"/>
            <a:ext cx="11214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 есть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406" name="Rectangle 25">
            <a:extLst>
              <a:ext uri="{FF2B5EF4-FFF2-40B4-BE49-F238E27FC236}">
                <a16:creationId xmlns:a16="http://schemas.microsoft.com/office/drawing/2014/main" id="{CFA7F9A9-A2EA-4231-9A8B-4D4F2B20A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7" name="Object 24">
            <a:extLst>
              <a:ext uri="{FF2B5EF4-FFF2-40B4-BE49-F238E27FC236}">
                <a16:creationId xmlns:a16="http://schemas.microsoft.com/office/drawing/2014/main" id="{BE2B792D-88B9-4455-BD89-57EE9EC7A9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4288" y="4149725"/>
          <a:ext cx="14414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3" name="Формула" r:id="rId11" imgW="889000" imgH="228600" progId="Equation.3">
                  <p:embed/>
                </p:oleObj>
              </mc:Choice>
              <mc:Fallback>
                <p:oleObj name="Формула" r:id="rId11" imgW="889000" imgH="228600" progId="Equation.3">
                  <p:embed/>
                  <p:pic>
                    <p:nvPicPr>
                      <p:cNvPr id="16407" name="Object 24">
                        <a:extLst>
                          <a:ext uri="{FF2B5EF4-FFF2-40B4-BE49-F238E27FC236}">
                            <a16:creationId xmlns:a16="http://schemas.microsoft.com/office/drawing/2014/main" id="{BE2B792D-88B9-4455-BD89-57EE9EC7A9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88" y="4149725"/>
                        <a:ext cx="144145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Rectangle 26">
            <a:extLst>
              <a:ext uri="{FF2B5EF4-FFF2-40B4-BE49-F238E27FC236}">
                <a16:creationId xmlns:a16="http://schemas.microsoft.com/office/drawing/2014/main" id="{9DB6E284-DC5F-4CF7-95A5-DF5E387F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0" y="407670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9A55B-327F-42B8-9615-A2D0B1E2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последние 18-20 лет произошел огромный скачок в развитии систем искусственного интеллекта на основе машинного обучения и глубоких нейронных сетей. Это было обусловлено четырьмя  основными факторами: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Значительным повышением производительности компьютерных систем.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Наличием доступных очень больших баз данных.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Созданием новых методов оптимизации на основе стохастического градиентного спуска.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Разработкой и созданием систем параллельной обработки информации на основе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CUDA, GPU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TPU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рассмотрим те методы оптимизации, которые легли в основу машинного обучения и теории глубоких нейронных сетей.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763" indent="-385763">
              <a:buAutoNum type="arabicPeriod"/>
            </a:pPr>
            <a:endParaRPr lang="ru-RU" sz="1800" dirty="0"/>
          </a:p>
          <a:p>
            <a:pPr marL="385763" indent="-385763">
              <a:buAutoNum type="arabicPeriod"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8262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FD1F0A6-64AD-4008-BFD3-5A83CB9F9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391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градиентного спуска является одним из наиболее популярных алгоритмов в области оптимизации для реализации обучения в современных нейронных сетях. В настоящее время разработан целый ряд библиотек глубокого машинного обучения, реализованных в виде соответствующих фреймворков. Ядром этих фреймворков являются методы оптимизации, основанные на использовании различных вариантов стохастического градиентного спуска.</a:t>
            </a: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0FFCC61-6EB3-458E-9499-B2FDE4ADED70}"/>
              </a:ext>
            </a:extLst>
          </p:cNvPr>
          <p:cNvSpPr txBox="1">
            <a:spLocks/>
          </p:cNvSpPr>
          <p:nvPr/>
        </p:nvSpPr>
        <p:spPr>
          <a:xfrm>
            <a:off x="2183841" y="234751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7C482B3-7691-4F91-8AFD-BEFCD4969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547" y="99514"/>
            <a:ext cx="8507288" cy="1143000"/>
          </a:xfrm>
        </p:spPr>
        <p:txBody>
          <a:bodyPr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5170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1605116" y="193574"/>
            <a:ext cx="9144000" cy="63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7500" tIns="35100" rIns="67500" bIns="35100"/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 для работы с глубокими сетями</a:t>
            </a: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81116" y="830559"/>
            <a:ext cx="12029768" cy="5733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67500" tIns="35100" rIns="67500" bIns="35100">
            <a:spAutoFit/>
          </a:bodyPr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Определение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Расчет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Дифференцирование графа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altLang="ru-RU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ипы фреймворков</a:t>
            </a: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TensorFlow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комплексная платформа для машинного обучения с открытым исходным кодом. Она была разработана командой Google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Ориентирован на большие проекты.</a:t>
            </a: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PyTorch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среда машинного обучения на языке Python с открытым исходным кодом, обеспечивающая тензорные вычисления с GPU-ускорением. Она была разработана компанией Facebook и представлена в октябре 2016 года, а открыта для сторонних разработчиков — в январе 2017 года. Фреймворк подходит для быстрого прототипирования в исследованиях, а также для любителей и небольших проектов.</a:t>
            </a: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Darknet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фреймворк с открытым исходным кодом, написанный на языке C с использованием программно-аппаратной архитектуры параллельных вычислений CUDA. Он быстрый, лёгкий и удобный в использовании. Также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вычисления на базе CPU и GPU. </a:t>
            </a: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XGBoost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фреймворк с открытым исходным кодом, который предлагает систему градиентного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C++, Java, Python, R,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Julia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Он разработан для обеспечения высокой эффективности, гибкости и портативности.</a:t>
            </a:r>
            <a:endParaRPr lang="ru-RU" alt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960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5F06B-4790-414E-99CD-56A81FF20C6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55F01B-CCB0-42A3-B6E5-53D96F5D68B6}"/>
              </a:ext>
            </a:extLst>
          </p:cNvPr>
          <p:cNvSpPr txBox="1">
            <a:spLocks/>
          </p:cNvSpPr>
          <p:nvPr/>
        </p:nvSpPr>
        <p:spPr>
          <a:xfrm>
            <a:off x="2152650" y="2226469"/>
            <a:ext cx="7886700" cy="32635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1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46887B-30AC-4550-A1E5-F8B18960CAA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890" y="2226470"/>
            <a:ext cx="6652259" cy="3049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947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2053118" y="692696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0764" y="1878451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следующие обозначения: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переменные оптимизации (веса синапсов искусственных нейронов, т.е.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в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обозначениях на рисунке)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размерность вектора оптимизации.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целевая функция (функция ошибки или «потери»</a:t>
                </a: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обозначениях на рисунке).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градиент целевой функции.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коэффициент обучения, определяющий величину шага в направлении локального минимума.</a:t>
                </a: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Выделим три основных варианта градиентного спуска. 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764" y="1878451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773" t="-3364" r="-13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163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6A7B5-F632-4DD4-8412-EEF352CE4626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92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gradient descent</a:t>
                </a:r>
                <a:r>
                  <a:rPr lang="ru-RU" sz="292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925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925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9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292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925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925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2925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2925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2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Градиентный метод, который рассчитан на вычисление градиента для </a:t>
                </a:r>
                <a:r>
                  <a:rPr lang="ru-RU" sz="225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(выборке  - </a:t>
                </a:r>
                <a:r>
                  <a:rPr lang="en-US" sz="225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22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обладает следующими особенностями: 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 достаточно большого объема памяти.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Обладает низкой скоростью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Низкой точностью.</a:t>
                </a:r>
              </a:p>
              <a:p>
                <a:pPr marL="0" indent="0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1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696" t="-48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338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C104E-2898-49A7-A874-B62EFF445A3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5263E-1085-4898-85D4-DDABA6B9AC04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gradient descent</a:t>
                </a:r>
                <a:r>
                  <a:rPr lang="ru-RU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SGD)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96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9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9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9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sz="9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9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 отличии от традиционного градиентного метода, метод стохастического градиента позволяет обрабатывать за одну итерацию относительно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небольшой набор обучающих данных и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выборки -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позволяет избежать недостатки традиционного градиентного метода: 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Требуется значительно меньше необходимого объема памяти.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Повышается скорость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Увеличивается робастность к </a:t>
                </a:r>
                <a:r>
                  <a:rPr lang="ru-RU" sz="7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невыпуклости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целевых функций.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Возможна оптимизация многоэкстремальных целевых функций.</a:t>
                </a:r>
              </a:p>
              <a:p>
                <a:pPr marL="0" indent="0">
                  <a:buNone/>
                </a:pPr>
                <a:endParaRPr lang="ru-RU" sz="7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72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618" t="-4486" b="-8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756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DFF056-614D-461F-8D5A-A4C64CB87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135" y="1975270"/>
            <a:ext cx="7240088" cy="336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8E71A8-3A0D-448D-94BA-005CB3680B83}"/>
              </a:ext>
            </a:extLst>
          </p:cNvPr>
          <p:cNvSpPr txBox="1"/>
          <p:nvPr/>
        </p:nvSpPr>
        <p:spPr>
          <a:xfrm>
            <a:off x="1996554" y="5414409"/>
            <a:ext cx="81988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1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Флуктуации целевой функции в процессе работы алгоритма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64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9B666-6A30-4FAC-9702-1CF61C79CD4E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E9EB55-BF3A-4BE8-B27F-FED1132BCD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761973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Mini-batch gradient descent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8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8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: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sz="8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8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За каждую эпоху отбирается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данных  (</a:t>
                </a:r>
                <a14:m>
                  <m:oMath xmlns:m="http://schemas.openxmlformats.org/officeDocument/2006/math"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𝟓𝟎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𝟐𝟓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небольшой набор обучающих данных и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выборки -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дает следующие преимущества: 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Уменьшает дисперсию разброса параметров что ведет к более устойчивой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Позволяет использовать матричные и тензорные операции, входящие в состав современных  библиотек методов глубокого обучения (смотри слайд 28).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 это делает использование </a:t>
                </a:r>
                <a:r>
                  <a:rPr lang="en-US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 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на </a:t>
                </a:r>
                <a:r>
                  <a:rPr lang="ru-RU" sz="7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минибатчах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очень эффективными для решения задач по глубокому обучению.</a:t>
                </a:r>
              </a:p>
              <a:p>
                <a:pPr marL="0" indent="0" algn="ctr">
                  <a:buNone/>
                </a:pPr>
                <a:r>
                  <a:rPr lang="ru-RU" sz="8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Далее мы рассмотрим дальнейшее развитие методов </a:t>
                </a:r>
                <a:r>
                  <a:rPr lang="en-US" sz="8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SGD.</a:t>
                </a: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E9EB55-BF3A-4BE8-B27F-FED1132BC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761973"/>
              </a:xfrm>
              <a:prstGeom prst="rect">
                <a:avLst/>
              </a:prstGeom>
              <a:blipFill>
                <a:blip r:embed="rId2"/>
                <a:stretch>
                  <a:fillRect l="-618" t="-3890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519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B5D23A-5C1D-47E2-9911-D34A98CF6747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7680D5-D895-4DF6-B85E-6C0B213D80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625862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8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8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8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8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Этот метод, применительно к 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позволяет преодолевать овраги.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Кроме того, он позволяет увеличить скорость сходимости алгоритмов 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Метод моментов был предложен в 1964 году Б.Т. Поляком.</a:t>
                </a:r>
                <a:endParaRPr lang="en-US" sz="8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Другое название этого метода - «метод тяжелого шарика». Он рассматривался нами раньше в лекции посвященной многоэкстремальной оптимизации. </a:t>
                </a: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 1986 году этот метод был использован  Джеффри Хинтоном и Дэвидом </a:t>
                </a:r>
                <a:r>
                  <a:rPr lang="ru-RU" sz="84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Руммельхартом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для обучения нейронных сетей методом обратного распространения ошибки.</a:t>
                </a:r>
              </a:p>
              <a:p>
                <a:pPr marL="0" indent="0">
                  <a:buNone/>
                </a:pPr>
                <a:endParaRPr lang="en-US" sz="8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7680D5-D895-4DF6-B85E-6C0B213D8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625862"/>
              </a:xfrm>
              <a:prstGeom prst="rect">
                <a:avLst/>
              </a:prstGeom>
              <a:blipFill>
                <a:blip r:embed="rId2"/>
                <a:stretch>
                  <a:fillRect l="-927" t="-4040" b="-84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330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EA6D89-E184-49DB-BEF6-99B68BFBE3DE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B7291B-D3FC-48A0-90EB-FC4FEDF357EE}"/>
              </a:ext>
            </a:extLst>
          </p:cNvPr>
          <p:cNvSpPr txBox="1">
            <a:spLocks/>
          </p:cNvSpPr>
          <p:nvPr/>
        </p:nvSpPr>
        <p:spPr>
          <a:xfrm>
            <a:off x="2152649" y="2246941"/>
            <a:ext cx="7886700" cy="352893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0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Адаптивные методы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NAG.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Nesterov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accelerated gradient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Adagrad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(Adapted gradient)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Adadelta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xtension of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Adagrad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RMSProp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 Root Mean Squared)</a:t>
            </a: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Adam.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moment estimation)</a:t>
            </a: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AdaMax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(Modification Adam)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Nadam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</a:t>
            </a: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Nesterov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modification Adam)</a:t>
            </a:r>
          </a:p>
          <a:p>
            <a:pPr marL="557213" indent="-557213">
              <a:buFont typeface="+mj-lt"/>
              <a:buAutoNum type="arabicPeriod"/>
            </a:pP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endParaRPr lang="ru-RU" sz="30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8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658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NAG. (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Nesterov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accelerated gradient</a:t>
                </a: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2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96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Adagrad. (Adapted gradient)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2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726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/>
              <a:t>ГРАДИЕНТНЫЕ МЕТОДЫ В ИСКУССТВЕННЫХ НЕЙРОННЫХ СЕТЯХ</a:t>
            </a:r>
            <a:endParaRPr lang="ru-RU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Adadelta. (E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xtension of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Adagrad</a:t>
                </a: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𝑅𝑀𝑆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𝑅𝑀𝑆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𝑅𝑀𝑆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∆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𝑅𝑀𝑆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.</a:t>
                      </a:fl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1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482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RMSProp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 (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Adaptive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Root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Squared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0.1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873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Adam. (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Adaptive moment estimation)</a:t>
                </a: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b/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=0.98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4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599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AdaMax. (Modification Adam)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1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=0.002;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=0.9;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99.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460" b="-1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162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1982369"/>
                <a:ext cx="7886700" cy="379351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625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Nadam. (</a:t>
                </a:r>
                <a:r>
                  <a:rPr lang="en-US" sz="2625" b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Nesterov</a:t>
                </a:r>
                <a:r>
                  <a:rPr lang="en-US" sz="2625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modification Adam)</a:t>
                </a:r>
              </a:p>
              <a:p>
                <a:pPr marL="0" indent="0" algn="ctr">
                  <a:buNone/>
                </a:pPr>
                <a:r>
                  <a:rPr lang="ru-RU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Является комбинацией </a:t>
                </a:r>
                <a:r>
                  <a:rPr lang="en-US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NAG </a:t>
                </a:r>
                <a:r>
                  <a:rPr lang="ru-RU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en-US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100" i="1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100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=0.002;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=0.9;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99.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1982369"/>
                <a:ext cx="7886700" cy="3793511"/>
              </a:xfrm>
              <a:prstGeom prst="rect">
                <a:avLst/>
              </a:prstGeom>
              <a:blipFill>
                <a:blip r:embed="rId2"/>
                <a:stretch>
                  <a:fillRect t="-35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393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2061</Words>
  <Application>Microsoft Office PowerPoint</Application>
  <PresentationFormat>Широкоэкранный</PresentationFormat>
  <Paragraphs>276</Paragraphs>
  <Slides>32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Times New Roman</vt:lpstr>
      <vt:lpstr>Тема Office</vt:lpstr>
      <vt:lpstr>Формула</vt:lpstr>
      <vt:lpstr>ТЕОРИЯ ИСКУССТВЕННЫХ НЕЙРОННЫХ СЕТЕЙ Каганов Ю.Т. к.т.н., доцент каф. ИУ-9 «Теоретическая информатика и компьютерные технологии» </vt:lpstr>
      <vt:lpstr>ПЛАН ЛЕКЦИИ</vt:lpstr>
      <vt:lpstr>Классификация типов задач многомерной оптимизации</vt:lpstr>
      <vt:lpstr>Классификация типов задач многомерной оптимизации</vt:lpstr>
      <vt:lpstr>Один экстремум</vt:lpstr>
      <vt:lpstr>Много экстремумов</vt:lpstr>
      <vt:lpstr>Метод покоординатного спуска  (метод 0-го порядка)</vt:lpstr>
      <vt:lpstr>Алгоритм:</vt:lpstr>
      <vt:lpstr>Обусловленность задачи </vt:lpstr>
      <vt:lpstr>Метод наискорейшего спуска  (метод 1-го порядка).  </vt:lpstr>
      <vt:lpstr>Метод наискорейшего спуска  (метод 1-го порядка).</vt:lpstr>
      <vt:lpstr>Метод Ньютона  (метод второго порядка)</vt:lpstr>
      <vt:lpstr>Метод Ньютона  (метод второго порядка)</vt:lpstr>
      <vt:lpstr>Метод Ньютона  (метод второго порядка).</vt:lpstr>
      <vt:lpstr>ГРАДИЕНТНЫЕ МЕТОДЫ В МАШИННОМ ОБУЧЕНИИ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ИСКУССТВЕННЫХ НЕЙРОННЫХ СЕТЕЙ Каганов Ю.Т. к.т.н., доцент каф. ИУ-9 «Теоретическая информатика и компьютерные технологии»</dc:title>
  <dc:creator>Yuriy Kaganov</dc:creator>
  <cp:lastModifiedBy>Yuriy Kaganov</cp:lastModifiedBy>
  <cp:revision>26</cp:revision>
  <dcterms:created xsi:type="dcterms:W3CDTF">2022-09-19T18:39:18Z</dcterms:created>
  <dcterms:modified xsi:type="dcterms:W3CDTF">2025-10-23T09:40:23Z</dcterms:modified>
</cp:coreProperties>
</file>