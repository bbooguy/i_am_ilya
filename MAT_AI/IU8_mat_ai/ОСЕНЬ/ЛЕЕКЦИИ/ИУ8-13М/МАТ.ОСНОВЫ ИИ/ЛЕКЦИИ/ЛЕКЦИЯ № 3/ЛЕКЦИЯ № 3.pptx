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2" r:id="rId14"/>
    <p:sldId id="283" r:id="rId1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72" y="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6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9" Type="http://schemas.openxmlformats.org/officeDocument/2006/relationships/image" Target="../media/image4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4D725-04D8-497F-BE5A-33BB815C9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AD6CBC-A5CD-4C7D-9D3A-7A88DB52F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0C5B20-32D3-4153-A61A-F9095FA1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2AF43D-0605-4AAC-93C7-16F10B27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E7E396-3AF0-45B5-8E6E-EF0D8559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FFF3CD-C761-47C9-977D-6E5C272B577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2294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DE890-0EEA-4A06-9A42-FDC89B28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88494F-A600-4F5E-9B84-EA84C6787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C3B4E2-B982-4B67-8BD8-3FA6E674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BCF44C-2FC6-46D1-8FA2-03BD277A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A0122E-E77D-4E0F-8196-2857B7C6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823F95-43B0-4DD0-907F-54E571AC803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3565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69159-D4C0-439B-8457-5CF7DDB7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936128-5869-4080-BEF6-7983D54D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CA622E-8ACD-4866-83B5-9332ECC98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7273BD-F19A-48A0-86D0-8BD317678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7A9B68-B248-4467-9DC0-8E63D4F0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400765-8A44-4E08-A739-3C7C6A04A4D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2754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2468E-A404-4206-8DBB-5F9CFA4F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39F61B-B992-4D6E-A49F-00D683D27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4AB944-E8D0-4DEA-92ED-03C65B821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A843F9-0D7C-4DEB-89A4-D375A42B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70E1DF-5226-4EDD-9BBE-C49EEC76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341FBB-8C67-4CE4-90BC-D24923008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D3D74-032D-41C7-A3D6-9BA2965F225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73723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CD922-EF8B-41B6-BFBE-A4D4F1C5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98F6CE-A719-4017-98AB-3AEAC90D7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7AB482-47B0-4206-B1E8-C3E83943F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60DDAB-B0F3-4386-B17D-FBA77DA05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70BDACA-EEBE-4075-8AB7-CA52D4570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961F370-E436-4F07-8340-8A7E6CDE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83FCAD0-538B-43B9-8AD9-CB5EAF16E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7B8606C-C386-46D2-8B09-B533FF15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F9E84F-A4D4-4B23-8CCA-DABF60A6782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43601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FD82C3-C030-42C0-9C26-0A1B3CBC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24624B-CB1C-4917-B57F-9CECAEE7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D50FD5E-A1C7-4F12-8584-8372CA0A2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8F9A599-D476-43BA-8901-6F504759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A3274-F9C1-4608-8D09-0EE3E681FD8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8160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E62BD45-3F15-4F1A-87E8-C8FCA150D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C1B4AA-A68B-42AC-BF0C-167DC576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237B8F-4946-47EC-841F-F36B5A34C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CDDD29-983E-4001-87D8-A12D5B1A418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6127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5B2C36-78C0-473B-9D75-4164E61F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88BF9-62EF-49B9-8EFB-677FD2AF6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65DCDF-22AB-4254-AFF7-3279A681A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8D79B9-9179-46A5-8980-871C65BB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368356-A163-4EFB-B12A-E09AEA01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ED7C46-251E-40F2-89B6-59C942CF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93B7F-3F17-44F7-BC4C-195B1426CDD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223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CF8BB-7CD4-43FE-BF37-DF640698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1C5F9BB-ED9A-4AAB-94CF-987A2C491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F0AEEA0-A12A-4675-8F40-E14EE72AF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CEDDB5-A15E-4D4A-B643-41B972E9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2073BC-7857-46B2-8C06-2FA6F8B3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96849F-EDAF-4838-B720-18F9FCB4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92F4AF-F953-4A0C-8693-B54F633973F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28259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73843-291C-4CA3-B6F9-BD280E5CF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E9E376-A9B4-45BC-80CF-3C52D65D3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36C169-CD9B-4921-A1EC-694514B1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9464BE-B5CD-49C3-8537-261B9BD47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FF72D3-75AA-4CEA-84B7-6322D3A73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9DDEA8-45A9-45CF-A3EE-0453883C67C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62475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B3DF1A1-7211-461F-B7E3-184AEA3F6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AE385B-647D-4A30-8648-B2E58F9D9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AEC98F-D59A-4F3D-9CC3-8FB1FD0B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EA663D-EE85-4BBE-B615-BC593AA6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509F1B-A19F-430F-B90C-D70ABA34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4CAA4D-2880-46AD-8DB5-FE3B2F2CB10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76235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991BD-EC32-4F1B-AD58-0CFD2A82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C9D365-3C2B-455C-B9B7-89D6C7E8B8A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58236B-9F36-44D5-ACE9-84DB59FDB9D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F68AAA0-21BB-4A5B-85AA-339C85F2CA0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944ABDD-F259-4621-B119-CA2A27BC75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0430BC31-C8C2-438C-9DDB-C6CA063A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A66B32C-7F44-4804-B4B5-DD08423FC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D9DE1BC-39F8-4174-B27A-A8F6EFAE0EED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75649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A28C27C-FFA5-4DBD-B05A-D666F193DDC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078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1073E4-7487-46D0-8A66-FBDB949B7F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F5EA90-B18F-47FB-8611-649164823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3332E41-8B46-4A6B-AD39-118744AF4A7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 altLang="ru-RU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2F12A3D-04F1-4224-B0BE-3C92A7B592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 altLang="ru-RU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8846EF8-62A2-4F73-A81E-E9EC961B9C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C2192E-B02F-4308-8304-FB54E84C6675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image" Target="../media/image15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1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6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11" Type="http://schemas.openxmlformats.org/officeDocument/2006/relationships/image" Target="../media/image14.wmf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16.wmf"/><Relationship Id="rId10" Type="http://schemas.openxmlformats.org/officeDocument/2006/relationships/oleObject" Target="../embeddings/oleObject13.bin"/><Relationship Id="rId4" Type="http://schemas.openxmlformats.org/officeDocument/2006/relationships/image" Target="../media/image11.wmf"/><Relationship Id="rId9" Type="http://schemas.openxmlformats.org/officeDocument/2006/relationships/image" Target="../media/image18.jpeg"/><Relationship Id="rId14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wmf"/><Relationship Id="rId11" Type="http://schemas.openxmlformats.org/officeDocument/2006/relationships/image" Target="../media/image29.wmf"/><Relationship Id="rId5" Type="http://schemas.openxmlformats.org/officeDocument/2006/relationships/oleObject" Target="../embeddings/oleObject25.bin"/><Relationship Id="rId10" Type="http://schemas.openxmlformats.org/officeDocument/2006/relationships/oleObject" Target="../embeddings/oleObject27.bin"/><Relationship Id="rId4" Type="http://schemas.openxmlformats.org/officeDocument/2006/relationships/image" Target="../media/image26.wmf"/><Relationship Id="rId9" Type="http://schemas.openxmlformats.org/officeDocument/2006/relationships/image" Target="../media/image3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47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6.wmf"/><Relationship Id="rId20" Type="http://schemas.openxmlformats.org/officeDocument/2006/relationships/image" Target="../media/image48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43.w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53.wmf"/><Relationship Id="rId3" Type="http://schemas.openxmlformats.org/officeDocument/2006/relationships/image" Target="../media/image55.jpeg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5" Type="http://schemas.openxmlformats.org/officeDocument/2006/relationships/image" Target="../media/image54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5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60.wmf"/><Relationship Id="rId3" Type="http://schemas.openxmlformats.org/officeDocument/2006/relationships/oleObject" Target="../embeddings/oleObject52.bin"/><Relationship Id="rId7" Type="http://schemas.openxmlformats.org/officeDocument/2006/relationships/image" Target="../media/image62.jpeg"/><Relationship Id="rId12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7.wmf"/><Relationship Id="rId11" Type="http://schemas.openxmlformats.org/officeDocument/2006/relationships/image" Target="../media/image59.wmf"/><Relationship Id="rId5" Type="http://schemas.openxmlformats.org/officeDocument/2006/relationships/oleObject" Target="../embeddings/oleObject53.bin"/><Relationship Id="rId15" Type="http://schemas.openxmlformats.org/officeDocument/2006/relationships/image" Target="../media/image61.wmf"/><Relationship Id="rId10" Type="http://schemas.openxmlformats.org/officeDocument/2006/relationships/oleObject" Target="../embeddings/oleObject55.bin"/><Relationship Id="rId4" Type="http://schemas.openxmlformats.org/officeDocument/2006/relationships/image" Target="../media/image56.wmf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5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63.bin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8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C9E1077-39CB-4060-89BA-DD2EFD2DF7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ru-RU" altLang="ru-RU" sz="4400" b="1" dirty="0"/>
              <a:t>ЛЕКЦИЯ № 3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35A48F4-9D72-4CDB-A51E-6277F39102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ru-RU" altLang="ru-RU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Математические основы оптимизации</a:t>
            </a:r>
            <a:endParaRPr lang="ru-RU" alt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79280" y="333360"/>
            <a:ext cx="8784360" cy="36712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МАТЕМАТИЧЕСКИЕ ОСНОВЫ ИСКУССТВЕННОГО ИНТЕЛЛЕКТА</a:t>
            </a: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Каганов Ю.Т.</a:t>
            </a: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к.т.н., доцент каф. ИУ-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ИУ-8</a:t>
            </a:r>
            <a:endParaRPr lang="ru-RU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4149720"/>
            <a:ext cx="6400080" cy="215892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</a:t>
            </a:r>
            <a:r>
              <a:rPr lang="en-US" sz="32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>
              <a:spcBef>
                <a:spcPts val="641"/>
              </a:spcBef>
              <a:tabLst>
                <a:tab pos="0" algn="l"/>
              </a:tabLst>
            </a:pP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Математические основы оптимизации.</a:t>
            </a:r>
          </a:p>
          <a:p>
            <a:pPr>
              <a:spcBef>
                <a:spcPts val="641"/>
              </a:spcBef>
              <a:tabLst>
                <a:tab pos="0" algn="l"/>
              </a:tabLst>
            </a:pP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Элементы линейной алгебры.</a:t>
            </a:r>
            <a:endParaRPr lang="ru-RU" alt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A2A2ACF-B762-47BE-8308-77D7AB3E4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выпуклого программирования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C66C61B5-AB87-4A6C-9365-1F657C5DE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076" name="Object 10">
            <a:extLst>
              <a:ext uri="{FF2B5EF4-FFF2-40B4-BE49-F238E27FC236}">
                <a16:creationId xmlns:a16="http://schemas.microsoft.com/office/drawing/2014/main" id="{5FB12F42-E66A-4843-91BF-EDDF0B6607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14300" y="2957513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6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3076" name="Object 10">
                        <a:extLst>
                          <a:ext uri="{FF2B5EF4-FFF2-40B4-BE49-F238E27FC236}">
                            <a16:creationId xmlns:a16="http://schemas.microsoft.com/office/drawing/2014/main" id="{5FB12F42-E66A-4843-91BF-EDDF0B6607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4300" y="2957513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24">
            <a:extLst>
              <a:ext uri="{FF2B5EF4-FFF2-40B4-BE49-F238E27FC236}">
                <a16:creationId xmlns:a16="http://schemas.microsoft.com/office/drawing/2014/main" id="{3198E738-37B8-4622-BDCA-1E6E564F1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78" name="Rectangle 26">
            <a:extLst>
              <a:ext uri="{FF2B5EF4-FFF2-40B4-BE49-F238E27FC236}">
                <a16:creationId xmlns:a16="http://schemas.microsoft.com/office/drawing/2014/main" id="{E7A02D8F-1F42-4A06-8225-BF5467132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84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79" name="Rectangle 38">
            <a:extLst>
              <a:ext uri="{FF2B5EF4-FFF2-40B4-BE49-F238E27FC236}">
                <a16:creationId xmlns:a16="http://schemas.microsoft.com/office/drawing/2014/main" id="{9DE99F25-B045-4041-BE83-FD4975A06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0" name="Rectangle 40">
            <a:extLst>
              <a:ext uri="{FF2B5EF4-FFF2-40B4-BE49-F238E27FC236}">
                <a16:creationId xmlns:a16="http://schemas.microsoft.com/office/drawing/2014/main" id="{497A95CB-5446-410D-9405-63B973ADA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1" name="Rectangle 63">
            <a:extLst>
              <a:ext uri="{FF2B5EF4-FFF2-40B4-BE49-F238E27FC236}">
                <a16:creationId xmlns:a16="http://schemas.microsoft.com/office/drawing/2014/main" id="{546B0462-52FE-4786-84BE-C4D4B250A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2" name="Rectangle 67">
            <a:extLst>
              <a:ext uri="{FF2B5EF4-FFF2-40B4-BE49-F238E27FC236}">
                <a16:creationId xmlns:a16="http://schemas.microsoft.com/office/drawing/2014/main" id="{48520A45-F4CB-41E4-AEB4-4A953482E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57238" y="33575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3" name="Rectangle 68">
            <a:extLst>
              <a:ext uri="{FF2B5EF4-FFF2-40B4-BE49-F238E27FC236}">
                <a16:creationId xmlns:a16="http://schemas.microsoft.com/office/drawing/2014/main" id="{BB062CDF-6597-4AC2-9302-80A01FEA4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4" name="Rectangle 72">
            <a:extLst>
              <a:ext uri="{FF2B5EF4-FFF2-40B4-BE49-F238E27FC236}">
                <a16:creationId xmlns:a16="http://schemas.microsoft.com/office/drawing/2014/main" id="{BD6FD84F-A2D4-4BFD-B3A7-B58893314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5" name="Rectangle 75">
            <a:extLst>
              <a:ext uri="{FF2B5EF4-FFF2-40B4-BE49-F238E27FC236}">
                <a16:creationId xmlns:a16="http://schemas.microsoft.com/office/drawing/2014/main" id="{0EC5BD28-F313-4A60-9933-77CB2334D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6" name="Rectangle 85">
            <a:extLst>
              <a:ext uri="{FF2B5EF4-FFF2-40B4-BE49-F238E27FC236}">
                <a16:creationId xmlns:a16="http://schemas.microsoft.com/office/drawing/2014/main" id="{1F5565D3-EEB9-47DD-8D0D-FB6E9644A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816" y="1579860"/>
            <a:ext cx="39066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Формулировка задачи </a:t>
            </a:r>
          </a:p>
        </p:txBody>
      </p:sp>
      <p:sp>
        <p:nvSpPr>
          <p:cNvPr id="3087" name="Rectangle 89">
            <a:extLst>
              <a:ext uri="{FF2B5EF4-FFF2-40B4-BE49-F238E27FC236}">
                <a16:creationId xmlns:a16="http://schemas.microsoft.com/office/drawing/2014/main" id="{B3420350-E952-48D2-92B1-5765D834F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8" name="Rectangle 92">
            <a:extLst>
              <a:ext uri="{FF2B5EF4-FFF2-40B4-BE49-F238E27FC236}">
                <a16:creationId xmlns:a16="http://schemas.microsoft.com/office/drawing/2014/main" id="{D9E0844A-B07C-4AE8-B6FB-CFA9EF8E1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9" name="Rectangle 94">
            <a:extLst>
              <a:ext uri="{FF2B5EF4-FFF2-40B4-BE49-F238E27FC236}">
                <a16:creationId xmlns:a16="http://schemas.microsoft.com/office/drawing/2014/main" id="{BA7E6FAF-BEE0-4531-B004-002EEFF6D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66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3090" name="Rectangle 99">
            <a:extLst>
              <a:ext uri="{FF2B5EF4-FFF2-40B4-BE49-F238E27FC236}">
                <a16:creationId xmlns:a16="http://schemas.microsoft.com/office/drawing/2014/main" id="{99675904-A907-412E-A4E8-D1580AF43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1" name="Rectangle 104">
            <a:extLst>
              <a:ext uri="{FF2B5EF4-FFF2-40B4-BE49-F238E27FC236}">
                <a16:creationId xmlns:a16="http://schemas.microsoft.com/office/drawing/2014/main" id="{F8595699-FB0D-4E23-9B7B-774B8298C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2" name="Rectangle 107">
            <a:extLst>
              <a:ext uri="{FF2B5EF4-FFF2-40B4-BE49-F238E27FC236}">
                <a16:creationId xmlns:a16="http://schemas.microsoft.com/office/drawing/2014/main" id="{93212C93-9976-42F5-B87C-C9A24C3D5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2845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3093" name="Rectangle 108">
            <a:extLst>
              <a:ext uri="{FF2B5EF4-FFF2-40B4-BE49-F238E27FC236}">
                <a16:creationId xmlns:a16="http://schemas.microsoft.com/office/drawing/2014/main" id="{15BF4EEA-5E74-40DE-B900-A1452B662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30686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</a:t>
            </a:r>
          </a:p>
        </p:txBody>
      </p:sp>
      <p:sp>
        <p:nvSpPr>
          <p:cNvPr id="3094" name="Rectangle 110">
            <a:extLst>
              <a:ext uri="{FF2B5EF4-FFF2-40B4-BE49-F238E27FC236}">
                <a16:creationId xmlns:a16="http://schemas.microsoft.com/office/drawing/2014/main" id="{0797FD03-6C45-49C9-B188-A4C0576B0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70827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3095" name="Rectangle 114">
            <a:extLst>
              <a:ext uri="{FF2B5EF4-FFF2-40B4-BE49-F238E27FC236}">
                <a16:creationId xmlns:a16="http://schemas.microsoft.com/office/drawing/2014/main" id="{3202E962-AA51-454A-A614-5C6117B6D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24209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3096" name="Rectangle 119">
            <a:extLst>
              <a:ext uri="{FF2B5EF4-FFF2-40B4-BE49-F238E27FC236}">
                <a16:creationId xmlns:a16="http://schemas.microsoft.com/office/drawing/2014/main" id="{192C5785-86C9-420D-B3F7-85A02469E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7" name="Rectangle 122">
            <a:extLst>
              <a:ext uri="{FF2B5EF4-FFF2-40B4-BE49-F238E27FC236}">
                <a16:creationId xmlns:a16="http://schemas.microsoft.com/office/drawing/2014/main" id="{03144A42-437D-443C-AC88-439848DEB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8" name="Rectangle 123">
            <a:extLst>
              <a:ext uri="{FF2B5EF4-FFF2-40B4-BE49-F238E27FC236}">
                <a16:creationId xmlns:a16="http://schemas.microsoft.com/office/drawing/2014/main" id="{0353BD74-2F5D-4F6A-97B2-32135BB44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349500"/>
            <a:ext cx="1055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Пусть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3099" name="Rectangle 125">
            <a:extLst>
              <a:ext uri="{FF2B5EF4-FFF2-40B4-BE49-F238E27FC236}">
                <a16:creationId xmlns:a16="http://schemas.microsoft.com/office/drawing/2014/main" id="{5BDB5ACD-0AD0-4ABE-A635-D3A282A5B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00" name="Object 124">
            <a:extLst>
              <a:ext uri="{FF2B5EF4-FFF2-40B4-BE49-F238E27FC236}">
                <a16:creationId xmlns:a16="http://schemas.microsoft.com/office/drawing/2014/main" id="{14B60DB0-83B6-499D-86A3-99140E0270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349500"/>
          <a:ext cx="28082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7" name="Формула" r:id="rId5" imgW="1498600" imgH="228600" progId="Equation.3">
                  <p:embed/>
                </p:oleObj>
              </mc:Choice>
              <mc:Fallback>
                <p:oleObj name="Формула" r:id="rId5" imgW="1498600" imgH="228600" progId="Equation.3">
                  <p:embed/>
                  <p:pic>
                    <p:nvPicPr>
                      <p:cNvPr id="3100" name="Object 124">
                        <a:extLst>
                          <a:ext uri="{FF2B5EF4-FFF2-40B4-BE49-F238E27FC236}">
                            <a16:creationId xmlns:a16="http://schemas.microsoft.com/office/drawing/2014/main" id="{14B60DB0-83B6-499D-86A3-99140E0270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349500"/>
                        <a:ext cx="28082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1" name="Rectangle 126">
            <a:extLst>
              <a:ext uri="{FF2B5EF4-FFF2-40B4-BE49-F238E27FC236}">
                <a16:creationId xmlns:a16="http://schemas.microsoft.com/office/drawing/2014/main" id="{6602131F-64EA-4D02-AB45-6BF9AA500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102" name="Rectangle 128">
            <a:extLst>
              <a:ext uri="{FF2B5EF4-FFF2-40B4-BE49-F238E27FC236}">
                <a16:creationId xmlns:a16="http://schemas.microsoft.com/office/drawing/2014/main" id="{98ABA860-94CF-4ECF-B56B-B5C8407CE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03" name="Object 127">
            <a:extLst>
              <a:ext uri="{FF2B5EF4-FFF2-40B4-BE49-F238E27FC236}">
                <a16:creationId xmlns:a16="http://schemas.microsoft.com/office/drawing/2014/main" id="{E2194AB4-8B36-4C14-880F-62A90A7311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708275"/>
          <a:ext cx="25209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8" name="Формула" r:id="rId7" imgW="1549400" imgH="228600" progId="Equation.3">
                  <p:embed/>
                </p:oleObj>
              </mc:Choice>
              <mc:Fallback>
                <p:oleObj name="Формула" r:id="rId7" imgW="1549400" imgH="228600" progId="Equation.3">
                  <p:embed/>
                  <p:pic>
                    <p:nvPicPr>
                      <p:cNvPr id="3103" name="Object 127">
                        <a:extLst>
                          <a:ext uri="{FF2B5EF4-FFF2-40B4-BE49-F238E27FC236}">
                            <a16:creationId xmlns:a16="http://schemas.microsoft.com/office/drawing/2014/main" id="{E2194AB4-8B36-4C14-880F-62A90A7311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708275"/>
                        <a:ext cx="25209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4" name="Rectangle 130">
            <a:extLst>
              <a:ext uri="{FF2B5EF4-FFF2-40B4-BE49-F238E27FC236}">
                <a16:creationId xmlns:a16="http://schemas.microsoft.com/office/drawing/2014/main" id="{2CE9C80B-9DC5-491F-8BE8-C488B9B5F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706688"/>
            <a:ext cx="5048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 </a:t>
            </a:r>
            <a:r>
              <a:rPr lang="en-US" altLang="ru-RU"/>
              <a:t>g</a:t>
            </a:r>
            <a:r>
              <a:rPr lang="ru-RU" altLang="ru-RU"/>
              <a:t>: </a:t>
            </a:r>
          </a:p>
        </p:txBody>
      </p:sp>
      <p:sp>
        <p:nvSpPr>
          <p:cNvPr id="3105" name="Rectangle 132">
            <a:extLst>
              <a:ext uri="{FF2B5EF4-FFF2-40B4-BE49-F238E27FC236}">
                <a16:creationId xmlns:a16="http://schemas.microsoft.com/office/drawing/2014/main" id="{6A884ADD-F331-4F44-9DFA-23965D7EC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06" name="Object 131">
            <a:extLst>
              <a:ext uri="{FF2B5EF4-FFF2-40B4-BE49-F238E27FC236}">
                <a16:creationId xmlns:a16="http://schemas.microsoft.com/office/drawing/2014/main" id="{F861D8FA-F6FE-4129-8113-C157444394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068638"/>
          <a:ext cx="30972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9" name="Формула" r:id="rId9" imgW="1828800" imgH="228600" progId="Equation.3">
                  <p:embed/>
                </p:oleObj>
              </mc:Choice>
              <mc:Fallback>
                <p:oleObj name="Формула" r:id="rId9" imgW="1828800" imgH="228600" progId="Equation.3">
                  <p:embed/>
                  <p:pic>
                    <p:nvPicPr>
                      <p:cNvPr id="3106" name="Object 131">
                        <a:extLst>
                          <a:ext uri="{FF2B5EF4-FFF2-40B4-BE49-F238E27FC236}">
                            <a16:creationId xmlns:a16="http://schemas.microsoft.com/office/drawing/2014/main" id="{F861D8FA-F6FE-4129-8113-C157444394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068638"/>
                        <a:ext cx="30972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7" name="Rectangle 133">
            <a:extLst>
              <a:ext uri="{FF2B5EF4-FFF2-40B4-BE49-F238E27FC236}">
                <a16:creationId xmlns:a16="http://schemas.microsoft.com/office/drawing/2014/main" id="{F381DB87-FD65-47A1-A6D6-9389E7F74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08" name="Object 134">
            <a:extLst>
              <a:ext uri="{FF2B5EF4-FFF2-40B4-BE49-F238E27FC236}">
                <a16:creationId xmlns:a16="http://schemas.microsoft.com/office/drawing/2014/main" id="{4D056BA2-F575-49EB-ABDE-DC71BB1A50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429000"/>
          <a:ext cx="39608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0" name="Формула" r:id="rId11" imgW="2019300" imgH="241300" progId="Equation.3">
                  <p:embed/>
                </p:oleObj>
              </mc:Choice>
              <mc:Fallback>
                <p:oleObj name="Формула" r:id="rId11" imgW="2019300" imgH="241300" progId="Equation.3">
                  <p:embed/>
                  <p:pic>
                    <p:nvPicPr>
                      <p:cNvPr id="3108" name="Object 134">
                        <a:extLst>
                          <a:ext uri="{FF2B5EF4-FFF2-40B4-BE49-F238E27FC236}">
                            <a16:creationId xmlns:a16="http://schemas.microsoft.com/office/drawing/2014/main" id="{4D056BA2-F575-49EB-ABDE-DC71BB1A50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429000"/>
                        <a:ext cx="396081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9" name="Rectangle 139">
            <a:extLst>
              <a:ext uri="{FF2B5EF4-FFF2-40B4-BE49-F238E27FC236}">
                <a16:creationId xmlns:a16="http://schemas.microsoft.com/office/drawing/2014/main" id="{8CB61088-F92A-4EC0-BE7E-05BE2EDA5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10" name="Object 138">
            <a:extLst>
              <a:ext uri="{FF2B5EF4-FFF2-40B4-BE49-F238E27FC236}">
                <a16:creationId xmlns:a16="http://schemas.microsoft.com/office/drawing/2014/main" id="{A5CD9C5C-E454-4670-8D1B-C20F82D0EA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859213"/>
          <a:ext cx="187325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1" name="Формула" r:id="rId13" imgW="1155700" imgH="241300" progId="Equation.3">
                  <p:embed/>
                </p:oleObj>
              </mc:Choice>
              <mc:Fallback>
                <p:oleObj name="Формула" r:id="rId13" imgW="1155700" imgH="241300" progId="Equation.3">
                  <p:embed/>
                  <p:pic>
                    <p:nvPicPr>
                      <p:cNvPr id="3110" name="Object 138">
                        <a:extLst>
                          <a:ext uri="{FF2B5EF4-FFF2-40B4-BE49-F238E27FC236}">
                            <a16:creationId xmlns:a16="http://schemas.microsoft.com/office/drawing/2014/main" id="{A5CD9C5C-E454-4670-8D1B-C20F82D0EA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59213"/>
                        <a:ext cx="187325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1" name="Rectangle 141">
            <a:extLst>
              <a:ext uri="{FF2B5EF4-FFF2-40B4-BE49-F238E27FC236}">
                <a16:creationId xmlns:a16="http://schemas.microsoft.com/office/drawing/2014/main" id="{5C389563-0472-400C-A1F5-F1C45F1C1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3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112" name="Rectangle 142">
            <a:extLst>
              <a:ext uri="{FF2B5EF4-FFF2-40B4-BE49-F238E27FC236}">
                <a16:creationId xmlns:a16="http://schemas.microsoft.com/office/drawing/2014/main" id="{F47CA825-6586-43E2-875C-DE516D61B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3860800"/>
            <a:ext cx="34559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– ограничения типа равенств.</a:t>
            </a:r>
            <a:endParaRPr lang="ru-RU" altLang="ru-RU"/>
          </a:p>
        </p:txBody>
      </p:sp>
      <p:sp>
        <p:nvSpPr>
          <p:cNvPr id="3113" name="Rectangle 144">
            <a:extLst>
              <a:ext uri="{FF2B5EF4-FFF2-40B4-BE49-F238E27FC236}">
                <a16:creationId xmlns:a16="http://schemas.microsoft.com/office/drawing/2014/main" id="{BAFA2AC6-03CC-45F5-9461-F6BFB88F3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14" name="Object 143">
            <a:extLst>
              <a:ext uri="{FF2B5EF4-FFF2-40B4-BE49-F238E27FC236}">
                <a16:creationId xmlns:a16="http://schemas.microsoft.com/office/drawing/2014/main" id="{A86D380E-6D51-4094-B54F-4C0ACBEF0F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221163"/>
          <a:ext cx="2166937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2" name="Формула" r:id="rId15" imgW="1447800" imgH="241300" progId="Equation.3">
                  <p:embed/>
                </p:oleObj>
              </mc:Choice>
              <mc:Fallback>
                <p:oleObj name="Формула" r:id="rId15" imgW="1447800" imgH="241300" progId="Equation.3">
                  <p:embed/>
                  <p:pic>
                    <p:nvPicPr>
                      <p:cNvPr id="3114" name="Object 143">
                        <a:extLst>
                          <a:ext uri="{FF2B5EF4-FFF2-40B4-BE49-F238E27FC236}">
                            <a16:creationId xmlns:a16="http://schemas.microsoft.com/office/drawing/2014/main" id="{A86D380E-6D51-4094-B54F-4C0ACBEF0F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221163"/>
                        <a:ext cx="2166937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5" name="Rectangle 145">
            <a:extLst>
              <a:ext uri="{FF2B5EF4-FFF2-40B4-BE49-F238E27FC236}">
                <a16:creationId xmlns:a16="http://schemas.microsoft.com/office/drawing/2014/main" id="{22F1C75D-B392-4922-8F61-AE7B98501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21163"/>
            <a:ext cx="35782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Times New Roman" panose="02020603050405020304" pitchFamily="18" charset="0"/>
              </a:rPr>
              <a:t>– ограничения типа неравенств.</a:t>
            </a:r>
          </a:p>
        </p:txBody>
      </p:sp>
      <p:sp>
        <p:nvSpPr>
          <p:cNvPr id="3116" name="Rectangle 147">
            <a:extLst>
              <a:ext uri="{FF2B5EF4-FFF2-40B4-BE49-F238E27FC236}">
                <a16:creationId xmlns:a16="http://schemas.microsoft.com/office/drawing/2014/main" id="{546A4F3E-E1D5-449A-8046-BBF638CDB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535488"/>
            <a:ext cx="3600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Обозначим множество индексов</a:t>
            </a:r>
            <a:r>
              <a:rPr lang="ru-RU" altLang="ru-RU"/>
              <a:t>:</a:t>
            </a:r>
            <a:r>
              <a:rPr lang="ru-RU" altLang="ru-RU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3117" name="Rectangle 149">
            <a:extLst>
              <a:ext uri="{FF2B5EF4-FFF2-40B4-BE49-F238E27FC236}">
                <a16:creationId xmlns:a16="http://schemas.microsoft.com/office/drawing/2014/main" id="{51955441-97BF-4955-AD6C-3FD06B931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18" name="Object 148">
            <a:extLst>
              <a:ext uri="{FF2B5EF4-FFF2-40B4-BE49-F238E27FC236}">
                <a16:creationId xmlns:a16="http://schemas.microsoft.com/office/drawing/2014/main" id="{91C36488-1EC7-4C87-83C1-DB701A8267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4581525"/>
          <a:ext cx="18732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3" name="Формула" r:id="rId17" imgW="1231366" imgH="215806" progId="Equation.3">
                  <p:embed/>
                </p:oleObj>
              </mc:Choice>
              <mc:Fallback>
                <p:oleObj name="Формула" r:id="rId17" imgW="1231366" imgH="215806" progId="Equation.3">
                  <p:embed/>
                  <p:pic>
                    <p:nvPicPr>
                      <p:cNvPr id="3118" name="Object 148">
                        <a:extLst>
                          <a:ext uri="{FF2B5EF4-FFF2-40B4-BE49-F238E27FC236}">
                            <a16:creationId xmlns:a16="http://schemas.microsoft.com/office/drawing/2014/main" id="{91C36488-1EC7-4C87-83C1-DB701A8267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581525"/>
                        <a:ext cx="18732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9" name="Rectangle 150">
            <a:extLst>
              <a:ext uri="{FF2B5EF4-FFF2-40B4-BE49-F238E27FC236}">
                <a16:creationId xmlns:a16="http://schemas.microsoft.com/office/drawing/2014/main" id="{D795565C-C3F9-4551-8029-202F131C9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508500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B2D8F7F-69E0-4AE5-AFCE-64BB748AD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выпуклого программирования.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C188B3C-CE63-4BAA-A0B2-110769A33B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alt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Активные ограничения</a:t>
            </a:r>
            <a:r>
              <a:rPr lang="ru-RU" alt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100" name="Rectangle 24">
            <a:extLst>
              <a:ext uri="{FF2B5EF4-FFF2-40B4-BE49-F238E27FC236}">
                <a16:creationId xmlns:a16="http://schemas.microsoft.com/office/drawing/2014/main" id="{A936801E-85AF-491B-8E60-3D734FC3F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1" name="Rectangle 26">
            <a:extLst>
              <a:ext uri="{FF2B5EF4-FFF2-40B4-BE49-F238E27FC236}">
                <a16:creationId xmlns:a16="http://schemas.microsoft.com/office/drawing/2014/main" id="{963E9A91-F5C5-4475-995A-B4A4E06F5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1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2" name="Rectangle 28">
            <a:extLst>
              <a:ext uri="{FF2B5EF4-FFF2-40B4-BE49-F238E27FC236}">
                <a16:creationId xmlns:a16="http://schemas.microsoft.com/office/drawing/2014/main" id="{D66D0F26-35E5-4B44-8A03-1A7C656D2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3" name="Rectangle 36">
            <a:extLst>
              <a:ext uri="{FF2B5EF4-FFF2-40B4-BE49-F238E27FC236}">
                <a16:creationId xmlns:a16="http://schemas.microsoft.com/office/drawing/2014/main" id="{4A0B46E7-04EF-42DF-9E9F-A2A61C884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40">
            <a:extLst>
              <a:ext uri="{FF2B5EF4-FFF2-40B4-BE49-F238E27FC236}">
                <a16:creationId xmlns:a16="http://schemas.microsoft.com/office/drawing/2014/main" id="{98147FE8-69AA-4E71-91D1-F80F06469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5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Rectangle 46">
            <a:extLst>
              <a:ext uri="{FF2B5EF4-FFF2-40B4-BE49-F238E27FC236}">
                <a16:creationId xmlns:a16="http://schemas.microsoft.com/office/drawing/2014/main" id="{44A420CD-CD34-48A2-9775-27DFFE0EA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6" name="Rectangle 49">
            <a:extLst>
              <a:ext uri="{FF2B5EF4-FFF2-40B4-BE49-F238E27FC236}">
                <a16:creationId xmlns:a16="http://schemas.microsoft.com/office/drawing/2014/main" id="{94C17B7A-3E90-4D0C-93E7-7AAFE08AB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107" name="Picture 51" descr="81">
            <a:extLst>
              <a:ext uri="{FF2B5EF4-FFF2-40B4-BE49-F238E27FC236}">
                <a16:creationId xmlns:a16="http://schemas.microsoft.com/office/drawing/2014/main" id="{469861D0-180F-4FC6-8463-7F08A97A3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276475"/>
            <a:ext cx="6119813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8" name="Rectangle 52">
            <a:extLst>
              <a:ext uri="{FF2B5EF4-FFF2-40B4-BE49-F238E27FC236}">
                <a16:creationId xmlns:a16="http://schemas.microsoft.com/office/drawing/2014/main" id="{4D040CA3-AB2D-4F1C-A850-B786F943C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581525"/>
            <a:ext cx="8785225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В процессе решения задачи происходит перемещение текущей точки из заданной начальной точки в конечную точку. При этом возможен выход на границу области допустимых решений  Х.  Такие нарушенные ограничения носят название активных.</a:t>
            </a:r>
          </a:p>
          <a:p>
            <a:pPr eaLnBrk="1" hangingPunct="1"/>
            <a:r>
              <a:rPr lang="ru-RU" altLang="ru-RU"/>
              <a:t>	Определение множества индексов активных ограничений:</a:t>
            </a:r>
          </a:p>
        </p:txBody>
      </p:sp>
      <p:sp>
        <p:nvSpPr>
          <p:cNvPr id="4109" name="Rectangle 54">
            <a:extLst>
              <a:ext uri="{FF2B5EF4-FFF2-40B4-BE49-F238E27FC236}">
                <a16:creationId xmlns:a16="http://schemas.microsoft.com/office/drawing/2014/main" id="{C99D79E4-E585-432C-92B5-E4F1A2EF0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0" name="Object 53">
            <a:extLst>
              <a:ext uri="{FF2B5EF4-FFF2-40B4-BE49-F238E27FC236}">
                <a16:creationId xmlns:a16="http://schemas.microsoft.com/office/drawing/2014/main" id="{8BD4D20B-52E7-490B-ADF2-C017280DD2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6011863"/>
          <a:ext cx="6697662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6" name="Формула" r:id="rId4" imgW="3568700" imgH="254000" progId="Equation.3">
                  <p:embed/>
                </p:oleObj>
              </mc:Choice>
              <mc:Fallback>
                <p:oleObj name="Формула" r:id="rId4" imgW="3568700" imgH="254000" progId="Equation.3">
                  <p:embed/>
                  <p:pic>
                    <p:nvPicPr>
                      <p:cNvPr id="4110" name="Object 53">
                        <a:extLst>
                          <a:ext uri="{FF2B5EF4-FFF2-40B4-BE49-F238E27FC236}">
                            <a16:creationId xmlns:a16="http://schemas.microsoft.com/office/drawing/2014/main" id="{8BD4D20B-52E7-490B-ADF2-C017280DD2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6011863"/>
                        <a:ext cx="6697662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3854120-7DE4-4180-979C-152ABE14E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3.2.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Куна-</a:t>
            </a:r>
            <a:r>
              <a:rPr lang="ru-RU" alt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Таккера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(функция Лагранжа) для задач выпуклого программирования (1951г.)</a:t>
            </a:r>
          </a:p>
        </p:txBody>
      </p:sp>
      <p:sp>
        <p:nvSpPr>
          <p:cNvPr id="5123" name="Rectangle 28">
            <a:extLst>
              <a:ext uri="{FF2B5EF4-FFF2-40B4-BE49-F238E27FC236}">
                <a16:creationId xmlns:a16="http://schemas.microsoft.com/office/drawing/2014/main" id="{51FC24D4-AD76-4438-99D1-5F11D6E27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24" name="Object 27">
            <a:extLst>
              <a:ext uri="{FF2B5EF4-FFF2-40B4-BE49-F238E27FC236}">
                <a16:creationId xmlns:a16="http://schemas.microsoft.com/office/drawing/2014/main" id="{760E131E-0552-4971-A9F4-75AB31B7B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1150938"/>
          <a:ext cx="64801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2" name="Формула" r:id="rId3" imgW="2717800" imgH="444500" progId="Equation.3">
                  <p:embed/>
                </p:oleObj>
              </mc:Choice>
              <mc:Fallback>
                <p:oleObj name="Формула" r:id="rId3" imgW="2717800" imgH="444500" progId="Equation.3">
                  <p:embed/>
                  <p:pic>
                    <p:nvPicPr>
                      <p:cNvPr id="5124" name="Object 27">
                        <a:extLst>
                          <a:ext uri="{FF2B5EF4-FFF2-40B4-BE49-F238E27FC236}">
                            <a16:creationId xmlns:a16="http://schemas.microsoft.com/office/drawing/2014/main" id="{760E131E-0552-4971-A9F4-75AB31B7BE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150938"/>
                        <a:ext cx="648017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Rectangle 30">
            <a:extLst>
              <a:ext uri="{FF2B5EF4-FFF2-40B4-BE49-F238E27FC236}">
                <a16:creationId xmlns:a16="http://schemas.microsoft.com/office/drawing/2014/main" id="{EF5D9B79-5A84-4EFA-8E37-890F012D5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36788"/>
            <a:ext cx="8280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Продифференцируем функцию </a:t>
            </a:r>
            <a:r>
              <a:rPr lang="en-US" altLang="ru-RU">
                <a:cs typeface="Times New Roman" panose="02020603050405020304" pitchFamily="18" charset="0"/>
              </a:rPr>
              <a:t>L</a:t>
            </a:r>
            <a:r>
              <a:rPr lang="ru-RU" altLang="ru-RU">
                <a:cs typeface="Times New Roman" panose="02020603050405020304" pitchFamily="18" charset="0"/>
              </a:rPr>
              <a:t>(</a:t>
            </a:r>
            <a:r>
              <a:rPr lang="en-US" altLang="ru-RU">
                <a:cs typeface="Times New Roman" panose="02020603050405020304" pitchFamily="18" charset="0"/>
              </a:rPr>
              <a:t>x</a:t>
            </a:r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ru-RU" altLang="ru-RU">
                <a:cs typeface="Times New Roman" panose="02020603050405020304" pitchFamily="18" charset="0"/>
              </a:rPr>
              <a:t>) по 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и приравняем  0.</a:t>
            </a:r>
            <a:endParaRPr lang="ru-RU" altLang="ru-RU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Если продифференцировать по </a:t>
            </a:r>
            <a:r>
              <a:rPr lang="ru-RU" altLang="ru-RU" baseline="-30000">
                <a:cs typeface="Times New Roman" panose="02020603050405020304" pitchFamily="18" charset="0"/>
              </a:rPr>
              <a:t>к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то получим неравенства 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ru-RU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5126" name="Rectangle 31">
            <a:extLst>
              <a:ext uri="{FF2B5EF4-FFF2-40B4-BE49-F238E27FC236}">
                <a16:creationId xmlns:a16="http://schemas.microsoft.com/office/drawing/2014/main" id="{AEB59BDD-F9BF-4C30-9F99-EBE571CFF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781300"/>
            <a:ext cx="86407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что не позволяет получить единственное решение. Противоречие состоит в том, что для ЗВП имеется единственное решение.</a:t>
            </a:r>
            <a:endParaRPr lang="ru-RU" altLang="ru-RU"/>
          </a:p>
        </p:txBody>
      </p:sp>
      <p:graphicFrame>
        <p:nvGraphicFramePr>
          <p:cNvPr id="5127" name="Object 32">
            <a:extLst>
              <a:ext uri="{FF2B5EF4-FFF2-40B4-BE49-F238E27FC236}">
                <a16:creationId xmlns:a16="http://schemas.microsoft.com/office/drawing/2014/main" id="{150CDD21-0F6F-4C39-92FA-1B0DE972D4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7050" y="2565400"/>
          <a:ext cx="246063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3" name="Формула" r:id="rId5" imgW="126835" imgH="152202" progId="Equation.3">
                  <p:embed/>
                </p:oleObj>
              </mc:Choice>
              <mc:Fallback>
                <p:oleObj name="Формула" r:id="rId5" imgW="126835" imgH="152202" progId="Equation.3">
                  <p:embed/>
                  <p:pic>
                    <p:nvPicPr>
                      <p:cNvPr id="5127" name="Object 32">
                        <a:extLst>
                          <a:ext uri="{FF2B5EF4-FFF2-40B4-BE49-F238E27FC236}">
                            <a16:creationId xmlns:a16="http://schemas.microsoft.com/office/drawing/2014/main" id="{150CDD21-0F6F-4C39-92FA-1B0DE972D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2565400"/>
                        <a:ext cx="246063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Rectangle 34">
            <a:extLst>
              <a:ext uri="{FF2B5EF4-FFF2-40B4-BE49-F238E27FC236}">
                <a16:creationId xmlns:a16="http://schemas.microsoft.com/office/drawing/2014/main" id="{B4E51A57-9DEB-4739-8A8B-A1BBC4756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2492375"/>
            <a:ext cx="488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0 ,</a:t>
            </a:r>
            <a:r>
              <a:rPr lang="ru-RU" altLang="ru-RU"/>
              <a:t> </a:t>
            </a:r>
          </a:p>
        </p:txBody>
      </p:sp>
      <p:sp>
        <p:nvSpPr>
          <p:cNvPr id="5129" name="Rectangle 36">
            <a:extLst>
              <a:ext uri="{FF2B5EF4-FFF2-40B4-BE49-F238E27FC236}">
                <a16:creationId xmlns:a16="http://schemas.microsoft.com/office/drawing/2014/main" id="{0A7E4D5D-A446-4911-AAF8-ECD38F0F6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30" name="Object 35">
            <a:extLst>
              <a:ext uri="{FF2B5EF4-FFF2-40B4-BE49-F238E27FC236}">
                <a16:creationId xmlns:a16="http://schemas.microsoft.com/office/drawing/2014/main" id="{94EF3C68-13A1-4860-9ACF-250E7E5934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357563"/>
          <a:ext cx="597693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4" name="Формула" r:id="rId7" imgW="3746500" imgH="482600" progId="Equation.3">
                  <p:embed/>
                </p:oleObj>
              </mc:Choice>
              <mc:Fallback>
                <p:oleObj name="Формула" r:id="rId7" imgW="3746500" imgH="482600" progId="Equation.3">
                  <p:embed/>
                  <p:pic>
                    <p:nvPicPr>
                      <p:cNvPr id="5130" name="Object 35">
                        <a:extLst>
                          <a:ext uri="{FF2B5EF4-FFF2-40B4-BE49-F238E27FC236}">
                            <a16:creationId xmlns:a16="http://schemas.microsoft.com/office/drawing/2014/main" id="{94EF3C68-13A1-4860-9ACF-250E7E5934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357563"/>
                        <a:ext cx="5976937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31" name="Picture 37" descr="82">
            <a:extLst>
              <a:ext uri="{FF2B5EF4-FFF2-40B4-BE49-F238E27FC236}">
                <a16:creationId xmlns:a16="http://schemas.microsoft.com/office/drawing/2014/main" id="{F9F9F861-CF96-4D70-86AA-6AED1D4EE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076700"/>
            <a:ext cx="3887787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32" name="Object 39">
            <a:extLst>
              <a:ext uri="{FF2B5EF4-FFF2-40B4-BE49-F238E27FC236}">
                <a16:creationId xmlns:a16="http://schemas.microsoft.com/office/drawing/2014/main" id="{E6A1226F-5113-4CA6-8AA4-4304927191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2450" y="4240213"/>
          <a:ext cx="9715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5" name="Формула" r:id="rId10" imgW="469900" imgH="228600" progId="Equation.3">
                  <p:embed/>
                </p:oleObj>
              </mc:Choice>
              <mc:Fallback>
                <p:oleObj name="Формула" r:id="rId10" imgW="469900" imgH="228600" progId="Equation.3">
                  <p:embed/>
                  <p:pic>
                    <p:nvPicPr>
                      <p:cNvPr id="5132" name="Object 39">
                        <a:extLst>
                          <a:ext uri="{FF2B5EF4-FFF2-40B4-BE49-F238E27FC236}">
                            <a16:creationId xmlns:a16="http://schemas.microsoft.com/office/drawing/2014/main" id="{E6A1226F-5113-4CA6-8AA4-4304927191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0" y="4240213"/>
                        <a:ext cx="97155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Rectangle 40">
            <a:extLst>
              <a:ext uri="{FF2B5EF4-FFF2-40B4-BE49-F238E27FC236}">
                <a16:creationId xmlns:a16="http://schemas.microsoft.com/office/drawing/2014/main" id="{7624DD4D-6167-4C4A-A224-16AD25F1F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246563"/>
            <a:ext cx="44656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u="sng">
                <a:cs typeface="Times New Roman" panose="02020603050405020304" pitchFamily="18" charset="0"/>
              </a:rPr>
              <a:t>Лемма</a:t>
            </a:r>
            <a:r>
              <a:rPr lang="ru-RU" altLang="ru-RU" b="1">
                <a:cs typeface="Times New Roman" panose="02020603050405020304" pitchFamily="18" charset="0"/>
              </a:rPr>
              <a:t>:</a:t>
            </a:r>
            <a:r>
              <a:rPr lang="ru-RU" altLang="ru-RU">
                <a:cs typeface="Times New Roman" panose="02020603050405020304" pitchFamily="18" charset="0"/>
              </a:rPr>
              <a:t> Градиент целевой функции </a:t>
            </a:r>
            <a:endParaRPr lang="ru-RU" altLang="ru-RU"/>
          </a:p>
        </p:txBody>
      </p:sp>
      <p:sp>
        <p:nvSpPr>
          <p:cNvPr id="5134" name="Rectangle 41">
            <a:extLst>
              <a:ext uri="{FF2B5EF4-FFF2-40B4-BE49-F238E27FC236}">
                <a16:creationId xmlns:a16="http://schemas.microsoft.com/office/drawing/2014/main" id="{22CA870C-6B83-45B2-A190-67C2B7E31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508500"/>
            <a:ext cx="4716462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равен линейной комбинации градиентов функций ограничений в точке условного экстремума </a:t>
            </a:r>
            <a:endParaRPr lang="ru-RU" altLang="ru-RU"/>
          </a:p>
        </p:txBody>
      </p:sp>
      <p:sp>
        <p:nvSpPr>
          <p:cNvPr id="5135" name="Rectangle 42">
            <a:extLst>
              <a:ext uri="{FF2B5EF4-FFF2-40B4-BE49-F238E27FC236}">
                <a16:creationId xmlns:a16="http://schemas.microsoft.com/office/drawing/2014/main" id="{78964937-5E5D-4C07-9E8B-8B89BBCE8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589588"/>
            <a:ext cx="287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  Множество всех векторов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5136" name="Rectangle 44">
            <a:extLst>
              <a:ext uri="{FF2B5EF4-FFF2-40B4-BE49-F238E27FC236}">
                <a16:creationId xmlns:a16="http://schemas.microsoft.com/office/drawing/2014/main" id="{0434FE0F-A7E3-4354-9D73-499301F6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37" name="Object 43">
            <a:extLst>
              <a:ext uri="{FF2B5EF4-FFF2-40B4-BE49-F238E27FC236}">
                <a16:creationId xmlns:a16="http://schemas.microsoft.com/office/drawing/2014/main" id="{B2118F42-16E9-41CC-A51F-1E3F214F4C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5013325"/>
          <a:ext cx="3810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6" name="Формула" r:id="rId12" imgW="177569" imgH="202936" progId="Equation.3">
                  <p:embed/>
                </p:oleObj>
              </mc:Choice>
              <mc:Fallback>
                <p:oleObj name="Формула" r:id="rId12" imgW="177569" imgH="202936" progId="Equation.3">
                  <p:embed/>
                  <p:pic>
                    <p:nvPicPr>
                      <p:cNvPr id="5137" name="Object 43">
                        <a:extLst>
                          <a:ext uri="{FF2B5EF4-FFF2-40B4-BE49-F238E27FC236}">
                            <a16:creationId xmlns:a16="http://schemas.microsoft.com/office/drawing/2014/main" id="{B2118F42-16E9-41CC-A51F-1E3F214F4C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013325"/>
                        <a:ext cx="3810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Rectangle 46">
            <a:extLst>
              <a:ext uri="{FF2B5EF4-FFF2-40B4-BE49-F238E27FC236}">
                <a16:creationId xmlns:a16="http://schemas.microsoft.com/office/drawing/2014/main" id="{A9F2B5F3-9B56-44B0-8A1B-3F13CC887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8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39" name="Object 45">
            <a:extLst>
              <a:ext uri="{FF2B5EF4-FFF2-40B4-BE49-F238E27FC236}">
                <a16:creationId xmlns:a16="http://schemas.microsoft.com/office/drawing/2014/main" id="{B3450E0F-62A4-4F4C-B7BE-129B65EE8D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5445125"/>
          <a:ext cx="33115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7" name="Формула" r:id="rId14" imgW="2114858" imgH="552388" progId="Equation.3">
                  <p:embed/>
                </p:oleObj>
              </mc:Choice>
              <mc:Fallback>
                <p:oleObj name="Формула" r:id="rId14" imgW="2114858" imgH="552388" progId="Equation.3">
                  <p:embed/>
                  <p:pic>
                    <p:nvPicPr>
                      <p:cNvPr id="5139" name="Object 45">
                        <a:extLst>
                          <a:ext uri="{FF2B5EF4-FFF2-40B4-BE49-F238E27FC236}">
                            <a16:creationId xmlns:a16="http://schemas.microsoft.com/office/drawing/2014/main" id="{B3450E0F-62A4-4F4C-B7BE-129B65EE8D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5445125"/>
                        <a:ext cx="33115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0" name="Rectangle 47">
            <a:extLst>
              <a:ext uri="{FF2B5EF4-FFF2-40B4-BE49-F238E27FC236}">
                <a16:creationId xmlns:a16="http://schemas.microsoft.com/office/drawing/2014/main" id="{975BAE6C-5F99-4657-AFA7-4BE670C62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6021388"/>
            <a:ext cx="5826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называется множеством </a:t>
            </a:r>
            <a:r>
              <a:rPr lang="ru-RU" altLang="ru-RU" b="1" i="1"/>
              <a:t>возможных направлений.</a:t>
            </a:r>
          </a:p>
        </p:txBody>
      </p:sp>
      <p:sp>
        <p:nvSpPr>
          <p:cNvPr id="5141" name="Rectangle 49">
            <a:extLst>
              <a:ext uri="{FF2B5EF4-FFF2-40B4-BE49-F238E27FC236}">
                <a16:creationId xmlns:a16="http://schemas.microsoft.com/office/drawing/2014/main" id="{B67E6010-4E16-41AB-B513-B8DA8B36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42" name="Object 48">
            <a:extLst>
              <a:ext uri="{FF2B5EF4-FFF2-40B4-BE49-F238E27FC236}">
                <a16:creationId xmlns:a16="http://schemas.microsoft.com/office/drawing/2014/main" id="{A6399E9F-A5D5-461A-9E5E-5328DF5D7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4941888"/>
          <a:ext cx="30591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8" name="Формула" r:id="rId16" imgW="2590800" imgH="444500" progId="Equation.3">
                  <p:embed/>
                </p:oleObj>
              </mc:Choice>
              <mc:Fallback>
                <p:oleObj name="Формула" r:id="rId16" imgW="2590800" imgH="444500" progId="Equation.3">
                  <p:embed/>
                  <p:pic>
                    <p:nvPicPr>
                      <p:cNvPr id="5142" name="Object 48">
                        <a:extLst>
                          <a:ext uri="{FF2B5EF4-FFF2-40B4-BE49-F238E27FC236}">
                            <a16:creationId xmlns:a16="http://schemas.microsoft.com/office/drawing/2014/main" id="{A6399E9F-A5D5-461A-9E5E-5328DF5D7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4941888"/>
                        <a:ext cx="305911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3" name="Rectangle 50">
            <a:extLst>
              <a:ext uri="{FF2B5EF4-FFF2-40B4-BE49-F238E27FC236}">
                <a16:creationId xmlns:a16="http://schemas.microsoft.com/office/drawing/2014/main" id="{D8AD8ECF-7EB7-4DE2-9FD0-55269567D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50847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 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4877596-1737-4B5F-9B66-CB6C6BC4F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 Теорема </a:t>
            </a:r>
            <a:r>
              <a:rPr lang="ru-RU" alt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Каруша</a:t>
            </a:r>
            <a:r>
              <a:rPr lang="en-US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Куна-</a:t>
            </a:r>
            <a:r>
              <a:rPr lang="ru-RU" alt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Таккера</a:t>
            </a: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147" name="Rectangle 12">
            <a:extLst>
              <a:ext uri="{FF2B5EF4-FFF2-40B4-BE49-F238E27FC236}">
                <a16:creationId xmlns:a16="http://schemas.microsoft.com/office/drawing/2014/main" id="{4C77A5C3-ABAE-4EFD-9131-21EBF5F33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Rectangle 13">
            <a:extLst>
              <a:ext uri="{FF2B5EF4-FFF2-40B4-BE49-F238E27FC236}">
                <a16:creationId xmlns:a16="http://schemas.microsoft.com/office/drawing/2014/main" id="{6F0A040B-4200-4AB5-AC55-B0E54CF83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Rectangle 15">
            <a:extLst>
              <a:ext uri="{FF2B5EF4-FFF2-40B4-BE49-F238E27FC236}">
                <a16:creationId xmlns:a16="http://schemas.microsoft.com/office/drawing/2014/main" id="{0BCE705A-5780-463A-AD5A-3A314B717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0" name="Rectangle 16">
            <a:extLst>
              <a:ext uri="{FF2B5EF4-FFF2-40B4-BE49-F238E27FC236}">
                <a16:creationId xmlns:a16="http://schemas.microsoft.com/office/drawing/2014/main" id="{CA7AC2C5-5F72-4A7F-AF1C-990FFEF53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1" name="Rectangle 19">
            <a:extLst>
              <a:ext uri="{FF2B5EF4-FFF2-40B4-BE49-F238E27FC236}">
                <a16:creationId xmlns:a16="http://schemas.microsoft.com/office/drawing/2014/main" id="{A7929299-1B09-4BDF-B3D2-99F30EA49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2" name="Rectangle 22">
            <a:extLst>
              <a:ext uri="{FF2B5EF4-FFF2-40B4-BE49-F238E27FC236}">
                <a16:creationId xmlns:a16="http://schemas.microsoft.com/office/drawing/2014/main" id="{EC5567A9-A7A5-49A7-A916-B07FC4F06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6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3" name="Rectangle 24">
            <a:extLst>
              <a:ext uri="{FF2B5EF4-FFF2-40B4-BE49-F238E27FC236}">
                <a16:creationId xmlns:a16="http://schemas.microsoft.com/office/drawing/2014/main" id="{38E3BEFD-98F5-45F3-82FF-ABA1B5563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4" name="Rectangle 27">
            <a:extLst>
              <a:ext uri="{FF2B5EF4-FFF2-40B4-BE49-F238E27FC236}">
                <a16:creationId xmlns:a16="http://schemas.microsoft.com/office/drawing/2014/main" id="{E8D454FD-C704-46C5-B45D-726AF5FF4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5" name="Rectangle 39">
            <a:extLst>
              <a:ext uri="{FF2B5EF4-FFF2-40B4-BE49-F238E27FC236}">
                <a16:creationId xmlns:a16="http://schemas.microsoft.com/office/drawing/2014/main" id="{198A7FB4-3317-4EB6-9AD6-2F3BBC2AF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6" name="Rectangle 43">
            <a:extLst>
              <a:ext uri="{FF2B5EF4-FFF2-40B4-BE49-F238E27FC236}">
                <a16:creationId xmlns:a16="http://schemas.microsoft.com/office/drawing/2014/main" id="{A7A87581-3188-486E-99D8-DAD37F7F1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7" name="Rectangle 44">
            <a:extLst>
              <a:ext uri="{FF2B5EF4-FFF2-40B4-BE49-F238E27FC236}">
                <a16:creationId xmlns:a16="http://schemas.microsoft.com/office/drawing/2014/main" id="{D8D6421C-FAA3-4476-BD17-3FA7FD85D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8" name="Rectangle 47">
            <a:extLst>
              <a:ext uri="{FF2B5EF4-FFF2-40B4-BE49-F238E27FC236}">
                <a16:creationId xmlns:a16="http://schemas.microsoft.com/office/drawing/2014/main" id="{1338FDF7-AEB7-4416-B257-142FFDD32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9" name="Rectangle 48">
            <a:extLst>
              <a:ext uri="{FF2B5EF4-FFF2-40B4-BE49-F238E27FC236}">
                <a16:creationId xmlns:a16="http://schemas.microsoft.com/office/drawing/2014/main" id="{BB0A4861-F44C-472F-AF64-F689D38FC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9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0" name="Rectangle 51">
            <a:extLst>
              <a:ext uri="{FF2B5EF4-FFF2-40B4-BE49-F238E27FC236}">
                <a16:creationId xmlns:a16="http://schemas.microsoft.com/office/drawing/2014/main" id="{B7D8F82F-A6BB-4F04-A31E-484CF46CC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1" name="Rectangle 52">
            <a:extLst>
              <a:ext uri="{FF2B5EF4-FFF2-40B4-BE49-F238E27FC236}">
                <a16:creationId xmlns:a16="http://schemas.microsoft.com/office/drawing/2014/main" id="{07763FCE-F3C5-46C5-B069-F44F4C0BE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2" name="Rectangle 56">
            <a:extLst>
              <a:ext uri="{FF2B5EF4-FFF2-40B4-BE49-F238E27FC236}">
                <a16:creationId xmlns:a16="http://schemas.microsoft.com/office/drawing/2014/main" id="{EF37890C-0CEB-491B-9A02-AD8CA043F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3" name="Rectangle 59">
            <a:extLst>
              <a:ext uri="{FF2B5EF4-FFF2-40B4-BE49-F238E27FC236}">
                <a16:creationId xmlns:a16="http://schemas.microsoft.com/office/drawing/2014/main" id="{D72BDE6F-A43C-4F81-A056-12234858F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4" name="Rectangle 61">
            <a:extLst>
              <a:ext uri="{FF2B5EF4-FFF2-40B4-BE49-F238E27FC236}">
                <a16:creationId xmlns:a16="http://schemas.microsoft.com/office/drawing/2014/main" id="{292B35F0-F7C5-45D2-83CD-AD310A24B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5" name="Rectangle 68">
            <a:extLst>
              <a:ext uri="{FF2B5EF4-FFF2-40B4-BE49-F238E27FC236}">
                <a16:creationId xmlns:a16="http://schemas.microsoft.com/office/drawing/2014/main" id="{D3B36A2E-F161-440C-BF41-223A9580A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6" name="Rectangle 70">
            <a:extLst>
              <a:ext uri="{FF2B5EF4-FFF2-40B4-BE49-F238E27FC236}">
                <a16:creationId xmlns:a16="http://schemas.microsoft.com/office/drawing/2014/main" id="{14B1F12A-086C-4979-B2A4-69D830A0C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268413"/>
            <a:ext cx="5607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Рассмотрим задачу выпуклого программирования </a:t>
            </a:r>
          </a:p>
        </p:txBody>
      </p:sp>
      <p:graphicFrame>
        <p:nvGraphicFramePr>
          <p:cNvPr id="6167" name="Object 72">
            <a:extLst>
              <a:ext uri="{FF2B5EF4-FFF2-40B4-BE49-F238E27FC236}">
                <a16:creationId xmlns:a16="http://schemas.microsoft.com/office/drawing/2014/main" id="{4F69FDB1-4279-47BB-89AC-1B9B65225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773238"/>
          <a:ext cx="367188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6" name="Формула" r:id="rId3" imgW="2387600" imgH="228600" progId="Equation.3">
                  <p:embed/>
                </p:oleObj>
              </mc:Choice>
              <mc:Fallback>
                <p:oleObj name="Формула" r:id="rId3" imgW="2387600" imgH="228600" progId="Equation.3">
                  <p:embed/>
                  <p:pic>
                    <p:nvPicPr>
                      <p:cNvPr id="6167" name="Object 72">
                        <a:extLst>
                          <a:ext uri="{FF2B5EF4-FFF2-40B4-BE49-F238E27FC236}">
                            <a16:creationId xmlns:a16="http://schemas.microsoft.com/office/drawing/2014/main" id="{4F69FDB1-4279-47BB-89AC-1B9B652250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773238"/>
                        <a:ext cx="3671888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8" name="Object 71">
            <a:extLst>
              <a:ext uri="{FF2B5EF4-FFF2-40B4-BE49-F238E27FC236}">
                <a16:creationId xmlns:a16="http://schemas.microsoft.com/office/drawing/2014/main" id="{A52C5B37-C292-4E2B-8C51-E2BFC677CC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276475"/>
          <a:ext cx="38163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7" name="Формула" r:id="rId5" imgW="2438400" imgH="228600" progId="Equation.3">
                  <p:embed/>
                </p:oleObj>
              </mc:Choice>
              <mc:Fallback>
                <p:oleObj name="Формула" r:id="rId5" imgW="2438400" imgH="228600" progId="Equation.3">
                  <p:embed/>
                  <p:pic>
                    <p:nvPicPr>
                      <p:cNvPr id="6168" name="Object 71">
                        <a:extLst>
                          <a:ext uri="{FF2B5EF4-FFF2-40B4-BE49-F238E27FC236}">
                            <a16:creationId xmlns:a16="http://schemas.microsoft.com/office/drawing/2014/main" id="{A52C5B37-C292-4E2B-8C51-E2BFC677CC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276475"/>
                        <a:ext cx="381635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9" name="Rectangle 73">
            <a:extLst>
              <a:ext uri="{FF2B5EF4-FFF2-40B4-BE49-F238E27FC236}">
                <a16:creationId xmlns:a16="http://schemas.microsoft.com/office/drawing/2014/main" id="{86DC125F-CCB3-46FC-893A-2DA4B3F06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727200"/>
            <a:ext cx="2016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Пусть    </a:t>
            </a:r>
            <a:r>
              <a:rPr lang="en-US" altLang="ru-RU">
                <a:cs typeface="Times New Roman" panose="02020603050405020304" pitchFamily="18" charset="0"/>
              </a:rPr>
              <a:t>f</a:t>
            </a:r>
            <a:r>
              <a:rPr lang="ru-RU" altLang="ru-RU">
                <a:cs typeface="Times New Roman" panose="02020603050405020304" pitchFamily="18" charset="0"/>
              </a:rPr>
              <a:t>: </a:t>
            </a:r>
            <a:endParaRPr lang="ru-RU" altLang="ru-RU"/>
          </a:p>
        </p:txBody>
      </p:sp>
      <p:sp>
        <p:nvSpPr>
          <p:cNvPr id="6170" name="Rectangle 74">
            <a:extLst>
              <a:ext uri="{FF2B5EF4-FFF2-40B4-BE49-F238E27FC236}">
                <a16:creationId xmlns:a16="http://schemas.microsoft.com/office/drawing/2014/main" id="{04ACF811-4A30-40D5-BFD6-52964C178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05038"/>
            <a:ext cx="546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  </a:t>
            </a:r>
            <a:r>
              <a:rPr lang="en-US" altLang="ru-RU">
                <a:cs typeface="Times New Roman" panose="02020603050405020304" pitchFamily="18" charset="0"/>
              </a:rPr>
              <a:t>g</a:t>
            </a:r>
            <a:r>
              <a:rPr lang="ru-RU" altLang="ru-RU">
                <a:cs typeface="Times New Roman" panose="02020603050405020304" pitchFamily="18" charset="0"/>
              </a:rPr>
              <a:t>: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71" name="Rectangle 75">
            <a:extLst>
              <a:ext uri="{FF2B5EF4-FFF2-40B4-BE49-F238E27FC236}">
                <a16:creationId xmlns:a16="http://schemas.microsoft.com/office/drawing/2014/main" id="{2802FF9E-E4EC-449A-AD32-EB5D44F74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636838"/>
            <a:ext cx="2095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Требуется найти: </a:t>
            </a:r>
          </a:p>
        </p:txBody>
      </p:sp>
      <p:sp>
        <p:nvSpPr>
          <p:cNvPr id="6172" name="Rectangle 77">
            <a:extLst>
              <a:ext uri="{FF2B5EF4-FFF2-40B4-BE49-F238E27FC236}">
                <a16:creationId xmlns:a16="http://schemas.microsoft.com/office/drawing/2014/main" id="{887CBB9E-A1C1-4B4B-8349-9D96C4B23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6173" name="Object 76">
            <a:extLst>
              <a:ext uri="{FF2B5EF4-FFF2-40B4-BE49-F238E27FC236}">
                <a16:creationId xmlns:a16="http://schemas.microsoft.com/office/drawing/2014/main" id="{2EC50906-B487-4C85-B9BF-9CDB28746C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2636838"/>
          <a:ext cx="20891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8" name="Формула" r:id="rId7" imgW="1155700" imgH="228600" progId="Equation.3">
                  <p:embed/>
                </p:oleObj>
              </mc:Choice>
              <mc:Fallback>
                <p:oleObj name="Формула" r:id="rId7" imgW="1155700" imgH="228600" progId="Equation.3">
                  <p:embed/>
                  <p:pic>
                    <p:nvPicPr>
                      <p:cNvPr id="6173" name="Object 76">
                        <a:extLst>
                          <a:ext uri="{FF2B5EF4-FFF2-40B4-BE49-F238E27FC236}">
                            <a16:creationId xmlns:a16="http://schemas.microsoft.com/office/drawing/2014/main" id="{2EC50906-B487-4C85-B9BF-9CDB28746C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636838"/>
                        <a:ext cx="208915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4" name="Rectangle 79">
            <a:extLst>
              <a:ext uri="{FF2B5EF4-FFF2-40B4-BE49-F238E27FC236}">
                <a16:creationId xmlns:a16="http://schemas.microsoft.com/office/drawing/2014/main" id="{E08072E7-EAED-4CB8-B6A4-157190190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2636838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graphicFrame>
        <p:nvGraphicFramePr>
          <p:cNvPr id="6175" name="Object 78">
            <a:extLst>
              <a:ext uri="{FF2B5EF4-FFF2-40B4-BE49-F238E27FC236}">
                <a16:creationId xmlns:a16="http://schemas.microsoft.com/office/drawing/2014/main" id="{9F2A8C97-DF5B-4ACC-8274-41E37DD51E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708275"/>
          <a:ext cx="7207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9" name="Формула" r:id="rId9" imgW="405872" imgH="177569" progId="Equation.3">
                  <p:embed/>
                </p:oleObj>
              </mc:Choice>
              <mc:Fallback>
                <p:oleObj name="Формула" r:id="rId9" imgW="405872" imgH="177569" progId="Equation.3">
                  <p:embed/>
                  <p:pic>
                    <p:nvPicPr>
                      <p:cNvPr id="6175" name="Object 78">
                        <a:extLst>
                          <a:ext uri="{FF2B5EF4-FFF2-40B4-BE49-F238E27FC236}">
                            <a16:creationId xmlns:a16="http://schemas.microsoft.com/office/drawing/2014/main" id="{9F2A8C97-DF5B-4ACC-8274-41E37DD51E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708275"/>
                        <a:ext cx="72072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6" name="Rectangle 81">
            <a:extLst>
              <a:ext uri="{FF2B5EF4-FFF2-40B4-BE49-F238E27FC236}">
                <a16:creationId xmlns:a16="http://schemas.microsoft.com/office/drawing/2014/main" id="{E4CD719E-4359-47BE-A9F5-E1695F342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6177" name="Object 80">
            <a:extLst>
              <a:ext uri="{FF2B5EF4-FFF2-40B4-BE49-F238E27FC236}">
                <a16:creationId xmlns:a16="http://schemas.microsoft.com/office/drawing/2014/main" id="{82971F4E-2A82-4A5C-A47A-C2531B41D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2997200"/>
          <a:ext cx="2520950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0" name="Формула" r:id="rId11" imgW="1333500" imgH="698500" progId="Equation.3">
                  <p:embed/>
                </p:oleObj>
              </mc:Choice>
              <mc:Fallback>
                <p:oleObj name="Формула" r:id="rId11" imgW="1333500" imgH="698500" progId="Equation.3">
                  <p:embed/>
                  <p:pic>
                    <p:nvPicPr>
                      <p:cNvPr id="6177" name="Object 80">
                        <a:extLst>
                          <a:ext uri="{FF2B5EF4-FFF2-40B4-BE49-F238E27FC236}">
                            <a16:creationId xmlns:a16="http://schemas.microsoft.com/office/drawing/2014/main" id="{82971F4E-2A82-4A5C-A47A-C2531B41D8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997200"/>
                        <a:ext cx="2520950" cy="131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8" name="Rectangle 82">
            <a:extLst>
              <a:ext uri="{FF2B5EF4-FFF2-40B4-BE49-F238E27FC236}">
                <a16:creationId xmlns:a16="http://schemas.microsoft.com/office/drawing/2014/main" id="{3599AD8F-4932-4F5A-8C97-1BD34BAF9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3860800"/>
            <a:ext cx="53292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Для этого решение ЗВП должно удовлетворять следующим условиям:</a:t>
            </a:r>
          </a:p>
        </p:txBody>
      </p:sp>
      <p:sp>
        <p:nvSpPr>
          <p:cNvPr id="6179" name="Rectangle 83">
            <a:extLst>
              <a:ext uri="{FF2B5EF4-FFF2-40B4-BE49-F238E27FC236}">
                <a16:creationId xmlns:a16="http://schemas.microsoft.com/office/drawing/2014/main" id="{EBFD808D-8239-4DA9-A6F8-E9F51A167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924175"/>
            <a:ext cx="358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80" name="Rectangle 84">
            <a:extLst>
              <a:ext uri="{FF2B5EF4-FFF2-40B4-BE49-F238E27FC236}">
                <a16:creationId xmlns:a16="http://schemas.microsoft.com/office/drawing/2014/main" id="{C7DF737D-6133-4AEF-B877-310D36DD1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81" name="Rectangle 85">
            <a:extLst>
              <a:ext uri="{FF2B5EF4-FFF2-40B4-BE49-F238E27FC236}">
                <a16:creationId xmlns:a16="http://schemas.microsoft.com/office/drawing/2014/main" id="{61D956C0-4058-4480-9376-CD29CF475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789363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82" name="Rectangle 87">
            <a:extLst>
              <a:ext uri="{FF2B5EF4-FFF2-40B4-BE49-F238E27FC236}">
                <a16:creationId xmlns:a16="http://schemas.microsoft.com/office/drawing/2014/main" id="{420FFA15-8D15-4FE3-9449-63A7DB1FF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5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6183" name="Object 86">
            <a:extLst>
              <a:ext uri="{FF2B5EF4-FFF2-40B4-BE49-F238E27FC236}">
                <a16:creationId xmlns:a16="http://schemas.microsoft.com/office/drawing/2014/main" id="{F6456E15-C2B6-4012-BB98-B5A339BCB5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8" y="4437063"/>
          <a:ext cx="5113337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1" name="Формула" r:id="rId13" imgW="2832100" imgH="1447800" progId="Equation.3">
                  <p:embed/>
                </p:oleObj>
              </mc:Choice>
              <mc:Fallback>
                <p:oleObj name="Формула" r:id="rId13" imgW="2832100" imgH="1447800" progId="Equation.3">
                  <p:embed/>
                  <p:pic>
                    <p:nvPicPr>
                      <p:cNvPr id="6183" name="Object 86">
                        <a:extLst>
                          <a:ext uri="{FF2B5EF4-FFF2-40B4-BE49-F238E27FC236}">
                            <a16:creationId xmlns:a16="http://schemas.microsoft.com/office/drawing/2014/main" id="{F6456E15-C2B6-4012-BB98-B5A339BCB5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8" y="4437063"/>
                        <a:ext cx="5113337" cy="222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4" name="Rectangle 89">
            <a:extLst>
              <a:ext uri="{FF2B5EF4-FFF2-40B4-BE49-F238E27FC236}">
                <a16:creationId xmlns:a16="http://schemas.microsoft.com/office/drawing/2014/main" id="{CA0BA2F5-03FE-4DBC-AC6A-67615C1BE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535488"/>
            <a:ext cx="3744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Если  эти условия выполнены, то </a:t>
            </a:r>
            <a:endParaRPr lang="ru-RU" altLang="ru-RU"/>
          </a:p>
        </p:txBody>
      </p:sp>
      <p:graphicFrame>
        <p:nvGraphicFramePr>
          <p:cNvPr id="6185" name="Object 88">
            <a:extLst>
              <a:ext uri="{FF2B5EF4-FFF2-40B4-BE49-F238E27FC236}">
                <a16:creationId xmlns:a16="http://schemas.microsoft.com/office/drawing/2014/main" id="{3164393E-532A-4A89-BA44-C1DF36373C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4797425"/>
          <a:ext cx="4619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2" name="Формула" r:id="rId15" imgW="177569" imgH="202936" progId="Equation.3">
                  <p:embed/>
                </p:oleObj>
              </mc:Choice>
              <mc:Fallback>
                <p:oleObj name="Формула" r:id="rId15" imgW="177569" imgH="202936" progId="Equation.3">
                  <p:embed/>
                  <p:pic>
                    <p:nvPicPr>
                      <p:cNvPr id="6185" name="Object 88">
                        <a:extLst>
                          <a:ext uri="{FF2B5EF4-FFF2-40B4-BE49-F238E27FC236}">
                            <a16:creationId xmlns:a16="http://schemas.microsoft.com/office/drawing/2014/main" id="{3164393E-532A-4A89-BA44-C1DF36373C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797425"/>
                        <a:ext cx="4619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6" name="Rectangle 90">
            <a:extLst>
              <a:ext uri="{FF2B5EF4-FFF2-40B4-BE49-F238E27FC236}">
                <a16:creationId xmlns:a16="http://schemas.microsoft.com/office/drawing/2014/main" id="{7958AB9D-9452-48FE-8165-9341676FF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868863"/>
            <a:ext cx="25923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– решение ЗВП.</a:t>
            </a:r>
            <a:endParaRPr lang="ru-RU" altLang="ru-RU"/>
          </a:p>
        </p:txBody>
      </p:sp>
      <p:sp>
        <p:nvSpPr>
          <p:cNvPr id="6187" name="Rectangle 92">
            <a:extLst>
              <a:ext uri="{FF2B5EF4-FFF2-40B4-BE49-F238E27FC236}">
                <a16:creationId xmlns:a16="http://schemas.microsoft.com/office/drawing/2014/main" id="{E50480DE-FFB4-4ECC-8F00-E2A8F5303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300663"/>
            <a:ext cx="1223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Условия: </a:t>
            </a:r>
            <a:endParaRPr lang="ru-RU" altLang="ru-RU"/>
          </a:p>
        </p:txBody>
      </p:sp>
      <p:sp>
        <p:nvSpPr>
          <p:cNvPr id="6188" name="Rectangle 94">
            <a:extLst>
              <a:ext uri="{FF2B5EF4-FFF2-40B4-BE49-F238E27FC236}">
                <a16:creationId xmlns:a16="http://schemas.microsoft.com/office/drawing/2014/main" id="{DAA7363D-4245-4500-AE9C-720584F3F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5740400"/>
            <a:ext cx="37449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- называются </a:t>
            </a:r>
            <a:r>
              <a:rPr lang="ru-RU" altLang="ru-RU" b="1" i="1"/>
              <a:t>условиями дополняющей нежесткости</a:t>
            </a:r>
            <a:r>
              <a:rPr lang="ru-RU" altLang="ru-RU"/>
              <a:t>.</a:t>
            </a:r>
          </a:p>
        </p:txBody>
      </p:sp>
      <p:sp>
        <p:nvSpPr>
          <p:cNvPr id="6189" name="Rectangle 95">
            <a:extLst>
              <a:ext uri="{FF2B5EF4-FFF2-40B4-BE49-F238E27FC236}">
                <a16:creationId xmlns:a16="http://schemas.microsoft.com/office/drawing/2014/main" id="{25B2819F-723E-4B3D-B97A-E95141365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437063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90" name="Rectangle 96">
            <a:extLst>
              <a:ext uri="{FF2B5EF4-FFF2-40B4-BE49-F238E27FC236}">
                <a16:creationId xmlns:a16="http://schemas.microsoft.com/office/drawing/2014/main" id="{01AE09E5-2F87-4A3C-A6DA-37C879D5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876925"/>
            <a:ext cx="358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91" name="Rectangle 97">
            <a:extLst>
              <a:ext uri="{FF2B5EF4-FFF2-40B4-BE49-F238E27FC236}">
                <a16:creationId xmlns:a16="http://schemas.microsoft.com/office/drawing/2014/main" id="{4CEE81D8-1F05-4326-9EF1-F2CE58CBB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6237288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6192" name="Rectangle 98">
            <a:extLst>
              <a:ext uri="{FF2B5EF4-FFF2-40B4-BE49-F238E27FC236}">
                <a16:creationId xmlns:a16="http://schemas.microsoft.com/office/drawing/2014/main" id="{A0216965-D712-446B-B6F0-E13A2A7C3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5300663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7E2F484-340C-4023-A727-3A544E28A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3.4. Теория двойственности</a:t>
            </a:r>
            <a:endParaRPr lang="ru-RU" alt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07557593-855B-4B49-AA4B-E1A80A30B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2" name="Rectangle 7">
            <a:extLst>
              <a:ext uri="{FF2B5EF4-FFF2-40B4-BE49-F238E27FC236}">
                <a16:creationId xmlns:a16="http://schemas.microsoft.com/office/drawing/2014/main" id="{23C7CEA0-C362-4D00-B2A3-7A2C9EFA2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3" name="Rectangle 8">
            <a:extLst>
              <a:ext uri="{FF2B5EF4-FFF2-40B4-BE49-F238E27FC236}">
                <a16:creationId xmlns:a16="http://schemas.microsoft.com/office/drawing/2014/main" id="{CB755540-9BCA-45F9-AC6F-8B0A2FFC4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4" name="Rectangle 10">
            <a:extLst>
              <a:ext uri="{FF2B5EF4-FFF2-40B4-BE49-F238E27FC236}">
                <a16:creationId xmlns:a16="http://schemas.microsoft.com/office/drawing/2014/main" id="{E14DC7EF-0217-446E-BF50-376AF7C22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5" name="Rectangle 12">
            <a:extLst>
              <a:ext uri="{FF2B5EF4-FFF2-40B4-BE49-F238E27FC236}">
                <a16:creationId xmlns:a16="http://schemas.microsoft.com/office/drawing/2014/main" id="{8431C3C8-CEBA-425E-8544-31128DDBA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6" name="Rectangle 15">
            <a:extLst>
              <a:ext uri="{FF2B5EF4-FFF2-40B4-BE49-F238E27FC236}">
                <a16:creationId xmlns:a16="http://schemas.microsoft.com/office/drawing/2014/main" id="{347BA7A6-6433-42AD-862C-D1EC631F5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7" name="Rectangle 19">
            <a:extLst>
              <a:ext uri="{FF2B5EF4-FFF2-40B4-BE49-F238E27FC236}">
                <a16:creationId xmlns:a16="http://schemas.microsoft.com/office/drawing/2014/main" id="{7F2767D6-B247-43FC-A276-8140A210A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8" name="Rectangle 24">
            <a:extLst>
              <a:ext uri="{FF2B5EF4-FFF2-40B4-BE49-F238E27FC236}">
                <a16:creationId xmlns:a16="http://schemas.microsoft.com/office/drawing/2014/main" id="{0C5F6CD3-4A18-4005-B38C-DC1807CF7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9" name="Rectangle 28">
            <a:extLst>
              <a:ext uri="{FF2B5EF4-FFF2-40B4-BE49-F238E27FC236}">
                <a16:creationId xmlns:a16="http://schemas.microsoft.com/office/drawing/2014/main" id="{D9292E6C-10FD-427C-8022-D084CEC92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0" name="Rectangle 29">
            <a:extLst>
              <a:ext uri="{FF2B5EF4-FFF2-40B4-BE49-F238E27FC236}">
                <a16:creationId xmlns:a16="http://schemas.microsoft.com/office/drawing/2014/main" id="{EE1CA3AF-B58A-4DB0-A166-1E553277B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1" name="Rectangle 32">
            <a:extLst>
              <a:ext uri="{FF2B5EF4-FFF2-40B4-BE49-F238E27FC236}">
                <a16:creationId xmlns:a16="http://schemas.microsoft.com/office/drawing/2014/main" id="{19C4CBDD-22A6-496B-BB43-D3413CDF2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2" name="Rectangle 34">
            <a:extLst>
              <a:ext uri="{FF2B5EF4-FFF2-40B4-BE49-F238E27FC236}">
                <a16:creationId xmlns:a16="http://schemas.microsoft.com/office/drawing/2014/main" id="{80381FE6-6964-4519-815E-BFD67E710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3" name="Rectangle 36">
            <a:extLst>
              <a:ext uri="{FF2B5EF4-FFF2-40B4-BE49-F238E27FC236}">
                <a16:creationId xmlns:a16="http://schemas.microsoft.com/office/drawing/2014/main" id="{25FAEDF0-49C9-4EBA-92AE-A884CF52B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200151"/>
            <a:ext cx="853244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3.4.1.Седловая точка функции Лагранжа. Двойственность.</a:t>
            </a:r>
          </a:p>
        </p:txBody>
      </p:sp>
      <p:sp>
        <p:nvSpPr>
          <p:cNvPr id="7184" name="Rectangle 39">
            <a:extLst>
              <a:ext uri="{FF2B5EF4-FFF2-40B4-BE49-F238E27FC236}">
                <a16:creationId xmlns:a16="http://schemas.microsoft.com/office/drawing/2014/main" id="{EA996D49-6A03-47B2-B52E-CD318E4B4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5" name="Rectangle 40">
            <a:extLst>
              <a:ext uri="{FF2B5EF4-FFF2-40B4-BE49-F238E27FC236}">
                <a16:creationId xmlns:a16="http://schemas.microsoft.com/office/drawing/2014/main" id="{E49DD6ED-1623-49F4-855C-4125EE4F0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6" name="Rectangle 43">
            <a:extLst>
              <a:ext uri="{FF2B5EF4-FFF2-40B4-BE49-F238E27FC236}">
                <a16:creationId xmlns:a16="http://schemas.microsoft.com/office/drawing/2014/main" id="{D723A15E-9E8B-4020-9713-DE3BA5C7E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7" name="Rectangle 46">
            <a:extLst>
              <a:ext uri="{FF2B5EF4-FFF2-40B4-BE49-F238E27FC236}">
                <a16:creationId xmlns:a16="http://schemas.microsoft.com/office/drawing/2014/main" id="{F0B5D12E-51A1-4F9C-A584-FC8319054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/>
          </a:p>
        </p:txBody>
      </p:sp>
      <p:sp>
        <p:nvSpPr>
          <p:cNvPr id="7188" name="Rectangle 51">
            <a:extLst>
              <a:ext uri="{FF2B5EF4-FFF2-40B4-BE49-F238E27FC236}">
                <a16:creationId xmlns:a16="http://schemas.microsoft.com/office/drawing/2014/main" id="{F50D08EC-A32E-4136-B286-82FC2915A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9" name="Rectangle 52">
            <a:extLst>
              <a:ext uri="{FF2B5EF4-FFF2-40B4-BE49-F238E27FC236}">
                <a16:creationId xmlns:a16="http://schemas.microsoft.com/office/drawing/2014/main" id="{5CB7672E-9A60-4A5E-923B-A0F73566B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90" name="Rectangle 55">
            <a:extLst>
              <a:ext uri="{FF2B5EF4-FFF2-40B4-BE49-F238E27FC236}">
                <a16:creationId xmlns:a16="http://schemas.microsoft.com/office/drawing/2014/main" id="{4441C4CE-AC77-43ED-AEF3-A37C935A9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91" name="Rectangle 56">
            <a:extLst>
              <a:ext uri="{FF2B5EF4-FFF2-40B4-BE49-F238E27FC236}">
                <a16:creationId xmlns:a16="http://schemas.microsoft.com/office/drawing/2014/main" id="{81D5E781-9473-44EF-86E0-0B5C43853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581525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7192" name="Rectangle 60">
            <a:extLst>
              <a:ext uri="{FF2B5EF4-FFF2-40B4-BE49-F238E27FC236}">
                <a16:creationId xmlns:a16="http://schemas.microsoft.com/office/drawing/2014/main" id="{5AA4268D-8959-4244-8155-800231380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3500438"/>
            <a:ext cx="54721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Тогда функция Лагранжа может быть записана:</a:t>
            </a:r>
          </a:p>
        </p:txBody>
      </p:sp>
      <p:sp>
        <p:nvSpPr>
          <p:cNvPr id="7193" name="Rectangle 62">
            <a:extLst>
              <a:ext uri="{FF2B5EF4-FFF2-40B4-BE49-F238E27FC236}">
                <a16:creationId xmlns:a16="http://schemas.microsoft.com/office/drawing/2014/main" id="{29CE9304-08BF-4B0E-BF6C-0C53DDBF8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989138"/>
            <a:ext cx="7016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Рассмотрим упрощенную задачу выпуклого программирования.</a:t>
            </a:r>
          </a:p>
          <a:p>
            <a:pPr eaLnBrk="1" hangingPunct="1"/>
            <a:r>
              <a:rPr lang="ru-RU" altLang="ru-RU"/>
              <a:t>Пусть заданы условия на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 и </a:t>
            </a:r>
            <a:r>
              <a:rPr lang="en-US" altLang="ru-RU"/>
              <a:t>g</a:t>
            </a:r>
            <a:r>
              <a:rPr lang="ru-RU" altLang="ru-RU"/>
              <a:t> (</a:t>
            </a:r>
            <a:r>
              <a:rPr lang="en-US" altLang="ru-RU"/>
              <a:t>x</a:t>
            </a:r>
            <a:r>
              <a:rPr lang="ru-RU" altLang="ru-RU"/>
              <a:t>) как и ранее.</a:t>
            </a:r>
          </a:p>
        </p:txBody>
      </p:sp>
      <p:sp>
        <p:nvSpPr>
          <p:cNvPr id="7194" name="Rectangle 64">
            <a:extLst>
              <a:ext uri="{FF2B5EF4-FFF2-40B4-BE49-F238E27FC236}">
                <a16:creationId xmlns:a16="http://schemas.microsoft.com/office/drawing/2014/main" id="{6224F8B4-4E75-42C0-A4BA-DCB213C44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7195" name="Object 63">
            <a:extLst>
              <a:ext uri="{FF2B5EF4-FFF2-40B4-BE49-F238E27FC236}">
                <a16:creationId xmlns:a16="http://schemas.microsoft.com/office/drawing/2014/main" id="{EFEAAA9C-A947-4925-95A7-C658D4EF0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2636838"/>
          <a:ext cx="2447925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8" name="Формула" r:id="rId3" imgW="1270000" imgH="736600" progId="Equation.3">
                  <p:embed/>
                </p:oleObj>
              </mc:Choice>
              <mc:Fallback>
                <p:oleObj name="Формула" r:id="rId3" imgW="1270000" imgH="736600" progId="Equation.3">
                  <p:embed/>
                  <p:pic>
                    <p:nvPicPr>
                      <p:cNvPr id="7195" name="Object 63">
                        <a:extLst>
                          <a:ext uri="{FF2B5EF4-FFF2-40B4-BE49-F238E27FC236}">
                            <a16:creationId xmlns:a16="http://schemas.microsoft.com/office/drawing/2014/main" id="{EFEAAA9C-A947-4925-95A7-C658D4EF06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636838"/>
                        <a:ext cx="2447925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6" name="Rectangle 66">
            <a:extLst>
              <a:ext uri="{FF2B5EF4-FFF2-40B4-BE49-F238E27FC236}">
                <a16:creationId xmlns:a16="http://schemas.microsoft.com/office/drawing/2014/main" id="{428CC433-532A-4368-AE93-893051F22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7197" name="Object 65">
            <a:extLst>
              <a:ext uri="{FF2B5EF4-FFF2-40B4-BE49-F238E27FC236}">
                <a16:creationId xmlns:a16="http://schemas.microsoft.com/office/drawing/2014/main" id="{59EF47B7-0B7F-4DD8-BD06-E50E311C10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3860800"/>
          <a:ext cx="2881313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9" name="Формула" r:id="rId5" imgW="1739900" imgH="444500" progId="Equation.3">
                  <p:embed/>
                </p:oleObj>
              </mc:Choice>
              <mc:Fallback>
                <p:oleObj name="Формула" r:id="rId5" imgW="1739900" imgH="444500" progId="Equation.3">
                  <p:embed/>
                  <p:pic>
                    <p:nvPicPr>
                      <p:cNvPr id="7197" name="Object 65">
                        <a:extLst>
                          <a:ext uri="{FF2B5EF4-FFF2-40B4-BE49-F238E27FC236}">
                            <a16:creationId xmlns:a16="http://schemas.microsoft.com/office/drawing/2014/main" id="{59EF47B7-0B7F-4DD8-BD06-E50E311C10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860800"/>
                        <a:ext cx="2881313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8" name="Rectangle 67">
            <a:extLst>
              <a:ext uri="{FF2B5EF4-FFF2-40B4-BE49-F238E27FC236}">
                <a16:creationId xmlns:a16="http://schemas.microsoft.com/office/drawing/2014/main" id="{56C4B6E4-745A-41FF-A8B8-C8F607033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076700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7199" name="Rectangle 68">
            <a:extLst>
              <a:ext uri="{FF2B5EF4-FFF2-40B4-BE49-F238E27FC236}">
                <a16:creationId xmlns:a16="http://schemas.microsoft.com/office/drawing/2014/main" id="{57C2FF4E-2620-446F-A414-623461C11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3860800"/>
            <a:ext cx="46370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Рассмотрим случай, когда  </a:t>
            </a:r>
            <a:r>
              <a:rPr lang="en-US" altLang="ru-RU"/>
              <a:t>x </a:t>
            </a:r>
            <a:r>
              <a:rPr lang="ru-RU" altLang="ru-RU"/>
              <a:t>= </a:t>
            </a:r>
            <a:r>
              <a:rPr lang="en-US" altLang="ru-RU"/>
              <a:t>x</a:t>
            </a:r>
            <a:r>
              <a:rPr lang="ru-RU" altLang="ru-RU"/>
              <a:t>1, </a:t>
            </a:r>
            <a:r>
              <a:rPr lang="ru-RU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 = </a:t>
            </a:r>
            <a:r>
              <a:rPr lang="ru-RU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1</a:t>
            </a:r>
            <a:r>
              <a:rPr lang="ru-RU" altLang="ru-RU">
                <a:sym typeface="Symbol" panose="05050102010706020507" pitchFamily="18" charset="2"/>
              </a:rPr>
              <a:t> :</a:t>
            </a:r>
          </a:p>
        </p:txBody>
      </p:sp>
      <p:sp>
        <p:nvSpPr>
          <p:cNvPr id="7200" name="Rectangle 70">
            <a:extLst>
              <a:ext uri="{FF2B5EF4-FFF2-40B4-BE49-F238E27FC236}">
                <a16:creationId xmlns:a16="http://schemas.microsoft.com/office/drawing/2014/main" id="{506CD41E-FF9A-4BF3-9786-383A8DEF4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7201" name="Object 69">
            <a:extLst>
              <a:ext uri="{FF2B5EF4-FFF2-40B4-BE49-F238E27FC236}">
                <a16:creationId xmlns:a16="http://schemas.microsoft.com/office/drawing/2014/main" id="{B4C0EFDD-F84B-4AFA-9326-3C6B0FF42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4541838"/>
          <a:ext cx="3168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0" name="Формула" r:id="rId7" imgW="1892300" imgH="228600" progId="Equation.3">
                  <p:embed/>
                </p:oleObj>
              </mc:Choice>
              <mc:Fallback>
                <p:oleObj name="Формула" r:id="rId7" imgW="1892300" imgH="228600" progId="Equation.3">
                  <p:embed/>
                  <p:pic>
                    <p:nvPicPr>
                      <p:cNvPr id="7201" name="Object 69">
                        <a:extLst>
                          <a:ext uri="{FF2B5EF4-FFF2-40B4-BE49-F238E27FC236}">
                            <a16:creationId xmlns:a16="http://schemas.microsoft.com/office/drawing/2014/main" id="{B4C0EFDD-F84B-4AFA-9326-3C6B0FF42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541838"/>
                        <a:ext cx="31686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2" name="Rectangle 71">
            <a:extLst>
              <a:ext uri="{FF2B5EF4-FFF2-40B4-BE49-F238E27FC236}">
                <a16:creationId xmlns:a16="http://schemas.microsoft.com/office/drawing/2014/main" id="{A439F33A-40AE-4C22-A8A3-341728E0C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7203" name="Picture 72" descr="83">
            <a:extLst>
              <a:ext uri="{FF2B5EF4-FFF2-40B4-BE49-F238E27FC236}">
                <a16:creationId xmlns:a16="http://schemas.microsoft.com/office/drawing/2014/main" id="{AA17AD5B-2A01-433F-93F3-D84AD8A6D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4292600"/>
            <a:ext cx="4681538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04" name="Rectangle 74">
            <a:extLst>
              <a:ext uri="{FF2B5EF4-FFF2-40B4-BE49-F238E27FC236}">
                <a16:creationId xmlns:a16="http://schemas.microsoft.com/office/drawing/2014/main" id="{51D4581C-AA55-4076-BF44-1F934F20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13325"/>
            <a:ext cx="3529013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Таким образом седловая точка функции Лагранжа (функции Куна-Таккера) является </a:t>
            </a:r>
            <a:endParaRPr lang="ru-RU" altLang="ru-RU"/>
          </a:p>
        </p:txBody>
      </p:sp>
      <p:graphicFrame>
        <p:nvGraphicFramePr>
          <p:cNvPr id="7205" name="Object 73">
            <a:extLst>
              <a:ext uri="{FF2B5EF4-FFF2-40B4-BE49-F238E27FC236}">
                <a16:creationId xmlns:a16="http://schemas.microsoft.com/office/drawing/2014/main" id="{79346C58-939F-4B01-A15C-C40BD6D64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5518150"/>
          <a:ext cx="93503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1" name="Формула" r:id="rId10" imgW="520474" imgH="266584" progId="Equation.3">
                  <p:embed/>
                </p:oleObj>
              </mc:Choice>
              <mc:Fallback>
                <p:oleObj name="Формула" r:id="rId10" imgW="520474" imgH="266584" progId="Equation.3">
                  <p:embed/>
                  <p:pic>
                    <p:nvPicPr>
                      <p:cNvPr id="7205" name="Object 73">
                        <a:extLst>
                          <a:ext uri="{FF2B5EF4-FFF2-40B4-BE49-F238E27FC236}">
                            <a16:creationId xmlns:a16="http://schemas.microsoft.com/office/drawing/2014/main" id="{79346C58-939F-4B01-A15C-C40BD6D645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518150"/>
                        <a:ext cx="935038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6" name="Rectangle 75">
            <a:extLst>
              <a:ext uri="{FF2B5EF4-FFF2-40B4-BE49-F238E27FC236}">
                <a16:creationId xmlns:a16="http://schemas.microsoft.com/office/drawing/2014/main" id="{67341186-A7ED-45BF-A0AB-37E73E7A4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3562350"/>
            <a:ext cx="269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 </a:t>
            </a:r>
            <a:endParaRPr lang="ru-RU" altLang="ru-RU"/>
          </a:p>
        </p:txBody>
      </p:sp>
      <p:sp>
        <p:nvSpPr>
          <p:cNvPr id="7207" name="Rectangle 77">
            <a:extLst>
              <a:ext uri="{FF2B5EF4-FFF2-40B4-BE49-F238E27FC236}">
                <a16:creationId xmlns:a16="http://schemas.microsoft.com/office/drawing/2014/main" id="{945A978F-F382-4D03-9115-131475614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208" name="Rectangle 78">
            <a:extLst>
              <a:ext uri="{FF2B5EF4-FFF2-40B4-BE49-F238E27FC236}">
                <a16:creationId xmlns:a16="http://schemas.microsoft.com/office/drawing/2014/main" id="{BB83A39C-023B-48EC-A56F-0A4195058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589588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7209" name="Rectangle 79">
            <a:extLst>
              <a:ext uri="{FF2B5EF4-FFF2-40B4-BE49-F238E27FC236}">
                <a16:creationId xmlns:a16="http://schemas.microsoft.com/office/drawing/2014/main" id="{FEBE4834-21A3-4A9F-A993-A34B1934C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49950"/>
            <a:ext cx="35290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Именно эта точка является решением ЗВП.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9B360D2-22A6-4BD4-9C26-9D421FC3F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3.4. Теория двойственности.</a:t>
            </a:r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626835C1-B42E-42D3-ABE7-4961B91FE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EE92AA94-29F7-44A7-970A-94743D7DE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7" name="Rectangle 6">
            <a:extLst>
              <a:ext uri="{FF2B5EF4-FFF2-40B4-BE49-F238E27FC236}">
                <a16:creationId xmlns:a16="http://schemas.microsoft.com/office/drawing/2014/main" id="{B9401935-60E8-4A69-BB70-1E34E57FF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8" name="Rectangle 7">
            <a:extLst>
              <a:ext uri="{FF2B5EF4-FFF2-40B4-BE49-F238E27FC236}">
                <a16:creationId xmlns:a16="http://schemas.microsoft.com/office/drawing/2014/main" id="{7A6B7E0B-EF41-4699-AF0E-CFC97B032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9" name="Rectangle 9">
            <a:extLst>
              <a:ext uri="{FF2B5EF4-FFF2-40B4-BE49-F238E27FC236}">
                <a16:creationId xmlns:a16="http://schemas.microsoft.com/office/drawing/2014/main" id="{46A58717-E289-42F0-917C-1520515E2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0" name="Rectangle 10">
            <a:extLst>
              <a:ext uri="{FF2B5EF4-FFF2-40B4-BE49-F238E27FC236}">
                <a16:creationId xmlns:a16="http://schemas.microsoft.com/office/drawing/2014/main" id="{AD4F8C41-1325-4EA3-86BF-6700AAD26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1" name="Rectangle 12">
            <a:extLst>
              <a:ext uri="{FF2B5EF4-FFF2-40B4-BE49-F238E27FC236}">
                <a16:creationId xmlns:a16="http://schemas.microsoft.com/office/drawing/2014/main" id="{36DCEE0F-E0E9-4C75-92F9-6EF0501EE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/>
          </a:p>
        </p:txBody>
      </p:sp>
      <p:sp>
        <p:nvSpPr>
          <p:cNvPr id="8202" name="Rectangle 15">
            <a:extLst>
              <a:ext uri="{FF2B5EF4-FFF2-40B4-BE49-F238E27FC236}">
                <a16:creationId xmlns:a16="http://schemas.microsoft.com/office/drawing/2014/main" id="{E97DF8ED-DD79-43F1-B80F-52867E70C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413" y="3284538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3" name="Rectangle 21">
            <a:extLst>
              <a:ext uri="{FF2B5EF4-FFF2-40B4-BE49-F238E27FC236}">
                <a16:creationId xmlns:a16="http://schemas.microsoft.com/office/drawing/2014/main" id="{69165FCE-7699-4939-90E3-ED396EBE5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1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4" name="Rectangle 31">
            <a:extLst>
              <a:ext uri="{FF2B5EF4-FFF2-40B4-BE49-F238E27FC236}">
                <a16:creationId xmlns:a16="http://schemas.microsoft.com/office/drawing/2014/main" id="{3875D1A9-D907-426D-962D-F9A94FE2E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492250"/>
            <a:ext cx="82089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u="sng"/>
              <a:t>Задача может быть поставлена как минимаксная и может быть разбита на решение двух задач:</a:t>
            </a:r>
          </a:p>
        </p:txBody>
      </p:sp>
      <p:sp>
        <p:nvSpPr>
          <p:cNvPr id="8205" name="Rectangle 32">
            <a:extLst>
              <a:ext uri="{FF2B5EF4-FFF2-40B4-BE49-F238E27FC236}">
                <a16:creationId xmlns:a16="http://schemas.microsoft.com/office/drawing/2014/main" id="{721B6B05-89A9-4C07-B81D-798F113FB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1336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6" name="Rectangle 34">
            <a:extLst>
              <a:ext uri="{FF2B5EF4-FFF2-40B4-BE49-F238E27FC236}">
                <a16:creationId xmlns:a16="http://schemas.microsoft.com/office/drawing/2014/main" id="{4C7CE78A-D35A-41D8-91EE-87DB5581E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7" name="Rectangle 37">
            <a:extLst>
              <a:ext uri="{FF2B5EF4-FFF2-40B4-BE49-F238E27FC236}">
                <a16:creationId xmlns:a16="http://schemas.microsoft.com/office/drawing/2014/main" id="{90A6C96F-C7E0-46A4-9831-C57716209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8" name="Rectangle 40">
            <a:extLst>
              <a:ext uri="{FF2B5EF4-FFF2-40B4-BE49-F238E27FC236}">
                <a16:creationId xmlns:a16="http://schemas.microsoft.com/office/drawing/2014/main" id="{9EA4D1EF-D8DE-4C26-85D9-669B2EBA0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9" name="Rectangle 43">
            <a:extLst>
              <a:ext uri="{FF2B5EF4-FFF2-40B4-BE49-F238E27FC236}">
                <a16:creationId xmlns:a16="http://schemas.microsoft.com/office/drawing/2014/main" id="{C01C0315-D76A-47F4-A868-30A29A436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10" name="Rectangle 47">
            <a:extLst>
              <a:ext uri="{FF2B5EF4-FFF2-40B4-BE49-F238E27FC236}">
                <a16:creationId xmlns:a16="http://schemas.microsoft.com/office/drawing/2014/main" id="{3A37246D-716C-4881-B8F1-92D9AF20E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11" name="Rectangle 49">
            <a:extLst>
              <a:ext uri="{FF2B5EF4-FFF2-40B4-BE49-F238E27FC236}">
                <a16:creationId xmlns:a16="http://schemas.microsoft.com/office/drawing/2014/main" id="{90727774-5EC4-4465-BD76-D1FCC156F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133600"/>
            <a:ext cx="58896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ru-RU" altLang="ru-RU" b="1"/>
              <a:t>Прямая задача</a:t>
            </a:r>
            <a:r>
              <a:rPr lang="ru-RU" altLang="ru-RU"/>
              <a:t> –                                           , </a:t>
            </a:r>
          </a:p>
          <a:p>
            <a:pPr eaLnBrk="1" hangingPunct="1"/>
            <a:r>
              <a:rPr lang="ru-RU" altLang="ru-RU"/>
              <a:t>         при </a:t>
            </a:r>
            <a:r>
              <a:rPr lang="ru-RU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=</a:t>
            </a:r>
            <a:r>
              <a:rPr lang="ru-RU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)–множитель Лагранжа (Куна-Таккера)</a:t>
            </a:r>
          </a:p>
        </p:txBody>
      </p:sp>
      <p:sp>
        <p:nvSpPr>
          <p:cNvPr id="8212" name="Rectangle 51">
            <a:extLst>
              <a:ext uri="{FF2B5EF4-FFF2-40B4-BE49-F238E27FC236}">
                <a16:creationId xmlns:a16="http://schemas.microsoft.com/office/drawing/2014/main" id="{DEFE7394-264F-4433-A287-926FDC088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13" name="Object 50">
            <a:extLst>
              <a:ext uri="{FF2B5EF4-FFF2-40B4-BE49-F238E27FC236}">
                <a16:creationId xmlns:a16="http://schemas.microsoft.com/office/drawing/2014/main" id="{5A1800E7-D8EE-4142-9561-F49B8FD69D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2051050"/>
          <a:ext cx="36004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8" name="Формула" r:id="rId3" imgW="2019300" imgH="254000" progId="Equation.3">
                  <p:embed/>
                </p:oleObj>
              </mc:Choice>
              <mc:Fallback>
                <p:oleObj name="Формула" r:id="rId3" imgW="2019300" imgH="254000" progId="Equation.3">
                  <p:embed/>
                  <p:pic>
                    <p:nvPicPr>
                      <p:cNvPr id="8213" name="Object 50">
                        <a:extLst>
                          <a:ext uri="{FF2B5EF4-FFF2-40B4-BE49-F238E27FC236}">
                            <a16:creationId xmlns:a16="http://schemas.microsoft.com/office/drawing/2014/main" id="{5A1800E7-D8EE-4142-9561-F49B8FD69D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051050"/>
                        <a:ext cx="36004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4" name="Rectangle 52">
            <a:extLst>
              <a:ext uri="{FF2B5EF4-FFF2-40B4-BE49-F238E27FC236}">
                <a16:creationId xmlns:a16="http://schemas.microsoft.com/office/drawing/2014/main" id="{73DDCC9B-C8A8-4C71-94D8-615B65C3E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781300"/>
            <a:ext cx="3286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2. </a:t>
            </a:r>
            <a:r>
              <a:rPr lang="ru-RU" altLang="ru-RU" b="1"/>
              <a:t>Двойственная задача –   </a:t>
            </a:r>
          </a:p>
        </p:txBody>
      </p:sp>
      <p:sp>
        <p:nvSpPr>
          <p:cNvPr id="8215" name="Rectangle 54">
            <a:extLst>
              <a:ext uri="{FF2B5EF4-FFF2-40B4-BE49-F238E27FC236}">
                <a16:creationId xmlns:a16="http://schemas.microsoft.com/office/drawing/2014/main" id="{FC8DCC1D-FFB5-438D-897E-3CE928ECD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16" name="Object 53">
            <a:extLst>
              <a:ext uri="{FF2B5EF4-FFF2-40B4-BE49-F238E27FC236}">
                <a16:creationId xmlns:a16="http://schemas.microsoft.com/office/drawing/2014/main" id="{D9326D59-0DCC-48E2-B446-4D0BFF828F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2781300"/>
          <a:ext cx="35274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9" name="Формула" r:id="rId5" imgW="2044700" imgH="254000" progId="Equation.3">
                  <p:embed/>
                </p:oleObj>
              </mc:Choice>
              <mc:Fallback>
                <p:oleObj name="Формула" r:id="rId5" imgW="2044700" imgH="254000" progId="Equation.3">
                  <p:embed/>
                  <p:pic>
                    <p:nvPicPr>
                      <p:cNvPr id="8216" name="Object 53">
                        <a:extLst>
                          <a:ext uri="{FF2B5EF4-FFF2-40B4-BE49-F238E27FC236}">
                            <a16:creationId xmlns:a16="http://schemas.microsoft.com/office/drawing/2014/main" id="{D9326D59-0DCC-48E2-B446-4D0BFF828F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781300"/>
                        <a:ext cx="352742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7" name="Rectangle 55">
            <a:extLst>
              <a:ext uri="{FF2B5EF4-FFF2-40B4-BE49-F238E27FC236}">
                <a16:creationId xmlns:a16="http://schemas.microsoft.com/office/drawing/2014/main" id="{316B0558-C8A5-4080-8CBE-32B9A2940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141663"/>
            <a:ext cx="46640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</a:t>
            </a:r>
            <a:r>
              <a:rPr lang="en-US" altLang="ru-RU"/>
              <a:t>x</a:t>
            </a:r>
            <a:r>
              <a:rPr lang="ru-RU" altLang="ru-RU"/>
              <a:t>=</a:t>
            </a:r>
            <a:r>
              <a:rPr lang="en-US" altLang="ru-RU"/>
              <a:t>x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) – переменная проектирования.</a:t>
            </a:r>
          </a:p>
        </p:txBody>
      </p:sp>
      <p:sp>
        <p:nvSpPr>
          <p:cNvPr id="8218" name="Rectangle 56">
            <a:extLst>
              <a:ext uri="{FF2B5EF4-FFF2-40B4-BE49-F238E27FC236}">
                <a16:creationId xmlns:a16="http://schemas.microsoft.com/office/drawing/2014/main" id="{CA4225AE-C324-44BF-9211-B77FC30A2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73463"/>
            <a:ext cx="56245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u="sng"/>
              <a:t>Пример:</a:t>
            </a:r>
            <a:r>
              <a:rPr lang="ru-RU" altLang="ru-RU" b="1"/>
              <a:t> </a:t>
            </a:r>
            <a:r>
              <a:rPr lang="ru-RU" altLang="ru-RU" b="1" u="sng"/>
              <a:t>Задача линейного программирования.</a:t>
            </a:r>
          </a:p>
        </p:txBody>
      </p:sp>
      <p:sp>
        <p:nvSpPr>
          <p:cNvPr id="8219" name="Rectangle 57">
            <a:extLst>
              <a:ext uri="{FF2B5EF4-FFF2-40B4-BE49-F238E27FC236}">
                <a16:creationId xmlns:a16="http://schemas.microsoft.com/office/drawing/2014/main" id="{72F613CF-1200-41FE-BD06-3F269581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05263"/>
            <a:ext cx="19669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Прямая задача</a:t>
            </a:r>
            <a:r>
              <a:rPr lang="ru-RU" altLang="ru-RU" b="1" i="1"/>
              <a:t>:</a:t>
            </a:r>
          </a:p>
        </p:txBody>
      </p:sp>
      <p:sp>
        <p:nvSpPr>
          <p:cNvPr id="8220" name="Rectangle 59">
            <a:extLst>
              <a:ext uri="{FF2B5EF4-FFF2-40B4-BE49-F238E27FC236}">
                <a16:creationId xmlns:a16="http://schemas.microsoft.com/office/drawing/2014/main" id="{F40EEEF2-6CFC-4C35-8756-23CDCE010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21" name="Object 58">
            <a:extLst>
              <a:ext uri="{FF2B5EF4-FFF2-40B4-BE49-F238E27FC236}">
                <a16:creationId xmlns:a16="http://schemas.microsoft.com/office/drawing/2014/main" id="{0D4A8716-0138-49E5-A130-39EA902CD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4005263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0" name="Формула" r:id="rId7" imgW="520474" imgH="203112" progId="Equation.3">
                  <p:embed/>
                </p:oleObj>
              </mc:Choice>
              <mc:Fallback>
                <p:oleObj name="Формула" r:id="rId7" imgW="520474" imgH="203112" progId="Equation.3">
                  <p:embed/>
                  <p:pic>
                    <p:nvPicPr>
                      <p:cNvPr id="8221" name="Object 58">
                        <a:extLst>
                          <a:ext uri="{FF2B5EF4-FFF2-40B4-BE49-F238E27FC236}">
                            <a16:creationId xmlns:a16="http://schemas.microsoft.com/office/drawing/2014/main" id="{0D4A8716-0138-49E5-A130-39EA902CDA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005263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2" name="Rectangle 60">
            <a:extLst>
              <a:ext uri="{FF2B5EF4-FFF2-40B4-BE49-F238E27FC236}">
                <a16:creationId xmlns:a16="http://schemas.microsoft.com/office/drawing/2014/main" id="{B9727DCA-0BA1-4F0F-A681-0ACDECFA3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0052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23" name="Rectangle 62">
            <a:extLst>
              <a:ext uri="{FF2B5EF4-FFF2-40B4-BE49-F238E27FC236}">
                <a16:creationId xmlns:a16="http://schemas.microsoft.com/office/drawing/2014/main" id="{8A0FF580-2D7A-4664-BBCF-16B9B4EC8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24" name="Object 61">
            <a:extLst>
              <a:ext uri="{FF2B5EF4-FFF2-40B4-BE49-F238E27FC236}">
                <a16:creationId xmlns:a16="http://schemas.microsoft.com/office/drawing/2014/main" id="{0608D02B-8A55-4BA4-A80B-3634737CAC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4005263"/>
          <a:ext cx="800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1" name="Формула" r:id="rId9" imgW="457002" imgH="177723" progId="Equation.3">
                  <p:embed/>
                </p:oleObj>
              </mc:Choice>
              <mc:Fallback>
                <p:oleObj name="Формула" r:id="rId9" imgW="457002" imgH="177723" progId="Equation.3">
                  <p:embed/>
                  <p:pic>
                    <p:nvPicPr>
                      <p:cNvPr id="8224" name="Object 61">
                        <a:extLst>
                          <a:ext uri="{FF2B5EF4-FFF2-40B4-BE49-F238E27FC236}">
                            <a16:creationId xmlns:a16="http://schemas.microsoft.com/office/drawing/2014/main" id="{0608D02B-8A55-4BA4-A80B-3634737CAC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005263"/>
                        <a:ext cx="800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5" name="Rectangle 63">
            <a:extLst>
              <a:ext uri="{FF2B5EF4-FFF2-40B4-BE49-F238E27FC236}">
                <a16:creationId xmlns:a16="http://schemas.microsoft.com/office/drawing/2014/main" id="{67DEED83-46AD-4BFB-8A29-527A85ED2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0052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26" name="Rectangle 65">
            <a:extLst>
              <a:ext uri="{FF2B5EF4-FFF2-40B4-BE49-F238E27FC236}">
                <a16:creationId xmlns:a16="http://schemas.microsoft.com/office/drawing/2014/main" id="{1A54B7FD-B87C-483F-B25F-DED63187F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27" name="Object 64">
            <a:extLst>
              <a:ext uri="{FF2B5EF4-FFF2-40B4-BE49-F238E27FC236}">
                <a16:creationId xmlns:a16="http://schemas.microsoft.com/office/drawing/2014/main" id="{7B1395FD-C9F5-4CC3-949F-49266547A2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3933825"/>
          <a:ext cx="129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2" name="Формула" r:id="rId11" imgW="406224" imgH="228501" progId="Equation.3">
                  <p:embed/>
                </p:oleObj>
              </mc:Choice>
              <mc:Fallback>
                <p:oleObj name="Формула" r:id="rId11" imgW="406224" imgH="228501" progId="Equation.3">
                  <p:embed/>
                  <p:pic>
                    <p:nvPicPr>
                      <p:cNvPr id="8227" name="Object 64">
                        <a:extLst>
                          <a:ext uri="{FF2B5EF4-FFF2-40B4-BE49-F238E27FC236}">
                            <a16:creationId xmlns:a16="http://schemas.microsoft.com/office/drawing/2014/main" id="{7B1395FD-C9F5-4CC3-949F-49266547A2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3933825"/>
                        <a:ext cx="1295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8" name="Rectangle 66">
            <a:extLst>
              <a:ext uri="{FF2B5EF4-FFF2-40B4-BE49-F238E27FC236}">
                <a16:creationId xmlns:a16="http://schemas.microsoft.com/office/drawing/2014/main" id="{8FDAB866-FC9E-4098-9BF9-9CCAB6A9F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40052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.</a:t>
            </a:r>
            <a:r>
              <a:rPr lang="ru-RU" altLang="ru-RU"/>
              <a:t> </a:t>
            </a:r>
          </a:p>
        </p:txBody>
      </p:sp>
      <p:sp>
        <p:nvSpPr>
          <p:cNvPr id="8229" name="Rectangle 67">
            <a:extLst>
              <a:ext uri="{FF2B5EF4-FFF2-40B4-BE49-F238E27FC236}">
                <a16:creationId xmlns:a16="http://schemas.microsoft.com/office/drawing/2014/main" id="{053891C5-B678-4FEE-8D11-D3B05A684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581525"/>
            <a:ext cx="2811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Двойственная задача:</a:t>
            </a:r>
          </a:p>
        </p:txBody>
      </p:sp>
      <p:sp>
        <p:nvSpPr>
          <p:cNvPr id="8230" name="Rectangle 69">
            <a:extLst>
              <a:ext uri="{FF2B5EF4-FFF2-40B4-BE49-F238E27FC236}">
                <a16:creationId xmlns:a16="http://schemas.microsoft.com/office/drawing/2014/main" id="{9D5854BA-45E6-4F88-9D43-C26348031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31" name="Object 68">
            <a:extLst>
              <a:ext uri="{FF2B5EF4-FFF2-40B4-BE49-F238E27FC236}">
                <a16:creationId xmlns:a16="http://schemas.microsoft.com/office/drawing/2014/main" id="{6F25696C-88B9-470A-B1A3-1CAF332223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941888"/>
          <a:ext cx="55435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3" name="Формула" r:id="rId13" imgW="3276600" imgH="228600" progId="Equation.3">
                  <p:embed/>
                </p:oleObj>
              </mc:Choice>
              <mc:Fallback>
                <p:oleObj name="Формула" r:id="rId13" imgW="3276600" imgH="228600" progId="Equation.3">
                  <p:embed/>
                  <p:pic>
                    <p:nvPicPr>
                      <p:cNvPr id="8231" name="Object 68">
                        <a:extLst>
                          <a:ext uri="{FF2B5EF4-FFF2-40B4-BE49-F238E27FC236}">
                            <a16:creationId xmlns:a16="http://schemas.microsoft.com/office/drawing/2014/main" id="{6F25696C-88B9-470A-B1A3-1CAF332223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941888"/>
                        <a:ext cx="554355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2" name="Rectangle 70">
            <a:extLst>
              <a:ext uri="{FF2B5EF4-FFF2-40B4-BE49-F238E27FC236}">
                <a16:creationId xmlns:a16="http://schemas.microsoft.com/office/drawing/2014/main" id="{12E645C5-C645-4DDA-B25C-716F6E847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49418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33" name="Rectangle 72">
            <a:extLst>
              <a:ext uri="{FF2B5EF4-FFF2-40B4-BE49-F238E27FC236}">
                <a16:creationId xmlns:a16="http://schemas.microsoft.com/office/drawing/2014/main" id="{67DD202C-A69B-4363-A649-07BFE0E44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34" name="Object 71">
            <a:extLst>
              <a:ext uri="{FF2B5EF4-FFF2-40B4-BE49-F238E27FC236}">
                <a16:creationId xmlns:a16="http://schemas.microsoft.com/office/drawing/2014/main" id="{53708623-618C-41C9-8E27-B513F61B51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5383213"/>
          <a:ext cx="115093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4" name="Формула" r:id="rId15" imgW="571252" imgH="228501" progId="Equation.3">
                  <p:embed/>
                </p:oleObj>
              </mc:Choice>
              <mc:Fallback>
                <p:oleObj name="Формула" r:id="rId15" imgW="571252" imgH="228501" progId="Equation.3">
                  <p:embed/>
                  <p:pic>
                    <p:nvPicPr>
                      <p:cNvPr id="8234" name="Object 71">
                        <a:extLst>
                          <a:ext uri="{FF2B5EF4-FFF2-40B4-BE49-F238E27FC236}">
                            <a16:creationId xmlns:a16="http://schemas.microsoft.com/office/drawing/2014/main" id="{53708623-618C-41C9-8E27-B513F61B51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383213"/>
                        <a:ext cx="1150937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5" name="Rectangle 73">
            <a:extLst>
              <a:ext uri="{FF2B5EF4-FFF2-40B4-BE49-F238E27FC236}">
                <a16:creationId xmlns:a16="http://schemas.microsoft.com/office/drawing/2014/main" id="{A15DDF60-77A4-4B01-B892-669D4E8D3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4451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36" name="Rectangle 75">
            <a:extLst>
              <a:ext uri="{FF2B5EF4-FFF2-40B4-BE49-F238E27FC236}">
                <a16:creationId xmlns:a16="http://schemas.microsoft.com/office/drawing/2014/main" id="{21E96CB4-81C0-4EC1-832D-03039EEB8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37" name="Object 74">
            <a:extLst>
              <a:ext uri="{FF2B5EF4-FFF2-40B4-BE49-F238E27FC236}">
                <a16:creationId xmlns:a16="http://schemas.microsoft.com/office/drawing/2014/main" id="{15C7E5AF-C5FF-4DEF-B683-D7C8CB7791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373688"/>
          <a:ext cx="14414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5" name="Формула" r:id="rId17" imgW="634725" imgH="228501" progId="Equation.3">
                  <p:embed/>
                </p:oleObj>
              </mc:Choice>
              <mc:Fallback>
                <p:oleObj name="Формула" r:id="rId17" imgW="634725" imgH="228501" progId="Equation.3">
                  <p:embed/>
                  <p:pic>
                    <p:nvPicPr>
                      <p:cNvPr id="8237" name="Object 74">
                        <a:extLst>
                          <a:ext uri="{FF2B5EF4-FFF2-40B4-BE49-F238E27FC236}">
                            <a16:creationId xmlns:a16="http://schemas.microsoft.com/office/drawing/2014/main" id="{15C7E5AF-C5FF-4DEF-B683-D7C8CB7791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373688"/>
                        <a:ext cx="14414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8" name="Rectangle 76">
            <a:extLst>
              <a:ext uri="{FF2B5EF4-FFF2-40B4-BE49-F238E27FC236}">
                <a16:creationId xmlns:a16="http://schemas.microsoft.com/office/drawing/2014/main" id="{DF22F06B-3704-4E99-8D6B-1FCB9A233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4451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39" name="Rectangle 78">
            <a:extLst>
              <a:ext uri="{FF2B5EF4-FFF2-40B4-BE49-F238E27FC236}">
                <a16:creationId xmlns:a16="http://schemas.microsoft.com/office/drawing/2014/main" id="{47B582CE-37ED-4506-88EE-D6672AAE5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40" name="Object 77">
            <a:extLst>
              <a:ext uri="{FF2B5EF4-FFF2-40B4-BE49-F238E27FC236}">
                <a16:creationId xmlns:a16="http://schemas.microsoft.com/office/drawing/2014/main" id="{3550EF4C-25E9-48F2-A0FE-7E97809882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5343525"/>
          <a:ext cx="12239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6" name="Формула" r:id="rId19" imgW="444307" imgH="241195" progId="Equation.3">
                  <p:embed/>
                </p:oleObj>
              </mc:Choice>
              <mc:Fallback>
                <p:oleObj name="Формула" r:id="rId19" imgW="444307" imgH="241195" progId="Equation.3">
                  <p:embed/>
                  <p:pic>
                    <p:nvPicPr>
                      <p:cNvPr id="8240" name="Object 77">
                        <a:extLst>
                          <a:ext uri="{FF2B5EF4-FFF2-40B4-BE49-F238E27FC236}">
                            <a16:creationId xmlns:a16="http://schemas.microsoft.com/office/drawing/2014/main" id="{3550EF4C-25E9-48F2-A0FE-7E97809882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343525"/>
                        <a:ext cx="12239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1" name="Rectangle 79">
            <a:extLst>
              <a:ext uri="{FF2B5EF4-FFF2-40B4-BE49-F238E27FC236}">
                <a16:creationId xmlns:a16="http://schemas.microsoft.com/office/drawing/2014/main" id="{FE8A2A5A-FB6B-451D-B096-3DB3BA755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3736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.</a:t>
            </a:r>
            <a:r>
              <a:rPr lang="ru-RU" altLang="ru-RU"/>
              <a:t> </a:t>
            </a:r>
          </a:p>
        </p:txBody>
      </p:sp>
      <p:sp>
        <p:nvSpPr>
          <p:cNvPr id="8242" name="Rectangle 81">
            <a:extLst>
              <a:ext uri="{FF2B5EF4-FFF2-40B4-BE49-F238E27FC236}">
                <a16:creationId xmlns:a16="http://schemas.microsoft.com/office/drawing/2014/main" id="{C8C18E15-B3AC-4BFD-80F0-46A8AB50C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24209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.</a:t>
            </a:r>
            <a:r>
              <a:rPr lang="ru-RU" altLang="ru-RU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2D53BF6-5B3F-459D-B3DB-C64671602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Алгоритм и сходимость алгоритмов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34546C8-5B0B-48EE-BA16-BCF8023CB9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4.1. Понятие алгоритма. Алгоритмические отображения.</a:t>
            </a:r>
          </a:p>
          <a:p>
            <a:pPr marL="609600" indent="-609600" eaLnBrk="1" hangingPunct="1">
              <a:buFontTx/>
              <a:buNone/>
            </a:pPr>
            <a:r>
              <a:rPr lang="ru-RU" altLang="ru-RU" sz="1800" b="1" u="sng" dirty="0"/>
              <a:t>Определение. </a:t>
            </a:r>
            <a:r>
              <a:rPr lang="ru-RU" altLang="ru-RU" sz="1800" dirty="0"/>
              <a:t>Алгоритмом называется итеративный процесс вычислений, который порождает последовательность точек в соответствии с предписанным набором правил, включающим критерий окончания этого процесса.</a:t>
            </a:r>
          </a:p>
          <a:p>
            <a:pPr marL="609600" indent="-609600" eaLnBrk="1" hangingPunct="1">
              <a:buFontTx/>
              <a:buNone/>
            </a:pPr>
            <a:r>
              <a:rPr lang="ru-RU" altLang="ru-RU" sz="1800" u="sng" dirty="0"/>
              <a:t>Алгоритмическое отображение.</a:t>
            </a:r>
            <a:r>
              <a:rPr lang="ru-RU" altLang="ru-RU" sz="1800" dirty="0"/>
              <a:t> </a:t>
            </a:r>
          </a:p>
          <a:p>
            <a:pPr marL="609600" indent="-609600" eaLnBrk="1" hangingPunct="1">
              <a:buFontTx/>
              <a:buNone/>
            </a:pPr>
            <a:r>
              <a:rPr lang="ru-RU" altLang="ru-RU" sz="1800" dirty="0"/>
              <a:t>Пусть А: 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1779ADF9-2DCA-4412-B8BD-FC141D9AD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1" name="Object 4">
            <a:extLst>
              <a:ext uri="{FF2B5EF4-FFF2-40B4-BE49-F238E27FC236}">
                <a16:creationId xmlns:a16="http://schemas.microsoft.com/office/drawing/2014/main" id="{B29DBC32-25B5-4F22-8934-36DB539319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4005263"/>
          <a:ext cx="2447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1" name="Формула" r:id="rId3" imgW="1016000" imgH="228600" progId="Equation.3">
                  <p:embed/>
                </p:oleObj>
              </mc:Choice>
              <mc:Fallback>
                <p:oleObj name="Формула" r:id="rId3" imgW="1016000" imgH="228600" progId="Equation.3">
                  <p:embed/>
                  <p:pic>
                    <p:nvPicPr>
                      <p:cNvPr id="9221" name="Object 4">
                        <a:extLst>
                          <a:ext uri="{FF2B5EF4-FFF2-40B4-BE49-F238E27FC236}">
                            <a16:creationId xmlns:a16="http://schemas.microsoft.com/office/drawing/2014/main" id="{B29DBC32-25B5-4F22-8934-36DB539319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005263"/>
                        <a:ext cx="2447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Rectangle 7">
            <a:extLst>
              <a:ext uri="{FF2B5EF4-FFF2-40B4-BE49-F238E27FC236}">
                <a16:creationId xmlns:a16="http://schemas.microsoft.com/office/drawing/2014/main" id="{D7AF31DB-441E-43F0-B45B-FBC00B2CB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71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3" name="Object 6">
            <a:extLst>
              <a:ext uri="{FF2B5EF4-FFF2-40B4-BE49-F238E27FC236}">
                <a16:creationId xmlns:a16="http://schemas.microsoft.com/office/drawing/2014/main" id="{744F640B-DC87-4246-8D96-2197B9518B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3933825"/>
          <a:ext cx="20161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2" name="Формула" r:id="rId5" imgW="876300" imgH="228600" progId="Equation.3">
                  <p:embed/>
                </p:oleObj>
              </mc:Choice>
              <mc:Fallback>
                <p:oleObj name="Формула" r:id="rId5" imgW="876300" imgH="228600" progId="Equation.3">
                  <p:embed/>
                  <p:pic>
                    <p:nvPicPr>
                      <p:cNvPr id="9223" name="Object 6">
                        <a:extLst>
                          <a:ext uri="{FF2B5EF4-FFF2-40B4-BE49-F238E27FC236}">
                            <a16:creationId xmlns:a16="http://schemas.microsoft.com/office/drawing/2014/main" id="{744F640B-DC87-4246-8D96-2197B9518B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933825"/>
                        <a:ext cx="20161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Rectangle 8">
            <a:extLst>
              <a:ext uri="{FF2B5EF4-FFF2-40B4-BE49-F238E27FC236}">
                <a16:creationId xmlns:a16="http://schemas.microsoft.com/office/drawing/2014/main" id="{616BE6B6-8E2D-40C5-9BFE-50D425D45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DB732B3F-EC24-427A-96C0-D72FC6E83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933825"/>
            <a:ext cx="638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для </a:t>
            </a:r>
          </a:p>
        </p:txBody>
      </p:sp>
      <p:sp>
        <p:nvSpPr>
          <p:cNvPr id="9226" name="Rectangle 11">
            <a:extLst>
              <a:ext uri="{FF2B5EF4-FFF2-40B4-BE49-F238E27FC236}">
                <a16:creationId xmlns:a16="http://schemas.microsoft.com/office/drawing/2014/main" id="{15FF6276-5C3D-4710-9685-D1C71872B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7" name="Object 10">
            <a:extLst>
              <a:ext uri="{FF2B5EF4-FFF2-40B4-BE49-F238E27FC236}">
                <a16:creationId xmlns:a16="http://schemas.microsoft.com/office/drawing/2014/main" id="{88F1F2C5-3FE2-43C0-A7FC-A0EFA45910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3933825"/>
          <a:ext cx="1223962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3" name="Формула" r:id="rId7" imgW="507780" imgH="177723" progId="Equation.3">
                  <p:embed/>
                </p:oleObj>
              </mc:Choice>
              <mc:Fallback>
                <p:oleObj name="Формула" r:id="rId7" imgW="507780" imgH="177723" progId="Equation.3">
                  <p:embed/>
                  <p:pic>
                    <p:nvPicPr>
                      <p:cNvPr id="9227" name="Object 10">
                        <a:extLst>
                          <a:ext uri="{FF2B5EF4-FFF2-40B4-BE49-F238E27FC236}">
                            <a16:creationId xmlns:a16="http://schemas.microsoft.com/office/drawing/2014/main" id="{88F1F2C5-3FE2-43C0-A7FC-A0EFA45910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933825"/>
                        <a:ext cx="1223962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Rectangle 12">
            <a:extLst>
              <a:ext uri="{FF2B5EF4-FFF2-40B4-BE49-F238E27FC236}">
                <a16:creationId xmlns:a16="http://schemas.microsoft.com/office/drawing/2014/main" id="{D974B6F0-0163-4D26-AD98-4EBC66B82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40767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,</a:t>
            </a:r>
            <a:r>
              <a:rPr lang="ru-RU" altLang="ru-RU"/>
              <a:t> </a:t>
            </a:r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5B821BC1-D0CB-4A36-BCC8-F8F98A634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40052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,</a:t>
            </a:r>
            <a:r>
              <a:rPr lang="ru-RU" altLang="ru-RU"/>
              <a:t> </a:t>
            </a:r>
          </a:p>
        </p:txBody>
      </p:sp>
      <p:sp>
        <p:nvSpPr>
          <p:cNvPr id="9230" name="Rectangle 15">
            <a:extLst>
              <a:ext uri="{FF2B5EF4-FFF2-40B4-BE49-F238E27FC236}">
                <a16:creationId xmlns:a16="http://schemas.microsoft.com/office/drawing/2014/main" id="{7CE16465-F127-4EDE-958B-3385E61FB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462463"/>
            <a:ext cx="17986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Таким образом</a:t>
            </a:r>
          </a:p>
        </p:txBody>
      </p:sp>
      <p:graphicFrame>
        <p:nvGraphicFramePr>
          <p:cNvPr id="9231" name="Object 14">
            <a:extLst>
              <a:ext uri="{FF2B5EF4-FFF2-40B4-BE49-F238E27FC236}">
                <a16:creationId xmlns:a16="http://schemas.microsoft.com/office/drawing/2014/main" id="{B0C85C9E-21DD-4B45-AB69-9E0CFDBD9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4437063"/>
          <a:ext cx="36734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4" name="Формула" r:id="rId9" imgW="1549400" imgH="228600" progId="Equation.3">
                  <p:embed/>
                </p:oleObj>
              </mc:Choice>
              <mc:Fallback>
                <p:oleObj name="Формула" r:id="rId9" imgW="1549400" imgH="228600" progId="Equation.3">
                  <p:embed/>
                  <p:pic>
                    <p:nvPicPr>
                      <p:cNvPr id="9231" name="Object 14">
                        <a:extLst>
                          <a:ext uri="{FF2B5EF4-FFF2-40B4-BE49-F238E27FC236}">
                            <a16:creationId xmlns:a16="http://schemas.microsoft.com/office/drawing/2014/main" id="{B0C85C9E-21DD-4B45-AB69-9E0CFDBD98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437063"/>
                        <a:ext cx="367347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2" name="Rectangle 16">
            <a:extLst>
              <a:ext uri="{FF2B5EF4-FFF2-40B4-BE49-F238E27FC236}">
                <a16:creationId xmlns:a16="http://schemas.microsoft.com/office/drawing/2014/main" id="{8AEFF333-E572-4BE4-86CA-6AB567023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3619500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600"/>
              <a:t> </a:t>
            </a:r>
            <a:endParaRPr lang="ru-RU" altLang="ru-RU"/>
          </a:p>
        </p:txBody>
      </p:sp>
      <p:sp>
        <p:nvSpPr>
          <p:cNvPr id="9233" name="Rectangle 18">
            <a:extLst>
              <a:ext uri="{FF2B5EF4-FFF2-40B4-BE49-F238E27FC236}">
                <a16:creationId xmlns:a16="http://schemas.microsoft.com/office/drawing/2014/main" id="{98B3618E-EF07-424C-AFA1-47BFD06A3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4508500"/>
            <a:ext cx="1225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>
                <a:cs typeface="Times New Roman" panose="02020603050405020304" pitchFamily="18" charset="0"/>
              </a:rPr>
              <a:t>где</a:t>
            </a:r>
            <a:r>
              <a:rPr lang="ru-RU" altLang="ru-RU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graphicFrame>
        <p:nvGraphicFramePr>
          <p:cNvPr id="9234" name="Object 17">
            <a:extLst>
              <a:ext uri="{FF2B5EF4-FFF2-40B4-BE49-F238E27FC236}">
                <a16:creationId xmlns:a16="http://schemas.microsoft.com/office/drawing/2014/main" id="{3FAA1FE9-45A2-4945-A466-63A1F82287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4508500"/>
          <a:ext cx="5048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5" name="Формула" r:id="rId11" imgW="253780" imgH="203024" progId="Equation.3">
                  <p:embed/>
                </p:oleObj>
              </mc:Choice>
              <mc:Fallback>
                <p:oleObj name="Формула" r:id="rId11" imgW="253780" imgH="203024" progId="Equation.3">
                  <p:embed/>
                  <p:pic>
                    <p:nvPicPr>
                      <p:cNvPr id="9234" name="Object 17">
                        <a:extLst>
                          <a:ext uri="{FF2B5EF4-FFF2-40B4-BE49-F238E27FC236}">
                            <a16:creationId xmlns:a16="http://schemas.microsoft.com/office/drawing/2014/main" id="{3FAA1FE9-45A2-4945-A466-63A1F82287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4508500"/>
                        <a:ext cx="5048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Rectangle 19">
            <a:extLst>
              <a:ext uri="{FF2B5EF4-FFF2-40B4-BE49-F238E27FC236}">
                <a16:creationId xmlns:a16="http://schemas.microsoft.com/office/drawing/2014/main" id="{6FB06CE1-07B8-4327-8671-BD1CB17F3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4581525"/>
            <a:ext cx="1979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>
                <a:cs typeface="Times New Roman" panose="02020603050405020304" pitchFamily="18" charset="0"/>
              </a:rPr>
              <a:t>- начальная точка.</a:t>
            </a:r>
            <a:endParaRPr lang="ru-RU" altLang="ru-RU"/>
          </a:p>
        </p:txBody>
      </p:sp>
      <p:sp>
        <p:nvSpPr>
          <p:cNvPr id="9236" name="Rectangle 20">
            <a:extLst>
              <a:ext uri="{FF2B5EF4-FFF2-40B4-BE49-F238E27FC236}">
                <a16:creationId xmlns:a16="http://schemas.microsoft.com/office/drawing/2014/main" id="{6B7AC068-FF64-4BC0-B2DF-1D4447ABB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013325"/>
            <a:ext cx="8497887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В качестве реализации алгоритмического отображения методов оптимизации может быть выбрана некоторая функция спуска, зависящая от переменных проектирования </a:t>
            </a:r>
          </a:p>
        </p:txBody>
      </p:sp>
      <p:sp>
        <p:nvSpPr>
          <p:cNvPr id="9237" name="Rectangle 22">
            <a:extLst>
              <a:ext uri="{FF2B5EF4-FFF2-40B4-BE49-F238E27FC236}">
                <a16:creationId xmlns:a16="http://schemas.microsoft.com/office/drawing/2014/main" id="{4870FD64-CCEC-4C03-90A4-A7B00710E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38" name="Object 21">
            <a:extLst>
              <a:ext uri="{FF2B5EF4-FFF2-40B4-BE49-F238E27FC236}">
                <a16:creationId xmlns:a16="http://schemas.microsoft.com/office/drawing/2014/main" id="{A2B069CF-6461-40E4-92B2-3012AA4E82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5516563"/>
          <a:ext cx="11509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6" name="Формула" r:id="rId13" imgW="444307" imgH="228501" progId="Equation.3">
                  <p:embed/>
                </p:oleObj>
              </mc:Choice>
              <mc:Fallback>
                <p:oleObj name="Формула" r:id="rId13" imgW="444307" imgH="228501" progId="Equation.3">
                  <p:embed/>
                  <p:pic>
                    <p:nvPicPr>
                      <p:cNvPr id="9238" name="Object 21">
                        <a:extLst>
                          <a:ext uri="{FF2B5EF4-FFF2-40B4-BE49-F238E27FC236}">
                            <a16:creationId xmlns:a16="http://schemas.microsoft.com/office/drawing/2014/main" id="{A2B069CF-6461-40E4-92B2-3012AA4E82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516563"/>
                        <a:ext cx="115093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9" name="Rectangle 23">
            <a:extLst>
              <a:ext uri="{FF2B5EF4-FFF2-40B4-BE49-F238E27FC236}">
                <a16:creationId xmlns:a16="http://schemas.microsoft.com/office/drawing/2014/main" id="{126553F3-B20A-4866-8AB3-AD060897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805488"/>
            <a:ext cx="5168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этом она должна удовлетворить условию </a:t>
            </a:r>
          </a:p>
        </p:txBody>
      </p:sp>
      <p:sp>
        <p:nvSpPr>
          <p:cNvPr id="9240" name="Rectangle 24">
            <a:extLst>
              <a:ext uri="{FF2B5EF4-FFF2-40B4-BE49-F238E27FC236}">
                <a16:creationId xmlns:a16="http://schemas.microsoft.com/office/drawing/2014/main" id="{6875993F-FD70-4DC3-8481-EE3E67011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3736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</a:t>
            </a:r>
          </a:p>
        </p:txBody>
      </p:sp>
      <p:sp>
        <p:nvSpPr>
          <p:cNvPr id="9241" name="Rectangle 26">
            <a:extLst>
              <a:ext uri="{FF2B5EF4-FFF2-40B4-BE49-F238E27FC236}">
                <a16:creationId xmlns:a16="http://schemas.microsoft.com/office/drawing/2014/main" id="{778A78EE-584A-46E0-8593-62B0004CE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42" name="Object 25">
            <a:extLst>
              <a:ext uri="{FF2B5EF4-FFF2-40B4-BE49-F238E27FC236}">
                <a16:creationId xmlns:a16="http://schemas.microsoft.com/office/drawing/2014/main" id="{DC63D75D-DDFE-48A6-A8C5-C82B5155B7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5761038"/>
          <a:ext cx="28797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7" name="Формула" r:id="rId15" imgW="1104900" imgH="228600" progId="Equation.3">
                  <p:embed/>
                </p:oleObj>
              </mc:Choice>
              <mc:Fallback>
                <p:oleObj name="Формула" r:id="rId15" imgW="1104900" imgH="228600" progId="Equation.3">
                  <p:embed/>
                  <p:pic>
                    <p:nvPicPr>
                      <p:cNvPr id="9242" name="Object 25">
                        <a:extLst>
                          <a:ext uri="{FF2B5EF4-FFF2-40B4-BE49-F238E27FC236}">
                            <a16:creationId xmlns:a16="http://schemas.microsoft.com/office/drawing/2014/main" id="{DC63D75D-DDFE-48A6-A8C5-C82B5155B7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761038"/>
                        <a:ext cx="287972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3" name="Object 28">
            <a:extLst>
              <a:ext uri="{FF2B5EF4-FFF2-40B4-BE49-F238E27FC236}">
                <a16:creationId xmlns:a16="http://schemas.microsoft.com/office/drawing/2014/main" id="{21803A5F-3E36-4E7E-91FD-1B670D2181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1400" y="6397625"/>
          <a:ext cx="5762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8" name="Формула" r:id="rId17" imgW="342751" imgH="203112" progId="Equation.3">
                  <p:embed/>
                </p:oleObj>
              </mc:Choice>
              <mc:Fallback>
                <p:oleObj name="Формула" r:id="rId17" imgW="342751" imgH="203112" progId="Equation.3">
                  <p:embed/>
                  <p:pic>
                    <p:nvPicPr>
                      <p:cNvPr id="9243" name="Object 28">
                        <a:extLst>
                          <a:ext uri="{FF2B5EF4-FFF2-40B4-BE49-F238E27FC236}">
                            <a16:creationId xmlns:a16="http://schemas.microsoft.com/office/drawing/2014/main" id="{21803A5F-3E36-4E7E-91FD-1B670D2181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6397625"/>
                        <a:ext cx="576263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4" name="Object 27">
            <a:extLst>
              <a:ext uri="{FF2B5EF4-FFF2-40B4-BE49-F238E27FC236}">
                <a16:creationId xmlns:a16="http://schemas.microsoft.com/office/drawing/2014/main" id="{5A5BCADD-AEAC-481A-BCB4-352D6C7B1A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6411913"/>
          <a:ext cx="7207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9" name="Формула" r:id="rId19" imgW="444307" imgH="203112" progId="Equation.3">
                  <p:embed/>
                </p:oleObj>
              </mc:Choice>
              <mc:Fallback>
                <p:oleObj name="Формула" r:id="rId19" imgW="444307" imgH="203112" progId="Equation.3">
                  <p:embed/>
                  <p:pic>
                    <p:nvPicPr>
                      <p:cNvPr id="9244" name="Object 27">
                        <a:extLst>
                          <a:ext uri="{FF2B5EF4-FFF2-40B4-BE49-F238E27FC236}">
                            <a16:creationId xmlns:a16="http://schemas.microsoft.com/office/drawing/2014/main" id="{5A5BCADD-AEAC-481A-BCB4-352D6C7B1A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6411913"/>
                        <a:ext cx="7207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5" name="Rectangle 29">
            <a:extLst>
              <a:ext uri="{FF2B5EF4-FFF2-40B4-BE49-F238E27FC236}">
                <a16:creationId xmlns:a16="http://schemas.microsoft.com/office/drawing/2014/main" id="{D7D3524D-3146-416E-97E1-109B796DE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13475"/>
            <a:ext cx="7567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>
                <a:cs typeface="Times New Roman" panose="02020603050405020304" pitchFamily="18" charset="0"/>
              </a:rPr>
              <a:t>В качестве функции спуска может быть  использована целевая функция </a:t>
            </a:r>
            <a:endParaRPr lang="ru-RU" altLang="ru-RU"/>
          </a:p>
        </p:txBody>
      </p:sp>
      <p:sp>
        <p:nvSpPr>
          <p:cNvPr id="9246" name="Rectangle 30">
            <a:extLst>
              <a:ext uri="{FF2B5EF4-FFF2-40B4-BE49-F238E27FC236}">
                <a16:creationId xmlns:a16="http://schemas.microsoft.com/office/drawing/2014/main" id="{CBB662B6-F88E-484C-8183-A70707F89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900" y="6345238"/>
            <a:ext cx="43195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en-US" altLang="ru-RU" sz="1200">
                <a:cs typeface="Times New Roman" panose="02020603050405020304" pitchFamily="18" charset="0"/>
              </a:rPr>
              <a:t>      </a:t>
            </a:r>
            <a:r>
              <a:rPr lang="ru-RU" altLang="ru-RU">
                <a:cs typeface="Times New Roman" panose="02020603050405020304" pitchFamily="18" charset="0"/>
              </a:rPr>
              <a:t>или градиент целевой функции  </a:t>
            </a:r>
            <a:endParaRPr lang="ru-RU" alt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CA0A85E-B0B5-4FAD-8EF5-A0E7FFAFD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66800"/>
          </a:xfrm>
        </p:spPr>
        <p:txBody>
          <a:bodyPr/>
          <a:lstStyle/>
          <a:p>
            <a:pPr eaLnBrk="1" hangingPunct="1"/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Алгоритм и сходимость алгоритмов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9A4D492-C6D7-4490-BC3A-7DC0F9D3B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13787" cy="52562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4.2.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Композиция алгоритмических отображений.</a:t>
            </a:r>
          </a:p>
        </p:txBody>
      </p:sp>
      <p:pic>
        <p:nvPicPr>
          <p:cNvPr id="10244" name="Picture 4" descr="L93">
            <a:extLst>
              <a:ext uri="{FF2B5EF4-FFF2-40B4-BE49-F238E27FC236}">
                <a16:creationId xmlns:a16="http://schemas.microsoft.com/office/drawing/2014/main" id="{0904C77B-C898-4865-B954-DE9479C15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708275"/>
            <a:ext cx="3455988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45" name="Object 6">
            <a:extLst>
              <a:ext uri="{FF2B5EF4-FFF2-40B4-BE49-F238E27FC236}">
                <a16:creationId xmlns:a16="http://schemas.microsoft.com/office/drawing/2014/main" id="{9EC62A89-4DCA-4D5B-9BFD-71AD8ACDB3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3141663"/>
          <a:ext cx="158432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6" name="Формула" r:id="rId4" imgW="748975" imgH="215806" progId="Equation.3">
                  <p:embed/>
                </p:oleObj>
              </mc:Choice>
              <mc:Fallback>
                <p:oleObj name="Формула" r:id="rId4" imgW="748975" imgH="215806" progId="Equation.3">
                  <p:embed/>
                  <p:pic>
                    <p:nvPicPr>
                      <p:cNvPr id="10245" name="Object 6">
                        <a:extLst>
                          <a:ext uri="{FF2B5EF4-FFF2-40B4-BE49-F238E27FC236}">
                            <a16:creationId xmlns:a16="http://schemas.microsoft.com/office/drawing/2014/main" id="{9EC62A89-4DCA-4D5B-9BFD-71AD8ACDB3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141663"/>
                        <a:ext cx="1584325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5">
            <a:extLst>
              <a:ext uri="{FF2B5EF4-FFF2-40B4-BE49-F238E27FC236}">
                <a16:creationId xmlns:a16="http://schemas.microsoft.com/office/drawing/2014/main" id="{639875BF-5DF7-4354-970D-5A0E43CD9B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5825" y="3357563"/>
          <a:ext cx="10080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7" name="Формула" r:id="rId6" imgW="583947" imgH="228501" progId="Equation.3">
                  <p:embed/>
                </p:oleObj>
              </mc:Choice>
              <mc:Fallback>
                <p:oleObj name="Формула" r:id="rId6" imgW="583947" imgH="228501" progId="Equation.3">
                  <p:embed/>
                  <p:pic>
                    <p:nvPicPr>
                      <p:cNvPr id="10246" name="Object 5">
                        <a:extLst>
                          <a:ext uri="{FF2B5EF4-FFF2-40B4-BE49-F238E27FC236}">
                            <a16:creationId xmlns:a16="http://schemas.microsoft.com/office/drawing/2014/main" id="{639875BF-5DF7-4354-970D-5A0E43CD9B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3357563"/>
                        <a:ext cx="100806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7">
            <a:extLst>
              <a:ext uri="{FF2B5EF4-FFF2-40B4-BE49-F238E27FC236}">
                <a16:creationId xmlns:a16="http://schemas.microsoft.com/office/drawing/2014/main" id="{C6A4BC44-2D85-4CC0-AFDB-DF3DF1AC3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420938"/>
            <a:ext cx="49688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Tx/>
              <a:buAutoNum type="arabicPeriod"/>
            </a:pPr>
            <a:r>
              <a:rPr lang="ru-RU" altLang="ru-RU" sz="2000">
                <a:cs typeface="Times New Roman" panose="02020603050405020304" pitchFamily="18" charset="0"/>
              </a:rPr>
              <a:t>Выбор направления уменьшения функции спуска </a:t>
            </a:r>
            <a:r>
              <a:rPr lang="en-US" altLang="ru-RU" sz="2000">
                <a:cs typeface="Times New Roman" panose="02020603050405020304" pitchFamily="18" charset="0"/>
              </a:rPr>
              <a:t>d</a:t>
            </a:r>
            <a:r>
              <a:rPr lang="ru-RU" altLang="ru-RU" sz="2000">
                <a:cs typeface="Times New Roman" panose="02020603050405020304" pitchFamily="18" charset="0"/>
              </a:rPr>
              <a:t> – в области возможного направления. Например</a:t>
            </a:r>
            <a:endParaRPr lang="ru-RU" altLang="ru-RU"/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16CE3D82-E51A-47F1-AD14-985031C7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368675"/>
            <a:ext cx="3327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>
                <a:cs typeface="Times New Roman" panose="02020603050405020304" pitchFamily="18" charset="0"/>
              </a:rPr>
              <a:t>Этот алгоритм  обозначим </a:t>
            </a:r>
            <a:r>
              <a:rPr lang="en-US" altLang="ru-RU" sz="2000">
                <a:cs typeface="Times New Roman" panose="02020603050405020304" pitchFamily="18" charset="0"/>
              </a:rPr>
              <a:t>D</a:t>
            </a:r>
            <a:endParaRPr lang="en-US" altLang="ru-RU" sz="2000"/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F21CF833-D612-42A4-8BC0-52977A76F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37909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10250" name="Rectangle 11">
            <a:extLst>
              <a:ext uri="{FF2B5EF4-FFF2-40B4-BE49-F238E27FC236}">
                <a16:creationId xmlns:a16="http://schemas.microsoft.com/office/drawing/2014/main" id="{48F1E69B-846C-44C3-BE06-92789088B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1" name="Object 13">
            <a:extLst>
              <a:ext uri="{FF2B5EF4-FFF2-40B4-BE49-F238E27FC236}">
                <a16:creationId xmlns:a16="http://schemas.microsoft.com/office/drawing/2014/main" id="{26E77592-A880-41D7-AB44-E61794B3C0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3860800"/>
          <a:ext cx="228600" cy="22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8" name="Формула" r:id="rId8" imgW="152334" imgH="139639" progId="Equation.3">
                  <p:embed/>
                </p:oleObj>
              </mc:Choice>
              <mc:Fallback>
                <p:oleObj name="Формула" r:id="rId8" imgW="152334" imgH="139639" progId="Equation.3">
                  <p:embed/>
                  <p:pic>
                    <p:nvPicPr>
                      <p:cNvPr id="10251" name="Object 13">
                        <a:extLst>
                          <a:ext uri="{FF2B5EF4-FFF2-40B4-BE49-F238E27FC236}">
                            <a16:creationId xmlns:a16="http://schemas.microsoft.com/office/drawing/2014/main" id="{26E77592-A880-41D7-AB44-E61794B3C0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860800"/>
                        <a:ext cx="228600" cy="22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14">
            <a:extLst>
              <a:ext uri="{FF2B5EF4-FFF2-40B4-BE49-F238E27FC236}">
                <a16:creationId xmlns:a16="http://schemas.microsoft.com/office/drawing/2014/main" id="{8C05209A-81E7-419B-B02D-191BA7398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716338"/>
            <a:ext cx="185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/>
              <a:t>2. </a:t>
            </a:r>
            <a:r>
              <a:rPr lang="ru-RU" altLang="ru-RU" sz="2000">
                <a:cs typeface="Times New Roman" panose="02020603050405020304" pitchFamily="18" charset="0"/>
              </a:rPr>
              <a:t>Выбор шага </a:t>
            </a:r>
            <a:endParaRPr lang="ru-RU" altLang="ru-RU" sz="2000"/>
          </a:p>
        </p:txBody>
      </p:sp>
      <p:sp>
        <p:nvSpPr>
          <p:cNvPr id="10253" name="Rectangle 16">
            <a:extLst>
              <a:ext uri="{FF2B5EF4-FFF2-40B4-BE49-F238E27FC236}">
                <a16:creationId xmlns:a16="http://schemas.microsoft.com/office/drawing/2014/main" id="{127F3B13-65B4-4707-A01D-E19A83B0F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460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.  </a:t>
            </a:r>
            <a:r>
              <a:rPr lang="ru-RU" altLang="ru-RU" sz="2000">
                <a:cs typeface="Times New Roman" panose="02020603050405020304" pitchFamily="18" charset="0"/>
              </a:rPr>
              <a:t>Это</a:t>
            </a:r>
            <a:r>
              <a:rPr lang="ru-RU" altLang="ru-RU" sz="2000">
                <a:latin typeface="Times New Roman" panose="02020603050405020304" pitchFamily="18" charset="0"/>
              </a:rPr>
              <a:t>т</a:t>
            </a:r>
            <a:r>
              <a:rPr lang="ru-RU" altLang="ru-RU" sz="2000">
                <a:cs typeface="Times New Roman" panose="02020603050405020304" pitchFamily="18" charset="0"/>
              </a:rPr>
              <a:t> алгоритм обозначим </a:t>
            </a:r>
            <a:r>
              <a:rPr lang="en-US" altLang="ru-RU" sz="2000">
                <a:cs typeface="Times New Roman" panose="02020603050405020304" pitchFamily="18" charset="0"/>
              </a:rPr>
              <a:t>U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endParaRPr lang="ru-RU" altLang="ru-RU" sz="2000"/>
          </a:p>
        </p:txBody>
      </p:sp>
      <p:sp>
        <p:nvSpPr>
          <p:cNvPr id="10254" name="Rectangle 18">
            <a:extLst>
              <a:ext uri="{FF2B5EF4-FFF2-40B4-BE49-F238E27FC236}">
                <a16:creationId xmlns:a16="http://schemas.microsoft.com/office/drawing/2014/main" id="{9D705EC1-5477-4781-8B58-D23A873E7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89363"/>
            <a:ext cx="55086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→     </a:t>
            </a:r>
            <a:endParaRPr lang="ru-RU" altLang="ru-RU"/>
          </a:p>
        </p:txBody>
      </p:sp>
      <p:graphicFrame>
        <p:nvGraphicFramePr>
          <p:cNvPr id="10255" name="Object 17">
            <a:extLst>
              <a:ext uri="{FF2B5EF4-FFF2-40B4-BE49-F238E27FC236}">
                <a16:creationId xmlns:a16="http://schemas.microsoft.com/office/drawing/2014/main" id="{D898E2AF-3FC2-47A7-A96E-EFEECAE841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3789363"/>
          <a:ext cx="28082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9" name="Формула" r:id="rId10" imgW="1778000" imgH="228600" progId="Equation.3">
                  <p:embed/>
                </p:oleObj>
              </mc:Choice>
              <mc:Fallback>
                <p:oleObj name="Формула" r:id="rId10" imgW="1778000" imgH="228600" progId="Equation.3">
                  <p:embed/>
                  <p:pic>
                    <p:nvPicPr>
                      <p:cNvPr id="10255" name="Object 17">
                        <a:extLst>
                          <a:ext uri="{FF2B5EF4-FFF2-40B4-BE49-F238E27FC236}">
                            <a16:creationId xmlns:a16="http://schemas.microsoft.com/office/drawing/2014/main" id="{D898E2AF-3FC2-47A7-A96E-EFEECAE841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3789363"/>
                        <a:ext cx="280828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6" name="Rectangle 19">
            <a:extLst>
              <a:ext uri="{FF2B5EF4-FFF2-40B4-BE49-F238E27FC236}">
                <a16:creationId xmlns:a16="http://schemas.microsoft.com/office/drawing/2014/main" id="{B3671146-DD83-4EDC-B891-F80AB9D33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3559175"/>
            <a:ext cx="3127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  </a:t>
            </a:r>
            <a:endParaRPr lang="ru-RU" altLang="ru-RU"/>
          </a:p>
        </p:txBody>
      </p:sp>
      <p:sp>
        <p:nvSpPr>
          <p:cNvPr id="10257" name="Rectangle 21">
            <a:extLst>
              <a:ext uri="{FF2B5EF4-FFF2-40B4-BE49-F238E27FC236}">
                <a16:creationId xmlns:a16="http://schemas.microsoft.com/office/drawing/2014/main" id="{2A275E6F-ADC2-465F-8ACB-98992D913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8" name="Object 20">
            <a:extLst>
              <a:ext uri="{FF2B5EF4-FFF2-40B4-BE49-F238E27FC236}">
                <a16:creationId xmlns:a16="http://schemas.microsoft.com/office/drawing/2014/main" id="{FC49D156-8E2D-44EF-9B63-978F349F45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4167188"/>
          <a:ext cx="381635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0" name="Формула" r:id="rId12" imgW="2159000" imgH="228600" progId="Equation.3">
                  <p:embed/>
                </p:oleObj>
              </mc:Choice>
              <mc:Fallback>
                <p:oleObj name="Формула" r:id="rId12" imgW="2159000" imgH="228600" progId="Equation.3">
                  <p:embed/>
                  <p:pic>
                    <p:nvPicPr>
                      <p:cNvPr id="10258" name="Object 20">
                        <a:extLst>
                          <a:ext uri="{FF2B5EF4-FFF2-40B4-BE49-F238E27FC236}">
                            <a16:creationId xmlns:a16="http://schemas.microsoft.com/office/drawing/2014/main" id="{FC49D156-8E2D-44EF-9B63-978F349F45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167188"/>
                        <a:ext cx="381635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9" name="Rectangle 22">
            <a:extLst>
              <a:ext uri="{FF2B5EF4-FFF2-40B4-BE49-F238E27FC236}">
                <a16:creationId xmlns:a16="http://schemas.microsoft.com/office/drawing/2014/main" id="{9C779F84-042E-4B26-877A-D22CB640D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0260" name="Rectangle 23">
            <a:extLst>
              <a:ext uri="{FF2B5EF4-FFF2-40B4-BE49-F238E27FC236}">
                <a16:creationId xmlns:a16="http://schemas.microsoft.com/office/drawing/2014/main" id="{8AE9522C-C2F3-4B0B-B9FD-8E36A48E3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5072063"/>
            <a:ext cx="5113338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3. Если решается задача с ограничениями, то необходимо ввести еще один алгоритм  </a:t>
            </a:r>
            <a:r>
              <a:rPr lang="en-US" altLang="ru-RU"/>
              <a:t>L</a:t>
            </a:r>
            <a:r>
              <a:rPr lang="ru-RU" altLang="ru-RU"/>
              <a:t> , учитывающий наличие ограничений.</a:t>
            </a:r>
          </a:p>
          <a:p>
            <a:pPr eaLnBrk="1" hangingPunct="1"/>
            <a:r>
              <a:rPr lang="ru-RU" altLang="ru-RU"/>
              <a:t>Тогда общий алгоритм будет композицией алгоритмов: </a:t>
            </a:r>
          </a:p>
        </p:txBody>
      </p:sp>
      <p:sp>
        <p:nvSpPr>
          <p:cNvPr id="10261" name="Rectangle 25">
            <a:extLst>
              <a:ext uri="{FF2B5EF4-FFF2-40B4-BE49-F238E27FC236}">
                <a16:creationId xmlns:a16="http://schemas.microsoft.com/office/drawing/2014/main" id="{7CBCEB58-F280-45AE-825B-F8C1B840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62" name="Object 24">
            <a:extLst>
              <a:ext uri="{FF2B5EF4-FFF2-40B4-BE49-F238E27FC236}">
                <a16:creationId xmlns:a16="http://schemas.microsoft.com/office/drawing/2014/main" id="{0AC38956-0863-4DD1-AFE2-DFF538A72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6165850"/>
          <a:ext cx="34575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1" name="Формула" r:id="rId14" imgW="1637589" imgH="203112" progId="Equation.3">
                  <p:embed/>
                </p:oleObj>
              </mc:Choice>
              <mc:Fallback>
                <p:oleObj name="Формула" r:id="rId14" imgW="1637589" imgH="203112" progId="Equation.3">
                  <p:embed/>
                  <p:pic>
                    <p:nvPicPr>
                      <p:cNvPr id="10262" name="Object 24">
                        <a:extLst>
                          <a:ext uri="{FF2B5EF4-FFF2-40B4-BE49-F238E27FC236}">
                            <a16:creationId xmlns:a16="http://schemas.microsoft.com/office/drawing/2014/main" id="{0AC38956-0863-4DD1-AFE2-DFF538A725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6165850"/>
                        <a:ext cx="34575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0188B91-2212-41C2-B985-8A03D3565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66800"/>
          </a:xfrm>
        </p:spPr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Алгоритм и сходимость алгоритмов</a:t>
            </a:r>
            <a:endParaRPr lang="ru-RU" altLang="ru-RU" sz="4000" b="1" u="sng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A187B4C-2B30-476C-ABAD-D64CAF18CC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13787" cy="5256213"/>
          </a:xfrm>
        </p:spPr>
        <p:txBody>
          <a:bodyPr/>
          <a:lstStyle/>
          <a:p>
            <a:pPr marL="609600" indent="-609600" algn="ctr" eaLnBrk="1" hangingPunct="1">
              <a:buFontTx/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4.2. Критерий окончания процесса оптимизации.</a:t>
            </a:r>
          </a:p>
        </p:txBody>
      </p:sp>
      <p:sp>
        <p:nvSpPr>
          <p:cNvPr id="11268" name="Rectangle 9">
            <a:extLst>
              <a:ext uri="{FF2B5EF4-FFF2-40B4-BE49-F238E27FC236}">
                <a16:creationId xmlns:a16="http://schemas.microsoft.com/office/drawing/2014/main" id="{135AF724-873C-4DE9-A953-E9B69A89E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37909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11269" name="Rectangle 16">
            <a:extLst>
              <a:ext uri="{FF2B5EF4-FFF2-40B4-BE49-F238E27FC236}">
                <a16:creationId xmlns:a16="http://schemas.microsoft.com/office/drawing/2014/main" id="{F40B2FE6-E276-40D6-8FA1-FD5661CF2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3559175"/>
            <a:ext cx="3127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  </a:t>
            </a:r>
            <a:endParaRPr lang="ru-RU" altLang="ru-RU"/>
          </a:p>
        </p:txBody>
      </p:sp>
      <p:sp>
        <p:nvSpPr>
          <p:cNvPr id="11270" name="Rectangle 19">
            <a:extLst>
              <a:ext uri="{FF2B5EF4-FFF2-40B4-BE49-F238E27FC236}">
                <a16:creationId xmlns:a16="http://schemas.microsoft.com/office/drawing/2014/main" id="{2D68E853-41F7-4EE4-BF05-A98E17E8A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271" name="Rectangle 21">
            <a:extLst>
              <a:ext uri="{FF2B5EF4-FFF2-40B4-BE49-F238E27FC236}">
                <a16:creationId xmlns:a16="http://schemas.microsoft.com/office/drawing/2014/main" id="{0938ABDE-1276-42E5-99B0-1FA9BB030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72" name="Object 24">
            <a:extLst>
              <a:ext uri="{FF2B5EF4-FFF2-40B4-BE49-F238E27FC236}">
                <a16:creationId xmlns:a16="http://schemas.microsoft.com/office/drawing/2014/main" id="{4164DD81-6E77-4B74-8080-AB1A929C64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732199"/>
              </p:ext>
            </p:extLst>
          </p:nvPr>
        </p:nvGraphicFramePr>
        <p:xfrm>
          <a:off x="8502650" y="2056525"/>
          <a:ext cx="4619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0" name="Формула" r:id="rId3" imgW="177569" imgH="202936" progId="Equation.3">
                  <p:embed/>
                </p:oleObj>
              </mc:Choice>
              <mc:Fallback>
                <p:oleObj name="Формула" r:id="rId3" imgW="177569" imgH="202936" progId="Equation.3">
                  <p:embed/>
                  <p:pic>
                    <p:nvPicPr>
                      <p:cNvPr id="11272" name="Object 24">
                        <a:extLst>
                          <a:ext uri="{FF2B5EF4-FFF2-40B4-BE49-F238E27FC236}">
                            <a16:creationId xmlns:a16="http://schemas.microsoft.com/office/drawing/2014/main" id="{4164DD81-6E77-4B74-8080-AB1A929C64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2650" y="2056525"/>
                        <a:ext cx="4619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23">
            <a:extLst>
              <a:ext uri="{FF2B5EF4-FFF2-40B4-BE49-F238E27FC236}">
                <a16:creationId xmlns:a16="http://schemas.microsoft.com/office/drawing/2014/main" id="{BB8441E1-3351-4963-8D50-8D72E639FF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469558"/>
              </p:ext>
            </p:extLst>
          </p:nvPr>
        </p:nvGraphicFramePr>
        <p:xfrm>
          <a:off x="7359471" y="2589213"/>
          <a:ext cx="14414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1" name="Формула" r:id="rId5" imgW="545863" imgH="228501" progId="Equation.3">
                  <p:embed/>
                </p:oleObj>
              </mc:Choice>
              <mc:Fallback>
                <p:oleObj name="Формула" r:id="rId5" imgW="545863" imgH="228501" progId="Equation.3">
                  <p:embed/>
                  <p:pic>
                    <p:nvPicPr>
                      <p:cNvPr id="11273" name="Object 23">
                        <a:extLst>
                          <a:ext uri="{FF2B5EF4-FFF2-40B4-BE49-F238E27FC236}">
                            <a16:creationId xmlns:a16="http://schemas.microsoft.com/office/drawing/2014/main" id="{BB8441E1-3351-4963-8D50-8D72E639FF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9471" y="2589213"/>
                        <a:ext cx="14414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Rectangle 25">
            <a:extLst>
              <a:ext uri="{FF2B5EF4-FFF2-40B4-BE49-F238E27FC236}">
                <a16:creationId xmlns:a16="http://schemas.microsoft.com/office/drawing/2014/main" id="{2B88566F-25EA-48EE-9161-71CB532B7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" y="2170907"/>
            <a:ext cx="7531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cs typeface="Times New Roman" panose="02020603050405020304" pitchFamily="18" charset="0"/>
              </a:rPr>
              <a:t>Точка зрения  математика состоит в нахождении точного решения </a:t>
            </a:r>
            <a:endParaRPr lang="ru-RU" altLang="ru-RU" sz="2000" dirty="0"/>
          </a:p>
        </p:txBody>
      </p:sp>
      <p:sp>
        <p:nvSpPr>
          <p:cNvPr id="11275" name="Rectangle 26">
            <a:extLst>
              <a:ext uri="{FF2B5EF4-FFF2-40B4-BE49-F238E27FC236}">
                <a16:creationId xmlns:a16="http://schemas.microsoft.com/office/drawing/2014/main" id="{85D4C862-1CDE-49D9-940D-A21D483BD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" y="2602488"/>
            <a:ext cx="63547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altLang="ru-RU" sz="2000" dirty="0">
                <a:cs typeface="Times New Roman" panose="02020603050405020304" pitchFamily="18" charset="0"/>
              </a:rPr>
              <a:t>Точка зрения  инженера состоит в определение области </a:t>
            </a:r>
            <a:endParaRPr lang="ru-RU" altLang="ru-RU" sz="2000" dirty="0"/>
          </a:p>
        </p:txBody>
      </p:sp>
      <p:sp>
        <p:nvSpPr>
          <p:cNvPr id="11276" name="Rectangle 27">
            <a:extLst>
              <a:ext uri="{FF2B5EF4-FFF2-40B4-BE49-F238E27FC236}">
                <a16:creationId xmlns:a16="http://schemas.microsoft.com/office/drawing/2014/main" id="{D447E05B-D5DE-4501-9865-014B06492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068638"/>
            <a:ext cx="83518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>
                <a:cs typeface="Times New Roman" panose="02020603050405020304" pitchFamily="18" charset="0"/>
              </a:rPr>
              <a:t>близкой к оптимальной. В связи с этим существует несколько критериев останова в зависимости от точности решаемой задачи. </a:t>
            </a:r>
            <a:endParaRPr lang="ru-RU" altLang="ru-RU" sz="2000"/>
          </a:p>
          <a:p>
            <a:endParaRPr lang="ru-RU" altLang="ru-RU" sz="2000"/>
          </a:p>
        </p:txBody>
      </p:sp>
      <p:sp>
        <p:nvSpPr>
          <p:cNvPr id="11277" name="Rectangle 28">
            <a:extLst>
              <a:ext uri="{FF2B5EF4-FFF2-40B4-BE49-F238E27FC236}">
                <a16:creationId xmlns:a16="http://schemas.microsoft.com/office/drawing/2014/main" id="{C57B2952-C1E1-4BED-BFF6-6560C6142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2420938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pic>
        <p:nvPicPr>
          <p:cNvPr id="11278" name="Picture 29" descr="L94">
            <a:extLst>
              <a:ext uri="{FF2B5EF4-FFF2-40B4-BE49-F238E27FC236}">
                <a16:creationId xmlns:a16="http://schemas.microsoft.com/office/drawing/2014/main" id="{50C9D5A4-91B9-414A-99F7-87E45CBEC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89363"/>
            <a:ext cx="3419475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9" name="Rectangle 30">
            <a:extLst>
              <a:ext uri="{FF2B5EF4-FFF2-40B4-BE49-F238E27FC236}">
                <a16:creationId xmlns:a16="http://schemas.microsoft.com/office/drawing/2014/main" id="{E8B9AC3D-8BD0-4A95-9212-05741AC8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165850"/>
            <a:ext cx="292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b="1"/>
              <a:t>Точка зрения инженера</a:t>
            </a:r>
            <a:r>
              <a:rPr lang="ru-RU" altLang="ru-RU"/>
              <a:t>.</a:t>
            </a:r>
          </a:p>
        </p:txBody>
      </p:sp>
      <p:sp>
        <p:nvSpPr>
          <p:cNvPr id="11280" name="Rectangle 31">
            <a:extLst>
              <a:ext uri="{FF2B5EF4-FFF2-40B4-BE49-F238E27FC236}">
                <a16:creationId xmlns:a16="http://schemas.microsoft.com/office/drawing/2014/main" id="{4A976335-633D-4C0D-9A04-7094D9C9A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716338"/>
            <a:ext cx="37068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b="1"/>
              <a:t>Критерии останова алгоритма.</a:t>
            </a:r>
          </a:p>
        </p:txBody>
      </p:sp>
      <p:sp>
        <p:nvSpPr>
          <p:cNvPr id="11281" name="Rectangle 33">
            <a:extLst>
              <a:ext uri="{FF2B5EF4-FFF2-40B4-BE49-F238E27FC236}">
                <a16:creationId xmlns:a16="http://schemas.microsoft.com/office/drawing/2014/main" id="{9B171163-AB23-4579-B931-1723A8086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076700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>
                <a:cs typeface="Times New Roman" panose="02020603050405020304" pitchFamily="18" charset="0"/>
              </a:rPr>
              <a:t>1.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graphicFrame>
        <p:nvGraphicFramePr>
          <p:cNvPr id="11282" name="Object 32">
            <a:extLst>
              <a:ext uri="{FF2B5EF4-FFF2-40B4-BE49-F238E27FC236}">
                <a16:creationId xmlns:a16="http://schemas.microsoft.com/office/drawing/2014/main" id="{F04CA186-37F1-467F-BDAD-CD3A7C5FAC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005263"/>
          <a:ext cx="19446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2" name="Формула" r:id="rId8" imgW="1066800" imgH="279400" progId="Equation.3">
                  <p:embed/>
                </p:oleObj>
              </mc:Choice>
              <mc:Fallback>
                <p:oleObj name="Формула" r:id="rId8" imgW="1066800" imgH="279400" progId="Equation.3">
                  <p:embed/>
                  <p:pic>
                    <p:nvPicPr>
                      <p:cNvPr id="11282" name="Object 32">
                        <a:extLst>
                          <a:ext uri="{FF2B5EF4-FFF2-40B4-BE49-F238E27FC236}">
                            <a16:creationId xmlns:a16="http://schemas.microsoft.com/office/drawing/2014/main" id="{F04CA186-37F1-467F-BDAD-CD3A7C5FAC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005263"/>
                        <a:ext cx="194468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Rectangle 34">
            <a:extLst>
              <a:ext uri="{FF2B5EF4-FFF2-40B4-BE49-F238E27FC236}">
                <a16:creationId xmlns:a16="http://schemas.microsoft.com/office/drawing/2014/main" id="{6157C44B-88C1-47F5-B39D-8A7660F9A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567113"/>
            <a:ext cx="2476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600"/>
              <a:t> </a:t>
            </a:r>
            <a:endParaRPr lang="ru-RU" altLang="ru-RU"/>
          </a:p>
        </p:txBody>
      </p:sp>
      <p:sp>
        <p:nvSpPr>
          <p:cNvPr id="11284" name="Rectangle 36">
            <a:extLst>
              <a:ext uri="{FF2B5EF4-FFF2-40B4-BE49-F238E27FC236}">
                <a16:creationId xmlns:a16="http://schemas.microsoft.com/office/drawing/2014/main" id="{A9CD1231-5FE2-4EE2-B003-3F45F4B9F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0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85" name="Object 35">
            <a:extLst>
              <a:ext uri="{FF2B5EF4-FFF2-40B4-BE49-F238E27FC236}">
                <a16:creationId xmlns:a16="http://schemas.microsoft.com/office/drawing/2014/main" id="{8233A43C-FB04-46CE-B4A6-6E3C22419A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4508500"/>
          <a:ext cx="1655763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3" name="Формула" r:id="rId10" imgW="761669" imgH="380835" progId="Equation.3">
                  <p:embed/>
                </p:oleObj>
              </mc:Choice>
              <mc:Fallback>
                <p:oleObj name="Формула" r:id="rId10" imgW="761669" imgH="380835" progId="Equation.3">
                  <p:embed/>
                  <p:pic>
                    <p:nvPicPr>
                      <p:cNvPr id="11285" name="Object 35">
                        <a:extLst>
                          <a:ext uri="{FF2B5EF4-FFF2-40B4-BE49-F238E27FC236}">
                            <a16:creationId xmlns:a16="http://schemas.microsoft.com/office/drawing/2014/main" id="{8233A43C-FB04-46CE-B4A6-6E3C22419A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508500"/>
                        <a:ext cx="1655763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6" name="Rectangle 37">
            <a:extLst>
              <a:ext uri="{FF2B5EF4-FFF2-40B4-BE49-F238E27FC236}">
                <a16:creationId xmlns:a16="http://schemas.microsoft.com/office/drawing/2014/main" id="{BC0A1352-15F7-4898-8C18-CFA018A10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4581525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2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11287" name="Rectangle 39">
            <a:extLst>
              <a:ext uri="{FF2B5EF4-FFF2-40B4-BE49-F238E27FC236}">
                <a16:creationId xmlns:a16="http://schemas.microsoft.com/office/drawing/2014/main" id="{1118DE2A-895F-455D-9B24-F967B5FB7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88" name="Object 38">
            <a:extLst>
              <a:ext uri="{FF2B5EF4-FFF2-40B4-BE49-F238E27FC236}">
                <a16:creationId xmlns:a16="http://schemas.microsoft.com/office/drawing/2014/main" id="{5B6BDA0A-0C10-48A2-A41B-4DB9F9831F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5338763"/>
          <a:ext cx="25923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4" name="Формула" r:id="rId12" imgW="1282700" imgH="228600" progId="Equation.3">
                  <p:embed/>
                </p:oleObj>
              </mc:Choice>
              <mc:Fallback>
                <p:oleObj name="Формула" r:id="rId12" imgW="1282700" imgH="228600" progId="Equation.3">
                  <p:embed/>
                  <p:pic>
                    <p:nvPicPr>
                      <p:cNvPr id="11288" name="Object 38">
                        <a:extLst>
                          <a:ext uri="{FF2B5EF4-FFF2-40B4-BE49-F238E27FC236}">
                            <a16:creationId xmlns:a16="http://schemas.microsoft.com/office/drawing/2014/main" id="{5B6BDA0A-0C10-48A2-A41B-4DB9F9831F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338763"/>
                        <a:ext cx="259238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9" name="Rectangle 40">
            <a:extLst>
              <a:ext uri="{FF2B5EF4-FFF2-40B4-BE49-F238E27FC236}">
                <a16:creationId xmlns:a16="http://schemas.microsoft.com/office/drawing/2014/main" id="{2370F183-DEDC-4227-B811-133DA0C15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3006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3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11290" name="Rectangle 42">
            <a:extLst>
              <a:ext uri="{FF2B5EF4-FFF2-40B4-BE49-F238E27FC236}">
                <a16:creationId xmlns:a16="http://schemas.microsoft.com/office/drawing/2014/main" id="{DB7EA2E4-A51B-4E61-B2F3-2B439159C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91" name="Object 41">
            <a:extLst>
              <a:ext uri="{FF2B5EF4-FFF2-40B4-BE49-F238E27FC236}">
                <a16:creationId xmlns:a16="http://schemas.microsoft.com/office/drawing/2014/main" id="{144D5E2C-A63B-479B-8ACB-364CA16BA6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5805488"/>
          <a:ext cx="252095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5" name="Формула" r:id="rId14" imgW="875920" imgH="304668" progId="Equation.3">
                  <p:embed/>
                </p:oleObj>
              </mc:Choice>
              <mc:Fallback>
                <p:oleObj name="Формула" r:id="rId14" imgW="875920" imgH="304668" progId="Equation.3">
                  <p:embed/>
                  <p:pic>
                    <p:nvPicPr>
                      <p:cNvPr id="11291" name="Object 41">
                        <a:extLst>
                          <a:ext uri="{FF2B5EF4-FFF2-40B4-BE49-F238E27FC236}">
                            <a16:creationId xmlns:a16="http://schemas.microsoft.com/office/drawing/2014/main" id="{144D5E2C-A63B-479B-8ACB-364CA16BA6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805488"/>
                        <a:ext cx="252095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2" name="Rectangle 43">
            <a:extLst>
              <a:ext uri="{FF2B5EF4-FFF2-40B4-BE49-F238E27FC236}">
                <a16:creationId xmlns:a16="http://schemas.microsoft.com/office/drawing/2014/main" id="{F37D157F-4454-44F6-A46D-8AA34AB9D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602138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4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AFDC25F-11A9-4392-AD2E-AE246EEDB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668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Алгоритм и сходимость алгоритмов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13F97EA-D5A1-4C61-B3DC-5B6A14E8B8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13787" cy="5256213"/>
          </a:xfrm>
        </p:spPr>
        <p:txBody>
          <a:bodyPr/>
          <a:lstStyle/>
          <a:p>
            <a:pPr marL="609600" indent="-609600" algn="ctr" eaLnBrk="1" hangingPunct="1">
              <a:buFontTx/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4.3. Скорость сходимости алгоритмов.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ADEAB189-84CA-49A9-BF34-13EF29D6B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37909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FEB21A44-061F-4ED2-BBB7-8B6A1D4E1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3559175"/>
            <a:ext cx="3127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  </a:t>
            </a:r>
            <a:endParaRPr lang="ru-RU" altLang="ru-RU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C4EE21AD-1B2B-467F-A390-E02179E27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5BD2DE66-6769-429F-A025-8791B1CF7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296" name="Rectangle 19">
            <a:extLst>
              <a:ext uri="{FF2B5EF4-FFF2-40B4-BE49-F238E27FC236}">
                <a16:creationId xmlns:a16="http://schemas.microsoft.com/office/drawing/2014/main" id="{738778BE-19EE-4A35-BA09-EDEC23E61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567113"/>
            <a:ext cx="2476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600"/>
              <a:t> </a:t>
            </a:r>
            <a:endParaRPr lang="ru-RU" altLang="ru-RU"/>
          </a:p>
        </p:txBody>
      </p:sp>
      <p:sp>
        <p:nvSpPr>
          <p:cNvPr id="12297" name="Rectangle 20">
            <a:extLst>
              <a:ext uri="{FF2B5EF4-FFF2-40B4-BE49-F238E27FC236}">
                <a16:creationId xmlns:a16="http://schemas.microsoft.com/office/drawing/2014/main" id="{E9AE030E-6A6D-4B63-98AE-2E6A35DDC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298" name="Rectangle 23">
            <a:extLst>
              <a:ext uri="{FF2B5EF4-FFF2-40B4-BE49-F238E27FC236}">
                <a16:creationId xmlns:a16="http://schemas.microsoft.com/office/drawing/2014/main" id="{F4AD22D0-0D0F-4EE3-BD35-499BD575D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299" name="Rectangle 26">
            <a:extLst>
              <a:ext uri="{FF2B5EF4-FFF2-40B4-BE49-F238E27FC236}">
                <a16:creationId xmlns:a16="http://schemas.microsoft.com/office/drawing/2014/main" id="{BD09286F-C0B6-4821-A34B-A9573F098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00" name="Object 29">
            <a:extLst>
              <a:ext uri="{FF2B5EF4-FFF2-40B4-BE49-F238E27FC236}">
                <a16:creationId xmlns:a16="http://schemas.microsoft.com/office/drawing/2014/main" id="{D182DF48-63B7-4440-80DD-6018D8828F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916113"/>
          <a:ext cx="28257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4" name="Формула" r:id="rId3" imgW="126780" imgH="215526" progId="Equation.3">
                  <p:embed/>
                </p:oleObj>
              </mc:Choice>
              <mc:Fallback>
                <p:oleObj name="Формула" r:id="rId3" imgW="126780" imgH="215526" progId="Equation.3">
                  <p:embed/>
                  <p:pic>
                    <p:nvPicPr>
                      <p:cNvPr id="12300" name="Object 29">
                        <a:extLst>
                          <a:ext uri="{FF2B5EF4-FFF2-40B4-BE49-F238E27FC236}">
                            <a16:creationId xmlns:a16="http://schemas.microsoft.com/office/drawing/2014/main" id="{D182DF48-63B7-4440-80DD-6018D8828F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916113"/>
                        <a:ext cx="28257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31">
            <a:extLst>
              <a:ext uri="{FF2B5EF4-FFF2-40B4-BE49-F238E27FC236}">
                <a16:creationId xmlns:a16="http://schemas.microsoft.com/office/drawing/2014/main" id="{A9302A30-2A57-4316-8306-304D7B2C0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989138"/>
            <a:ext cx="1230313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9121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</a:t>
            </a: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12302" name="Rectangle 32">
            <a:extLst>
              <a:ext uri="{FF2B5EF4-FFF2-40B4-BE49-F238E27FC236}">
                <a16:creationId xmlns:a16="http://schemas.microsoft.com/office/drawing/2014/main" id="{DA52012F-8283-462C-BD6B-9A5024C0B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1989138"/>
            <a:ext cx="14843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сходится к </a:t>
            </a:r>
            <a:endParaRPr lang="ru-RU" altLang="ru-RU" sz="2000"/>
          </a:p>
        </p:txBody>
      </p:sp>
      <p:sp>
        <p:nvSpPr>
          <p:cNvPr id="12303" name="Rectangle 33">
            <a:extLst>
              <a:ext uri="{FF2B5EF4-FFF2-40B4-BE49-F238E27FC236}">
                <a16:creationId xmlns:a16="http://schemas.microsoft.com/office/drawing/2014/main" id="{E966361A-45C7-4DC9-92E2-9098707A0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1989138"/>
            <a:ext cx="4492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тогда, если выполняются неравенства:</a:t>
            </a:r>
          </a:p>
          <a:p>
            <a:endParaRPr lang="ru-RU" altLang="ru-RU" sz="2000"/>
          </a:p>
        </p:txBody>
      </p:sp>
      <p:sp>
        <p:nvSpPr>
          <p:cNvPr id="12304" name="Rectangle 35">
            <a:extLst>
              <a:ext uri="{FF2B5EF4-FFF2-40B4-BE49-F238E27FC236}">
                <a16:creationId xmlns:a16="http://schemas.microsoft.com/office/drawing/2014/main" id="{DAE5F75C-70B7-4C60-8B4B-9B9B9A36D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05" name="Object 34">
            <a:extLst>
              <a:ext uri="{FF2B5EF4-FFF2-40B4-BE49-F238E27FC236}">
                <a16:creationId xmlns:a16="http://schemas.microsoft.com/office/drawing/2014/main" id="{E6957188-E36E-464A-9F55-86F77E542C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1989138"/>
          <a:ext cx="64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5" name="Формула" r:id="rId5" imgW="342751" imgH="228501" progId="Equation.3">
                  <p:embed/>
                </p:oleObj>
              </mc:Choice>
              <mc:Fallback>
                <p:oleObj name="Формула" r:id="rId5" imgW="342751" imgH="228501" progId="Equation.3">
                  <p:embed/>
                  <p:pic>
                    <p:nvPicPr>
                      <p:cNvPr id="12305" name="Object 34">
                        <a:extLst>
                          <a:ext uri="{FF2B5EF4-FFF2-40B4-BE49-F238E27FC236}">
                            <a16:creationId xmlns:a16="http://schemas.microsoft.com/office/drawing/2014/main" id="{E6957188-E36E-464A-9F55-86F77E542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989138"/>
                        <a:ext cx="64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6" name="Rectangle 37">
            <a:extLst>
              <a:ext uri="{FF2B5EF4-FFF2-40B4-BE49-F238E27FC236}">
                <a16:creationId xmlns:a16="http://schemas.microsoft.com/office/drawing/2014/main" id="{C215C119-156A-4C34-B490-2FCDCDBFD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307" name="Rectangle 38">
            <a:extLst>
              <a:ext uri="{FF2B5EF4-FFF2-40B4-BE49-F238E27FC236}">
                <a16:creationId xmlns:a16="http://schemas.microsoft.com/office/drawing/2014/main" id="{602FC123-7B09-4B3D-8B01-0056F24F8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51113"/>
            <a:ext cx="817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(1.)</a:t>
            </a:r>
            <a:r>
              <a:rPr lang="ru-RU" altLang="ru-RU"/>
              <a:t>    </a:t>
            </a:r>
          </a:p>
        </p:txBody>
      </p:sp>
      <p:sp>
        <p:nvSpPr>
          <p:cNvPr id="12308" name="Rectangle 40">
            <a:extLst>
              <a:ext uri="{FF2B5EF4-FFF2-40B4-BE49-F238E27FC236}">
                <a16:creationId xmlns:a16="http://schemas.microsoft.com/office/drawing/2014/main" id="{235A3157-9E1B-4B6D-83D4-1082F4DCD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2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09" name="Object 39">
            <a:extLst>
              <a:ext uri="{FF2B5EF4-FFF2-40B4-BE49-F238E27FC236}">
                <a16:creationId xmlns:a16="http://schemas.microsoft.com/office/drawing/2014/main" id="{8373DDA8-3A7F-487E-8ECD-26815BB37B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420938"/>
          <a:ext cx="4248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6" name="Формула" r:id="rId7" imgW="1916868" imgH="393529" progId="Equation.3">
                  <p:embed/>
                </p:oleObj>
              </mc:Choice>
              <mc:Fallback>
                <p:oleObj name="Формула" r:id="rId7" imgW="1916868" imgH="393529" progId="Equation.3">
                  <p:embed/>
                  <p:pic>
                    <p:nvPicPr>
                      <p:cNvPr id="12309" name="Object 39">
                        <a:extLst>
                          <a:ext uri="{FF2B5EF4-FFF2-40B4-BE49-F238E27FC236}">
                            <a16:creationId xmlns:a16="http://schemas.microsoft.com/office/drawing/2014/main" id="{8373DDA8-3A7F-487E-8ECD-26815BB37B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420938"/>
                        <a:ext cx="4248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0" name="Rectangle 42">
            <a:extLst>
              <a:ext uri="{FF2B5EF4-FFF2-40B4-BE49-F238E27FC236}">
                <a16:creationId xmlns:a16="http://schemas.microsoft.com/office/drawing/2014/main" id="{446D6983-8EBE-42FC-AB13-494023D66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01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11" name="Object 41">
            <a:extLst>
              <a:ext uri="{FF2B5EF4-FFF2-40B4-BE49-F238E27FC236}">
                <a16:creationId xmlns:a16="http://schemas.microsoft.com/office/drawing/2014/main" id="{9731DB21-386A-43D4-95D0-AC2EB480A9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2565400"/>
          <a:ext cx="349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7" name="Формула" r:id="rId9" imgW="164957" imgH="203024" progId="Equation.3">
                  <p:embed/>
                </p:oleObj>
              </mc:Choice>
              <mc:Fallback>
                <p:oleObj name="Формула" r:id="rId9" imgW="164957" imgH="203024" progId="Equation.3">
                  <p:embed/>
                  <p:pic>
                    <p:nvPicPr>
                      <p:cNvPr id="12311" name="Object 41">
                        <a:extLst>
                          <a:ext uri="{FF2B5EF4-FFF2-40B4-BE49-F238E27FC236}">
                            <a16:creationId xmlns:a16="http://schemas.microsoft.com/office/drawing/2014/main" id="{9731DB21-386A-43D4-95D0-AC2EB480A9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565400"/>
                        <a:ext cx="349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2" name="Rectangle 43">
            <a:extLst>
              <a:ext uri="{FF2B5EF4-FFF2-40B4-BE49-F238E27FC236}">
                <a16:creationId xmlns:a16="http://schemas.microsoft.com/office/drawing/2014/main" id="{F6E8E6F9-DA57-474E-B7BE-DE32E0D6C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495" y="2645600"/>
            <a:ext cx="43482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 dirty="0"/>
              <a:t>         </a:t>
            </a: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r>
              <a:rPr lang="ru-RU" altLang="ru-RU" dirty="0">
                <a:cs typeface="Times New Roman" panose="02020603050405020304" pitchFamily="18" charset="0"/>
              </a:rPr>
              <a:t>- коэффициент  сходимости,</a:t>
            </a:r>
            <a:endParaRPr lang="ru-RU" altLang="ru-RU" dirty="0"/>
          </a:p>
          <a:p>
            <a:r>
              <a:rPr lang="ru-RU" altLang="ru-RU" dirty="0"/>
              <a:t>     </a:t>
            </a:r>
            <a:r>
              <a:rPr lang="ru-RU" altLang="ru-RU" dirty="0">
                <a:cs typeface="Times New Roman" panose="02020603050405020304" pitchFamily="18" charset="0"/>
              </a:rPr>
              <a:t> – линейная сходимость, </a:t>
            </a:r>
            <a:endParaRPr lang="ru-RU" altLang="ru-RU" dirty="0"/>
          </a:p>
        </p:txBody>
      </p:sp>
      <p:sp>
        <p:nvSpPr>
          <p:cNvPr id="12313" name="Rectangle 44">
            <a:extLst>
              <a:ext uri="{FF2B5EF4-FFF2-40B4-BE49-F238E27FC236}">
                <a16:creationId xmlns:a16="http://schemas.microsoft.com/office/drawing/2014/main" id="{17C12AB4-A7AC-4A4C-84CF-E91D6838F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716338"/>
            <a:ext cx="717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(2.)   </a:t>
            </a:r>
          </a:p>
        </p:txBody>
      </p:sp>
      <p:sp>
        <p:nvSpPr>
          <p:cNvPr id="12314" name="Rectangle 46">
            <a:extLst>
              <a:ext uri="{FF2B5EF4-FFF2-40B4-BE49-F238E27FC236}">
                <a16:creationId xmlns:a16="http://schemas.microsoft.com/office/drawing/2014/main" id="{E7921C21-93C6-476F-A3C8-A281F01F7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41338" y="44370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15" name="Object 45">
            <a:extLst>
              <a:ext uri="{FF2B5EF4-FFF2-40B4-BE49-F238E27FC236}">
                <a16:creationId xmlns:a16="http://schemas.microsoft.com/office/drawing/2014/main" id="{590661A1-5F58-4E34-99DA-B7641E52E0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500438"/>
          <a:ext cx="41767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8" name="Формула" r:id="rId11" imgW="1777229" imgH="393529" progId="Equation.3">
                  <p:embed/>
                </p:oleObj>
              </mc:Choice>
              <mc:Fallback>
                <p:oleObj name="Формула" r:id="rId11" imgW="1777229" imgH="393529" progId="Equation.3">
                  <p:embed/>
                  <p:pic>
                    <p:nvPicPr>
                      <p:cNvPr id="12315" name="Object 45">
                        <a:extLst>
                          <a:ext uri="{FF2B5EF4-FFF2-40B4-BE49-F238E27FC236}">
                            <a16:creationId xmlns:a16="http://schemas.microsoft.com/office/drawing/2014/main" id="{590661A1-5F58-4E34-99DA-B7641E52E0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00438"/>
                        <a:ext cx="4176712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6" name="Rectangle 48">
            <a:extLst>
              <a:ext uri="{FF2B5EF4-FFF2-40B4-BE49-F238E27FC236}">
                <a16:creationId xmlns:a16="http://schemas.microsoft.com/office/drawing/2014/main" id="{440492F0-260C-4A34-969B-C3223F7D8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3835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17" name="Object 47">
            <a:extLst>
              <a:ext uri="{FF2B5EF4-FFF2-40B4-BE49-F238E27FC236}">
                <a16:creationId xmlns:a16="http://schemas.microsoft.com/office/drawing/2014/main" id="{31950E64-5EDF-4BC6-91CE-FB7AEB6D4D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3644900"/>
          <a:ext cx="8636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9" name="Формула" r:id="rId13" imgW="330057" imgH="203112" progId="Equation.3">
                  <p:embed/>
                </p:oleObj>
              </mc:Choice>
              <mc:Fallback>
                <p:oleObj name="Формула" r:id="rId13" imgW="330057" imgH="203112" progId="Equation.3">
                  <p:embed/>
                  <p:pic>
                    <p:nvPicPr>
                      <p:cNvPr id="12317" name="Object 47">
                        <a:extLst>
                          <a:ext uri="{FF2B5EF4-FFF2-40B4-BE49-F238E27FC236}">
                            <a16:creationId xmlns:a16="http://schemas.microsoft.com/office/drawing/2014/main" id="{31950E64-5EDF-4BC6-91CE-FB7AEB6D4D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644900"/>
                        <a:ext cx="8636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8" name="Rectangle 49">
            <a:extLst>
              <a:ext uri="{FF2B5EF4-FFF2-40B4-BE49-F238E27FC236}">
                <a16:creationId xmlns:a16="http://schemas.microsoft.com/office/drawing/2014/main" id="{83F12C28-EA2F-4CAA-81DD-AD29C7448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643313"/>
            <a:ext cx="26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,</a:t>
            </a:r>
          </a:p>
        </p:txBody>
      </p:sp>
      <p:sp>
        <p:nvSpPr>
          <p:cNvPr id="12319" name="Rectangle 50">
            <a:extLst>
              <a:ext uri="{FF2B5EF4-FFF2-40B4-BE49-F238E27FC236}">
                <a16:creationId xmlns:a16="http://schemas.microsoft.com/office/drawing/2014/main" id="{4B050925-DC6B-49C3-8E72-AE0B949C6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492375"/>
            <a:ext cx="26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,</a:t>
            </a:r>
          </a:p>
        </p:txBody>
      </p:sp>
      <p:sp>
        <p:nvSpPr>
          <p:cNvPr id="12320" name="Rectangle 51">
            <a:extLst>
              <a:ext uri="{FF2B5EF4-FFF2-40B4-BE49-F238E27FC236}">
                <a16:creationId xmlns:a16="http://schemas.microsoft.com/office/drawing/2014/main" id="{4799511A-30FF-464B-96E8-66EDA12D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573463"/>
            <a:ext cx="3276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200" i="1">
                <a:sym typeface="Symbol" panose="05050102010706020507" pitchFamily="18" charset="2"/>
              </a:rPr>
              <a:t></a:t>
            </a:r>
            <a:r>
              <a:rPr lang="ru-RU" altLang="ru-RU">
                <a:sym typeface="Symbol" panose="05050102010706020507" pitchFamily="18" charset="2"/>
              </a:rPr>
              <a:t> </a:t>
            </a:r>
            <a:r>
              <a:rPr lang="ru-RU" altLang="ru-RU"/>
              <a:t>- порядок сходимости,</a:t>
            </a:r>
          </a:p>
        </p:txBody>
      </p:sp>
      <p:sp>
        <p:nvSpPr>
          <p:cNvPr id="12321" name="Rectangle 52">
            <a:extLst>
              <a:ext uri="{FF2B5EF4-FFF2-40B4-BE49-F238E27FC236}">
                <a16:creationId xmlns:a16="http://schemas.microsoft.com/office/drawing/2014/main" id="{974BFDCF-BBB7-4F98-A51A-5813AEB5D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7163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,</a:t>
            </a:r>
          </a:p>
        </p:txBody>
      </p:sp>
      <p:sp>
        <p:nvSpPr>
          <p:cNvPr id="12322" name="Rectangle 53">
            <a:extLst>
              <a:ext uri="{FF2B5EF4-FFF2-40B4-BE49-F238E27FC236}">
                <a16:creationId xmlns:a16="http://schemas.microsoft.com/office/drawing/2014/main" id="{B707A0E0-5449-45A2-A6BC-A8D9A0D2D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4221163"/>
            <a:ext cx="3441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-"/>
            </a:pPr>
            <a:r>
              <a:rPr lang="ru-RU" altLang="ru-RU"/>
              <a:t>   суперлинейная сходимость.</a:t>
            </a:r>
          </a:p>
        </p:txBody>
      </p:sp>
      <p:sp>
        <p:nvSpPr>
          <p:cNvPr id="12323" name="Rectangle 54">
            <a:extLst>
              <a:ext uri="{FF2B5EF4-FFF2-40B4-BE49-F238E27FC236}">
                <a16:creationId xmlns:a16="http://schemas.microsoft.com/office/drawing/2014/main" id="{F5F10B65-16A2-4FE0-9A90-B9BDB364B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938713"/>
            <a:ext cx="48244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   </a:t>
            </a:r>
            <a:r>
              <a:rPr lang="ru-RU" altLang="ru-RU" sz="2800" i="1">
                <a:sym typeface="Symbol" panose="05050102010706020507" pitchFamily="18" charset="2"/>
              </a:rPr>
              <a:t></a:t>
            </a:r>
            <a:r>
              <a:rPr lang="ru-RU" altLang="ru-RU"/>
              <a:t> = 2 – квадратичная сходимость.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E2284-2D18-424C-AA97-3AD96F113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2708920"/>
            <a:ext cx="8229600" cy="114300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Элементы линейной алгебры</a:t>
            </a:r>
          </a:p>
        </p:txBody>
      </p:sp>
    </p:spTree>
    <p:extLst>
      <p:ext uri="{BB962C8B-B14F-4D97-AF65-F5344CB8AC3E}">
        <p14:creationId xmlns:p14="http://schemas.microsoft.com/office/powerpoint/2010/main" val="1398823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47D3E-499C-4CAE-89FD-2D2A3A6B3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независимость, линейная оболочка и базисы.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31CDFD-BB53-4D06-A8C6-1C30A7077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Векторы 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v₁, v₂, ..., vₖ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называются 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линейно независимыми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если уравнение: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</a:b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a₁v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₁ +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a₂v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₂ + ... +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aₖv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ₖ = 0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(где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a₁, a₂, ..., aₖ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— скаляры)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имеет 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только одно (тривиальное) решение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 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a₁ = a₂ = ... = aₖ = 0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Если существуют ненулевые коэффициенты, при которых это равенство выполняется, векторы 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линейно зависимы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021908"/>
      </p:ext>
    </p:extLst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823</Words>
  <Application>Microsoft Office PowerPoint</Application>
  <PresentationFormat>Экран (4:3)</PresentationFormat>
  <Paragraphs>145</Paragraphs>
  <Slides>14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Menlo</vt:lpstr>
      <vt:lpstr>quote-cjk-patch</vt:lpstr>
      <vt:lpstr>Times New Roman</vt:lpstr>
      <vt:lpstr>Оформление по умолчанию</vt:lpstr>
      <vt:lpstr>Формула</vt:lpstr>
      <vt:lpstr>ЛЕКЦИЯ № 3</vt:lpstr>
      <vt:lpstr>МАТЕМАТИЧЕСКИЕ ОСНОВЫ ИСКУССТВЕННОГО ИНТЕЛЛЕКТА Каганов Ю.Т. к.т.н., доцент каф. ИУ-5 ИУ-8</vt:lpstr>
      <vt:lpstr>3. Задачи выпуклого программирования</vt:lpstr>
      <vt:lpstr>3. Задачи выпуклого программирования.</vt:lpstr>
      <vt:lpstr>3.2. Функция Куна-Таккера (функция Лагранжа) для задач выпуклого программирования (1951г.)</vt:lpstr>
      <vt:lpstr>3.3. Теорема Каруша-Куна-Таккера.</vt:lpstr>
      <vt:lpstr>3.4. Теория двойственности</vt:lpstr>
      <vt:lpstr>3.4. Теория двойственности.</vt:lpstr>
      <vt:lpstr>4. Алгоритм и сходимость алгоритмов</vt:lpstr>
      <vt:lpstr>4. Алгоритм и сходимость алгоритмов</vt:lpstr>
      <vt:lpstr>4. Алгоритм и сходимость алгоритмов</vt:lpstr>
      <vt:lpstr>4. Алгоритм и сходимость алгоритмов</vt:lpstr>
      <vt:lpstr>Элементы линейной алгебры</vt:lpstr>
      <vt:lpstr>Линейная независимость, линейная оболочка и базисы.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3</dc:title>
  <dc:creator>Yura</dc:creator>
  <cp:lastModifiedBy>Yuriy Kaganov</cp:lastModifiedBy>
  <cp:revision>31</cp:revision>
  <dcterms:created xsi:type="dcterms:W3CDTF">2015-10-05T05:25:32Z</dcterms:created>
  <dcterms:modified xsi:type="dcterms:W3CDTF">2025-09-16T19:18:22Z</dcterms:modified>
</cp:coreProperties>
</file>