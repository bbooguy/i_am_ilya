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77" r:id="rId7"/>
    <p:sldId id="278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80" r:id="rId19"/>
    <p:sldId id="281" r:id="rId20"/>
    <p:sldId id="276" r:id="rId21"/>
    <p:sldId id="283" r:id="rId22"/>
    <p:sldId id="285" r:id="rId23"/>
    <p:sldId id="292" r:id="rId24"/>
    <p:sldId id="286" r:id="rId25"/>
    <p:sldId id="287" r:id="rId26"/>
    <p:sldId id="288" r:id="rId27"/>
    <p:sldId id="289" r:id="rId28"/>
    <p:sldId id="290" r:id="rId29"/>
    <p:sldId id="291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62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1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94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83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Relationship Id="rId9" Type="http://schemas.openxmlformats.org/officeDocument/2006/relationships/image" Target="../media/image11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83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22C84-2233-4FB1-8D3E-94D40E8A0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E12B2B-3C69-4FE4-B71D-B88AB6065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B8500C-284B-4643-97F0-ABBC7A56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4B518-08E8-49E2-8582-AE86A667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134A46-FC4E-44D0-B7E8-DA404432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05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F8CE6-5F9D-44BB-B6CD-75A0F33E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D5030B-F0CA-4E0A-8C3B-A4D591F31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0FF3DB-7D09-45E3-8620-6A10E63C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D4B8BD-2ABB-4CDB-B108-4CF416F1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D849E2-1A31-4663-AB20-2D9BD27A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82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C70E2-1669-4520-A5A9-07481CB4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4C7D7E-35C9-4D78-B77B-0278B961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4272B-78A1-47A3-9CEA-8741FE47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D3F948-A13C-41C9-B0BC-CB31E3C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5362FD-E032-4DB3-B447-FED25786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18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0E590-2027-45BF-9CA2-EB0305E4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4B7BA3-4BF0-4081-A48B-D5C1C4E72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9493FC-9667-47D7-9033-8F137F181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97E9DB-8CD7-4786-820A-11FEFD51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B88606-2723-4692-BAA9-06F103D9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02E42D-EC5B-4DD8-9473-28E2EB78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21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6D0D3-4E09-41E8-80BE-F5B342FE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782AAB-6B2A-41E6-ADB4-1D7D5BD9B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F78B37-BB98-4940-8189-037CE8A19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161787-22C3-45D9-9AF8-4E0813994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9E1AF66-C6CD-47C2-9A3B-9499E1B02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20521D-33CC-4CD5-9B75-79C281DA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4CE615E-8256-47CA-B8C9-C3F25C9F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1B7B68-158A-4A8C-B2AF-28D27552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89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9143B-DB62-4528-8FAB-72ABA29A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170E65-F588-4F51-AD58-50C73666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B19915-8EB2-4C76-9BF9-ED9801B8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7A1280-EEC1-4A17-BCB8-24C37FCC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01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BCABCE-0D7D-4C95-9390-863CAB01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F35EB12-6450-4CDC-8DE6-0C11626A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349A89-1B55-461B-B7C4-CCABBBF6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10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BFAB2-4672-44A4-BD55-332AC78B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F83C4-FAC6-4D03-9A3D-922AD1D21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8EF474-24B3-4C36-AE6F-BFE4AFC3E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512472-F69E-4DCE-830B-4C3FD4EC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8B7B5F-66EA-4F31-AED7-44D4AD61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432AE8-F18B-4659-B0A2-7628C443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855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940A2-7E9D-4425-9D41-D16BC2177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917C3D-1B73-4246-8824-C00544CB6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7F3C9F-FBD5-433E-AC7D-83A207E57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8BC3C0-C503-4A14-AE8C-0A079AAC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95F019-6A5A-460F-9EBE-77AB5D01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3FB62A-6059-4BAE-B4EC-86862320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05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1BCE2-07C4-4C02-8232-9FCA1860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B9605D-0928-407A-97CD-7F4A02F74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BA897A-0613-4768-94E3-A6BF844C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4CE2E-D984-4B6D-A9C8-DF179715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6DFA8-87F6-4D33-AB07-884BE6D9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89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B86F96-193B-45FD-A1F1-7F19E1305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A18F7C-7677-4937-94EC-3F41686A1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A36FA7-A4A8-4749-8136-2B138F69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EAA452-749A-42D4-81B3-4B7062DC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ACA1C-1B79-4370-BB7E-E1D2596A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254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480DD7-359B-422B-8886-5DDBDA32B2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F2DA97-9282-4EBB-A4BC-789BC44EF9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3D746-3A75-490D-9681-CE24AC0025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1CF6AD-AB6A-4F55-B983-D53717207B0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1492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350477-8AED-46E3-B52D-927B4FD37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91F6CB-E7EF-4FD6-88FB-7CCFB2AD4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A0C32C-3910-4C1C-87A4-5E6190096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AB2ED-AC81-4393-ABE4-C78ADC96987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16570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BEAB1-61D3-43AF-BC4B-E93FE00D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8061FE-4F19-4A8D-9869-460B746E3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37A55B-5A89-4507-B237-AE407EEC1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6C009-55D8-4AEC-8884-EE5009DFEA4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DA70C8-5796-44E4-A26A-6D645B84B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98D0A9-2BE6-43F3-9BA8-3DA6D4DC4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51067-798D-423F-9B75-6610E597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2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21" Type="http://schemas.openxmlformats.org/officeDocument/2006/relationships/image" Target="../media/image36.png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42.wmf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4.bin"/><Relationship Id="rId14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5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11" Type="http://schemas.openxmlformats.org/officeDocument/2006/relationships/image" Target="../media/image46.png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45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oleObject" Target="../embeddings/oleObject64.bin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55.wmf"/><Relationship Id="rId9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image" Target="../media/image66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image" Target="../media/image67.wmf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71.bin"/><Relationship Id="rId14" Type="http://schemas.openxmlformats.org/officeDocument/2006/relationships/oleObject" Target="../embeddings/oleObject7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7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7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7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8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oleObject" Target="../embeddings/oleObject86.bin"/><Relationship Id="rId7" Type="http://schemas.openxmlformats.org/officeDocument/2006/relationships/image" Target="../media/image8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86.png"/><Relationship Id="rId4" Type="http://schemas.openxmlformats.org/officeDocument/2006/relationships/image" Target="../media/image82.wmf"/><Relationship Id="rId9" Type="http://schemas.openxmlformats.org/officeDocument/2006/relationships/image" Target="../media/image8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2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0.png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9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5.wmf"/><Relationship Id="rId11" Type="http://schemas.openxmlformats.org/officeDocument/2006/relationships/image" Target="../media/image98.png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9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0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18.bin"/><Relationship Id="rId3" Type="http://schemas.openxmlformats.org/officeDocument/2006/relationships/oleObject" Target="../embeddings/oleObject110.bin"/><Relationship Id="rId21" Type="http://schemas.openxmlformats.org/officeDocument/2006/relationships/image" Target="../media/image118.wmf"/><Relationship Id="rId7" Type="http://schemas.openxmlformats.org/officeDocument/2006/relationships/oleObject" Target="../embeddings/oleObject112.bin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7.bin"/><Relationship Id="rId20" Type="http://schemas.openxmlformats.org/officeDocument/2006/relationships/oleObject" Target="../embeddings/oleObject11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1.wmf"/><Relationship Id="rId11" Type="http://schemas.openxmlformats.org/officeDocument/2006/relationships/image" Target="../media/image113.wmf"/><Relationship Id="rId5" Type="http://schemas.openxmlformats.org/officeDocument/2006/relationships/oleObject" Target="../embeddings/oleObject111.bin"/><Relationship Id="rId15" Type="http://schemas.openxmlformats.org/officeDocument/2006/relationships/image" Target="../media/image115.wmf"/><Relationship Id="rId10" Type="http://schemas.openxmlformats.org/officeDocument/2006/relationships/oleObject" Target="../embeddings/oleObject114.bin"/><Relationship Id="rId19" Type="http://schemas.openxmlformats.org/officeDocument/2006/relationships/image" Target="../media/image117.wmf"/><Relationship Id="rId4" Type="http://schemas.openxmlformats.org/officeDocument/2006/relationships/image" Target="../media/image83.wmf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6.bin"/><Relationship Id="rId22" Type="http://schemas.openxmlformats.org/officeDocument/2006/relationships/image" Target="../media/image1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23.wmf"/><Relationship Id="rId3" Type="http://schemas.openxmlformats.org/officeDocument/2006/relationships/oleObject" Target="../embeddings/oleObject120.bin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2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22.wmf"/><Relationship Id="rId5" Type="http://schemas.openxmlformats.org/officeDocument/2006/relationships/image" Target="../media/image124.png"/><Relationship Id="rId15" Type="http://schemas.openxmlformats.org/officeDocument/2006/relationships/image" Target="../media/image126.png"/><Relationship Id="rId10" Type="http://schemas.openxmlformats.org/officeDocument/2006/relationships/oleObject" Target="../embeddings/oleObject123.bin"/><Relationship Id="rId4" Type="http://schemas.openxmlformats.org/officeDocument/2006/relationships/image" Target="../media/image83.wmf"/><Relationship Id="rId9" Type="http://schemas.openxmlformats.org/officeDocument/2006/relationships/image" Target="../media/image121.wmf"/><Relationship Id="rId1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911DFA-3325-4C09-85B6-C8F39E8DC9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41550" y="765176"/>
            <a:ext cx="7772400" cy="1470025"/>
          </a:xfrm>
        </p:spPr>
        <p:txBody>
          <a:bodyPr anchor="ctr"/>
          <a:lstStyle/>
          <a:p>
            <a:pPr eaLnBrk="1" hangingPunct="1"/>
            <a:r>
              <a:rPr lang="ru-RU" altLang="ru-RU" sz="4400" b="1" dirty="0">
                <a:latin typeface="+mn-lt"/>
              </a:rPr>
              <a:t>ЛЕКЦИЯ № 2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721A7D7-4BA0-45EA-97BC-8AD42D07A3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71813" y="2852738"/>
            <a:ext cx="6400800" cy="1752600"/>
          </a:xfrm>
        </p:spPr>
        <p:txBody>
          <a:bodyPr/>
          <a:lstStyle/>
          <a:p>
            <a:pPr eaLnBrk="1" hangingPunct="1"/>
            <a:r>
              <a:rPr lang="ru-RU" altLang="ru-RU" sz="4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оптимизации</a:t>
            </a:r>
            <a:endParaRPr lang="ru-RU" altLang="ru-RU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747AAD5-6B9F-458D-BDA6-50F4475E4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ru-RU" sz="4000" b="1" i="1" u="sng" dirty="0"/>
              <a:t>1</a:t>
            </a:r>
            <a:r>
              <a:rPr lang="ru-RU" altLang="ru-RU" sz="4000" b="1" i="1" u="sng" dirty="0"/>
              <a:t>. 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Краткий экскурс в функциональный анализ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A3B82DD-DC6E-49C4-ABF3-68B0E6DFF74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628776"/>
            <a:ext cx="4038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000" b="1"/>
              <a:t>1</a:t>
            </a:r>
            <a:r>
              <a:rPr lang="ru-RU" altLang="ru-RU" sz="2000" b="1"/>
              <a:t>.1.</a:t>
            </a:r>
            <a:r>
              <a:rPr lang="ru-RU" altLang="ru-RU" b="1" u="sng"/>
              <a:t> </a:t>
            </a:r>
            <a:r>
              <a:rPr lang="ru-RU" altLang="ru-RU" sz="2000" b="1" u="sng"/>
              <a:t>Векторное пространство.</a:t>
            </a:r>
            <a:r>
              <a:rPr lang="ru-RU" altLang="ru-RU" sz="2000"/>
              <a:t> </a:t>
            </a:r>
          </a:p>
        </p:txBody>
      </p:sp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E5348310-3D45-4707-823F-523A0FFFAB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5089" y="2265364"/>
          <a:ext cx="3460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Формула" r:id="rId3" imgW="164814" imgH="177492" progId="Equation.3">
                  <p:embed/>
                </p:oleObj>
              </mc:Choice>
              <mc:Fallback>
                <p:oleObj name="Формула" r:id="rId3" imgW="164814" imgH="177492" progId="Equation.3">
                  <p:embed/>
                  <p:pic>
                    <p:nvPicPr>
                      <p:cNvPr id="3076" name="Object 4">
                        <a:extLst>
                          <a:ext uri="{FF2B5EF4-FFF2-40B4-BE49-F238E27FC236}">
                            <a16:creationId xmlns:a16="http://schemas.microsoft.com/office/drawing/2014/main" id="{E5348310-3D45-4707-823F-523A0FFFAB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089" y="2265364"/>
                        <a:ext cx="3460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6">
            <a:extLst>
              <a:ext uri="{FF2B5EF4-FFF2-40B4-BE49-F238E27FC236}">
                <a16:creationId xmlns:a16="http://schemas.microsoft.com/office/drawing/2014/main" id="{21872CC2-361F-4395-9090-8732D7B2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276475"/>
            <a:ext cx="8497888" cy="215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/>
              <a:t>Векторное пространство над полем</a:t>
            </a:r>
            <a:endParaRPr lang="ru-RU" altLang="ru-RU" sz="1800" dirty="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представляет собой множество </a:t>
            </a:r>
            <a:r>
              <a:rPr lang="en-US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(элементы этого множества называются векторами), для которого определены две операции: 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умножение на скаляры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сложение векторов.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Они должны обладать следующими свойствами: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/>
              <a:t>1.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Каждой паре векторов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ставится в соответствие вектор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При этом, если также 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,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1800" dirty="0"/>
          </a:p>
        </p:txBody>
      </p:sp>
      <p:graphicFrame>
        <p:nvGraphicFramePr>
          <p:cNvPr id="3078" name="Object 7">
            <a:extLst>
              <a:ext uri="{FF2B5EF4-FFF2-40B4-BE49-F238E27FC236}">
                <a16:creationId xmlns:a16="http://schemas.microsoft.com/office/drawing/2014/main" id="{8D79BA93-5962-4CC5-BD1B-4FFCB964B7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3541713"/>
          <a:ext cx="509588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Формула" r:id="rId5" imgW="291847" imgH="164957" progId="Equation.3">
                  <p:embed/>
                </p:oleObj>
              </mc:Choice>
              <mc:Fallback>
                <p:oleObj name="Формула" r:id="rId5" imgW="291847" imgH="164957" progId="Equation.3">
                  <p:embed/>
                  <p:pic>
                    <p:nvPicPr>
                      <p:cNvPr id="3078" name="Object 7">
                        <a:extLst>
                          <a:ext uri="{FF2B5EF4-FFF2-40B4-BE49-F238E27FC236}">
                            <a16:creationId xmlns:a16="http://schemas.microsoft.com/office/drawing/2014/main" id="{8D79BA93-5962-4CC5-BD1B-4FFCB964B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3541713"/>
                        <a:ext cx="509588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14">
            <a:extLst>
              <a:ext uri="{FF2B5EF4-FFF2-40B4-BE49-F238E27FC236}">
                <a16:creationId xmlns:a16="http://schemas.microsoft.com/office/drawing/2014/main" id="{11C4267A-5797-4E60-BF7B-2D5B18581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859" y="4363134"/>
            <a:ext cx="52265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свойство коммутативности,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свойство ассоциативности</a:t>
            </a:r>
            <a:r>
              <a:rPr lang="ru-RU" altLang="ru-RU" sz="1800" b="1" dirty="0"/>
              <a:t>.</a:t>
            </a:r>
          </a:p>
        </p:txBody>
      </p:sp>
      <p:graphicFrame>
        <p:nvGraphicFramePr>
          <p:cNvPr id="3080" name="Object 17">
            <a:extLst>
              <a:ext uri="{FF2B5EF4-FFF2-40B4-BE49-F238E27FC236}">
                <a16:creationId xmlns:a16="http://schemas.microsoft.com/office/drawing/2014/main" id="{F28094DE-7BD8-40B9-BC16-A77A710EC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6" y="5157789"/>
          <a:ext cx="619125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Формула" r:id="rId7" imgW="405872" imgH="177569" progId="Equation.3">
                  <p:embed/>
                </p:oleObj>
              </mc:Choice>
              <mc:Fallback>
                <p:oleObj name="Формула" r:id="rId7" imgW="405872" imgH="177569" progId="Equation.3">
                  <p:embed/>
                  <p:pic>
                    <p:nvPicPr>
                      <p:cNvPr id="3080" name="Object 17">
                        <a:extLst>
                          <a:ext uri="{FF2B5EF4-FFF2-40B4-BE49-F238E27FC236}">
                            <a16:creationId xmlns:a16="http://schemas.microsoft.com/office/drawing/2014/main" id="{F28094DE-7BD8-40B9-BC16-A77A710EC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6" y="5157789"/>
                        <a:ext cx="619125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16">
            <a:extLst>
              <a:ext uri="{FF2B5EF4-FFF2-40B4-BE49-F238E27FC236}">
                <a16:creationId xmlns:a16="http://schemas.microsoft.com/office/drawing/2014/main" id="{B38B2525-1C08-462F-A8EB-79A11ABCB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5157788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Формула" r:id="rId9" imgW="405872" imgH="177569" progId="Equation.3">
                  <p:embed/>
                </p:oleObj>
              </mc:Choice>
              <mc:Fallback>
                <p:oleObj name="Формула" r:id="rId9" imgW="405872" imgH="177569" progId="Equation.3">
                  <p:embed/>
                  <p:pic>
                    <p:nvPicPr>
                      <p:cNvPr id="3081" name="Object 16">
                        <a:extLst>
                          <a:ext uri="{FF2B5EF4-FFF2-40B4-BE49-F238E27FC236}">
                            <a16:creationId xmlns:a16="http://schemas.microsoft.com/office/drawing/2014/main" id="{B38B2525-1C08-462F-A8EB-79A11ABCB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5157788"/>
                        <a:ext cx="647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19">
            <a:extLst>
              <a:ext uri="{FF2B5EF4-FFF2-40B4-BE49-F238E27FC236}">
                <a16:creationId xmlns:a16="http://schemas.microsoft.com/office/drawing/2014/main" id="{23D41E9F-E85C-4862-94B5-D962CC7B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5097464"/>
            <a:ext cx="19446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/>
              <a:t>2.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Каждой паре </a:t>
            </a:r>
          </a:p>
        </p:txBody>
      </p:sp>
      <p:sp>
        <p:nvSpPr>
          <p:cNvPr id="3083" name="Rectangle 20">
            <a:extLst>
              <a:ext uri="{FF2B5EF4-FFF2-40B4-BE49-F238E27FC236}">
                <a16:creationId xmlns:a16="http://schemas.microsoft.com/office/drawing/2014/main" id="{43803F5D-37F7-4826-86E1-992201868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084764"/>
            <a:ext cx="712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,</a:t>
            </a:r>
            <a:r>
              <a:rPr lang="ru-RU" altLang="ru-RU" sz="2000"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</a:p>
        </p:txBody>
      </p:sp>
      <p:sp>
        <p:nvSpPr>
          <p:cNvPr id="3084" name="Rectangle 21">
            <a:extLst>
              <a:ext uri="{FF2B5EF4-FFF2-40B4-BE49-F238E27FC236}">
                <a16:creationId xmlns:a16="http://schemas.microsoft.com/office/drawing/2014/main" id="{09416023-6A2B-47AA-B4E9-7E869C561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4" y="5084764"/>
            <a:ext cx="390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</a:p>
        </p:txBody>
      </p:sp>
      <p:sp>
        <p:nvSpPr>
          <p:cNvPr id="3085" name="Rectangle 22">
            <a:extLst>
              <a:ext uri="{FF2B5EF4-FFF2-40B4-BE49-F238E27FC236}">
                <a16:creationId xmlns:a16="http://schemas.microsoft.com/office/drawing/2014/main" id="{3253C561-372C-44C7-98E7-F602F10EF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5" y="5097464"/>
            <a:ext cx="2705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сопоставляется вектор </a:t>
            </a:r>
          </a:p>
        </p:txBody>
      </p:sp>
      <p:sp>
        <p:nvSpPr>
          <p:cNvPr id="3086" name="Rectangle 24">
            <a:extLst>
              <a:ext uri="{FF2B5EF4-FFF2-40B4-BE49-F238E27FC236}">
                <a16:creationId xmlns:a16="http://schemas.microsoft.com/office/drawing/2014/main" id="{2C812769-C67A-4BB7-BC14-FB8FB9973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87" name="Rectangle 26">
            <a:extLst>
              <a:ext uri="{FF2B5EF4-FFF2-40B4-BE49-F238E27FC236}">
                <a16:creationId xmlns:a16="http://schemas.microsoft.com/office/drawing/2014/main" id="{7A495040-D8BB-4652-9589-2618DD667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88" name="Object 25">
            <a:extLst>
              <a:ext uri="{FF2B5EF4-FFF2-40B4-BE49-F238E27FC236}">
                <a16:creationId xmlns:a16="http://schemas.microsoft.com/office/drawing/2014/main" id="{8D193E9E-D058-47F6-93BF-42F450D446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51988" y="5153025"/>
          <a:ext cx="11160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Формула" r:id="rId11" imgW="494870" imgH="177646" progId="Equation.3">
                  <p:embed/>
                </p:oleObj>
              </mc:Choice>
              <mc:Fallback>
                <p:oleObj name="Формула" r:id="rId11" imgW="494870" imgH="177646" progId="Equation.3">
                  <p:embed/>
                  <p:pic>
                    <p:nvPicPr>
                      <p:cNvPr id="3088" name="Object 25">
                        <a:extLst>
                          <a:ext uri="{FF2B5EF4-FFF2-40B4-BE49-F238E27FC236}">
                            <a16:creationId xmlns:a16="http://schemas.microsoft.com/office/drawing/2014/main" id="{8D193E9E-D058-47F6-93BF-42F450D44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1988" y="5153025"/>
                        <a:ext cx="111601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9" name="Object 27">
            <a:extLst>
              <a:ext uri="{FF2B5EF4-FFF2-40B4-BE49-F238E27FC236}">
                <a16:creationId xmlns:a16="http://schemas.microsoft.com/office/drawing/2014/main" id="{6E42C975-A3C4-4898-BF7C-29FFA1BC5E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857626"/>
          <a:ext cx="4333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Формула" r:id="rId13" imgW="291847" imgH="164957" progId="Equation.3">
                  <p:embed/>
                </p:oleObj>
              </mc:Choice>
              <mc:Fallback>
                <p:oleObj name="Формула" r:id="rId13" imgW="291847" imgH="164957" progId="Equation.3">
                  <p:embed/>
                  <p:pic>
                    <p:nvPicPr>
                      <p:cNvPr id="3089" name="Object 27">
                        <a:extLst>
                          <a:ext uri="{FF2B5EF4-FFF2-40B4-BE49-F238E27FC236}">
                            <a16:creationId xmlns:a16="http://schemas.microsoft.com/office/drawing/2014/main" id="{6E42C975-A3C4-4898-BF7C-29FFA1BC5E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857626"/>
                        <a:ext cx="43338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0" name="Object 28">
            <a:extLst>
              <a:ext uri="{FF2B5EF4-FFF2-40B4-BE49-F238E27FC236}">
                <a16:creationId xmlns:a16="http://schemas.microsoft.com/office/drawing/2014/main" id="{27363359-FE77-4699-9C4B-DC092055232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008439" y="5157789"/>
          <a:ext cx="7207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Формула" r:id="rId14" imgW="393529" imgH="203112" progId="Equation.3">
                  <p:embed/>
                </p:oleObj>
              </mc:Choice>
              <mc:Fallback>
                <p:oleObj name="Формула" r:id="rId14" imgW="393529" imgH="203112" progId="Equation.3">
                  <p:embed/>
                  <p:pic>
                    <p:nvPicPr>
                      <p:cNvPr id="3090" name="Object 28">
                        <a:extLst>
                          <a:ext uri="{FF2B5EF4-FFF2-40B4-BE49-F238E27FC236}">
                            <a16:creationId xmlns:a16="http://schemas.microsoft.com/office/drawing/2014/main" id="{27363359-FE77-4699-9C4B-DC09205523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5157789"/>
                        <a:ext cx="7207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DC21090-FECC-4128-A1AA-912867339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4000" b="1" i="1" u="sng" dirty="0"/>
              <a:t>1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Краткий экскурс в функциональный анализ.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F6D52D0-C837-447E-8AA4-B989C76A96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557338"/>
            <a:ext cx="82804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dirty="0"/>
              <a:t>1</a:t>
            </a:r>
            <a:r>
              <a:rPr lang="ru-RU" altLang="ru-RU" sz="2400" b="1" dirty="0"/>
              <a:t>.2.</a:t>
            </a:r>
            <a:r>
              <a:rPr lang="ru-RU" altLang="ru-RU" sz="2400" b="1" u="sng" dirty="0"/>
              <a:t> Линейное пространство      (</a:t>
            </a:r>
            <a:r>
              <a:rPr lang="en-US" altLang="ru-RU" sz="2400" b="1" u="sng" dirty="0"/>
              <a:t>n</a:t>
            </a:r>
            <a:r>
              <a:rPr lang="ru-RU" altLang="ru-RU" sz="2400" b="1" u="sng" dirty="0"/>
              <a:t> – размерность пространства)</a:t>
            </a:r>
            <a:r>
              <a:rPr lang="ru-RU" altLang="ru-RU" sz="2400" dirty="0"/>
              <a:t> </a:t>
            </a:r>
          </a:p>
        </p:txBody>
      </p:sp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69A4B232-F3A1-44B5-9C49-ABEE2D02661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089900" y="2597150"/>
          <a:ext cx="203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Формула" r:id="rId3" imgW="203112" imgH="190417" progId="Equation.3">
                  <p:embed/>
                </p:oleObj>
              </mc:Choice>
              <mc:Fallback>
                <p:oleObj name="Формула" r:id="rId3" imgW="203112" imgH="190417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69A4B232-F3A1-44B5-9C49-ABEE2D0266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9900" y="2597150"/>
                        <a:ext cx="2032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Rectangle 6">
            <a:extLst>
              <a:ext uri="{FF2B5EF4-FFF2-40B4-BE49-F238E27FC236}">
                <a16:creationId xmlns:a16="http://schemas.microsoft.com/office/drawing/2014/main" id="{1A7D5D93-3E9E-4D40-B0E0-C2F35D8DE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2419350"/>
            <a:ext cx="73787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Элементами линейного пространства (линеала) являются объекты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02" name="Rectangle 7">
            <a:extLst>
              <a:ext uri="{FF2B5EF4-FFF2-40B4-BE49-F238E27FC236}">
                <a16:creationId xmlns:a16="http://schemas.microsoft.com/office/drawing/2014/main" id="{C448FC0B-0C3A-411D-A144-FEBAA271E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851" y="2779991"/>
            <a:ext cx="38958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линейного пространства:</a:t>
            </a:r>
          </a:p>
        </p:txBody>
      </p:sp>
      <p:sp>
        <p:nvSpPr>
          <p:cNvPr id="4103" name="Rectangle 8">
            <a:extLst>
              <a:ext uri="{FF2B5EF4-FFF2-40B4-BE49-F238E27FC236}">
                <a16:creationId xmlns:a16="http://schemas.microsoft.com/office/drawing/2014/main" id="{72FF8F59-EFCA-45E5-AA5A-481A84ABA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4" y="3067050"/>
            <a:ext cx="27511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,тогда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 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4104" name="Object 11">
            <a:extLst>
              <a:ext uri="{FF2B5EF4-FFF2-40B4-BE49-F238E27FC236}">
                <a16:creationId xmlns:a16="http://schemas.microsoft.com/office/drawing/2014/main" id="{F0F23752-A8A5-43A8-8AB8-91CE373F4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977007"/>
              </p:ext>
            </p:extLst>
          </p:nvPr>
        </p:nvGraphicFramePr>
        <p:xfrm>
          <a:off x="5702301" y="1368424"/>
          <a:ext cx="6413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Формула" r:id="rId5" imgW="203112" imgH="190417" progId="Equation.3">
                  <p:embed/>
                </p:oleObj>
              </mc:Choice>
              <mc:Fallback>
                <p:oleObj name="Формула" r:id="rId5" imgW="203112" imgH="190417" progId="Equation.3">
                  <p:embed/>
                  <p:pic>
                    <p:nvPicPr>
                      <p:cNvPr id="4104" name="Object 11">
                        <a:extLst>
                          <a:ext uri="{FF2B5EF4-FFF2-40B4-BE49-F238E27FC236}">
                            <a16:creationId xmlns:a16="http://schemas.microsoft.com/office/drawing/2014/main" id="{F0F23752-A8A5-43A8-8AB8-91CE373F4E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1" y="1368424"/>
                        <a:ext cx="6413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12">
            <a:extLst>
              <a:ext uri="{FF2B5EF4-FFF2-40B4-BE49-F238E27FC236}">
                <a16:creationId xmlns:a16="http://schemas.microsoft.com/office/drawing/2014/main" id="{F82CCB6E-F452-4EAB-81C1-889750C50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3068639"/>
          <a:ext cx="360363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Формула" r:id="rId6" imgW="203112" imgH="190417" progId="Equation.3">
                  <p:embed/>
                </p:oleObj>
              </mc:Choice>
              <mc:Fallback>
                <p:oleObj name="Формула" r:id="rId6" imgW="203112" imgH="190417" progId="Equation.3">
                  <p:embed/>
                  <p:pic>
                    <p:nvPicPr>
                      <p:cNvPr id="4105" name="Object 12">
                        <a:extLst>
                          <a:ext uri="{FF2B5EF4-FFF2-40B4-BE49-F238E27FC236}">
                            <a16:creationId xmlns:a16="http://schemas.microsoft.com/office/drawing/2014/main" id="{F82CCB6E-F452-4EAB-81C1-889750C50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3068639"/>
                        <a:ext cx="360363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3">
            <a:extLst>
              <a:ext uri="{FF2B5EF4-FFF2-40B4-BE49-F238E27FC236}">
                <a16:creationId xmlns:a16="http://schemas.microsoft.com/office/drawing/2014/main" id="{BA3E27F2-8644-48A9-9BCD-D921A72E7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6" y="3068639"/>
          <a:ext cx="36036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Формула" r:id="rId7" imgW="203112" imgH="190417" progId="Equation.3">
                  <p:embed/>
                </p:oleObj>
              </mc:Choice>
              <mc:Fallback>
                <p:oleObj name="Формула" r:id="rId7" imgW="203112" imgH="190417" progId="Equation.3">
                  <p:embed/>
                  <p:pic>
                    <p:nvPicPr>
                      <p:cNvPr id="4106" name="Object 13">
                        <a:extLst>
                          <a:ext uri="{FF2B5EF4-FFF2-40B4-BE49-F238E27FC236}">
                            <a16:creationId xmlns:a16="http://schemas.microsoft.com/office/drawing/2014/main" id="{BA3E27F2-8644-48A9-9BCD-D921A72E7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6" y="3068639"/>
                        <a:ext cx="36036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Rectangle 14">
            <a:extLst>
              <a:ext uri="{FF2B5EF4-FFF2-40B4-BE49-F238E27FC236}">
                <a16:creationId xmlns:a16="http://schemas.microsoft.com/office/drawing/2014/main" id="{04E83098-4E14-42D8-ACA3-F1BF1610F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427414"/>
            <a:ext cx="50387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>
                <a:sym typeface="Symbol" panose="05050102010706020507" pitchFamily="18" charset="2"/>
              </a:rPr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произведение на скаляр </a:t>
            </a:r>
          </a:p>
        </p:txBody>
      </p:sp>
      <p:graphicFrame>
        <p:nvGraphicFramePr>
          <p:cNvPr id="4108" name="Object 15">
            <a:extLst>
              <a:ext uri="{FF2B5EF4-FFF2-40B4-BE49-F238E27FC236}">
                <a16:creationId xmlns:a16="http://schemas.microsoft.com/office/drawing/2014/main" id="{5140AA9F-5490-4C3B-A32E-2821C75C19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3338" y="3429000"/>
          <a:ext cx="36036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Формула" r:id="rId8" imgW="203112" imgH="190417" progId="Equation.3">
                  <p:embed/>
                </p:oleObj>
              </mc:Choice>
              <mc:Fallback>
                <p:oleObj name="Формула" r:id="rId8" imgW="203112" imgH="190417" progId="Equation.3">
                  <p:embed/>
                  <p:pic>
                    <p:nvPicPr>
                      <p:cNvPr id="4108" name="Object 15">
                        <a:extLst>
                          <a:ext uri="{FF2B5EF4-FFF2-40B4-BE49-F238E27FC236}">
                            <a16:creationId xmlns:a16="http://schemas.microsoft.com/office/drawing/2014/main" id="{5140AA9F-5490-4C3B-A32E-2821C75C19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3429000"/>
                        <a:ext cx="36036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Rectangle 16">
            <a:extLst>
              <a:ext uri="{FF2B5EF4-FFF2-40B4-BE49-F238E27FC236}">
                <a16:creationId xmlns:a16="http://schemas.microsoft.com/office/drawing/2014/main" id="{6DA210A8-91A2-4D19-85D1-41F1880DC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3429001"/>
            <a:ext cx="1647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для </a:t>
            </a:r>
          </a:p>
        </p:txBody>
      </p:sp>
      <p:graphicFrame>
        <p:nvGraphicFramePr>
          <p:cNvPr id="4110" name="Object 19">
            <a:extLst>
              <a:ext uri="{FF2B5EF4-FFF2-40B4-BE49-F238E27FC236}">
                <a16:creationId xmlns:a16="http://schemas.microsoft.com/office/drawing/2014/main" id="{03340D62-0E71-4458-99F0-142F2B11F3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1" y="3429001"/>
          <a:ext cx="110331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Формула" r:id="rId9" imgW="812447" imgH="228501" progId="Equation.3">
                  <p:embed/>
                </p:oleObj>
              </mc:Choice>
              <mc:Fallback>
                <p:oleObj name="Формула" r:id="rId9" imgW="812447" imgH="228501" progId="Equation.3">
                  <p:embed/>
                  <p:pic>
                    <p:nvPicPr>
                      <p:cNvPr id="4110" name="Object 19">
                        <a:extLst>
                          <a:ext uri="{FF2B5EF4-FFF2-40B4-BE49-F238E27FC236}">
                            <a16:creationId xmlns:a16="http://schemas.microsoft.com/office/drawing/2014/main" id="{03340D62-0E71-4458-99F0-142F2B11F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1" y="3429001"/>
                        <a:ext cx="1103313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1" name="Rectangle 21">
            <a:extLst>
              <a:ext uri="{FF2B5EF4-FFF2-40B4-BE49-F238E27FC236}">
                <a16:creationId xmlns:a16="http://schemas.microsoft.com/office/drawing/2014/main" id="{DBAE036B-21BA-48BE-8AF3-7E12FFD2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4" y="3787775"/>
            <a:ext cx="34321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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выполняются аксиомы</a:t>
            </a:r>
            <a:r>
              <a:rPr lang="ru-RU" altLang="ru-RU" sz="1800">
                <a:sym typeface="Symbol" panose="05050102010706020507" pitchFamily="18" charset="2"/>
              </a:rPr>
              <a:t>:</a:t>
            </a:r>
          </a:p>
        </p:txBody>
      </p:sp>
      <p:sp>
        <p:nvSpPr>
          <p:cNvPr id="4112" name="Rectangle 22">
            <a:extLst>
              <a:ext uri="{FF2B5EF4-FFF2-40B4-BE49-F238E27FC236}">
                <a16:creationId xmlns:a16="http://schemas.microsoft.com/office/drawing/2014/main" id="{7AEE97FF-F121-4983-8AB2-F44793588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4025900"/>
            <a:ext cx="903605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tabLst>
                <a:tab pos="685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tabLst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коммутативность сложения;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ассоциативность сложения;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такой, что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+ 0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 существование нулевого элемента для сложения;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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ассоциативность умножения скаляров;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такой, что1*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 существование единичного элемента для умножения;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дистрибутивность умножения на скаляр;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- дистрибутивность умножения на вектор.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65F96C-98FA-47EC-B95E-572C19BAC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4000" b="1" i="1" u="sng" dirty="0">
                <a:latin typeface="+mn-lt"/>
              </a:rPr>
              <a:t>1</a:t>
            </a:r>
            <a:r>
              <a:rPr lang="ru-RU" altLang="ru-RU" sz="4000" b="1" i="1" u="sng" dirty="0">
                <a:latin typeface="+mn-lt"/>
              </a:rPr>
              <a:t>. 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Краткий экскурс в функциональный анализ.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20A4136-F51B-4CAB-8CDA-4054A38BB4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03388" y="1628776"/>
            <a:ext cx="8856662" cy="4525963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ru-RU" b="1" dirty="0"/>
              <a:t>1</a:t>
            </a:r>
            <a:r>
              <a:rPr lang="ru-RU" altLang="ru-RU" b="1" dirty="0"/>
              <a:t>.3. </a:t>
            </a:r>
            <a:r>
              <a:rPr lang="ru-RU" altLang="ru-RU" b="1" u="sng" dirty="0"/>
              <a:t>Евклидово пространство</a:t>
            </a:r>
            <a:r>
              <a:rPr lang="ru-RU" altLang="ru-RU" b="1" dirty="0"/>
              <a:t> </a:t>
            </a:r>
          </a:p>
        </p:txBody>
      </p:sp>
      <p:sp>
        <p:nvSpPr>
          <p:cNvPr id="5124" name="Rectangle 10">
            <a:extLst>
              <a:ext uri="{FF2B5EF4-FFF2-40B4-BE49-F238E27FC236}">
                <a16:creationId xmlns:a16="http://schemas.microsoft.com/office/drawing/2014/main" id="{0F31DB84-78BB-4337-A6E4-761EAFB03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205038"/>
            <a:ext cx="4365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Вводится скалярное произведение:</a:t>
            </a:r>
            <a:r>
              <a:rPr lang="ru-RU" altLang="ru-RU" sz="1800"/>
              <a:t> </a:t>
            </a:r>
          </a:p>
        </p:txBody>
      </p:sp>
      <p:sp>
        <p:nvSpPr>
          <p:cNvPr id="5125" name="Rectangle 12">
            <a:extLst>
              <a:ext uri="{FF2B5EF4-FFF2-40B4-BE49-F238E27FC236}">
                <a16:creationId xmlns:a16="http://schemas.microsoft.com/office/drawing/2014/main" id="{F8F18060-367F-4C44-8EE8-3A87F1A4E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6" name="Object 11">
            <a:extLst>
              <a:ext uri="{FF2B5EF4-FFF2-40B4-BE49-F238E27FC236}">
                <a16:creationId xmlns:a16="http://schemas.microsoft.com/office/drawing/2014/main" id="{88A8D905-55D6-40B4-A53C-6C5D4DC761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7225" y="2087564"/>
          <a:ext cx="18732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Формула" r:id="rId3" imgW="965200" imgH="431800" progId="Equation.3">
                  <p:embed/>
                </p:oleObj>
              </mc:Choice>
              <mc:Fallback>
                <p:oleObj name="Формула" r:id="rId3" imgW="965200" imgH="431800" progId="Equation.3">
                  <p:embed/>
                  <p:pic>
                    <p:nvPicPr>
                      <p:cNvPr id="5126" name="Object 11">
                        <a:extLst>
                          <a:ext uri="{FF2B5EF4-FFF2-40B4-BE49-F238E27FC236}">
                            <a16:creationId xmlns:a16="http://schemas.microsoft.com/office/drawing/2014/main" id="{88A8D905-55D6-40B4-A53C-6C5D4DC761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7225" y="2087564"/>
                        <a:ext cx="187325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13">
            <a:extLst>
              <a:ext uri="{FF2B5EF4-FFF2-40B4-BE49-F238E27FC236}">
                <a16:creationId xmlns:a16="http://schemas.microsoft.com/office/drawing/2014/main" id="{461686F2-E623-40B0-82D4-6FC074D97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128" name="Rectangle 15">
            <a:extLst>
              <a:ext uri="{FF2B5EF4-FFF2-40B4-BE49-F238E27FC236}">
                <a16:creationId xmlns:a16="http://schemas.microsoft.com/office/drawing/2014/main" id="{7125EFE1-F630-4F77-A860-953A8D9B9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9" name="Object 14">
            <a:extLst>
              <a:ext uri="{FF2B5EF4-FFF2-40B4-BE49-F238E27FC236}">
                <a16:creationId xmlns:a16="http://schemas.microsoft.com/office/drawing/2014/main" id="{4FB45FC3-D75D-494F-BAED-F0DFDFEF0E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2492375"/>
          <a:ext cx="4033837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Формула" r:id="rId5" imgW="2108200" imgH="431800" progId="Equation.3">
                  <p:embed/>
                </p:oleObj>
              </mc:Choice>
              <mc:Fallback>
                <p:oleObj name="Формула" r:id="rId5" imgW="2108200" imgH="431800" progId="Equation.3">
                  <p:embed/>
                  <p:pic>
                    <p:nvPicPr>
                      <p:cNvPr id="5129" name="Object 14">
                        <a:extLst>
                          <a:ext uri="{FF2B5EF4-FFF2-40B4-BE49-F238E27FC236}">
                            <a16:creationId xmlns:a16="http://schemas.microsoft.com/office/drawing/2014/main" id="{4FB45FC3-D75D-494F-BAED-F0DFDFEF0E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2492375"/>
                        <a:ext cx="4033837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Rectangle 16">
            <a:extLst>
              <a:ext uri="{FF2B5EF4-FFF2-40B4-BE49-F238E27FC236}">
                <a16:creationId xmlns:a16="http://schemas.microsoft.com/office/drawing/2014/main" id="{D9482040-EE11-455F-B599-991011E96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131" name="Rectangle 17">
            <a:extLst>
              <a:ext uri="{FF2B5EF4-FFF2-40B4-BE49-F238E27FC236}">
                <a16:creationId xmlns:a16="http://schemas.microsoft.com/office/drawing/2014/main" id="{235D47A9-C0BA-450B-89D5-B74311DE7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3024188"/>
            <a:ext cx="5840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/>
              <a:t>1</a:t>
            </a:r>
            <a:r>
              <a:rPr lang="ru-RU" altLang="ru-RU" sz="2400" b="1"/>
              <a:t>.4.  </a:t>
            </a:r>
            <a:r>
              <a:rPr lang="ru-RU" altLang="ru-RU" sz="2400" b="1" u="sng"/>
              <a:t>Метрическое пространство</a:t>
            </a:r>
            <a:r>
              <a:rPr lang="ru-RU" altLang="ru-RU" sz="2400" b="1"/>
              <a:t>   </a:t>
            </a:r>
          </a:p>
        </p:txBody>
      </p:sp>
      <p:sp>
        <p:nvSpPr>
          <p:cNvPr id="5132" name="Rectangle 19">
            <a:extLst>
              <a:ext uri="{FF2B5EF4-FFF2-40B4-BE49-F238E27FC236}">
                <a16:creationId xmlns:a16="http://schemas.microsoft.com/office/drawing/2014/main" id="{CD29B493-0F56-43B4-9121-3C3940B8B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33" name="Object 18">
            <a:extLst>
              <a:ext uri="{FF2B5EF4-FFF2-40B4-BE49-F238E27FC236}">
                <a16:creationId xmlns:a16="http://schemas.microsoft.com/office/drawing/2014/main" id="{DA194F56-A800-4001-93A2-6B1A1857E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3" y="3068638"/>
          <a:ext cx="5762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Формула" r:id="rId7" imgW="203024" imgH="152268" progId="Equation.3">
                  <p:embed/>
                </p:oleObj>
              </mc:Choice>
              <mc:Fallback>
                <p:oleObj name="Формула" r:id="rId7" imgW="203024" imgH="152268" progId="Equation.3">
                  <p:embed/>
                  <p:pic>
                    <p:nvPicPr>
                      <p:cNvPr id="5133" name="Object 18">
                        <a:extLst>
                          <a:ext uri="{FF2B5EF4-FFF2-40B4-BE49-F238E27FC236}">
                            <a16:creationId xmlns:a16="http://schemas.microsoft.com/office/drawing/2014/main" id="{DA194F56-A800-4001-93A2-6B1A1857E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3068638"/>
                        <a:ext cx="5762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Rectangle 20">
            <a:extLst>
              <a:ext uri="{FF2B5EF4-FFF2-40B4-BE49-F238E27FC236}">
                <a16:creationId xmlns:a16="http://schemas.microsoft.com/office/drawing/2014/main" id="{BAE04ED4-9C63-41BF-A660-9FCEECAE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494089"/>
            <a:ext cx="87852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Метрическим пространством называется всякое множество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котором для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любых 2-х его элементов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введено вещественное неотрицательное  число,  называемое расстоянием, обозначаемое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 Например, для евклидового  пространства:</a:t>
            </a:r>
          </a:p>
        </p:txBody>
      </p:sp>
      <p:sp>
        <p:nvSpPr>
          <p:cNvPr id="5135" name="Rectangle 22">
            <a:extLst>
              <a:ext uri="{FF2B5EF4-FFF2-40B4-BE49-F238E27FC236}">
                <a16:creationId xmlns:a16="http://schemas.microsoft.com/office/drawing/2014/main" id="{1F64E8AE-E39D-46D6-BC28-585FB7BAB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1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136" name="Rectangle 24">
            <a:extLst>
              <a:ext uri="{FF2B5EF4-FFF2-40B4-BE49-F238E27FC236}">
                <a16:creationId xmlns:a16="http://schemas.microsoft.com/office/drawing/2014/main" id="{41A3490B-3770-456E-8BD9-F2D468979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37" name="Object 23">
            <a:extLst>
              <a:ext uri="{FF2B5EF4-FFF2-40B4-BE49-F238E27FC236}">
                <a16:creationId xmlns:a16="http://schemas.microsoft.com/office/drawing/2014/main" id="{78901F49-C885-43D1-AEB2-F36208695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4625975"/>
          <a:ext cx="3311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Формула" r:id="rId9" imgW="2032000" imgH="431800" progId="Equation.3">
                  <p:embed/>
                </p:oleObj>
              </mc:Choice>
              <mc:Fallback>
                <p:oleObj name="Формула" r:id="rId9" imgW="2032000" imgH="431800" progId="Equation.3">
                  <p:embed/>
                  <p:pic>
                    <p:nvPicPr>
                      <p:cNvPr id="5137" name="Object 23">
                        <a:extLst>
                          <a:ext uri="{FF2B5EF4-FFF2-40B4-BE49-F238E27FC236}">
                            <a16:creationId xmlns:a16="http://schemas.microsoft.com/office/drawing/2014/main" id="{78901F49-C885-43D1-AEB2-F36208695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4625975"/>
                        <a:ext cx="33115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25">
            <a:extLst>
              <a:ext uri="{FF2B5EF4-FFF2-40B4-BE49-F238E27FC236}">
                <a16:creationId xmlns:a16="http://schemas.microsoft.com/office/drawing/2014/main" id="{996214B4-A204-42DD-8465-C36D18572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5343526"/>
            <a:ext cx="86407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Пространство, обладающее   евклидовой метрикой обозначается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или   .</a:t>
            </a:r>
          </a:p>
        </p:txBody>
      </p:sp>
      <p:sp>
        <p:nvSpPr>
          <p:cNvPr id="5139" name="Rectangle 27">
            <a:extLst>
              <a:ext uri="{FF2B5EF4-FFF2-40B4-BE49-F238E27FC236}">
                <a16:creationId xmlns:a16="http://schemas.microsoft.com/office/drawing/2014/main" id="{AE552C0B-37AE-49DB-8C6A-DBA00F1E9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40" name="Object 26">
            <a:extLst>
              <a:ext uri="{FF2B5EF4-FFF2-40B4-BE49-F238E27FC236}">
                <a16:creationId xmlns:a16="http://schemas.microsoft.com/office/drawing/2014/main" id="{260EEB47-BF9D-433D-A433-5F76D44E7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80475" y="5273675"/>
          <a:ext cx="3444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Формула" r:id="rId11" imgW="152334" imgH="228501" progId="Equation.3">
                  <p:embed/>
                </p:oleObj>
              </mc:Choice>
              <mc:Fallback>
                <p:oleObj name="Формула" r:id="rId11" imgW="152334" imgH="228501" progId="Equation.3">
                  <p:embed/>
                  <p:pic>
                    <p:nvPicPr>
                      <p:cNvPr id="5140" name="Object 26">
                        <a:extLst>
                          <a:ext uri="{FF2B5EF4-FFF2-40B4-BE49-F238E27FC236}">
                            <a16:creationId xmlns:a16="http://schemas.microsoft.com/office/drawing/2014/main" id="{260EEB47-BF9D-433D-A433-5F76D44E7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0475" y="5273675"/>
                        <a:ext cx="3444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1" name="Object 30">
            <a:extLst>
              <a:ext uri="{FF2B5EF4-FFF2-40B4-BE49-F238E27FC236}">
                <a16:creationId xmlns:a16="http://schemas.microsoft.com/office/drawing/2014/main" id="{C3ED7134-7DC9-43FE-B07C-0B3958F4EFB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08213" y="5661025"/>
          <a:ext cx="36036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Формула" r:id="rId13" imgW="203112" imgH="190417" progId="Equation.3">
                  <p:embed/>
                </p:oleObj>
              </mc:Choice>
              <mc:Fallback>
                <p:oleObj name="Формула" r:id="rId13" imgW="203112" imgH="190417" progId="Equation.3">
                  <p:embed/>
                  <p:pic>
                    <p:nvPicPr>
                      <p:cNvPr id="5141" name="Object 30">
                        <a:extLst>
                          <a:ext uri="{FF2B5EF4-FFF2-40B4-BE49-F238E27FC236}">
                            <a16:creationId xmlns:a16="http://schemas.microsoft.com/office/drawing/2014/main" id="{C3ED7134-7DC9-43FE-B07C-0B3958F4EF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661025"/>
                        <a:ext cx="36036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7A07F0B-3F65-4FE1-B1B2-56308A105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Краткий экскурс в функциональный анализ.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26CE40E-6561-41ED-8EF9-6AF372726DB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700213"/>
            <a:ext cx="9144000" cy="4525962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ru-RU" b="1" dirty="0"/>
              <a:t>1</a:t>
            </a:r>
            <a:r>
              <a:rPr lang="ru-RU" altLang="ru-RU" b="1" dirty="0"/>
              <a:t>.5.</a:t>
            </a:r>
            <a:r>
              <a:rPr lang="ru-RU" altLang="ru-RU" dirty="0"/>
              <a:t> </a:t>
            </a:r>
            <a:r>
              <a:rPr lang="ru-RU" altLang="ru-RU" b="1" u="sng" dirty="0"/>
              <a:t>Гильбертово пространство</a:t>
            </a:r>
            <a:r>
              <a:rPr lang="ru-RU" altLang="ru-RU" b="1" dirty="0"/>
              <a:t> (аналог евклидова пространства в функциональном   пространстве)</a:t>
            </a:r>
            <a:r>
              <a:rPr lang="ru-RU" altLang="ru-RU" dirty="0"/>
              <a:t>.</a:t>
            </a:r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AA1DCA60-68F7-4325-A748-91FC0F355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53D409EC-E633-4B07-937B-DA3A3706F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0" name="Rectangle 8">
            <a:extLst>
              <a:ext uri="{FF2B5EF4-FFF2-40B4-BE49-F238E27FC236}">
                <a16:creationId xmlns:a16="http://schemas.microsoft.com/office/drawing/2014/main" id="{F8884570-171B-4809-A26B-7109C1B4C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1" name="Rectangle 10">
            <a:extLst>
              <a:ext uri="{FF2B5EF4-FFF2-40B4-BE49-F238E27FC236}">
                <a16:creationId xmlns:a16="http://schemas.microsoft.com/office/drawing/2014/main" id="{697B535E-8D08-46EB-8FE5-424AFB608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2" name="Rectangle 12">
            <a:extLst>
              <a:ext uri="{FF2B5EF4-FFF2-40B4-BE49-F238E27FC236}">
                <a16:creationId xmlns:a16="http://schemas.microsoft.com/office/drawing/2014/main" id="{32F4065D-9506-4316-B362-9FD463C8B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3" name="Rectangle 15">
            <a:extLst>
              <a:ext uri="{FF2B5EF4-FFF2-40B4-BE49-F238E27FC236}">
                <a16:creationId xmlns:a16="http://schemas.microsoft.com/office/drawing/2014/main" id="{BF655F9B-CFC5-419F-9AB2-486713E4D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4" name="Rectangle 19">
            <a:extLst>
              <a:ext uri="{FF2B5EF4-FFF2-40B4-BE49-F238E27FC236}">
                <a16:creationId xmlns:a16="http://schemas.microsoft.com/office/drawing/2014/main" id="{4C033D24-93D8-4D17-A868-EF0C66849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55" name="Rectangle 22">
            <a:extLst>
              <a:ext uri="{FF2B5EF4-FFF2-40B4-BE49-F238E27FC236}">
                <a16:creationId xmlns:a16="http://schemas.microsoft.com/office/drawing/2014/main" id="{C317CCEE-2C08-4FE3-8337-874E3603B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492376"/>
            <a:ext cx="480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в гильбертовом пространстве: </a:t>
            </a:r>
          </a:p>
        </p:txBody>
      </p:sp>
      <p:sp>
        <p:nvSpPr>
          <p:cNvPr id="6156" name="Rectangle 24">
            <a:extLst>
              <a:ext uri="{FF2B5EF4-FFF2-40B4-BE49-F238E27FC236}">
                <a16:creationId xmlns:a16="http://schemas.microsoft.com/office/drawing/2014/main" id="{F12EB8A7-4D13-47D2-9C3B-88D69B804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57" name="Object 23">
            <a:extLst>
              <a:ext uri="{FF2B5EF4-FFF2-40B4-BE49-F238E27FC236}">
                <a16:creationId xmlns:a16="http://schemas.microsoft.com/office/drawing/2014/main" id="{9480B595-D6A7-4786-95A7-09F08A7E1F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2781300"/>
          <a:ext cx="49688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Формула" r:id="rId3" imgW="2679700" imgH="558800" progId="Equation.3">
                  <p:embed/>
                </p:oleObj>
              </mc:Choice>
              <mc:Fallback>
                <p:oleObj name="Формула" r:id="rId3" imgW="2679700" imgH="558800" progId="Equation.3">
                  <p:embed/>
                  <p:pic>
                    <p:nvPicPr>
                      <p:cNvPr id="6157" name="Object 23">
                        <a:extLst>
                          <a:ext uri="{FF2B5EF4-FFF2-40B4-BE49-F238E27FC236}">
                            <a16:creationId xmlns:a16="http://schemas.microsoft.com/office/drawing/2014/main" id="{9480B595-D6A7-4786-95A7-09F08A7E1F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781300"/>
                        <a:ext cx="49688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Rectangle 26">
            <a:extLst>
              <a:ext uri="{FF2B5EF4-FFF2-40B4-BE49-F238E27FC236}">
                <a16:creationId xmlns:a16="http://schemas.microsoft.com/office/drawing/2014/main" id="{70332E5F-4463-48E0-A079-65D0FFC0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3500438"/>
            <a:ext cx="39163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Норма гильбертова пространства: </a:t>
            </a:r>
          </a:p>
        </p:txBody>
      </p:sp>
      <p:sp>
        <p:nvSpPr>
          <p:cNvPr id="6159" name="Rectangle 28">
            <a:extLst>
              <a:ext uri="{FF2B5EF4-FFF2-40B4-BE49-F238E27FC236}">
                <a16:creationId xmlns:a16="http://schemas.microsoft.com/office/drawing/2014/main" id="{37FE15B7-7845-4028-B96C-B8400F512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42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60" name="Object 27">
            <a:extLst>
              <a:ext uri="{FF2B5EF4-FFF2-40B4-BE49-F238E27FC236}">
                <a16:creationId xmlns:a16="http://schemas.microsoft.com/office/drawing/2014/main" id="{16C46DE4-2843-4F79-9E33-68EFA277B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3429000"/>
          <a:ext cx="34575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Формула" r:id="rId5" imgW="1485255" imgH="406224" progId="Equation.3">
                  <p:embed/>
                </p:oleObj>
              </mc:Choice>
              <mc:Fallback>
                <p:oleObj name="Формула" r:id="rId5" imgW="1485255" imgH="406224" progId="Equation.3">
                  <p:embed/>
                  <p:pic>
                    <p:nvPicPr>
                      <p:cNvPr id="6160" name="Object 27">
                        <a:extLst>
                          <a:ext uri="{FF2B5EF4-FFF2-40B4-BE49-F238E27FC236}">
                            <a16:creationId xmlns:a16="http://schemas.microsoft.com/office/drawing/2014/main" id="{16C46DE4-2843-4F79-9E33-68EFA277B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429000"/>
                        <a:ext cx="345757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Rectangle 29">
            <a:extLst>
              <a:ext uri="{FF2B5EF4-FFF2-40B4-BE49-F238E27FC236}">
                <a16:creationId xmlns:a16="http://schemas.microsoft.com/office/drawing/2014/main" id="{0ABC12E9-98D0-4FAA-A209-B66C8ECE0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45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162" name="Rectangle 30">
            <a:extLst>
              <a:ext uri="{FF2B5EF4-FFF2-40B4-BE49-F238E27FC236}">
                <a16:creationId xmlns:a16="http://schemas.microsoft.com/office/drawing/2014/main" id="{F52D6080-86D4-430F-98E7-A353B6FE3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032250"/>
            <a:ext cx="6516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u="sng"/>
              <a:t>1</a:t>
            </a:r>
            <a:r>
              <a:rPr lang="ru-RU" altLang="ru-RU" sz="2400" b="1" u="sng"/>
              <a:t>.6. Общее конечномерное пространство</a:t>
            </a:r>
            <a:r>
              <a:rPr lang="ru-RU" altLang="ru-RU" sz="2400"/>
              <a:t> </a:t>
            </a:r>
          </a:p>
        </p:txBody>
      </p:sp>
      <p:sp>
        <p:nvSpPr>
          <p:cNvPr id="6163" name="Rectangle 32">
            <a:extLst>
              <a:ext uri="{FF2B5EF4-FFF2-40B4-BE49-F238E27FC236}">
                <a16:creationId xmlns:a16="http://schemas.microsoft.com/office/drawing/2014/main" id="{3FE863B4-8FF1-44D4-B6D7-CAC9A2C9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8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64" name="Object 31">
            <a:extLst>
              <a:ext uri="{FF2B5EF4-FFF2-40B4-BE49-F238E27FC236}">
                <a16:creationId xmlns:a16="http://schemas.microsoft.com/office/drawing/2014/main" id="{78BCF8FF-8001-4923-9F04-E2697E9844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6" y="4005264"/>
          <a:ext cx="4730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Формула" r:id="rId7" imgW="203024" imgH="253780" progId="Equation.3">
                  <p:embed/>
                </p:oleObj>
              </mc:Choice>
              <mc:Fallback>
                <p:oleObj name="Формула" r:id="rId7" imgW="203024" imgH="253780" progId="Equation.3">
                  <p:embed/>
                  <p:pic>
                    <p:nvPicPr>
                      <p:cNvPr id="6164" name="Object 31">
                        <a:extLst>
                          <a:ext uri="{FF2B5EF4-FFF2-40B4-BE49-F238E27FC236}">
                            <a16:creationId xmlns:a16="http://schemas.microsoft.com/office/drawing/2014/main" id="{78BCF8FF-8001-4923-9F04-E2697E984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6" y="4005264"/>
                        <a:ext cx="4730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Rectangle 34">
            <a:extLst>
              <a:ext uri="{FF2B5EF4-FFF2-40B4-BE49-F238E27FC236}">
                <a16:creationId xmlns:a16="http://schemas.microsoft.com/office/drawing/2014/main" id="{F761A36A-E8E9-475F-9874-C25541637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626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66" name="Object 33">
            <a:extLst>
              <a:ext uri="{FF2B5EF4-FFF2-40B4-BE49-F238E27FC236}">
                <a16:creationId xmlns:a16="http://schemas.microsoft.com/office/drawing/2014/main" id="{CCD038EA-2161-48E7-AECC-B0A66F88FD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4652963"/>
          <a:ext cx="2808287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Формула" r:id="rId9" imgW="1409700" imgH="1524000" progId="Equation.3">
                  <p:embed/>
                </p:oleObj>
              </mc:Choice>
              <mc:Fallback>
                <p:oleObj name="Формула" r:id="rId9" imgW="1409700" imgH="1524000" progId="Equation.3">
                  <p:embed/>
                  <p:pic>
                    <p:nvPicPr>
                      <p:cNvPr id="6166" name="Object 33">
                        <a:extLst>
                          <a:ext uri="{FF2B5EF4-FFF2-40B4-BE49-F238E27FC236}">
                            <a16:creationId xmlns:a16="http://schemas.microsoft.com/office/drawing/2014/main" id="{CCD038EA-2161-48E7-AECC-B0A66F88FD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4652963"/>
                        <a:ext cx="2808287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08D6AD9-DF94-4D12-A0D2-8CAEAE265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143000"/>
          </a:xfrm>
        </p:spPr>
        <p:txBody>
          <a:bodyPr/>
          <a:lstStyle/>
          <a:p>
            <a:pPr algn="ctr" eaLnBrk="1" hangingPunct="1"/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нормы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841951E-85E6-4B9F-BD96-BE212FE53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i="1">
                <a:latin typeface="Times New Roman" panose="02020603050405020304" pitchFamily="18" charset="0"/>
              </a:rPr>
              <a:t>Определение 1.</a:t>
            </a:r>
            <a:r>
              <a:rPr lang="ru-RU" altLang="ru-RU"/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Нормой называется положительное число, обозначаемое      и удовлетворяющее следующим условиям: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1) 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2)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3) </a:t>
            </a:r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endParaRPr lang="ru-RU" altLang="ru-RU" sz="2000"/>
          </a:p>
          <a:p>
            <a:pPr eaLnBrk="1" hangingPunct="1"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некоторых случаях оказывается очень полезной эллипсоидная норма:</a:t>
            </a:r>
          </a:p>
          <a:p>
            <a:pPr eaLnBrk="1" hangingPunct="1">
              <a:buFontTx/>
              <a:buNone/>
            </a:pPr>
            <a:r>
              <a:rPr lang="ru-RU" altLang="ru-RU" sz="2000"/>
              <a:t> 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556CD2EE-57BD-4C9F-B3E2-6CD355FE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D62B4394-A14A-42E6-8B26-4DB09EA3E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2492375"/>
          <a:ext cx="5256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Формула" r:id="rId3" imgW="3149600" imgH="254000" progId="Equation.3">
                  <p:embed/>
                </p:oleObj>
              </mc:Choice>
              <mc:Fallback>
                <p:oleObj name="Формула" r:id="rId3" imgW="3149600" imgH="254000" progId="Equation.3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D62B4394-A14A-42E6-8B26-4DB09EA3EA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492375"/>
                        <a:ext cx="5256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>
            <a:extLst>
              <a:ext uri="{FF2B5EF4-FFF2-40B4-BE49-F238E27FC236}">
                <a16:creationId xmlns:a16="http://schemas.microsoft.com/office/drawing/2014/main" id="{FBE21324-0712-4955-8A02-1A857EDC9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8A36A93A-CEF0-4C0D-AD7B-788BC632B1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2849564"/>
          <a:ext cx="33845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Формула" r:id="rId5" imgW="1954951" imgH="253890" progId="Equation.3">
                  <p:embed/>
                </p:oleObj>
              </mc:Choice>
              <mc:Fallback>
                <p:oleObj name="Формула" r:id="rId5" imgW="1954951" imgH="253890" progId="Equation.3">
                  <p:embed/>
                  <p:pic>
                    <p:nvPicPr>
                      <p:cNvPr id="7175" name="Object 7">
                        <a:extLst>
                          <a:ext uri="{FF2B5EF4-FFF2-40B4-BE49-F238E27FC236}">
                            <a16:creationId xmlns:a16="http://schemas.microsoft.com/office/drawing/2014/main" id="{8A36A93A-CEF0-4C0D-AD7B-788BC632B1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849564"/>
                        <a:ext cx="33845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Rectangle 8">
            <a:extLst>
              <a:ext uri="{FF2B5EF4-FFF2-40B4-BE49-F238E27FC236}">
                <a16:creationId xmlns:a16="http://schemas.microsoft.com/office/drawing/2014/main" id="{D910A5CA-736C-4D87-9E5F-00E9D1180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7" name="Object 9">
            <a:extLst>
              <a:ext uri="{FF2B5EF4-FFF2-40B4-BE49-F238E27FC236}">
                <a16:creationId xmlns:a16="http://schemas.microsoft.com/office/drawing/2014/main" id="{A1169BC5-ACD3-4645-819C-917D732A0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3222625"/>
          <a:ext cx="32400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Формула" r:id="rId7" imgW="1828800" imgH="254000" progId="Equation.3">
                  <p:embed/>
                </p:oleObj>
              </mc:Choice>
              <mc:Fallback>
                <p:oleObj name="Формула" r:id="rId7" imgW="1828800" imgH="254000" progId="Equation.3">
                  <p:embed/>
                  <p:pic>
                    <p:nvPicPr>
                      <p:cNvPr id="7177" name="Object 9">
                        <a:extLst>
                          <a:ext uri="{FF2B5EF4-FFF2-40B4-BE49-F238E27FC236}">
                            <a16:creationId xmlns:a16="http://schemas.microsoft.com/office/drawing/2014/main" id="{A1169BC5-ACD3-4645-819C-917D732A0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222625"/>
                        <a:ext cx="32400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10">
            <a:extLst>
              <a:ext uri="{FF2B5EF4-FFF2-40B4-BE49-F238E27FC236}">
                <a16:creationId xmlns:a16="http://schemas.microsoft.com/office/drawing/2014/main" id="{476900BE-2ABC-418E-9BC1-9C9D62E4F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79" name="Object 11">
            <a:extLst>
              <a:ext uri="{FF2B5EF4-FFF2-40B4-BE49-F238E27FC236}">
                <a16:creationId xmlns:a16="http://schemas.microsoft.com/office/drawing/2014/main" id="{D1408BF3-80A3-4D71-ABCD-A8DE2C944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781300"/>
          <a:ext cx="3455988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Формула" r:id="rId9" imgW="1968500" imgH="1282700" progId="Equation.3">
                  <p:embed/>
                </p:oleObj>
              </mc:Choice>
              <mc:Fallback>
                <p:oleObj name="Формула" r:id="rId9" imgW="1968500" imgH="1282700" progId="Equation.3">
                  <p:embed/>
                  <p:pic>
                    <p:nvPicPr>
                      <p:cNvPr id="7179" name="Object 11">
                        <a:extLst>
                          <a:ext uri="{FF2B5EF4-FFF2-40B4-BE49-F238E27FC236}">
                            <a16:creationId xmlns:a16="http://schemas.microsoft.com/office/drawing/2014/main" id="{D1408BF3-80A3-4D71-ABCD-A8DE2C944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781300"/>
                        <a:ext cx="3455988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Rectangle 12">
            <a:extLst>
              <a:ext uri="{FF2B5EF4-FFF2-40B4-BE49-F238E27FC236}">
                <a16:creationId xmlns:a16="http://schemas.microsoft.com/office/drawing/2014/main" id="{18161342-9E9C-4221-A72D-D23BCD9EB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1" name="Object 13">
            <a:extLst>
              <a:ext uri="{FF2B5EF4-FFF2-40B4-BE49-F238E27FC236}">
                <a16:creationId xmlns:a16="http://schemas.microsoft.com/office/drawing/2014/main" id="{AD9DE90B-1019-41AA-971D-5D58A9099E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3789363"/>
          <a:ext cx="33115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Формула" r:id="rId11" imgW="2019300" imgH="546100" progId="Equation.3">
                  <p:embed/>
                </p:oleObj>
              </mc:Choice>
              <mc:Fallback>
                <p:oleObj name="Формула" r:id="rId11" imgW="2019300" imgH="546100" progId="Equation.3">
                  <p:embed/>
                  <p:pic>
                    <p:nvPicPr>
                      <p:cNvPr id="7181" name="Object 13">
                        <a:extLst>
                          <a:ext uri="{FF2B5EF4-FFF2-40B4-BE49-F238E27FC236}">
                            <a16:creationId xmlns:a16="http://schemas.microsoft.com/office/drawing/2014/main" id="{AD9DE90B-1019-41AA-971D-5D58A9099E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3789363"/>
                        <a:ext cx="33115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14">
            <a:extLst>
              <a:ext uri="{FF2B5EF4-FFF2-40B4-BE49-F238E27FC236}">
                <a16:creationId xmlns:a16="http://schemas.microsoft.com/office/drawing/2014/main" id="{65EBEC07-9586-4C9B-9F94-0EA7F4431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3" name="Object 15">
            <a:extLst>
              <a:ext uri="{FF2B5EF4-FFF2-40B4-BE49-F238E27FC236}">
                <a16:creationId xmlns:a16="http://schemas.microsoft.com/office/drawing/2014/main" id="{2B7441DC-3500-4A44-B0B2-36FE22460B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5300663"/>
          <a:ext cx="20161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Формула" r:id="rId13" imgW="990170" imgH="304668" progId="Equation.3">
                  <p:embed/>
                </p:oleObj>
              </mc:Choice>
              <mc:Fallback>
                <p:oleObj name="Формула" r:id="rId13" imgW="990170" imgH="304668" progId="Equation.3">
                  <p:embed/>
                  <p:pic>
                    <p:nvPicPr>
                      <p:cNvPr id="7183" name="Object 15">
                        <a:extLst>
                          <a:ext uri="{FF2B5EF4-FFF2-40B4-BE49-F238E27FC236}">
                            <a16:creationId xmlns:a16="http://schemas.microsoft.com/office/drawing/2014/main" id="{2B7441DC-3500-4A44-B0B2-36FE22460B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5300663"/>
                        <a:ext cx="201612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Rectangle 16">
            <a:extLst>
              <a:ext uri="{FF2B5EF4-FFF2-40B4-BE49-F238E27FC236}">
                <a16:creationId xmlns:a16="http://schemas.microsoft.com/office/drawing/2014/main" id="{4A12140E-ED93-4ADE-B460-01185EC42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5399088"/>
            <a:ext cx="749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</a:p>
        </p:txBody>
      </p:sp>
      <p:sp>
        <p:nvSpPr>
          <p:cNvPr id="7185" name="Rectangle 18">
            <a:extLst>
              <a:ext uri="{FF2B5EF4-FFF2-40B4-BE49-F238E27FC236}">
                <a16:creationId xmlns:a16="http://schemas.microsoft.com/office/drawing/2014/main" id="{EDD1C834-35A0-40DD-A81A-EB9803014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5445125"/>
            <a:ext cx="3384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-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симметричная положительно определенная матрица.</a:t>
            </a:r>
          </a:p>
        </p:txBody>
      </p:sp>
      <p:sp>
        <p:nvSpPr>
          <p:cNvPr id="7186" name="Rectangle 19">
            <a:extLst>
              <a:ext uri="{FF2B5EF4-FFF2-40B4-BE49-F238E27FC236}">
                <a16:creationId xmlns:a16="http://schemas.microsoft.com/office/drawing/2014/main" id="{32D4B9F9-1EA5-4AC9-944C-CA2B4B41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7" name="Object 20">
            <a:extLst>
              <a:ext uri="{FF2B5EF4-FFF2-40B4-BE49-F238E27FC236}">
                <a16:creationId xmlns:a16="http://schemas.microsoft.com/office/drawing/2014/main" id="{11587E4F-41AF-4F76-AFFD-37C4947F8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7438" y="5373689"/>
          <a:ext cx="10080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Формула" r:id="rId15" imgW="558800" imgH="190500" progId="Equation.3">
                  <p:embed/>
                </p:oleObj>
              </mc:Choice>
              <mc:Fallback>
                <p:oleObj name="Формула" r:id="rId15" imgW="558800" imgH="190500" progId="Equation.3">
                  <p:embed/>
                  <p:pic>
                    <p:nvPicPr>
                      <p:cNvPr id="7187" name="Object 20">
                        <a:extLst>
                          <a:ext uri="{FF2B5EF4-FFF2-40B4-BE49-F238E27FC236}">
                            <a16:creationId xmlns:a16="http://schemas.microsoft.com/office/drawing/2014/main" id="{11587E4F-41AF-4F76-AFFD-37C4947F8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5373689"/>
                        <a:ext cx="10080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" name="Rectangle 21">
            <a:extLst>
              <a:ext uri="{FF2B5EF4-FFF2-40B4-BE49-F238E27FC236}">
                <a16:creationId xmlns:a16="http://schemas.microsoft.com/office/drawing/2014/main" id="{199A838D-11AC-49F6-ACDA-6819077A7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7189" name="Object 22">
            <a:extLst>
              <a:ext uri="{FF2B5EF4-FFF2-40B4-BE49-F238E27FC236}">
                <a16:creationId xmlns:a16="http://schemas.microsoft.com/office/drawing/2014/main" id="{DD2E010E-2727-40A0-92D6-B5C612CD86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2030414"/>
          <a:ext cx="3825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Формула" r:id="rId17" imgW="190417" imgH="253890" progId="Equation.3">
                  <p:embed/>
                </p:oleObj>
              </mc:Choice>
              <mc:Fallback>
                <p:oleObj name="Формула" r:id="rId17" imgW="190417" imgH="253890" progId="Equation.3">
                  <p:embed/>
                  <p:pic>
                    <p:nvPicPr>
                      <p:cNvPr id="7189" name="Object 22">
                        <a:extLst>
                          <a:ext uri="{FF2B5EF4-FFF2-40B4-BE49-F238E27FC236}">
                            <a16:creationId xmlns:a16="http://schemas.microsoft.com/office/drawing/2014/main" id="{DD2E010E-2727-40A0-92D6-B5C612CD86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2030414"/>
                        <a:ext cx="3825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3EA248B-44C6-4455-8672-C4A51EDD20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Матричная норма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52A34A5-366E-4E6F-84E6-29A2F4CC3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b="1" i="1">
                <a:latin typeface="Times New Roman" panose="02020603050405020304" pitchFamily="18" charset="0"/>
              </a:rPr>
              <a:t>Определение 2.</a:t>
            </a:r>
            <a:r>
              <a:rPr lang="ru-RU" altLang="ru-RU" sz="2400" b="1">
                <a:latin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612A3B08-4490-40FC-8777-2D2824B97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01D9B97D-29B2-467B-9DE8-83F7266DA4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65713" y="1643064"/>
          <a:ext cx="14398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Формула" r:id="rId3" imgW="787058" imgH="215806" progId="Equation.3">
                  <p:embed/>
                </p:oleObj>
              </mc:Choice>
              <mc:Fallback>
                <p:oleObj name="Формула" r:id="rId3" imgW="787058" imgH="215806" progId="Equation.3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01D9B97D-29B2-467B-9DE8-83F7266DA4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1643064"/>
                        <a:ext cx="14398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6">
            <a:extLst>
              <a:ext uri="{FF2B5EF4-FFF2-40B4-BE49-F238E27FC236}">
                <a16:creationId xmlns:a16="http://schemas.microsoft.com/office/drawing/2014/main" id="{33428D1D-19C9-4880-BDE0-19EB5297C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1698625"/>
            <a:ext cx="15652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195B7EBE-ABF7-4C39-9E19-6903112A6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8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00" name="Object 8">
            <a:extLst>
              <a:ext uri="{FF2B5EF4-FFF2-40B4-BE49-F238E27FC236}">
                <a16:creationId xmlns:a16="http://schemas.microsoft.com/office/drawing/2014/main" id="{552F3C6B-D0C0-47A9-931A-45C309CCA9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2489" y="1700213"/>
          <a:ext cx="15843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Формула" r:id="rId5" imgW="952087" imgH="253890" progId="Equation.3">
                  <p:embed/>
                </p:oleObj>
              </mc:Choice>
              <mc:Fallback>
                <p:oleObj name="Формула" r:id="rId5" imgW="952087" imgH="253890" progId="Equation.3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552F3C6B-D0C0-47A9-931A-45C309CCA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9" y="1700213"/>
                        <a:ext cx="15843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9">
            <a:extLst>
              <a:ext uri="{FF2B5EF4-FFF2-40B4-BE49-F238E27FC236}">
                <a16:creationId xmlns:a16="http://schemas.microsoft.com/office/drawing/2014/main" id="{111C9A23-690A-468C-B710-AE4099629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058989"/>
            <a:ext cx="24574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матричной 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5D811037-7860-4819-B33A-824C94CBF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9" y="2068513"/>
            <a:ext cx="5329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нормой, если она удовлетворяет 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40A2719E-C507-4119-8491-45B886987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6" y="2068513"/>
            <a:ext cx="13557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следующим</a:t>
            </a:r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0078F496-EE09-430F-802E-C069BB4CD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813" y="2055814"/>
            <a:ext cx="11811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условиям:</a:t>
            </a:r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1D9F7ED2-B4ED-4793-8791-FBCDD9DA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781301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1)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8206" name="Object 14">
            <a:extLst>
              <a:ext uri="{FF2B5EF4-FFF2-40B4-BE49-F238E27FC236}">
                <a16:creationId xmlns:a16="http://schemas.microsoft.com/office/drawing/2014/main" id="{FBB31D26-4924-4E52-9FF3-E380FFA68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2781301"/>
          <a:ext cx="55451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name="Формула" r:id="rId7" imgW="3302000" imgH="254000" progId="Equation.3">
                  <p:embed/>
                </p:oleObj>
              </mc:Choice>
              <mc:Fallback>
                <p:oleObj name="Формула" r:id="rId7" imgW="3302000" imgH="254000" progId="Equation.3">
                  <p:embed/>
                  <p:pic>
                    <p:nvPicPr>
                      <p:cNvPr id="8206" name="Object 14">
                        <a:extLst>
                          <a:ext uri="{FF2B5EF4-FFF2-40B4-BE49-F238E27FC236}">
                            <a16:creationId xmlns:a16="http://schemas.microsoft.com/office/drawing/2014/main" id="{FBB31D26-4924-4E52-9FF3-E380FFA68D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781301"/>
                        <a:ext cx="554513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Rectangle 15">
            <a:extLst>
              <a:ext uri="{FF2B5EF4-FFF2-40B4-BE49-F238E27FC236}">
                <a16:creationId xmlns:a16="http://schemas.microsoft.com/office/drawing/2014/main" id="{FFA8DC49-2E75-4311-BF94-140B2A29D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297239"/>
            <a:ext cx="452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2)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8208" name="Object 16">
            <a:extLst>
              <a:ext uri="{FF2B5EF4-FFF2-40B4-BE49-F238E27FC236}">
                <a16:creationId xmlns:a16="http://schemas.microsoft.com/office/drawing/2014/main" id="{38F09E63-2457-4CC1-98D7-7EB358B8F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279776"/>
          <a:ext cx="35290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name="Формула" r:id="rId9" imgW="2032000" imgH="254000" progId="Equation.3">
                  <p:embed/>
                </p:oleObj>
              </mc:Choice>
              <mc:Fallback>
                <p:oleObj name="Формула" r:id="rId9" imgW="2032000" imgH="254000" progId="Equation.3">
                  <p:embed/>
                  <p:pic>
                    <p:nvPicPr>
                      <p:cNvPr id="8208" name="Object 16">
                        <a:extLst>
                          <a:ext uri="{FF2B5EF4-FFF2-40B4-BE49-F238E27FC236}">
                            <a16:creationId xmlns:a16="http://schemas.microsoft.com/office/drawing/2014/main" id="{38F09E63-2457-4CC1-98D7-7EB358B8F1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279776"/>
                        <a:ext cx="352901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Rectangle 17">
            <a:extLst>
              <a:ext uri="{FF2B5EF4-FFF2-40B4-BE49-F238E27FC236}">
                <a16:creationId xmlns:a16="http://schemas.microsoft.com/office/drawing/2014/main" id="{95F9102E-6022-47CC-A8CC-60A442ED1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800476"/>
            <a:ext cx="419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3</a:t>
            </a:r>
            <a:r>
              <a:rPr lang="ru-RU" altLang="ru-RU" sz="1200">
                <a:cs typeface="Times New Roman" panose="02020603050405020304" pitchFamily="18" charset="0"/>
              </a:rPr>
              <a:t>) </a:t>
            </a:r>
            <a:endParaRPr lang="ru-RU" altLang="ru-RU" sz="1800"/>
          </a:p>
        </p:txBody>
      </p:sp>
      <p:graphicFrame>
        <p:nvGraphicFramePr>
          <p:cNvPr id="8210" name="Object 18">
            <a:extLst>
              <a:ext uri="{FF2B5EF4-FFF2-40B4-BE49-F238E27FC236}">
                <a16:creationId xmlns:a16="http://schemas.microsoft.com/office/drawing/2014/main" id="{0437045A-F58B-4AC0-9D01-26A250168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789363"/>
          <a:ext cx="33845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" name="Формула" r:id="rId11" imgW="2057400" imgH="254000" progId="Equation.3">
                  <p:embed/>
                </p:oleObj>
              </mc:Choice>
              <mc:Fallback>
                <p:oleObj name="Формула" r:id="rId11" imgW="2057400" imgH="254000" progId="Equation.3">
                  <p:embed/>
                  <p:pic>
                    <p:nvPicPr>
                      <p:cNvPr id="8210" name="Object 18">
                        <a:extLst>
                          <a:ext uri="{FF2B5EF4-FFF2-40B4-BE49-F238E27FC236}">
                            <a16:creationId xmlns:a16="http://schemas.microsoft.com/office/drawing/2014/main" id="{0437045A-F58B-4AC0-9D01-26A250168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789363"/>
                        <a:ext cx="33845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19">
            <a:extLst>
              <a:ext uri="{FF2B5EF4-FFF2-40B4-BE49-F238E27FC236}">
                <a16:creationId xmlns:a16="http://schemas.microsoft.com/office/drawing/2014/main" id="{7E615FF3-88E3-46D3-A56D-E9CB28E31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4435475"/>
            <a:ext cx="31162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матричных норм:</a:t>
            </a:r>
          </a:p>
        </p:txBody>
      </p:sp>
      <p:sp>
        <p:nvSpPr>
          <p:cNvPr id="8212" name="Rectangle 20">
            <a:extLst>
              <a:ext uri="{FF2B5EF4-FFF2-40B4-BE49-F238E27FC236}">
                <a16:creationId xmlns:a16="http://schemas.microsoft.com/office/drawing/2014/main" id="{94F700A0-40E6-4F38-B8C9-DB647B7CB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55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3" name="Object 21">
            <a:extLst>
              <a:ext uri="{FF2B5EF4-FFF2-40B4-BE49-F238E27FC236}">
                <a16:creationId xmlns:a16="http://schemas.microsoft.com/office/drawing/2014/main" id="{195E26C6-577E-4F5B-90B0-0355FF04C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3141663"/>
          <a:ext cx="42497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Формула" r:id="rId13" imgW="1828800" imgH="520700" progId="Equation.3">
                  <p:embed/>
                </p:oleObj>
              </mc:Choice>
              <mc:Fallback>
                <p:oleObj name="Формула" r:id="rId13" imgW="1828800" imgH="520700" progId="Equation.3">
                  <p:embed/>
                  <p:pic>
                    <p:nvPicPr>
                      <p:cNvPr id="8213" name="Object 21">
                        <a:extLst>
                          <a:ext uri="{FF2B5EF4-FFF2-40B4-BE49-F238E27FC236}">
                            <a16:creationId xmlns:a16="http://schemas.microsoft.com/office/drawing/2014/main" id="{195E26C6-577E-4F5B-90B0-0355FF04C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3141663"/>
                        <a:ext cx="42497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22">
            <a:extLst>
              <a:ext uri="{FF2B5EF4-FFF2-40B4-BE49-F238E27FC236}">
                <a16:creationId xmlns:a16="http://schemas.microsoft.com/office/drawing/2014/main" id="{5B3E55CF-EE60-403D-AE3A-D726F511C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5" name="Object 23">
            <a:extLst>
              <a:ext uri="{FF2B5EF4-FFF2-40B4-BE49-F238E27FC236}">
                <a16:creationId xmlns:a16="http://schemas.microsoft.com/office/drawing/2014/main" id="{DACAECB6-2D15-46C3-BAF7-05DF0DC81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1" y="4768851"/>
          <a:ext cx="49688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Формула" r:id="rId15" imgW="3454400" imgH="431800" progId="Equation.3">
                  <p:embed/>
                </p:oleObj>
              </mc:Choice>
              <mc:Fallback>
                <p:oleObj name="Формула" r:id="rId15" imgW="3454400" imgH="431800" progId="Equation.3">
                  <p:embed/>
                  <p:pic>
                    <p:nvPicPr>
                      <p:cNvPr id="8215" name="Object 23">
                        <a:extLst>
                          <a:ext uri="{FF2B5EF4-FFF2-40B4-BE49-F238E27FC236}">
                            <a16:creationId xmlns:a16="http://schemas.microsoft.com/office/drawing/2014/main" id="{DACAECB6-2D15-46C3-BAF7-05DF0DC81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768851"/>
                        <a:ext cx="49688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6" name="Rectangle 24">
            <a:extLst>
              <a:ext uri="{FF2B5EF4-FFF2-40B4-BE49-F238E27FC236}">
                <a16:creationId xmlns:a16="http://schemas.microsoft.com/office/drawing/2014/main" id="{F98E7BAF-7127-4D33-B0A1-271A6947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7" name="Object 25">
            <a:extLst>
              <a:ext uri="{FF2B5EF4-FFF2-40B4-BE49-F238E27FC236}">
                <a16:creationId xmlns:a16="http://schemas.microsoft.com/office/drawing/2014/main" id="{87D6EAE2-3015-4843-A17E-2B2619636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5313364"/>
          <a:ext cx="48958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Формула" r:id="rId17" imgW="3352800" imgH="444500" progId="Equation.3">
                  <p:embed/>
                </p:oleObj>
              </mc:Choice>
              <mc:Fallback>
                <p:oleObj name="Формула" r:id="rId17" imgW="3352800" imgH="444500" progId="Equation.3">
                  <p:embed/>
                  <p:pic>
                    <p:nvPicPr>
                      <p:cNvPr id="8217" name="Object 25">
                        <a:extLst>
                          <a:ext uri="{FF2B5EF4-FFF2-40B4-BE49-F238E27FC236}">
                            <a16:creationId xmlns:a16="http://schemas.microsoft.com/office/drawing/2014/main" id="{87D6EAE2-3015-4843-A17E-2B2619636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5313364"/>
                        <a:ext cx="48958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Rectangle 26">
            <a:extLst>
              <a:ext uri="{FF2B5EF4-FFF2-40B4-BE49-F238E27FC236}">
                <a16:creationId xmlns:a16="http://schemas.microsoft.com/office/drawing/2014/main" id="{4877DD15-B65B-45EF-BD65-3C7B136C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28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8219" name="Object 27">
            <a:extLst>
              <a:ext uri="{FF2B5EF4-FFF2-40B4-BE49-F238E27FC236}">
                <a16:creationId xmlns:a16="http://schemas.microsoft.com/office/drawing/2014/main" id="{67D0FCE3-135C-400D-840A-74A809C5C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5949951"/>
          <a:ext cx="46085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Формула" r:id="rId19" imgW="2908300" imgH="342900" progId="Equation.3">
                  <p:embed/>
                </p:oleObj>
              </mc:Choice>
              <mc:Fallback>
                <p:oleObj name="Формула" r:id="rId19" imgW="2908300" imgH="342900" progId="Equation.3">
                  <p:embed/>
                  <p:pic>
                    <p:nvPicPr>
                      <p:cNvPr id="8219" name="Object 27">
                        <a:extLst>
                          <a:ext uri="{FF2B5EF4-FFF2-40B4-BE49-F238E27FC236}">
                            <a16:creationId xmlns:a16="http://schemas.microsoft.com/office/drawing/2014/main" id="{67D0FCE3-135C-400D-840A-74A809C5C4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949951"/>
                        <a:ext cx="46085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20" name="Picture 29" descr=" \|A\|_{F}=\sqrt{\sum_{i=1}^n\sum_{j=1}^m a^2_{ij}} ">
            <a:extLst>
              <a:ext uri="{FF2B5EF4-FFF2-40B4-BE49-F238E27FC236}">
                <a16:creationId xmlns:a16="http://schemas.microsoft.com/office/drawing/2014/main" id="{7633F11F-3235-4047-AF0F-7CFAC0AB0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6" y="5445126"/>
            <a:ext cx="2016125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1" name="Rectangle 30">
            <a:extLst>
              <a:ext uri="{FF2B5EF4-FFF2-40B4-BE49-F238E27FC236}">
                <a16:creationId xmlns:a16="http://schemas.microsoft.com/office/drawing/2014/main" id="{41B57646-4DC1-40B2-A5AA-1FC97A469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4868864"/>
            <a:ext cx="21859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Норма Фробениуса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05E01B-454D-4CC5-AA56-165285C5C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4611C3F-C0F1-41DD-8306-84FEA48FF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628776"/>
            <a:ext cx="40386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ru-RU" sz="2000" b="1"/>
              <a:t>2</a:t>
            </a:r>
            <a:r>
              <a:rPr lang="ru-RU" altLang="ru-RU" sz="2000" b="1"/>
              <a:t>.1. </a:t>
            </a:r>
            <a:r>
              <a:rPr lang="ru-RU" altLang="ru-RU" sz="2000" b="1" u="sng"/>
              <a:t>Задачи оптимизации</a:t>
            </a:r>
            <a:r>
              <a:rPr lang="ru-RU" altLang="ru-RU" sz="2000" b="1"/>
              <a:t>.</a:t>
            </a:r>
          </a:p>
        </p:txBody>
      </p:sp>
      <p:graphicFrame>
        <p:nvGraphicFramePr>
          <p:cNvPr id="9220" name="Object 21">
            <a:extLst>
              <a:ext uri="{FF2B5EF4-FFF2-40B4-BE49-F238E27FC236}">
                <a16:creationId xmlns:a16="http://schemas.microsoft.com/office/drawing/2014/main" id="{43EB9D9C-D32D-4CD3-903F-690266E2D83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108950" y="2584450"/>
          <a:ext cx="165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Формула" r:id="rId3" imgW="164885" imgH="215619" progId="Equation.3">
                  <p:embed/>
                </p:oleObj>
              </mc:Choice>
              <mc:Fallback>
                <p:oleObj name="Формула" r:id="rId3" imgW="164885" imgH="215619" progId="Equation.3">
                  <p:embed/>
                  <p:pic>
                    <p:nvPicPr>
                      <p:cNvPr id="9220" name="Object 21">
                        <a:extLst>
                          <a:ext uri="{FF2B5EF4-FFF2-40B4-BE49-F238E27FC236}">
                            <a16:creationId xmlns:a16="http://schemas.microsoft.com/office/drawing/2014/main" id="{43EB9D9C-D32D-4CD3-903F-690266E2D8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950" y="2584450"/>
                        <a:ext cx="1651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4">
            <a:extLst>
              <a:ext uri="{FF2B5EF4-FFF2-40B4-BE49-F238E27FC236}">
                <a16:creationId xmlns:a16="http://schemas.microsoft.com/office/drawing/2014/main" id="{5CEEDBE4-522D-48B1-B104-BD4529DA3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2" name="Object 5">
            <a:extLst>
              <a:ext uri="{FF2B5EF4-FFF2-40B4-BE49-F238E27FC236}">
                <a16:creationId xmlns:a16="http://schemas.microsoft.com/office/drawing/2014/main" id="{34FD2FA8-3A28-41ED-9CA6-7976B909EC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2205038"/>
          <a:ext cx="3743325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9222" name="Object 5">
                        <a:extLst>
                          <a:ext uri="{FF2B5EF4-FFF2-40B4-BE49-F238E27FC236}">
                            <a16:creationId xmlns:a16="http://schemas.microsoft.com/office/drawing/2014/main" id="{34FD2FA8-3A28-41ED-9CA6-7976B909E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205038"/>
                        <a:ext cx="3743325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6">
            <a:extLst>
              <a:ext uri="{FF2B5EF4-FFF2-40B4-BE49-F238E27FC236}">
                <a16:creationId xmlns:a16="http://schemas.microsoft.com/office/drawing/2014/main" id="{862BA7E1-850A-493D-93E2-0BF7E20ED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4" name="Object 7">
            <a:extLst>
              <a:ext uri="{FF2B5EF4-FFF2-40B4-BE49-F238E27FC236}">
                <a16:creationId xmlns:a16="http://schemas.microsoft.com/office/drawing/2014/main" id="{B9839A9D-54E9-47CE-8AC7-4ECDB3A770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9" y="2205039"/>
          <a:ext cx="345757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9224" name="Object 7">
                        <a:extLst>
                          <a:ext uri="{FF2B5EF4-FFF2-40B4-BE49-F238E27FC236}">
                            <a16:creationId xmlns:a16="http://schemas.microsoft.com/office/drawing/2014/main" id="{B9839A9D-54E9-47CE-8AC7-4ECDB3A770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205039"/>
                        <a:ext cx="3457575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8">
            <a:extLst>
              <a:ext uri="{FF2B5EF4-FFF2-40B4-BE49-F238E27FC236}">
                <a16:creationId xmlns:a16="http://schemas.microsoft.com/office/drawing/2014/main" id="{7210A64B-E511-409A-ABAC-E0FC029B9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6" name="Object 9">
            <a:extLst>
              <a:ext uri="{FF2B5EF4-FFF2-40B4-BE49-F238E27FC236}">
                <a16:creationId xmlns:a16="http://schemas.microsoft.com/office/drawing/2014/main" id="{E04A7AB9-DD9B-4F5C-BF5B-8E75E2580B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4076700"/>
          <a:ext cx="2376487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Формула" r:id="rId9" imgW="1371600" imgH="787400" progId="Equation.3">
                  <p:embed/>
                </p:oleObj>
              </mc:Choice>
              <mc:Fallback>
                <p:oleObj name="Формула" r:id="rId9" imgW="1371600" imgH="787400" progId="Equation.3">
                  <p:embed/>
                  <p:pic>
                    <p:nvPicPr>
                      <p:cNvPr id="9226" name="Object 9">
                        <a:extLst>
                          <a:ext uri="{FF2B5EF4-FFF2-40B4-BE49-F238E27FC236}">
                            <a16:creationId xmlns:a16="http://schemas.microsoft.com/office/drawing/2014/main" id="{E04A7AB9-DD9B-4F5C-BF5B-8E75E2580B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4076700"/>
                        <a:ext cx="2376487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Rectangle 10">
            <a:extLst>
              <a:ext uri="{FF2B5EF4-FFF2-40B4-BE49-F238E27FC236}">
                <a16:creationId xmlns:a16="http://schemas.microsoft.com/office/drawing/2014/main" id="{F5E02CFA-CD63-4D69-AC31-1D56CCA50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39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AC5F6B1B-1ECF-4036-B796-0C4E4318B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90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9229" name="Object 12">
            <a:extLst>
              <a:ext uri="{FF2B5EF4-FFF2-40B4-BE49-F238E27FC236}">
                <a16:creationId xmlns:a16="http://schemas.microsoft.com/office/drawing/2014/main" id="{9DF1EDFC-C764-4E97-A54B-EEF75D9BBE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4005264"/>
          <a:ext cx="21590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Формула" r:id="rId11" imgW="1066800" imgH="787400" progId="Equation.3">
                  <p:embed/>
                </p:oleObj>
              </mc:Choice>
              <mc:Fallback>
                <p:oleObj name="Формула" r:id="rId11" imgW="1066800" imgH="787400" progId="Equation.3">
                  <p:embed/>
                  <p:pic>
                    <p:nvPicPr>
                      <p:cNvPr id="9229" name="Object 12">
                        <a:extLst>
                          <a:ext uri="{FF2B5EF4-FFF2-40B4-BE49-F238E27FC236}">
                            <a16:creationId xmlns:a16="http://schemas.microsoft.com/office/drawing/2014/main" id="{9DF1EDFC-C764-4E97-A54B-EEF75D9BBE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4005264"/>
                        <a:ext cx="215900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Rectangle 13">
            <a:extLst>
              <a:ext uri="{FF2B5EF4-FFF2-40B4-BE49-F238E27FC236}">
                <a16:creationId xmlns:a16="http://schemas.microsoft.com/office/drawing/2014/main" id="{EE9594FF-F48D-4331-B853-EEA762775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1928814"/>
            <a:ext cx="1152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cs typeface="Times New Roman" panose="02020603050405020304" pitchFamily="18" charset="0"/>
              </a:rPr>
              <a:t>Задача </a:t>
            </a:r>
            <a:endParaRPr lang="ru-RU" altLang="ru-RU" sz="2000"/>
          </a:p>
        </p:txBody>
      </p:sp>
      <p:graphicFrame>
        <p:nvGraphicFramePr>
          <p:cNvPr id="9231" name="Object 14">
            <a:extLst>
              <a:ext uri="{FF2B5EF4-FFF2-40B4-BE49-F238E27FC236}">
                <a16:creationId xmlns:a16="http://schemas.microsoft.com/office/drawing/2014/main" id="{1752BF2A-62FC-4BD3-9326-BEA2242D3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1989138"/>
          <a:ext cx="2857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Формула" r:id="rId13" imgW="164885" imgH="215619" progId="Equation.3">
                  <p:embed/>
                </p:oleObj>
              </mc:Choice>
              <mc:Fallback>
                <p:oleObj name="Формула" r:id="rId13" imgW="164885" imgH="215619" progId="Equation.3">
                  <p:embed/>
                  <p:pic>
                    <p:nvPicPr>
                      <p:cNvPr id="9231" name="Object 14">
                        <a:extLst>
                          <a:ext uri="{FF2B5EF4-FFF2-40B4-BE49-F238E27FC236}">
                            <a16:creationId xmlns:a16="http://schemas.microsoft.com/office/drawing/2014/main" id="{1752BF2A-62FC-4BD3-9326-BEA2242D3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1989138"/>
                        <a:ext cx="2857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16">
            <a:extLst>
              <a:ext uri="{FF2B5EF4-FFF2-40B4-BE49-F238E27FC236}">
                <a16:creationId xmlns:a16="http://schemas.microsoft.com/office/drawing/2014/main" id="{28984682-BE9E-4A5A-8F6E-61E540E4A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4" y="1617733"/>
            <a:ext cx="13684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cs typeface="Times New Roman" panose="02020603050405020304" pitchFamily="18" charset="0"/>
              </a:rPr>
              <a:t>Задача</a:t>
            </a:r>
            <a:r>
              <a:rPr lang="ru-RU" altLang="ru-RU" sz="1200" b="1">
                <a:cs typeface="Times New Roman" panose="02020603050405020304" pitchFamily="18" charset="0"/>
              </a:rPr>
              <a:t> </a:t>
            </a:r>
            <a:r>
              <a:rPr lang="ru-RU" altLang="ru-RU" sz="1200" b="1"/>
              <a:t> </a:t>
            </a:r>
            <a:r>
              <a:rPr lang="en-US" altLang="ru-RU" sz="2000" i="1"/>
              <a:t>P</a:t>
            </a:r>
            <a:r>
              <a:rPr lang="en-US" altLang="ru-RU" sz="1200" i="1"/>
              <a:t>1</a:t>
            </a:r>
            <a:endParaRPr lang="ru-RU" altLang="ru-RU" sz="1200" i="1"/>
          </a:p>
        </p:txBody>
      </p:sp>
      <p:sp>
        <p:nvSpPr>
          <p:cNvPr id="9233" name="Rectangle 19">
            <a:extLst>
              <a:ext uri="{FF2B5EF4-FFF2-40B4-BE49-F238E27FC236}">
                <a16:creationId xmlns:a16="http://schemas.microsoft.com/office/drawing/2014/main" id="{D3B04125-2356-41EA-8123-27AB4342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373688"/>
            <a:ext cx="7920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Решением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называется любой вектор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удовлетворяющий ограничениям </a:t>
            </a:r>
          </a:p>
        </p:txBody>
      </p:sp>
      <p:graphicFrame>
        <p:nvGraphicFramePr>
          <p:cNvPr id="9234" name="Object 20">
            <a:extLst>
              <a:ext uri="{FF2B5EF4-FFF2-40B4-BE49-F238E27FC236}">
                <a16:creationId xmlns:a16="http://schemas.microsoft.com/office/drawing/2014/main" id="{2A268B73-E094-4650-B05A-736A1035D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4" y="5805489"/>
          <a:ext cx="19446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Формула" r:id="rId14" imgW="1371600" imgH="482600" progId="Equation.3">
                  <p:embed/>
                </p:oleObj>
              </mc:Choice>
              <mc:Fallback>
                <p:oleObj name="Формула" r:id="rId14" imgW="1371600" imgH="482600" progId="Equation.3">
                  <p:embed/>
                  <p:pic>
                    <p:nvPicPr>
                      <p:cNvPr id="9234" name="Object 20">
                        <a:extLst>
                          <a:ext uri="{FF2B5EF4-FFF2-40B4-BE49-F238E27FC236}">
                            <a16:creationId xmlns:a16="http://schemas.microsoft.com/office/drawing/2014/main" id="{2A268B73-E094-4650-B05A-736A1035D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5805489"/>
                        <a:ext cx="19446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26">
            <a:extLst>
              <a:ext uri="{FF2B5EF4-FFF2-40B4-BE49-F238E27FC236}">
                <a16:creationId xmlns:a16="http://schemas.microsoft.com/office/drawing/2014/main" id="{77A020AE-C8F6-4302-8DBE-D67CB34E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A9A81EC-3BDB-431F-BDA9-1C343AE64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E5E3D34-BE77-4A6D-8424-39E8C130B7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altLang="ru-RU" sz="2000" b="1"/>
              <a:t>2</a:t>
            </a:r>
            <a:r>
              <a:rPr lang="ru-RU" altLang="ru-RU" sz="2000" b="1"/>
              <a:t>.1. </a:t>
            </a:r>
            <a:r>
              <a:rPr lang="ru-RU" altLang="ru-RU" sz="2000" b="1" u="sng"/>
              <a:t>Задачи оптимизации</a:t>
            </a:r>
            <a:r>
              <a:rPr lang="ru-RU" altLang="ru-RU" sz="2000" b="1"/>
              <a:t>.</a:t>
            </a:r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0778B0E6-966D-4530-9297-CEA3E3D34F6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108950" y="2584450"/>
          <a:ext cx="165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Формула" r:id="rId3" imgW="164885" imgH="215619" progId="Equation.3">
                  <p:embed/>
                </p:oleObj>
              </mc:Choice>
              <mc:Fallback>
                <p:oleObj name="Формула" r:id="rId3" imgW="164885" imgH="215619" progId="Equation.3">
                  <p:embed/>
                  <p:pic>
                    <p:nvPicPr>
                      <p:cNvPr id="10244" name="Object 4">
                        <a:extLst>
                          <a:ext uri="{FF2B5EF4-FFF2-40B4-BE49-F238E27FC236}">
                            <a16:creationId xmlns:a16="http://schemas.microsoft.com/office/drawing/2014/main" id="{0778B0E6-966D-4530-9297-CEA3E3D34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950" y="2584450"/>
                        <a:ext cx="1651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>
            <a:extLst>
              <a:ext uri="{FF2B5EF4-FFF2-40B4-BE49-F238E27FC236}">
                <a16:creationId xmlns:a16="http://schemas.microsoft.com/office/drawing/2014/main" id="{BFB6E5BE-6F97-41E2-B6E4-DD708822B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44320846-0901-448F-8297-1F76BD85C1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2205038"/>
          <a:ext cx="3743325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44320846-0901-448F-8297-1F76BD85C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205038"/>
                        <a:ext cx="3743325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>
            <a:extLst>
              <a:ext uri="{FF2B5EF4-FFF2-40B4-BE49-F238E27FC236}">
                <a16:creationId xmlns:a16="http://schemas.microsoft.com/office/drawing/2014/main" id="{BEEDC753-5F6F-464F-A725-4862527C1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A53F2DD5-C397-4C46-AC9F-552D749DB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4" y="2205039"/>
          <a:ext cx="345757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A53F2DD5-C397-4C46-AC9F-552D749DB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2205039"/>
                        <a:ext cx="3457575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9">
            <a:extLst>
              <a:ext uri="{FF2B5EF4-FFF2-40B4-BE49-F238E27FC236}">
                <a16:creationId xmlns:a16="http://schemas.microsoft.com/office/drawing/2014/main" id="{2608AE2D-6E39-4B35-B57E-BB563B039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0" name="Rectangle 11">
            <a:extLst>
              <a:ext uri="{FF2B5EF4-FFF2-40B4-BE49-F238E27FC236}">
                <a16:creationId xmlns:a16="http://schemas.microsoft.com/office/drawing/2014/main" id="{E984AE77-CDDE-4EED-B44A-A622A3746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1" name="Rectangle 12">
            <a:extLst>
              <a:ext uri="{FF2B5EF4-FFF2-40B4-BE49-F238E27FC236}">
                <a16:creationId xmlns:a16="http://schemas.microsoft.com/office/drawing/2014/main" id="{FCE9E47B-FD50-43BE-AB5B-E45E043A1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90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2" name="Rectangle 14">
            <a:extLst>
              <a:ext uri="{FF2B5EF4-FFF2-40B4-BE49-F238E27FC236}">
                <a16:creationId xmlns:a16="http://schemas.microsoft.com/office/drawing/2014/main" id="{453D3A34-B28A-48E5-BBB8-09AAB6D4B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1928814"/>
            <a:ext cx="1152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cs typeface="Times New Roman" panose="02020603050405020304" pitchFamily="18" charset="0"/>
              </a:rPr>
              <a:t>Задача </a:t>
            </a:r>
            <a:endParaRPr lang="ru-RU" altLang="ru-RU" sz="2000"/>
          </a:p>
        </p:txBody>
      </p:sp>
      <p:graphicFrame>
        <p:nvGraphicFramePr>
          <p:cNvPr id="10253" name="Object 15">
            <a:extLst>
              <a:ext uri="{FF2B5EF4-FFF2-40B4-BE49-F238E27FC236}">
                <a16:creationId xmlns:a16="http://schemas.microsoft.com/office/drawing/2014/main" id="{F68CD636-53BD-40F3-A9CF-6EB4145617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1989138"/>
          <a:ext cx="2857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Формула" r:id="rId9" imgW="164885" imgH="215619" progId="Equation.3">
                  <p:embed/>
                </p:oleObj>
              </mc:Choice>
              <mc:Fallback>
                <p:oleObj name="Формула" r:id="rId9" imgW="164885" imgH="215619" progId="Equation.3">
                  <p:embed/>
                  <p:pic>
                    <p:nvPicPr>
                      <p:cNvPr id="10253" name="Object 15">
                        <a:extLst>
                          <a:ext uri="{FF2B5EF4-FFF2-40B4-BE49-F238E27FC236}">
                            <a16:creationId xmlns:a16="http://schemas.microsoft.com/office/drawing/2014/main" id="{F68CD636-53BD-40F3-A9CF-6EB4145617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1989138"/>
                        <a:ext cx="2857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Rectangle 16">
            <a:extLst>
              <a:ext uri="{FF2B5EF4-FFF2-40B4-BE49-F238E27FC236}">
                <a16:creationId xmlns:a16="http://schemas.microsoft.com/office/drawing/2014/main" id="{7B8B8BB3-0A6E-4C60-B4E2-CC589C88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4" y="1617733"/>
            <a:ext cx="13684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cs typeface="Times New Roman" panose="02020603050405020304" pitchFamily="18" charset="0"/>
              </a:rPr>
              <a:t>Задача</a:t>
            </a:r>
            <a:r>
              <a:rPr lang="ru-RU" altLang="ru-RU" sz="1200" b="1">
                <a:cs typeface="Times New Roman" panose="02020603050405020304" pitchFamily="18" charset="0"/>
              </a:rPr>
              <a:t> </a:t>
            </a:r>
            <a:r>
              <a:rPr lang="ru-RU" altLang="ru-RU" sz="1200" b="1"/>
              <a:t> </a:t>
            </a:r>
            <a:r>
              <a:rPr lang="en-US" altLang="ru-RU" sz="2000" i="1"/>
              <a:t>P</a:t>
            </a:r>
            <a:r>
              <a:rPr lang="en-US" altLang="ru-RU" sz="1200" i="1"/>
              <a:t>1</a:t>
            </a:r>
            <a:endParaRPr lang="ru-RU" altLang="ru-RU" sz="1200" i="1"/>
          </a:p>
        </p:txBody>
      </p:sp>
      <p:sp>
        <p:nvSpPr>
          <p:cNvPr id="10255" name="Rectangle 20">
            <a:extLst>
              <a:ext uri="{FF2B5EF4-FFF2-40B4-BE49-F238E27FC236}">
                <a16:creationId xmlns:a16="http://schemas.microsoft.com/office/drawing/2014/main" id="{BA9D92B4-61D8-474E-B6C5-0E4A6141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0256" name="Rectangle 21">
            <a:extLst>
              <a:ext uri="{FF2B5EF4-FFF2-40B4-BE49-F238E27FC236}">
                <a16:creationId xmlns:a16="http://schemas.microsoft.com/office/drawing/2014/main" id="{60AC6D33-A39D-4ED3-A946-D70E2846B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8" y="4211638"/>
            <a:ext cx="8856662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Оптимальным решением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(или глобальным оптимумом) 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называется решение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минимизирующее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– целевую функцию на множестве всех решений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539C26-0158-4528-946B-B38D9B452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1164" y="260350"/>
            <a:ext cx="11222181" cy="1143000"/>
          </a:xfrm>
        </p:spPr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95E1ACB-9203-49EF-9F11-F38AA42741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55788" y="1409701"/>
            <a:ext cx="40386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ru-RU" sz="2000" b="1"/>
              <a:t>2</a:t>
            </a:r>
            <a:r>
              <a:rPr lang="ru-RU" altLang="ru-RU" sz="2000" b="1"/>
              <a:t>.</a:t>
            </a:r>
            <a:r>
              <a:rPr lang="en-US" altLang="ru-RU" sz="2000" b="1"/>
              <a:t>1</a:t>
            </a:r>
            <a:r>
              <a:rPr lang="ru-RU" altLang="ru-RU" sz="2000" b="1"/>
              <a:t>. </a:t>
            </a:r>
            <a:r>
              <a:rPr lang="ru-RU" altLang="ru-RU" sz="2000" b="1" u="sng"/>
              <a:t>Задачи оптимизации</a:t>
            </a:r>
            <a:r>
              <a:rPr lang="ru-RU" altLang="ru-RU" sz="2000" b="1"/>
              <a:t>.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227A0714-C1CE-42DD-93D1-6E6FE3643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58E70E80-B197-4F31-9350-8D09D3394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0" name="Rectangle 9">
            <a:extLst>
              <a:ext uri="{FF2B5EF4-FFF2-40B4-BE49-F238E27FC236}">
                <a16:creationId xmlns:a16="http://schemas.microsoft.com/office/drawing/2014/main" id="{DCAC4CEE-A40D-436F-8E06-1DEC48B04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4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1" name="Rectangle 10">
            <a:extLst>
              <a:ext uri="{FF2B5EF4-FFF2-40B4-BE49-F238E27FC236}">
                <a16:creationId xmlns:a16="http://schemas.microsoft.com/office/drawing/2014/main" id="{F4BA3678-3E5C-4BE8-8CE9-8835DB620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2" name="Rectangle 11">
            <a:extLst>
              <a:ext uri="{FF2B5EF4-FFF2-40B4-BE49-F238E27FC236}">
                <a16:creationId xmlns:a16="http://schemas.microsoft.com/office/drawing/2014/main" id="{E236AD8D-3D5B-4085-BBEF-76256A004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3" name="Rectangle 14">
            <a:extLst>
              <a:ext uri="{FF2B5EF4-FFF2-40B4-BE49-F238E27FC236}">
                <a16:creationId xmlns:a16="http://schemas.microsoft.com/office/drawing/2014/main" id="{30A552F3-09C5-438E-A39B-85CCB1685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1905070"/>
            <a:ext cx="13684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cs typeface="Times New Roman" panose="02020603050405020304" pitchFamily="18" charset="0"/>
              </a:rPr>
              <a:t>Задача</a:t>
            </a:r>
            <a:r>
              <a:rPr lang="ru-RU" altLang="ru-RU" sz="1200" b="1">
                <a:cs typeface="Times New Roman" panose="02020603050405020304" pitchFamily="18" charset="0"/>
              </a:rPr>
              <a:t> </a:t>
            </a:r>
            <a:r>
              <a:rPr lang="ru-RU" altLang="ru-RU" sz="1200" b="1"/>
              <a:t> </a:t>
            </a:r>
            <a:r>
              <a:rPr lang="en-US" altLang="ru-RU" sz="2000" i="1"/>
              <a:t>P</a:t>
            </a:r>
            <a:r>
              <a:rPr lang="en-US" altLang="ru-RU" sz="1200" i="1"/>
              <a:t>2</a:t>
            </a:r>
            <a:endParaRPr lang="ru-RU" altLang="ru-RU" sz="1200" i="1"/>
          </a:p>
        </p:txBody>
      </p:sp>
      <p:sp>
        <p:nvSpPr>
          <p:cNvPr id="11274" name="Rectangle 15">
            <a:extLst>
              <a:ext uri="{FF2B5EF4-FFF2-40B4-BE49-F238E27FC236}">
                <a16:creationId xmlns:a16="http://schemas.microsoft.com/office/drawing/2014/main" id="{38DB26EB-6176-4EAE-AE7E-756279289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75" name="Rectangle 16">
            <a:extLst>
              <a:ext uri="{FF2B5EF4-FFF2-40B4-BE49-F238E27FC236}">
                <a16:creationId xmlns:a16="http://schemas.microsoft.com/office/drawing/2014/main" id="{8300F13C-463B-48E6-A362-1807395BE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8" y="4149725"/>
            <a:ext cx="88566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sym typeface="Symbol" panose="05050102010706020507" pitchFamily="18" charset="2"/>
              </a:rPr>
              <a:t>Локальным оптимумом</a:t>
            </a:r>
            <a:r>
              <a:rPr lang="ru-RU" altLang="ru-RU" sz="1800">
                <a:sym typeface="Symbol" panose="05050102010706020507" pitchFamily="18" charset="2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является вектор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для которого существует окрестность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такая, что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является оптимальным решением 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на множестве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x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1276" name="Object 18">
            <a:extLst>
              <a:ext uri="{FF2B5EF4-FFF2-40B4-BE49-F238E27FC236}">
                <a16:creationId xmlns:a16="http://schemas.microsoft.com/office/drawing/2014/main" id="{A184C3E4-6961-4977-83D3-068FC8B56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5564" y="2471739"/>
          <a:ext cx="19446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Формула" r:id="rId3" imgW="1066800" imgH="787400" progId="Equation.3">
                  <p:embed/>
                </p:oleObj>
              </mc:Choice>
              <mc:Fallback>
                <p:oleObj name="Формула" r:id="rId3" imgW="1066800" imgH="787400" progId="Equation.3">
                  <p:embed/>
                  <p:pic>
                    <p:nvPicPr>
                      <p:cNvPr id="11276" name="Object 18">
                        <a:extLst>
                          <a:ext uri="{FF2B5EF4-FFF2-40B4-BE49-F238E27FC236}">
                            <a16:creationId xmlns:a16="http://schemas.microsoft.com/office/drawing/2014/main" id="{A184C3E4-6961-4977-83D3-068FC8B56E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4" y="2471739"/>
                        <a:ext cx="1944687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20">
            <a:extLst>
              <a:ext uri="{FF2B5EF4-FFF2-40B4-BE49-F238E27FC236}">
                <a16:creationId xmlns:a16="http://schemas.microsoft.com/office/drawing/2014/main" id="{6AFB1944-1875-447F-A5F5-EAB22EEF93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2492376"/>
          <a:ext cx="24479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11277" name="Object 20">
                        <a:extLst>
                          <a:ext uri="{FF2B5EF4-FFF2-40B4-BE49-F238E27FC236}">
                            <a16:creationId xmlns:a16="http://schemas.microsoft.com/office/drawing/2014/main" id="{6AFB1944-1875-447F-A5F5-EAB22EEF93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492376"/>
                        <a:ext cx="24479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23">
            <a:extLst>
              <a:ext uri="{FF2B5EF4-FFF2-40B4-BE49-F238E27FC236}">
                <a16:creationId xmlns:a16="http://schemas.microsoft.com/office/drawing/2014/main" id="{9F7F28AE-DEB2-4741-8C39-249D9E55A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1279" name="Object 22">
            <a:extLst>
              <a:ext uri="{FF2B5EF4-FFF2-40B4-BE49-F238E27FC236}">
                <a16:creationId xmlns:a16="http://schemas.microsoft.com/office/drawing/2014/main" id="{B0F9FB22-EB9E-48E7-BD7F-5562AD0687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7801" y="2133600"/>
          <a:ext cx="2881313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1279" name="Object 22">
                        <a:extLst>
                          <a:ext uri="{FF2B5EF4-FFF2-40B4-BE49-F238E27FC236}">
                            <a16:creationId xmlns:a16="http://schemas.microsoft.com/office/drawing/2014/main" id="{B0F9FB22-EB9E-48E7-BD7F-5562AD0687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1" y="2133600"/>
                        <a:ext cx="2881313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Rectangle 24">
            <a:extLst>
              <a:ext uri="{FF2B5EF4-FFF2-40B4-BE49-F238E27FC236}">
                <a16:creationId xmlns:a16="http://schemas.microsoft.com/office/drawing/2014/main" id="{B6C3F878-69BE-4510-8C73-08CB2E393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6" y="1628776"/>
            <a:ext cx="35290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Полимодальная функция.</a:t>
            </a:r>
          </a:p>
        </p:txBody>
      </p:sp>
      <p:sp>
        <p:nvSpPr>
          <p:cNvPr id="11281" name="Rectangle 25">
            <a:extLst>
              <a:ext uri="{FF2B5EF4-FFF2-40B4-BE49-F238E27FC236}">
                <a16:creationId xmlns:a16="http://schemas.microsoft.com/office/drawing/2014/main" id="{2B323137-A398-4F92-8C83-5662F0A56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0" y="1700213"/>
            <a:ext cx="463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/>
              <a:t>P2</a:t>
            </a:r>
            <a:endParaRPr lang="ru-RU" altLang="ru-RU" sz="1800" i="1"/>
          </a:p>
        </p:txBody>
      </p:sp>
      <p:sp>
        <p:nvSpPr>
          <p:cNvPr id="11282" name="Rectangle 26">
            <a:extLst>
              <a:ext uri="{FF2B5EF4-FFF2-40B4-BE49-F238E27FC236}">
                <a16:creationId xmlns:a16="http://schemas.microsoft.com/office/drawing/2014/main" id="{64E570A6-BE24-449E-9CC9-1070D498A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9" y="4999038"/>
            <a:ext cx="86058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Глобальным оптимумом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 является решение, удовлетворяющее условию </a:t>
            </a:r>
          </a:p>
        </p:txBody>
      </p:sp>
      <p:sp>
        <p:nvSpPr>
          <p:cNvPr id="11283" name="Rectangle 28">
            <a:extLst>
              <a:ext uri="{FF2B5EF4-FFF2-40B4-BE49-F238E27FC236}">
                <a16:creationId xmlns:a16="http://schemas.microsoft.com/office/drawing/2014/main" id="{F4C78C21-0D64-40B2-9D45-CCC45E862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284" name="Rectangle 29">
            <a:extLst>
              <a:ext uri="{FF2B5EF4-FFF2-40B4-BE49-F238E27FC236}">
                <a16:creationId xmlns:a16="http://schemas.microsoft.com/office/drawing/2014/main" id="{74A8B93F-DCD7-4454-832F-96D8E2C6C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5661025"/>
            <a:ext cx="8928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Множество локальных оптимумов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включающее также глобальный оптимум,  носит название </a:t>
            </a:r>
            <a:r>
              <a:rPr lang="ru-RU" altLang="ru-RU" sz="1800" b="1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эффективных решений</a:t>
            </a:r>
            <a:endParaRPr lang="ru-RU" altLang="ru-RU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285" name="Object 32">
            <a:extLst>
              <a:ext uri="{FF2B5EF4-FFF2-40B4-BE49-F238E27FC236}">
                <a16:creationId xmlns:a16="http://schemas.microsoft.com/office/drawing/2014/main" id="{79078A76-2C90-4B53-B6E7-90CA51FC756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43251" y="5300663"/>
          <a:ext cx="482441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Формула" r:id="rId9" imgW="3390900" imgH="241300" progId="Equation.3">
                  <p:embed/>
                </p:oleObj>
              </mc:Choice>
              <mc:Fallback>
                <p:oleObj name="Формула" r:id="rId9" imgW="3390900" imgH="241300" progId="Equation.3">
                  <p:embed/>
                  <p:pic>
                    <p:nvPicPr>
                      <p:cNvPr id="11285" name="Object 32">
                        <a:extLst>
                          <a:ext uri="{FF2B5EF4-FFF2-40B4-BE49-F238E27FC236}">
                            <a16:creationId xmlns:a16="http://schemas.microsoft.com/office/drawing/2014/main" id="{79078A76-2C90-4B53-B6E7-90CA51FC75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5300663"/>
                        <a:ext cx="482441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5826B61-C584-4FC6-A93D-86ABB0B4F7B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60096" y="5933043"/>
            <a:ext cx="1607620" cy="369332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B24AF5F-6A3F-4AF6-97E2-89DFEB6FA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8C0FC0E-5AEA-486A-A4F4-B622D3525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4688" y="162718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u="sng"/>
              <a:t>2</a:t>
            </a:r>
            <a:r>
              <a:rPr lang="ru-RU" altLang="ru-RU" sz="2400" b="1" u="sng"/>
              <a:t>.2. Выпуклые множества</a:t>
            </a:r>
            <a:r>
              <a:rPr lang="ru-RU" altLang="ru-RU" sz="2400" b="1"/>
              <a:t>.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0D666EEC-DFF6-423A-8A54-EED88D59D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203450"/>
            <a:ext cx="70389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Определение 1</a:t>
            </a:r>
            <a:r>
              <a:rPr lang="ru-RU" altLang="ru-RU" sz="1800" b="1"/>
              <a:t>: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  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называется выпуклым, если </a:t>
            </a: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E646D42E-3E56-4F61-844B-3F1859F3E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1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2294" name="Object 5">
            <a:extLst>
              <a:ext uri="{FF2B5EF4-FFF2-40B4-BE49-F238E27FC236}">
                <a16:creationId xmlns:a16="http://schemas.microsoft.com/office/drawing/2014/main" id="{2DB9B373-E4C5-4CBE-A519-0517A29FF5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2492376"/>
          <a:ext cx="70564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Формула" r:id="rId3" imgW="4203700" imgH="304800" progId="Equation.3">
                  <p:embed/>
                </p:oleObj>
              </mc:Choice>
              <mc:Fallback>
                <p:oleObj name="Формула" r:id="rId3" imgW="4203700" imgH="304800" progId="Equation.3">
                  <p:embed/>
                  <p:pic>
                    <p:nvPicPr>
                      <p:cNvPr id="12294" name="Object 5">
                        <a:extLst>
                          <a:ext uri="{FF2B5EF4-FFF2-40B4-BE49-F238E27FC236}">
                            <a16:creationId xmlns:a16="http://schemas.microsoft.com/office/drawing/2014/main" id="{2DB9B373-E4C5-4CBE-A519-0517A29FF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492376"/>
                        <a:ext cx="705643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8">
            <a:extLst>
              <a:ext uri="{FF2B5EF4-FFF2-40B4-BE49-F238E27FC236}">
                <a16:creationId xmlns:a16="http://schemas.microsoft.com/office/drawing/2014/main" id="{B107087B-812C-4427-BC88-3BE673EDB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10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2296" name="Object 7">
            <a:extLst>
              <a:ext uri="{FF2B5EF4-FFF2-40B4-BE49-F238E27FC236}">
                <a16:creationId xmlns:a16="http://schemas.microsoft.com/office/drawing/2014/main" id="{3E2E53DB-1253-4BCB-B212-F98834E40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5663" y="2697163"/>
          <a:ext cx="2665412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Рисунок" r:id="rId5" imgW="2743200" imgH="1828800" progId="Word.Picture.8">
                  <p:embed/>
                </p:oleObj>
              </mc:Choice>
              <mc:Fallback>
                <p:oleObj name="Рисунок" r:id="rId5" imgW="2743200" imgH="1828800" progId="Word.Picture.8">
                  <p:embed/>
                  <p:pic>
                    <p:nvPicPr>
                      <p:cNvPr id="12296" name="Object 7">
                        <a:extLst>
                          <a:ext uri="{FF2B5EF4-FFF2-40B4-BE49-F238E27FC236}">
                            <a16:creationId xmlns:a16="http://schemas.microsoft.com/office/drawing/2014/main" id="{3E2E53DB-1253-4BCB-B212-F98834E406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2697163"/>
                        <a:ext cx="2665412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Rectangle 10">
            <a:extLst>
              <a:ext uri="{FF2B5EF4-FFF2-40B4-BE49-F238E27FC236}">
                <a16:creationId xmlns:a16="http://schemas.microsoft.com/office/drawing/2014/main" id="{EC7C49C4-7FC6-492F-8577-50CAEDC76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82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2298" name="Object 9">
            <a:extLst>
              <a:ext uri="{FF2B5EF4-FFF2-40B4-BE49-F238E27FC236}">
                <a16:creationId xmlns:a16="http://schemas.microsoft.com/office/drawing/2014/main" id="{EBF3153A-0A15-4092-BF78-D61BE3DFB6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3" y="2636839"/>
          <a:ext cx="2519362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2298" name="Object 9">
                        <a:extLst>
                          <a:ext uri="{FF2B5EF4-FFF2-40B4-BE49-F238E27FC236}">
                            <a16:creationId xmlns:a16="http://schemas.microsoft.com/office/drawing/2014/main" id="{EBF3153A-0A15-4092-BF78-D61BE3DFB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2636839"/>
                        <a:ext cx="2519362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2">
            <a:extLst>
              <a:ext uri="{FF2B5EF4-FFF2-40B4-BE49-F238E27FC236}">
                <a16:creationId xmlns:a16="http://schemas.microsoft.com/office/drawing/2014/main" id="{79B7BDCA-F038-4755-8A95-F947637B4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4941888"/>
          <a:ext cx="9350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Формула" r:id="rId9" imgW="583947" imgH="431613" progId="Equation.3">
                  <p:embed/>
                </p:oleObj>
              </mc:Choice>
              <mc:Fallback>
                <p:oleObj name="Формула" r:id="rId9" imgW="583947" imgH="431613" progId="Equation.3">
                  <p:embed/>
                  <p:pic>
                    <p:nvPicPr>
                      <p:cNvPr id="12299" name="Object 12">
                        <a:extLst>
                          <a:ext uri="{FF2B5EF4-FFF2-40B4-BE49-F238E27FC236}">
                            <a16:creationId xmlns:a16="http://schemas.microsoft.com/office/drawing/2014/main" id="{79B7BDCA-F038-4755-8A95-F947637B4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941888"/>
                        <a:ext cx="93503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1">
            <a:extLst>
              <a:ext uri="{FF2B5EF4-FFF2-40B4-BE49-F238E27FC236}">
                <a16:creationId xmlns:a16="http://schemas.microsoft.com/office/drawing/2014/main" id="{B172BB3F-D316-4B34-903B-3C2C103FA6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3614" y="4868864"/>
          <a:ext cx="19446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Формула" r:id="rId11" imgW="1206500" imgH="431800" progId="Equation.3">
                  <p:embed/>
                </p:oleObj>
              </mc:Choice>
              <mc:Fallback>
                <p:oleObj name="Формула" r:id="rId11" imgW="1206500" imgH="431800" progId="Equation.3">
                  <p:embed/>
                  <p:pic>
                    <p:nvPicPr>
                      <p:cNvPr id="12300" name="Object 11">
                        <a:extLst>
                          <a:ext uri="{FF2B5EF4-FFF2-40B4-BE49-F238E27FC236}">
                            <a16:creationId xmlns:a16="http://schemas.microsoft.com/office/drawing/2014/main" id="{B172BB3F-D316-4B34-903B-3C2C103FA6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4868864"/>
                        <a:ext cx="19446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3">
            <a:extLst>
              <a:ext uri="{FF2B5EF4-FFF2-40B4-BE49-F238E27FC236}">
                <a16:creationId xmlns:a16="http://schemas.microsoft.com/office/drawing/2014/main" id="{007FC3CE-F813-44C9-A641-6B5C7A15E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4149725"/>
            <a:ext cx="8569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cs typeface="Times New Roman" panose="02020603050405020304" pitchFamily="18" charset="0"/>
              </a:rPr>
              <a:t>Обобщение</a:t>
            </a:r>
            <a:r>
              <a:rPr lang="ru-RU" altLang="ru-RU" sz="1800" b="1">
                <a:cs typeface="Times New Roman" panose="02020603050405020304" pitchFamily="18" charset="0"/>
              </a:rPr>
              <a:t>: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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тогда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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выпуклая комбинация этих точек, если существуют числа (коэффициенты) </a:t>
            </a:r>
            <a:r>
              <a:rPr lang="ru-RU" altLang="ru-RU" sz="1800" baseline="-30000">
                <a:cs typeface="Times New Roman" panose="02020603050405020304" pitchFamily="18" charset="0"/>
              </a:rPr>
              <a:t>1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,</a:t>
            </a:r>
            <a:r>
              <a:rPr lang="ru-RU" altLang="ru-RU" sz="1800" baseline="-30000">
                <a:cs typeface="Times New Roman" panose="02020603050405020304" pitchFamily="18" charset="0"/>
              </a:rPr>
              <a:t>2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,…,</a:t>
            </a:r>
            <a:r>
              <a:rPr lang="en-US" altLang="ru-RU" sz="1800" baseline="-30000">
                <a:cs typeface="Times New Roman" panose="02020603050405020304" pitchFamily="18" charset="0"/>
              </a:rPr>
              <a:t>k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(0 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ru-RU" sz="1800" baseline="-30000">
                <a:cs typeface="Times New Roman" panose="02020603050405020304" pitchFamily="18" charset="0"/>
              </a:rPr>
              <a:t>i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1), такие, что </a:t>
            </a:r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01886273-391E-4564-8A24-DC9FFB4F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5012016"/>
            <a:ext cx="4203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cs typeface="Times New Roman" panose="02020603050405020304" pitchFamily="18" charset="0"/>
              </a:rPr>
              <a:t>и </a:t>
            </a:r>
            <a:endParaRPr lang="ru-RU" altLang="ru-RU" sz="1800"/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3D7AD052-2708-437C-9267-76E327873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5589588"/>
            <a:ext cx="8785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– выпукло, тогда и только тогда, если любая выпуклая комбинация точек из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принадлежит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2304" name="Rectangle 17">
            <a:extLst>
              <a:ext uri="{FF2B5EF4-FFF2-40B4-BE49-F238E27FC236}">
                <a16:creationId xmlns:a16="http://schemas.microsoft.com/office/drawing/2014/main" id="{DB0C52BD-3B24-4189-A47F-13FE2E041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2305" name="Прямоугольник 2">
            <a:extLst>
              <a:ext uri="{FF2B5EF4-FFF2-40B4-BE49-F238E27FC236}">
                <a16:creationId xmlns:a16="http://schemas.microsoft.com/office/drawing/2014/main" id="{42A7AFCD-2BAA-43C1-99C4-F9CA73BB3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2216150"/>
            <a:ext cx="895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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ru-RU" altLang="ru-RU" sz="1800"/>
          </a:p>
        </p:txBody>
      </p:sp>
      <p:sp>
        <p:nvSpPr>
          <p:cNvPr id="12306" name="Прямоугольник 21">
            <a:extLst>
              <a:ext uri="{FF2B5EF4-FFF2-40B4-BE49-F238E27FC236}">
                <a16:creationId xmlns:a16="http://schemas.microsoft.com/office/drawing/2014/main" id="{E975E7AE-223A-462D-A988-4E7629AAB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0" y="5588000"/>
            <a:ext cx="895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</a:t>
            </a: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ru-RU" altLang="ru-RU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C0CFE8C-759B-4EA5-AE7D-0D46BBE0D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5635" y="117475"/>
            <a:ext cx="10889673" cy="1143000"/>
          </a:xfrm>
        </p:spPr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D06F99F-3B9C-4926-94FC-B15EE68CE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79625" y="1196976"/>
            <a:ext cx="8229600" cy="47847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/>
              <a:t>2</a:t>
            </a:r>
            <a:r>
              <a:rPr lang="ru-RU" altLang="ru-RU" sz="2400" b="1"/>
              <a:t>.2.</a:t>
            </a:r>
            <a:r>
              <a:rPr lang="ru-RU" altLang="ru-RU" sz="2400" b="1" u="sng"/>
              <a:t> Выпуклые множества</a:t>
            </a:r>
            <a:r>
              <a:rPr lang="ru-RU" altLang="ru-RU" sz="2400" b="1"/>
              <a:t>.</a:t>
            </a:r>
          </a:p>
          <a:p>
            <a:pPr eaLnBrk="1" hangingPunct="1">
              <a:buFontTx/>
              <a:buNone/>
            </a:pPr>
            <a:endParaRPr lang="ru-RU" altLang="ru-RU" sz="2400"/>
          </a:p>
        </p:txBody>
      </p:sp>
      <p:graphicFrame>
        <p:nvGraphicFramePr>
          <p:cNvPr id="13316" name="Object 5">
            <a:extLst>
              <a:ext uri="{FF2B5EF4-FFF2-40B4-BE49-F238E27FC236}">
                <a16:creationId xmlns:a16="http://schemas.microsoft.com/office/drawing/2014/main" id="{F5302BDE-1D2F-446F-8E74-DD3DB2F886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6414" y="2009776"/>
          <a:ext cx="3587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Формула" r:id="rId3" imgW="177569" imgH="304404" progId="Equation.3">
                  <p:embed/>
                </p:oleObj>
              </mc:Choice>
              <mc:Fallback>
                <p:oleObj name="Формула" r:id="rId3" imgW="177569" imgH="304404" progId="Equation.3">
                  <p:embed/>
                  <p:pic>
                    <p:nvPicPr>
                      <p:cNvPr id="13316" name="Object 5">
                        <a:extLst>
                          <a:ext uri="{FF2B5EF4-FFF2-40B4-BE49-F238E27FC236}">
                            <a16:creationId xmlns:a16="http://schemas.microsoft.com/office/drawing/2014/main" id="{F5302BDE-1D2F-446F-8E74-DD3DB2F886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4" y="2009776"/>
                        <a:ext cx="3587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B9E50183-526F-44D6-8083-325A10866D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3564" y="2330450"/>
          <a:ext cx="3825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Формула" r:id="rId5" imgW="177646" imgH="279158" progId="Equation.3">
                  <p:embed/>
                </p:oleObj>
              </mc:Choice>
              <mc:Fallback>
                <p:oleObj name="Формула" r:id="rId5" imgW="177646" imgH="279158" progId="Equation.3">
                  <p:embed/>
                  <p:pic>
                    <p:nvPicPr>
                      <p:cNvPr id="13317" name="Object 4">
                        <a:extLst>
                          <a:ext uri="{FF2B5EF4-FFF2-40B4-BE49-F238E27FC236}">
                            <a16:creationId xmlns:a16="http://schemas.microsoft.com/office/drawing/2014/main" id="{B9E50183-526F-44D6-8083-325A10866D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4" y="2330450"/>
                        <a:ext cx="3825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6">
            <a:extLst>
              <a:ext uri="{FF2B5EF4-FFF2-40B4-BE49-F238E27FC236}">
                <a16:creationId xmlns:a16="http://schemas.microsoft.com/office/drawing/2014/main" id="{2E6AAA3F-F43D-44E8-9DB0-7F8DCFDDA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1" y="1733550"/>
            <a:ext cx="84248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cs typeface="Times New Roman" panose="02020603050405020304" pitchFamily="18" charset="0"/>
              </a:rPr>
              <a:t>Определение 2</a:t>
            </a:r>
            <a:r>
              <a:rPr lang="ru-RU" altLang="ru-RU" sz="1800" b="1">
                <a:cs typeface="Times New Roman" panose="02020603050405020304" pitchFamily="18" charset="0"/>
              </a:rPr>
              <a:t>: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Выпуклой оболочкой множества </a:t>
            </a:r>
            <a:r>
              <a:rPr lang="en-US" altLang="ru-RU" sz="1800">
                <a:cs typeface="Times New Roman" panose="02020603050405020304" pitchFamily="18" charset="0"/>
              </a:rPr>
              <a:t>S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(не обязательно выпуклого) является множество 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7134592E-A921-4CC0-86C2-F5D7F347C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451100"/>
            <a:ext cx="8426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cs typeface="Times New Roman" panose="02020603050405020304" pitchFamily="18" charset="0"/>
              </a:rPr>
              <a:t>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любая выпуклая комбинация точек из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принадлежит </a:t>
            </a:r>
          </a:p>
        </p:txBody>
      </p:sp>
      <p:sp>
        <p:nvSpPr>
          <p:cNvPr id="13320" name="Rectangle 9">
            <a:extLst>
              <a:ext uri="{FF2B5EF4-FFF2-40B4-BE49-F238E27FC236}">
                <a16:creationId xmlns:a16="http://schemas.microsoft.com/office/drawing/2014/main" id="{94361F74-AF46-4F7F-9F6F-4FE9A50EA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58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3321" name="Object 8">
            <a:extLst>
              <a:ext uri="{FF2B5EF4-FFF2-40B4-BE49-F238E27FC236}">
                <a16:creationId xmlns:a16="http://schemas.microsoft.com/office/drawing/2014/main" id="{CB39D9C0-91FC-42E6-8BBB-69374C2EA5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5551" y="2473326"/>
          <a:ext cx="287972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Рисунок" r:id="rId7" imgW="2743200" imgH="1828800" progId="Word.Picture.8">
                  <p:embed/>
                </p:oleObj>
              </mc:Choice>
              <mc:Fallback>
                <p:oleObj name="Рисунок" r:id="rId7" imgW="2743200" imgH="1828800" progId="Word.Picture.8">
                  <p:embed/>
                  <p:pic>
                    <p:nvPicPr>
                      <p:cNvPr id="13321" name="Object 8">
                        <a:extLst>
                          <a:ext uri="{FF2B5EF4-FFF2-40B4-BE49-F238E27FC236}">
                            <a16:creationId xmlns:a16="http://schemas.microsoft.com/office/drawing/2014/main" id="{CB39D9C0-91FC-42E6-8BBB-69374C2EA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1" y="2473326"/>
                        <a:ext cx="2879725" cy="197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38CD687D-D685-4A26-B9B3-702A70B06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848100"/>
            <a:ext cx="8712200" cy="120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800" b="1" u="sng" dirty="0"/>
              <a:t>Свойства выпуклых множеств</a:t>
            </a:r>
            <a:r>
              <a:rPr lang="ru-RU" altLang="ru-RU" sz="1800" b="1" dirty="0"/>
              <a:t>:</a:t>
            </a:r>
            <a:endParaRPr lang="ru-RU" altLang="ru-RU" sz="1800" dirty="0"/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800" b="1" dirty="0">
                <a:latin typeface="+mj-lt"/>
                <a:cs typeface="Times New Roman" panose="02020603050405020304" pitchFamily="18" charset="0"/>
              </a:rPr>
              <a:t>объединение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 числа выпуклых множеств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всегда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выпуклым;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800" b="1" dirty="0"/>
              <a:t>пересечение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 числа выпуклых множеств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выпуклым множеством.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8E193B5-2921-4446-A871-274EA1D3B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A370C92-71AC-4801-B35E-7BF2BF393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en-US" altLang="ru-RU" sz="2400" b="1" dirty="0"/>
              <a:t>2</a:t>
            </a:r>
            <a:r>
              <a:rPr lang="ru-RU" altLang="ru-RU" sz="2400" b="1" dirty="0"/>
              <a:t>.</a:t>
            </a:r>
            <a:r>
              <a:rPr lang="en-US" altLang="ru-RU" sz="2400" b="1" dirty="0"/>
              <a:t>3</a:t>
            </a:r>
            <a:r>
              <a:rPr lang="ru-RU" altLang="ru-RU" sz="2400" b="1" dirty="0"/>
              <a:t>.</a:t>
            </a:r>
            <a:r>
              <a:rPr lang="ru-RU" altLang="ru-RU" sz="2400" b="1" u="sng" dirty="0"/>
              <a:t> Выпуклые множества</a:t>
            </a:r>
            <a:r>
              <a:rPr lang="ru-RU" altLang="ru-RU" sz="2400" b="1" dirty="0"/>
              <a:t>.</a:t>
            </a:r>
            <a:r>
              <a:rPr lang="en-US" altLang="ru-RU" sz="2400" b="1" dirty="0"/>
              <a:t> </a:t>
            </a:r>
          </a:p>
          <a:p>
            <a:pPr marL="609600" indent="-609600">
              <a:buNone/>
            </a:pPr>
            <a:r>
              <a:rPr lang="ru-RU" altLang="ru-RU" sz="2000" b="1" u="sng" dirty="0"/>
              <a:t>Свойства выпуклых множеств:</a:t>
            </a:r>
            <a:endParaRPr lang="ru-RU" altLang="ru-RU" sz="2000" u="sng" dirty="0"/>
          </a:p>
          <a:p>
            <a:pPr marL="609600" indent="-609600">
              <a:buNone/>
            </a:pPr>
            <a:r>
              <a:rPr lang="ru-RU" altLang="ru-RU" sz="1800" b="1" u="sng" dirty="0"/>
              <a:t>Определение 3</a:t>
            </a:r>
            <a:r>
              <a:rPr lang="ru-RU" altLang="ru-RU" sz="1800" b="1" dirty="0"/>
              <a:t>:</a:t>
            </a:r>
            <a:r>
              <a:rPr lang="ru-RU" altLang="ru-RU" sz="1800" dirty="0"/>
              <a:t> </a:t>
            </a:r>
            <a:endParaRPr lang="en-US" altLang="ru-RU" sz="1800" dirty="0"/>
          </a:p>
          <a:p>
            <a:pPr marL="609600" indent="-609600">
              <a:buNone/>
            </a:pPr>
            <a:r>
              <a:rPr lang="en-US" altLang="ru-RU" sz="1800" b="1" dirty="0"/>
              <a:t>1</a:t>
            </a:r>
            <a:r>
              <a:rPr lang="en-US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Внутренность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множества </a:t>
            </a:r>
            <a:r>
              <a:rPr lang="en-US" altLang="ru-RU" sz="1800" dirty="0"/>
              <a:t>A</a:t>
            </a:r>
            <a:r>
              <a:rPr lang="ru-RU" altLang="ru-RU" sz="1800" dirty="0"/>
              <a:t>  - </a:t>
            </a:r>
            <a:r>
              <a:rPr lang="en-US" altLang="ru-RU" sz="1800" dirty="0"/>
              <a:t>I</a:t>
            </a:r>
            <a:r>
              <a:rPr lang="ru-RU" altLang="ru-RU" sz="1800" dirty="0"/>
              <a:t>(</a:t>
            </a:r>
            <a:r>
              <a:rPr lang="en-US" altLang="ru-RU" sz="1800" dirty="0"/>
              <a:t>A</a:t>
            </a:r>
            <a:r>
              <a:rPr lang="ru-RU" altLang="ru-RU" sz="1800" dirty="0"/>
              <a:t>)</a:t>
            </a:r>
            <a:r>
              <a:rPr lang="en-US" altLang="ru-RU" sz="1800" dirty="0"/>
              <a:t>:</a:t>
            </a:r>
          </a:p>
          <a:p>
            <a:pPr marL="609600" indent="-609600">
              <a:buNone/>
            </a:pP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открытое множество</a:t>
            </a:r>
            <a:r>
              <a:rPr lang="ru-RU" altLang="ru-RU" sz="1800" dirty="0"/>
              <a:t>;</a:t>
            </a:r>
            <a:endParaRPr lang="en-US" altLang="ru-RU" sz="1800" dirty="0"/>
          </a:p>
          <a:p>
            <a:pPr marL="609600" indent="-609600">
              <a:buNone/>
            </a:pPr>
            <a:r>
              <a:rPr lang="en-US" altLang="ru-RU" sz="1800" dirty="0"/>
              <a:t>2. </a:t>
            </a:r>
            <a:r>
              <a:rPr lang="ru-RU" altLang="ru-RU" sz="1800" b="1" dirty="0"/>
              <a:t>Граница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множества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ru-RU" altLang="ru-RU" sz="1800" dirty="0"/>
              <a:t>Г(</a:t>
            </a:r>
            <a:r>
              <a:rPr lang="en-US" altLang="ru-RU" sz="1800" dirty="0"/>
              <a:t>A</a:t>
            </a:r>
            <a:r>
              <a:rPr lang="ru-RU" altLang="ru-RU" sz="1800" dirty="0"/>
              <a:t>): </a:t>
            </a:r>
            <a:endParaRPr lang="en-US" altLang="ru-RU" sz="1800" dirty="0"/>
          </a:p>
          <a:p>
            <a:pPr marL="609600" indent="-609600">
              <a:buFontTx/>
              <a:buChar char="-"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граница множества;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None/>
            </a:pPr>
            <a:r>
              <a:rPr lang="en-US" altLang="ru-RU" sz="1800" dirty="0"/>
              <a:t>3. </a:t>
            </a:r>
            <a:r>
              <a:rPr lang="ru-RU" altLang="ru-RU" sz="1800" b="1" dirty="0"/>
              <a:t>Замыкание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множества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buNone/>
            </a:pPr>
            <a:endParaRPr lang="en-US" altLang="ru-RU" sz="1800" b="1" u="sng" dirty="0"/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EF1E004F-BEA9-4B34-8988-AC81A679E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CF06FA1F-062B-44E8-AD27-559081053C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851395"/>
              </p:ext>
            </p:extLst>
          </p:nvPr>
        </p:nvGraphicFramePr>
        <p:xfrm>
          <a:off x="4824549" y="2927345"/>
          <a:ext cx="38893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Формула" r:id="rId3" imgW="2387600" imgH="317500" progId="Equation.3">
                  <p:embed/>
                </p:oleObj>
              </mc:Choice>
              <mc:Fallback>
                <p:oleObj name="Формула" r:id="rId3" imgW="2387600" imgH="3175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CF06FA1F-062B-44E8-AD27-559081053C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549" y="2927345"/>
                        <a:ext cx="38893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02EF5D44-61E9-49CB-AD6C-3787E87C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8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4343" name="Rectangle 8">
            <a:extLst>
              <a:ext uri="{FF2B5EF4-FFF2-40B4-BE49-F238E27FC236}">
                <a16:creationId xmlns:a16="http://schemas.microsoft.com/office/drawing/2014/main" id="{794A7E1F-B9E3-41E5-A566-106366FFB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4344" name="Object 7">
            <a:extLst>
              <a:ext uri="{FF2B5EF4-FFF2-40B4-BE49-F238E27FC236}">
                <a16:creationId xmlns:a16="http://schemas.microsoft.com/office/drawing/2014/main" id="{E49D8DB4-D6CC-4AA8-B045-08B6D84E8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39678"/>
              </p:ext>
            </p:extLst>
          </p:nvPr>
        </p:nvGraphicFramePr>
        <p:xfrm>
          <a:off x="4824549" y="3511942"/>
          <a:ext cx="41036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Формула" r:id="rId5" imgW="2373870" imgH="317362" progId="Equation.3">
                  <p:embed/>
                </p:oleObj>
              </mc:Choice>
              <mc:Fallback>
                <p:oleObj name="Формула" r:id="rId5" imgW="2373870" imgH="317362" progId="Equation.3">
                  <p:embed/>
                  <p:pic>
                    <p:nvPicPr>
                      <p:cNvPr id="14344" name="Object 7">
                        <a:extLst>
                          <a:ext uri="{FF2B5EF4-FFF2-40B4-BE49-F238E27FC236}">
                            <a16:creationId xmlns:a16="http://schemas.microsoft.com/office/drawing/2014/main" id="{E49D8DB4-D6CC-4AA8-B045-08B6D84E82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549" y="3511942"/>
                        <a:ext cx="41036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10">
            <a:extLst>
              <a:ext uri="{FF2B5EF4-FFF2-40B4-BE49-F238E27FC236}">
                <a16:creationId xmlns:a16="http://schemas.microsoft.com/office/drawing/2014/main" id="{CBE7C75E-9CC4-4340-8FF3-436FDFA50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6" name="Object 9">
                <a:extLst>
                  <a:ext uri="{FF2B5EF4-FFF2-40B4-BE49-F238E27FC236}">
                    <a16:creationId xmlns:a16="http://schemas.microsoft.com/office/drawing/2014/main" id="{C04D4E52-A87E-4A2D-BDAC-0D39ACDF609C}"/>
                  </a:ext>
                </a:extLst>
              </p:cNvPr>
              <p:cNvSpPr txBox="1"/>
              <p:nvPr/>
            </p:nvSpPr>
            <p:spPr bwMode="auto">
              <a:xfrm>
                <a:off x="4777865" y="4466572"/>
                <a:ext cx="4032274" cy="503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li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</m:lim>
                      </m:limUp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limUpp>
                        <m:limUp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li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</m:lim>
                      </m:limUpp>
                      <m:limUpp>
                        <m:limUp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lim>
                      </m:limUp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)∪Г(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346" name="Object 9">
                <a:extLst>
                  <a:ext uri="{FF2B5EF4-FFF2-40B4-BE49-F238E27FC236}">
                    <a16:creationId xmlns:a16="http://schemas.microsoft.com/office/drawing/2014/main" id="{C04D4E52-A87E-4A2D-BDAC-0D39ACDF6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7865" y="4466572"/>
                <a:ext cx="4032274" cy="503238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7" name="Rectangle 11">
            <a:extLst>
              <a:ext uri="{FF2B5EF4-FFF2-40B4-BE49-F238E27FC236}">
                <a16:creationId xmlns:a16="http://schemas.microsoft.com/office/drawing/2014/main" id="{8751FE24-8C7E-43FC-8FB0-4DB71807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4797425"/>
            <a:ext cx="6192837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Примеры</a:t>
            </a:r>
            <a:r>
              <a:rPr lang="ru-RU" altLang="ru-RU" sz="1800" b="1"/>
              <a:t>:</a:t>
            </a:r>
            <a:r>
              <a:rPr lang="ru-RU" altLang="ru-RU" sz="1800"/>
              <a:t>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Открытый интервал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Замкнутый интервал [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BE4A24-C8F7-40CE-AB4E-F07E892924B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23957" y="5771643"/>
            <a:ext cx="3486146" cy="369332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14349" name="Прямоугольник 2">
            <a:extLst>
              <a:ext uri="{FF2B5EF4-FFF2-40B4-BE49-F238E27FC236}">
                <a16:creationId xmlns:a16="http://schemas.microsoft.com/office/drawing/2014/main" id="{1E633AF7-8CF4-44C6-A39D-9A09FA637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6" y="5743575"/>
            <a:ext cx="2060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Окрестность точки</a:t>
            </a:r>
            <a:endParaRPr lang="ru-RU" altLang="ru-RU" sz="180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70840C-B056-447F-A43D-DDC7B9FF1DD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79776" y="5749934"/>
            <a:ext cx="379206" cy="369332"/>
          </a:xfrm>
          <a:prstGeom prst="rect">
            <a:avLst/>
          </a:prstGeom>
          <a:blipFill rotWithShape="0">
            <a:blip r:embed="rId9"/>
            <a:stretch>
              <a:fillRect r="-22581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331699-32C7-4700-86DD-FA6319950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E867354-2608-4E02-98D1-70A0F5D9E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28776"/>
            <a:ext cx="82296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ru-RU" altLang="ru-RU" b="1" u="sng" dirty="0"/>
              <a:t>Отображения и функции</a:t>
            </a:r>
            <a:r>
              <a:rPr lang="ru-RU" altLang="ru-RU" b="1" dirty="0"/>
              <a:t>.</a:t>
            </a:r>
            <a:r>
              <a:rPr lang="ru-RU" altLang="ru-RU" dirty="0"/>
              <a:t> 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0AB527F7-B904-4911-8744-821910D16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5365" name="Object 4">
            <a:extLst>
              <a:ext uri="{FF2B5EF4-FFF2-40B4-BE49-F238E27FC236}">
                <a16:creationId xmlns:a16="http://schemas.microsoft.com/office/drawing/2014/main" id="{542FE33F-D78D-493B-BA53-8CBBD07609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2205039"/>
          <a:ext cx="4140200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Рисунок" r:id="rId3" imgW="2743200" imgH="1828800" progId="Word.Picture.8">
                  <p:embed/>
                </p:oleObj>
              </mc:Choice>
              <mc:Fallback>
                <p:oleObj name="Рисунок" r:id="rId3" imgW="2743200" imgH="1828800" progId="Word.Picture.8">
                  <p:embed/>
                  <p:pic>
                    <p:nvPicPr>
                      <p:cNvPr id="15365" name="Object 4">
                        <a:extLst>
                          <a:ext uri="{FF2B5EF4-FFF2-40B4-BE49-F238E27FC236}">
                            <a16:creationId xmlns:a16="http://schemas.microsoft.com/office/drawing/2014/main" id="{542FE33F-D78D-493B-BA53-8CBBD07609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205039"/>
                        <a:ext cx="4140200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6">
            <a:extLst>
              <a:ext uri="{FF2B5EF4-FFF2-40B4-BE49-F238E27FC236}">
                <a16:creationId xmlns:a16="http://schemas.microsoft.com/office/drawing/2014/main" id="{B7BAA180-987D-49EA-B8A3-6D6C3515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24401"/>
            <a:ext cx="414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ru-RU" altLang="ru-RU" b="1" u="sng" dirty="0"/>
              <a:t>Отображения:</a:t>
            </a:r>
            <a:r>
              <a:rPr lang="ru-RU" altLang="ru-RU" dirty="0"/>
              <a:t> </a:t>
            </a:r>
            <a:r>
              <a:rPr lang="en-US" altLang="ru-RU" dirty="0"/>
              <a:t>f: X</a:t>
            </a:r>
            <a:r>
              <a:rPr lang="en-US" altLang="ru-RU" dirty="0">
                <a:sym typeface="Symbol" panose="05050102010706020507" pitchFamily="18" charset="2"/>
              </a:rPr>
              <a:t></a:t>
            </a:r>
            <a:r>
              <a:rPr lang="en-US" altLang="ru-RU" dirty="0"/>
              <a:t>Y; </a:t>
            </a:r>
            <a:endParaRPr lang="ru-RU" altLang="ru-RU" dirty="0"/>
          </a:p>
        </p:txBody>
      </p:sp>
      <p:sp>
        <p:nvSpPr>
          <p:cNvPr id="15367" name="Rectangle 8">
            <a:extLst>
              <a:ext uri="{FF2B5EF4-FFF2-40B4-BE49-F238E27FC236}">
                <a16:creationId xmlns:a16="http://schemas.microsoft.com/office/drawing/2014/main" id="{5F87F1B3-5F4A-433F-894E-BFAD975A3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826" y="2810792"/>
            <a:ext cx="889987" cy="407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52352" bIns="38088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f: X</a:t>
            </a:r>
            <a:r>
              <a:rPr lang="en-US" altLang="ru-RU" sz="1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ru-R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Y; </a:t>
            </a:r>
            <a:endParaRPr lang="fr-FR" altLang="ru-RU" sz="1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5368" name="Object 7">
            <a:extLst>
              <a:ext uri="{FF2B5EF4-FFF2-40B4-BE49-F238E27FC236}">
                <a16:creationId xmlns:a16="http://schemas.microsoft.com/office/drawing/2014/main" id="{3200D416-54C0-4518-865A-B8666C13B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9825" y="3216276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Формула" r:id="rId5" imgW="114151" imgH="215619" progId="Equation.3">
                  <p:embed/>
                </p:oleObj>
              </mc:Choice>
              <mc:Fallback>
                <p:oleObj name="Формула" r:id="rId5" imgW="114151" imgH="215619" progId="Equation.3">
                  <p:embed/>
                  <p:pic>
                    <p:nvPicPr>
                      <p:cNvPr id="15368" name="Object 7">
                        <a:extLst>
                          <a:ext uri="{FF2B5EF4-FFF2-40B4-BE49-F238E27FC236}">
                            <a16:creationId xmlns:a16="http://schemas.microsoft.com/office/drawing/2014/main" id="{3200D416-54C0-4518-865A-B8666C13B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3216276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Rectangle 9">
                <a:extLst>
                  <a:ext uri="{FF2B5EF4-FFF2-40B4-BE49-F238E27FC236}">
                    <a16:creationId xmlns:a16="http://schemas.microsoft.com/office/drawing/2014/main" id="{32093295-B8CC-4828-BC85-ACC77E59D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0926" y="4604279"/>
                <a:ext cx="4619451" cy="6847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tIns="152352" bIns="38088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 </a:t>
                </a:r>
                <a14:m>
                  <m:oMath xmlns:m="http://schemas.openxmlformats.org/officeDocument/2006/math">
                    <m:r>
                      <a:rPr lang="fr-FR" altLang="ru-RU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×</m:t>
                    </m:r>
                  </m:oMath>
                </a14:m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Y; X </a:t>
                </a:r>
                <a:r>
                  <a:rPr lang="en-US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r>
                  <a:rPr lang="fr-FR" altLang="ru-RU" sz="18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; Y </a:t>
                </a:r>
                <a:r>
                  <a:rPr lang="en-US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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alt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r>
                  <a:rPr lang="fr-FR" altLang="ru-RU" sz="18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fr-FR" alt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  <a:endParaRPr lang="ru-RU" altLang="ru-RU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ru-RU" altLang="ru-RU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5369" name="Rectangle 9">
                <a:extLst>
                  <a:ext uri="{FF2B5EF4-FFF2-40B4-BE49-F238E27FC236}">
                    <a16:creationId xmlns:a16="http://schemas.microsoft.com/office/drawing/2014/main" id="{32093295-B8CC-4828-BC85-ACC77E59D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926" y="4604279"/>
                <a:ext cx="4619451" cy="684742"/>
              </a:xfrm>
              <a:prstGeom prst="rect">
                <a:avLst/>
              </a:prstGeom>
              <a:blipFill>
                <a:blip r:embed="rId7"/>
                <a:stretch>
                  <a:fillRect l="-3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0" name="Rectangle 10">
            <a:extLst>
              <a:ext uri="{FF2B5EF4-FFF2-40B4-BE49-F238E27FC236}">
                <a16:creationId xmlns:a16="http://schemas.microsoft.com/office/drawing/2014/main" id="{8C574ACB-B694-4025-A675-095E7B768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5057776"/>
            <a:ext cx="8713788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и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B 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то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f: A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B(f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AxB).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Отображение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может быть как однозначным, так и многозначным. Однозначное отображение называется функциональным.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В этом случае множество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область определения, множество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область значений функции.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ED8D5EF-F96B-4013-B6AC-F8AA91833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21408EB-FB92-4E37-90D1-1DF72573BC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9138" y="1692276"/>
            <a:ext cx="4038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b="1" u="sng"/>
              <a:t>Функциональное отображение</a:t>
            </a:r>
            <a:r>
              <a:rPr lang="ru-RU" altLang="ru-RU" b="1" i="1"/>
              <a:t>.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AFEF4877-BD1E-470C-8022-1345DD175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203450"/>
            <a:ext cx="57531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ru-RU" sz="1800">
                <a:sym typeface="Symbol" panose="05050102010706020507" pitchFamily="18" charset="2"/>
              </a:rPr>
              <a:t>       </a:t>
            </a:r>
            <a:r>
              <a:rPr lang="ru-RU" altLang="ru-RU" sz="1800">
                <a:sym typeface="Symbol" panose="05050102010706020507" pitchFamily="18" charset="2"/>
              </a:rPr>
              <a:t>, </a:t>
            </a:r>
            <a:r>
              <a:rPr lang="en-US" altLang="ru-RU" sz="1800">
                <a:sym typeface="Symbol" panose="05050102010706020507" pitchFamily="18" charset="2"/>
              </a:rPr>
              <a:t>  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ru-RU" sz="1800">
                <a:sym typeface="Symbol" panose="05050102010706020507" pitchFamily="18" charset="2"/>
              </a:rPr>
              <a:t>      </a:t>
            </a:r>
            <a:r>
              <a:rPr lang="ru-RU" altLang="ru-RU" sz="1800">
                <a:sym typeface="Symbol" panose="05050102010706020507" pitchFamily="18" charset="2"/>
              </a:rPr>
              <a:t>;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где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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F02CB6A9-91FC-428B-93F3-EA7653545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565400"/>
            <a:ext cx="8640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функция имеет обратную функцию, то она представляет одно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однозначное отображение.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F73D5639-9E0A-4480-8856-4E0E1A210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211791"/>
            <a:ext cx="33293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Операторное отображение</a:t>
            </a:r>
            <a:r>
              <a:rPr lang="ru-RU" altLang="ru-RU" sz="1800" b="1"/>
              <a:t>.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EE5ECBF1-C94F-4186-9D90-9378BA0E2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89363"/>
            <a:ext cx="8569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где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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обобщение понятия функционального отображения.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6AF6D48-9D21-427C-98C6-9B3E22A04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348164"/>
            <a:ext cx="8964612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i="1"/>
              <a:t>Теорема Вейерштрасса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(теорема имеет фундаментальное значение для решения задач оптимизации): Если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непрерывная действительная функция, область определения которой задана на компактном множестве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ru-RU" sz="1800"/>
              <a:t> 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612E2404-5EA8-4E6C-9536-6016BA3D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4859338"/>
            <a:ext cx="9191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sym typeface="Symbol" panose="05050102010706020507" pitchFamily="18" charset="2"/>
              </a:rPr>
              <a:t></a:t>
            </a:r>
            <a:r>
              <a:rPr lang="ru-RU" altLang="ru-RU" sz="1800"/>
              <a:t> </a:t>
            </a:r>
            <a:r>
              <a:rPr lang="en-US" altLang="ru-RU" sz="1800"/>
              <a:t>       </a:t>
            </a:r>
            <a:r>
              <a:rPr lang="en-US" altLang="ru-RU" sz="1800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543E97CC-D7B4-47F9-AC1D-72DD064DE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5373688"/>
            <a:ext cx="84248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замкнуто и ограничено</a:t>
            </a:r>
            <a:r>
              <a:rPr lang="ru-RU" altLang="ru-RU" sz="1800"/>
              <a:t>),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 задача </a:t>
            </a:r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D0983DD2-0146-47F9-A004-8E7AB0690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396" name="Object 11">
            <a:extLst>
              <a:ext uri="{FF2B5EF4-FFF2-40B4-BE49-F238E27FC236}">
                <a16:creationId xmlns:a16="http://schemas.microsoft.com/office/drawing/2014/main" id="{CB2644F4-119A-48F2-9861-B50980CDE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5172075"/>
          <a:ext cx="107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Формула" r:id="rId3" imgW="672808" imgH="457002" progId="Equation.3">
                  <p:embed/>
                </p:oleObj>
              </mc:Choice>
              <mc:Fallback>
                <p:oleObj name="Формула" r:id="rId3" imgW="672808" imgH="457002" progId="Equation.3">
                  <p:embed/>
                  <p:pic>
                    <p:nvPicPr>
                      <p:cNvPr id="16396" name="Object 11">
                        <a:extLst>
                          <a:ext uri="{FF2B5EF4-FFF2-40B4-BE49-F238E27FC236}">
                            <a16:creationId xmlns:a16="http://schemas.microsoft.com/office/drawing/2014/main" id="{CB2644F4-119A-48F2-9861-B50980CDE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5172075"/>
                        <a:ext cx="107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3">
            <a:extLst>
              <a:ext uri="{FF2B5EF4-FFF2-40B4-BE49-F238E27FC236}">
                <a16:creationId xmlns:a16="http://schemas.microsoft.com/office/drawing/2014/main" id="{A3BAF986-94D7-41D0-AA1A-F2F4D4F40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1" y="5414964"/>
            <a:ext cx="17240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решение </a:t>
            </a:r>
          </a:p>
        </p:txBody>
      </p:sp>
      <p:sp>
        <p:nvSpPr>
          <p:cNvPr id="16398" name="Rectangle 15">
            <a:extLst>
              <a:ext uri="{FF2B5EF4-FFF2-40B4-BE49-F238E27FC236}">
                <a16:creationId xmlns:a16="http://schemas.microsoft.com/office/drawing/2014/main" id="{E03F0246-56BA-4D74-A054-06FDE0E07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399" name="Object 14">
            <a:extLst>
              <a:ext uri="{FF2B5EF4-FFF2-40B4-BE49-F238E27FC236}">
                <a16:creationId xmlns:a16="http://schemas.microsoft.com/office/drawing/2014/main" id="{55199FB0-2FB6-461F-9D7D-71A971F441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8" y="5381626"/>
          <a:ext cx="7921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Формула" r:id="rId5" imgW="469696" imgH="203112" progId="Equation.3">
                  <p:embed/>
                </p:oleObj>
              </mc:Choice>
              <mc:Fallback>
                <p:oleObj name="Формула" r:id="rId5" imgW="469696" imgH="203112" progId="Equation.3">
                  <p:embed/>
                  <p:pic>
                    <p:nvPicPr>
                      <p:cNvPr id="16399" name="Object 14">
                        <a:extLst>
                          <a:ext uri="{FF2B5EF4-FFF2-40B4-BE49-F238E27FC236}">
                            <a16:creationId xmlns:a16="http://schemas.microsoft.com/office/drawing/2014/main" id="{55199FB0-2FB6-461F-9D7D-71A971F44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5381626"/>
                        <a:ext cx="7921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17">
            <a:extLst>
              <a:ext uri="{FF2B5EF4-FFF2-40B4-BE49-F238E27FC236}">
                <a16:creationId xmlns:a16="http://schemas.microsoft.com/office/drawing/2014/main" id="{CCD5BB57-6DE5-49CD-8E45-C957A6864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1" name="Object 16">
            <a:extLst>
              <a:ext uri="{FF2B5EF4-FFF2-40B4-BE49-F238E27FC236}">
                <a16:creationId xmlns:a16="http://schemas.microsoft.com/office/drawing/2014/main" id="{8E761014-914F-4399-B616-2DB6F7A859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2205038"/>
          <a:ext cx="3571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Формула" r:id="rId7" imgW="215713" imgH="190335" progId="Equation.3">
                  <p:embed/>
                </p:oleObj>
              </mc:Choice>
              <mc:Fallback>
                <p:oleObj name="Формула" r:id="rId7" imgW="215713" imgH="190335" progId="Equation.3">
                  <p:embed/>
                  <p:pic>
                    <p:nvPicPr>
                      <p:cNvPr id="16401" name="Object 16">
                        <a:extLst>
                          <a:ext uri="{FF2B5EF4-FFF2-40B4-BE49-F238E27FC236}">
                            <a16:creationId xmlns:a16="http://schemas.microsoft.com/office/drawing/2014/main" id="{8E761014-914F-4399-B616-2DB6F7A85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205038"/>
                        <a:ext cx="3571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9">
            <a:extLst>
              <a:ext uri="{FF2B5EF4-FFF2-40B4-BE49-F238E27FC236}">
                <a16:creationId xmlns:a16="http://schemas.microsoft.com/office/drawing/2014/main" id="{DF73B1F2-BCE3-438D-B999-75DA2C24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3" name="Object 18">
            <a:extLst>
              <a:ext uri="{FF2B5EF4-FFF2-40B4-BE49-F238E27FC236}">
                <a16:creationId xmlns:a16="http://schemas.microsoft.com/office/drawing/2014/main" id="{7E9A2C53-7DBB-4155-939E-C65859A61B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8" y="2205038"/>
          <a:ext cx="3603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Формула" r:id="rId9" imgW="190417" imgH="190417" progId="Equation.3">
                  <p:embed/>
                </p:oleObj>
              </mc:Choice>
              <mc:Fallback>
                <p:oleObj name="Формула" r:id="rId9" imgW="190417" imgH="190417" progId="Equation.3">
                  <p:embed/>
                  <p:pic>
                    <p:nvPicPr>
                      <p:cNvPr id="16403" name="Object 18">
                        <a:extLst>
                          <a:ext uri="{FF2B5EF4-FFF2-40B4-BE49-F238E27FC236}">
                            <a16:creationId xmlns:a16="http://schemas.microsoft.com/office/drawing/2014/main" id="{7E9A2C53-7DBB-4155-939E-C65859A61B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2205038"/>
                        <a:ext cx="3603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>
            <a:extLst>
              <a:ext uri="{FF2B5EF4-FFF2-40B4-BE49-F238E27FC236}">
                <a16:creationId xmlns:a16="http://schemas.microsoft.com/office/drawing/2014/main" id="{FBE9F251-0FFF-438A-B5DE-13BA9DD7B54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506788" y="3760788"/>
          <a:ext cx="43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Формула" r:id="rId11" imgW="215713" imgH="190335" progId="Equation.3">
                  <p:embed/>
                </p:oleObj>
              </mc:Choice>
              <mc:Fallback>
                <p:oleObj name="Формула" r:id="rId11" imgW="215713" imgH="190335" progId="Equation.3">
                  <p:embed/>
                  <p:pic>
                    <p:nvPicPr>
                      <p:cNvPr id="16404" name="Object 20">
                        <a:extLst>
                          <a:ext uri="{FF2B5EF4-FFF2-40B4-BE49-F238E27FC236}">
                            <a16:creationId xmlns:a16="http://schemas.microsoft.com/office/drawing/2014/main" id="{FBE9F251-0FFF-438A-B5DE-13BA9DD7B5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8" y="3760788"/>
                        <a:ext cx="431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Rectangle 23">
            <a:extLst>
              <a:ext uri="{FF2B5EF4-FFF2-40B4-BE49-F238E27FC236}">
                <a16:creationId xmlns:a16="http://schemas.microsoft.com/office/drawing/2014/main" id="{453BAB77-0AB6-42A8-8DEE-4EC37B617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6" name="Object 22">
            <a:extLst>
              <a:ext uri="{FF2B5EF4-FFF2-40B4-BE49-F238E27FC236}">
                <a16:creationId xmlns:a16="http://schemas.microsoft.com/office/drawing/2014/main" id="{FA21A274-8D0A-48D6-8E5B-05C3BA73C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1363" y="3754439"/>
          <a:ext cx="4318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Формула" r:id="rId12" imgW="228600" imgH="190500" progId="Equation.3">
                  <p:embed/>
                </p:oleObj>
              </mc:Choice>
              <mc:Fallback>
                <p:oleObj name="Формула" r:id="rId12" imgW="228600" imgH="190500" progId="Equation.3">
                  <p:embed/>
                  <p:pic>
                    <p:nvPicPr>
                      <p:cNvPr id="16406" name="Object 22">
                        <a:extLst>
                          <a:ext uri="{FF2B5EF4-FFF2-40B4-BE49-F238E27FC236}">
                            <a16:creationId xmlns:a16="http://schemas.microsoft.com/office/drawing/2014/main" id="{FA21A274-8D0A-48D6-8E5B-05C3BA73C9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3754439"/>
                        <a:ext cx="4318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Rectangle 25">
            <a:extLst>
              <a:ext uri="{FF2B5EF4-FFF2-40B4-BE49-F238E27FC236}">
                <a16:creationId xmlns:a16="http://schemas.microsoft.com/office/drawing/2014/main" id="{9D0A6A94-1F24-4279-9569-A5394761D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6408" name="Object 24">
            <a:extLst>
              <a:ext uri="{FF2B5EF4-FFF2-40B4-BE49-F238E27FC236}">
                <a16:creationId xmlns:a16="http://schemas.microsoft.com/office/drawing/2014/main" id="{8571CB57-66FB-4BA2-B0F2-ADB118C83D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9200" y="4875214"/>
          <a:ext cx="5032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Формула" r:id="rId14" imgW="203112" imgH="190417" progId="Equation.3">
                  <p:embed/>
                </p:oleObj>
              </mc:Choice>
              <mc:Fallback>
                <p:oleObj name="Формула" r:id="rId14" imgW="203112" imgH="190417" progId="Equation.3">
                  <p:embed/>
                  <p:pic>
                    <p:nvPicPr>
                      <p:cNvPr id="16408" name="Object 24">
                        <a:extLst>
                          <a:ext uri="{FF2B5EF4-FFF2-40B4-BE49-F238E27FC236}">
                            <a16:creationId xmlns:a16="http://schemas.microsoft.com/office/drawing/2014/main" id="{8571CB57-66FB-4BA2-B0F2-ADB118C83D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4875214"/>
                        <a:ext cx="503238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123BE97-6691-42F5-9016-B8B23866D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60763A0-2168-4109-840C-05C6E2F65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dirty="0"/>
              <a:t>2</a:t>
            </a:r>
            <a:r>
              <a:rPr lang="ru-RU" altLang="ru-RU" sz="2400" b="1" dirty="0"/>
              <a:t>.4.</a:t>
            </a:r>
            <a:r>
              <a:rPr lang="ru-RU" altLang="ru-RU" sz="2400" b="1" u="sng" dirty="0"/>
              <a:t>Выпуклые функции.</a:t>
            </a:r>
          </a:p>
        </p:txBody>
      </p:sp>
      <p:pic>
        <p:nvPicPr>
          <p:cNvPr id="17412" name="Picture 4" descr="LE1">
            <a:extLst>
              <a:ext uri="{FF2B5EF4-FFF2-40B4-BE49-F238E27FC236}">
                <a16:creationId xmlns:a16="http://schemas.microsoft.com/office/drawing/2014/main" id="{42F5285B-50E4-47CE-A1DF-3792122DC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306" y="1951189"/>
            <a:ext cx="7777162" cy="20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5">
            <a:extLst>
              <a:ext uri="{FF2B5EF4-FFF2-40B4-BE49-F238E27FC236}">
                <a16:creationId xmlns:a16="http://schemas.microsoft.com/office/drawing/2014/main" id="{CEFE077D-479B-44E9-8FB0-A61FF1DC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011" y="3814535"/>
            <a:ext cx="11416937" cy="2954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2640" tIns="914112" rIns="1142640" bIns="914112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dirty="0"/>
              <a:t>2</a:t>
            </a:r>
            <a:r>
              <a:rPr lang="ru-RU" altLang="ru-RU" sz="1800" b="1" dirty="0"/>
              <a:t>.4.1.</a:t>
            </a:r>
            <a:r>
              <a:rPr lang="ru-RU" altLang="ru-RU" sz="1800" b="1" u="sng" dirty="0"/>
              <a:t>Выпуклые (вниз) функции.</a:t>
            </a:r>
            <a:endParaRPr lang="ru-RU" altLang="ru-RU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Выпуклой будем называть функцию, которая удовлетворяет следующему условию: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0C3D1448-9AFB-4291-9F37-3CEAE622B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5" name="Object 6">
                <a:extLst>
                  <a:ext uri="{FF2B5EF4-FFF2-40B4-BE49-F238E27FC236}">
                    <a16:creationId xmlns:a16="http://schemas.microsoft.com/office/drawing/2014/main" id="{69029654-83AA-4CFE-A15F-6FBD812F0E56}"/>
                  </a:ext>
                </a:extLst>
              </p:cNvPr>
              <p:cNvSpPr txBox="1"/>
              <p:nvPr/>
            </p:nvSpPr>
            <p:spPr bwMode="auto">
              <a:xfrm>
                <a:off x="1616366" y="5497012"/>
                <a:ext cx="8251825" cy="8079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 (∀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)&amp;(∀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∈[0,1])⇒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+(1−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)+(1−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415" name="Object 6">
                <a:extLst>
                  <a:ext uri="{FF2B5EF4-FFF2-40B4-BE49-F238E27FC236}">
                    <a16:creationId xmlns:a16="http://schemas.microsoft.com/office/drawing/2014/main" id="{69029654-83AA-4CFE-A15F-6FBD812F0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6366" y="5497012"/>
                <a:ext cx="8251825" cy="807994"/>
              </a:xfrm>
              <a:prstGeom prst="rect">
                <a:avLst/>
              </a:prstGeom>
              <a:blipFill>
                <a:blip r:embed="rId3"/>
                <a:stretch>
                  <a:fillRect l="-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11AB7C6-A862-40DE-BB37-E1CE31412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9100E7C-852D-4344-8B4E-38ED805B9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/>
              <a:t>2</a:t>
            </a:r>
            <a:r>
              <a:rPr lang="ru-RU" altLang="ru-RU" sz="2400" b="1"/>
              <a:t>.</a:t>
            </a:r>
            <a:r>
              <a:rPr lang="en-US" altLang="ru-RU" sz="2400" b="1"/>
              <a:t>4.1. </a:t>
            </a:r>
            <a:r>
              <a:rPr lang="ru-RU" altLang="ru-RU" sz="2400" b="1" u="sng"/>
              <a:t>Выпуклые функции.</a:t>
            </a:r>
          </a:p>
        </p:txBody>
      </p:sp>
      <p:pic>
        <p:nvPicPr>
          <p:cNvPr id="18436" name="Picture 4" descr="LE12">
            <a:extLst>
              <a:ext uri="{FF2B5EF4-FFF2-40B4-BE49-F238E27FC236}">
                <a16:creationId xmlns:a16="http://schemas.microsoft.com/office/drawing/2014/main" id="{8CC5F00F-2179-4B50-AC35-09B3960B5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2205038"/>
            <a:ext cx="7056437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DBB0DEF-2FAB-4591-B8B8-F3CE64FAD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8DC7176-F3C1-4EE1-9D75-AA968802E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700213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b="1" dirty="0"/>
              <a:t>2.4.2.</a:t>
            </a:r>
            <a:r>
              <a:rPr lang="ru-RU" altLang="ru-RU" b="1" dirty="0"/>
              <a:t> Неравенство </a:t>
            </a:r>
            <a:r>
              <a:rPr lang="ru-RU" altLang="ru-RU" b="1" dirty="0" err="1"/>
              <a:t>Йенсена</a:t>
            </a:r>
            <a:endParaRPr lang="ru-RU" altLang="ru-RU" b="1" dirty="0"/>
          </a:p>
          <a:p>
            <a:pPr eaLnBrk="1" hangingPunct="1"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b="1" dirty="0"/>
              <a:t>           </a:t>
            </a:r>
            <a:r>
              <a:rPr lang="en-US" altLang="ru-RU" b="1" dirty="0"/>
              <a:t>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выпуклая функция на      </a:t>
            </a:r>
            <a:r>
              <a:rPr lang="ru-RU" altLang="ru-RU" b="1" dirty="0"/>
              <a:t>.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любых                           </a:t>
            </a:r>
            <a:r>
              <a:rPr lang="en-US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D37C13E9-ACD1-471D-AEDA-2860CEABA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1" name="Object 4">
            <a:extLst>
              <a:ext uri="{FF2B5EF4-FFF2-40B4-BE49-F238E27FC236}">
                <a16:creationId xmlns:a16="http://schemas.microsoft.com/office/drawing/2014/main" id="{F16AD45F-6D5E-4032-9FF6-CDD0FC6DC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021243"/>
              </p:ext>
            </p:extLst>
          </p:nvPr>
        </p:nvGraphicFramePr>
        <p:xfrm>
          <a:off x="2747963" y="2166146"/>
          <a:ext cx="10795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Формула" r:id="rId3" imgW="342751" imgH="203112" progId="Equation.3">
                  <p:embed/>
                </p:oleObj>
              </mc:Choice>
              <mc:Fallback>
                <p:oleObj name="Формула" r:id="rId3" imgW="342751" imgH="203112" progId="Equation.3">
                  <p:embed/>
                  <p:pic>
                    <p:nvPicPr>
                      <p:cNvPr id="19461" name="Object 4">
                        <a:extLst>
                          <a:ext uri="{FF2B5EF4-FFF2-40B4-BE49-F238E27FC236}">
                            <a16:creationId xmlns:a16="http://schemas.microsoft.com/office/drawing/2014/main" id="{F16AD45F-6D5E-4032-9FF6-CDD0FC6DC5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2166146"/>
                        <a:ext cx="10795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7">
            <a:extLst>
              <a:ext uri="{FF2B5EF4-FFF2-40B4-BE49-F238E27FC236}">
                <a16:creationId xmlns:a16="http://schemas.microsoft.com/office/drawing/2014/main" id="{05938355-36F4-47FB-A6DC-6753E6AAA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3" name="Object 6">
            <a:extLst>
              <a:ext uri="{FF2B5EF4-FFF2-40B4-BE49-F238E27FC236}">
                <a16:creationId xmlns:a16="http://schemas.microsoft.com/office/drawing/2014/main" id="{0CC1F3BA-8264-482A-92C7-CF280F64B9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448958"/>
              </p:ext>
            </p:extLst>
          </p:nvPr>
        </p:nvGraphicFramePr>
        <p:xfrm>
          <a:off x="7623675" y="2083097"/>
          <a:ext cx="6492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7" name="Формула" r:id="rId5" imgW="203112" imgH="190417" progId="Equation.3">
                  <p:embed/>
                </p:oleObj>
              </mc:Choice>
              <mc:Fallback>
                <p:oleObj name="Формула" r:id="rId5" imgW="203112" imgH="190417" progId="Equation.3">
                  <p:embed/>
                  <p:pic>
                    <p:nvPicPr>
                      <p:cNvPr id="19463" name="Object 6">
                        <a:extLst>
                          <a:ext uri="{FF2B5EF4-FFF2-40B4-BE49-F238E27FC236}">
                            <a16:creationId xmlns:a16="http://schemas.microsoft.com/office/drawing/2014/main" id="{0CC1F3BA-8264-482A-92C7-CF280F64B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675" y="2083097"/>
                        <a:ext cx="64928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9">
            <a:extLst>
              <a:ext uri="{FF2B5EF4-FFF2-40B4-BE49-F238E27FC236}">
                <a16:creationId xmlns:a16="http://schemas.microsoft.com/office/drawing/2014/main" id="{007D8CA5-1E8B-4B0F-90E8-B91E4312E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5" name="Object 8">
            <a:extLst>
              <a:ext uri="{FF2B5EF4-FFF2-40B4-BE49-F238E27FC236}">
                <a16:creationId xmlns:a16="http://schemas.microsoft.com/office/drawing/2014/main" id="{90388EEA-86B5-4737-98CF-79F4382B2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751836"/>
              </p:ext>
            </p:extLst>
          </p:nvPr>
        </p:nvGraphicFramePr>
        <p:xfrm>
          <a:off x="3390900" y="2428359"/>
          <a:ext cx="28082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Формула" r:id="rId7" imgW="863225" imgH="215806" progId="Equation.3">
                  <p:embed/>
                </p:oleObj>
              </mc:Choice>
              <mc:Fallback>
                <p:oleObj name="Формула" r:id="rId7" imgW="863225" imgH="215806" progId="Equation.3">
                  <p:embed/>
                  <p:pic>
                    <p:nvPicPr>
                      <p:cNvPr id="19465" name="Object 8">
                        <a:extLst>
                          <a:ext uri="{FF2B5EF4-FFF2-40B4-BE49-F238E27FC236}">
                            <a16:creationId xmlns:a16="http://schemas.microsoft.com/office/drawing/2014/main" id="{90388EEA-86B5-4737-98CF-79F4382B2F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2428359"/>
                        <a:ext cx="28082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11">
            <a:extLst>
              <a:ext uri="{FF2B5EF4-FFF2-40B4-BE49-F238E27FC236}">
                <a16:creationId xmlns:a16="http://schemas.microsoft.com/office/drawing/2014/main" id="{F6B530D2-FF86-4517-811D-B50C4C968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67" name="Object 10">
            <a:extLst>
              <a:ext uri="{FF2B5EF4-FFF2-40B4-BE49-F238E27FC236}">
                <a16:creationId xmlns:a16="http://schemas.microsoft.com/office/drawing/2014/main" id="{62423A7E-03C6-455D-83AF-EC6C0D9B7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598577"/>
              </p:ext>
            </p:extLst>
          </p:nvPr>
        </p:nvGraphicFramePr>
        <p:xfrm>
          <a:off x="1768475" y="3197226"/>
          <a:ext cx="66960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Формула" r:id="rId9" imgW="2781300" imgH="685800" progId="Equation.3">
                  <p:embed/>
                </p:oleObj>
              </mc:Choice>
              <mc:Fallback>
                <p:oleObj name="Формула" r:id="rId9" imgW="2781300" imgH="685800" progId="Equation.3">
                  <p:embed/>
                  <p:pic>
                    <p:nvPicPr>
                      <p:cNvPr id="19467" name="Object 10">
                        <a:extLst>
                          <a:ext uri="{FF2B5EF4-FFF2-40B4-BE49-F238E27FC236}">
                            <a16:creationId xmlns:a16="http://schemas.microsoft.com/office/drawing/2014/main" id="{62423A7E-03C6-455D-83AF-EC6C0D9B7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3197226"/>
                        <a:ext cx="66960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Rectangle 14">
            <a:extLst>
              <a:ext uri="{FF2B5EF4-FFF2-40B4-BE49-F238E27FC236}">
                <a16:creationId xmlns:a16="http://schemas.microsoft.com/office/drawing/2014/main" id="{21803813-7468-4FA7-B368-C130E2834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373689"/>
            <a:ext cx="1225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</a:t>
            </a:r>
            <a:r>
              <a:rPr lang="ru-RU" altLang="ru-RU" sz="2000">
                <a:cs typeface="Times New Roman" panose="02020603050405020304" pitchFamily="18" charset="0"/>
              </a:rPr>
              <a:t> </a:t>
            </a:r>
            <a:endParaRPr lang="ru-RU" altLang="ru-RU" sz="2000"/>
          </a:p>
        </p:txBody>
      </p:sp>
      <p:sp>
        <p:nvSpPr>
          <p:cNvPr id="19469" name="Rectangle 15">
            <a:extLst>
              <a:ext uri="{FF2B5EF4-FFF2-40B4-BE49-F238E27FC236}">
                <a16:creationId xmlns:a16="http://schemas.microsoft.com/office/drawing/2014/main" id="{0DFA9CC3-466D-4CB1-ADB9-17C53197A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5373689"/>
            <a:ext cx="1689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,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которой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0" name="Rectangle 16">
            <a:extLst>
              <a:ext uri="{FF2B5EF4-FFF2-40B4-BE49-F238E27FC236}">
                <a16:creationId xmlns:a16="http://schemas.microsoft.com/office/drawing/2014/main" id="{A16005F8-714D-4786-9DA2-ADCB1B345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6" y="5373689"/>
            <a:ext cx="4805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выпуклой, называется вогнутой. </a:t>
            </a:r>
          </a:p>
        </p:txBody>
      </p:sp>
      <p:sp>
        <p:nvSpPr>
          <p:cNvPr id="19471" name="Rectangle 18">
            <a:extLst>
              <a:ext uri="{FF2B5EF4-FFF2-40B4-BE49-F238E27FC236}">
                <a16:creationId xmlns:a16="http://schemas.microsoft.com/office/drawing/2014/main" id="{D075633B-2723-4268-AA6C-09898E174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72" name="Object 17">
            <a:extLst>
              <a:ext uri="{FF2B5EF4-FFF2-40B4-BE49-F238E27FC236}">
                <a16:creationId xmlns:a16="http://schemas.microsoft.com/office/drawing/2014/main" id="{6F65F2BD-8ADE-490D-84C8-98971A999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5373688"/>
          <a:ext cx="7921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Формула" r:id="rId11" imgW="342751" imgH="203112" progId="Equation.3">
                  <p:embed/>
                </p:oleObj>
              </mc:Choice>
              <mc:Fallback>
                <p:oleObj name="Формула" r:id="rId11" imgW="342751" imgH="203112" progId="Equation.3">
                  <p:embed/>
                  <p:pic>
                    <p:nvPicPr>
                      <p:cNvPr id="19472" name="Object 17">
                        <a:extLst>
                          <a:ext uri="{FF2B5EF4-FFF2-40B4-BE49-F238E27FC236}">
                            <a16:creationId xmlns:a16="http://schemas.microsoft.com/office/drawing/2014/main" id="{6F65F2BD-8ADE-490D-84C8-98971A999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373688"/>
                        <a:ext cx="7921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Rectangle 20">
            <a:extLst>
              <a:ext uri="{FF2B5EF4-FFF2-40B4-BE49-F238E27FC236}">
                <a16:creationId xmlns:a16="http://schemas.microsoft.com/office/drawing/2014/main" id="{4F473E5C-B158-4579-AD7B-FDF979B65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9474" name="Object 19">
            <a:extLst>
              <a:ext uri="{FF2B5EF4-FFF2-40B4-BE49-F238E27FC236}">
                <a16:creationId xmlns:a16="http://schemas.microsoft.com/office/drawing/2014/main" id="{25192BF6-04A4-403F-B212-6DE459E62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5373689"/>
          <a:ext cx="9366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Формула" r:id="rId13" imgW="469696" imgH="203112" progId="Equation.3">
                  <p:embed/>
                </p:oleObj>
              </mc:Choice>
              <mc:Fallback>
                <p:oleObj name="Формула" r:id="rId13" imgW="469696" imgH="203112" progId="Equation.3">
                  <p:embed/>
                  <p:pic>
                    <p:nvPicPr>
                      <p:cNvPr id="19474" name="Object 19">
                        <a:extLst>
                          <a:ext uri="{FF2B5EF4-FFF2-40B4-BE49-F238E27FC236}">
                            <a16:creationId xmlns:a16="http://schemas.microsoft.com/office/drawing/2014/main" id="{25192BF6-04A4-403F-B212-6DE459E62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373689"/>
                        <a:ext cx="9366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9502CB7-66B1-4F4B-8F74-6DF6515B4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AC889DA-A56F-490E-BF71-0E2928EBDEF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92313" y="1628776"/>
            <a:ext cx="4978400" cy="4525963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Выпуклые функции:</a:t>
            </a:r>
          </a:p>
          <a:p>
            <a:pPr marL="609600" indent="-609600">
              <a:buFontTx/>
              <a:buAutoNum type="arabicPeriod"/>
            </a:pPr>
            <a:endParaRPr lang="ru-RU" altLang="ru-RU"/>
          </a:p>
        </p:txBody>
      </p:sp>
      <p:graphicFrame>
        <p:nvGraphicFramePr>
          <p:cNvPr id="20484" name="Object 6">
            <a:extLst>
              <a:ext uri="{FF2B5EF4-FFF2-40B4-BE49-F238E27FC236}">
                <a16:creationId xmlns:a16="http://schemas.microsoft.com/office/drawing/2014/main" id="{F5799A4B-D26E-4717-BE85-C763659ACFFF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640014" y="2205039"/>
          <a:ext cx="748823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Формула" r:id="rId3" imgW="2667000" imgH="241300" progId="Equation.3">
                  <p:embed/>
                </p:oleObj>
              </mc:Choice>
              <mc:Fallback>
                <p:oleObj name="Формула" r:id="rId3" imgW="2667000" imgH="241300" progId="Equation.3">
                  <p:embed/>
                  <p:pic>
                    <p:nvPicPr>
                      <p:cNvPr id="20484" name="Object 6">
                        <a:extLst>
                          <a:ext uri="{FF2B5EF4-FFF2-40B4-BE49-F238E27FC236}">
                            <a16:creationId xmlns:a16="http://schemas.microsoft.com/office/drawing/2014/main" id="{F5799A4B-D26E-4717-BE85-C763659ACF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2205039"/>
                        <a:ext cx="748823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9">
            <a:extLst>
              <a:ext uri="{FF2B5EF4-FFF2-40B4-BE49-F238E27FC236}">
                <a16:creationId xmlns:a16="http://schemas.microsoft.com/office/drawing/2014/main" id="{8A6E0E2D-DAA8-46DC-812A-69F1E578E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919414"/>
            <a:ext cx="472281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/>
              <a:t>2. </a:t>
            </a:r>
            <a:r>
              <a:rPr lang="ru-RU" alt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Строго выпуклые функции</a:t>
            </a:r>
          </a:p>
        </p:txBody>
      </p:sp>
      <p:sp>
        <p:nvSpPr>
          <p:cNvPr id="20486" name="Rectangle 11">
            <a:extLst>
              <a:ext uri="{FF2B5EF4-FFF2-40B4-BE49-F238E27FC236}">
                <a16:creationId xmlns:a16="http://schemas.microsoft.com/office/drawing/2014/main" id="{39CC7F72-EE04-4F34-B92F-7604C6D98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2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0487" name="Object 10">
            <a:extLst>
              <a:ext uri="{FF2B5EF4-FFF2-40B4-BE49-F238E27FC236}">
                <a16:creationId xmlns:a16="http://schemas.microsoft.com/office/drawing/2014/main" id="{772A9E37-8847-46ED-8A32-49FA1FC2BB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3500438"/>
          <a:ext cx="777716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Формула" r:id="rId5" imgW="2768600" imgH="241300" progId="Equation.3">
                  <p:embed/>
                </p:oleObj>
              </mc:Choice>
              <mc:Fallback>
                <p:oleObj name="Формула" r:id="rId5" imgW="2768600" imgH="241300" progId="Equation.3">
                  <p:embed/>
                  <p:pic>
                    <p:nvPicPr>
                      <p:cNvPr id="20487" name="Object 10">
                        <a:extLst>
                          <a:ext uri="{FF2B5EF4-FFF2-40B4-BE49-F238E27FC236}">
                            <a16:creationId xmlns:a16="http://schemas.microsoft.com/office/drawing/2014/main" id="{772A9E37-8847-46ED-8A32-49FA1FC2BB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500438"/>
                        <a:ext cx="7777163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Rectangle 12">
            <a:extLst>
              <a:ext uri="{FF2B5EF4-FFF2-40B4-BE49-F238E27FC236}">
                <a16:creationId xmlns:a16="http://schemas.microsoft.com/office/drawing/2014/main" id="{C02D23E8-8579-49B5-8311-F90F253AB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506914"/>
            <a:ext cx="4795837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/>
              <a:t>3. </a:t>
            </a:r>
            <a:r>
              <a:rPr lang="ru-RU" alt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Сильно выпуклые функции</a:t>
            </a:r>
          </a:p>
        </p:txBody>
      </p:sp>
      <p:sp>
        <p:nvSpPr>
          <p:cNvPr id="20489" name="Rectangle 14">
            <a:extLst>
              <a:ext uri="{FF2B5EF4-FFF2-40B4-BE49-F238E27FC236}">
                <a16:creationId xmlns:a16="http://schemas.microsoft.com/office/drawing/2014/main" id="{73434645-5C2E-4B3F-9EDA-34E59ED05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0490" name="Rectangle 19">
            <a:extLst>
              <a:ext uri="{FF2B5EF4-FFF2-40B4-BE49-F238E27FC236}">
                <a16:creationId xmlns:a16="http://schemas.microsoft.com/office/drawing/2014/main" id="{2F8680E9-FFDB-4C88-93A2-E4179B1B6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0491" name="Object 18">
            <a:extLst>
              <a:ext uri="{FF2B5EF4-FFF2-40B4-BE49-F238E27FC236}">
                <a16:creationId xmlns:a16="http://schemas.microsoft.com/office/drawing/2014/main" id="{8E12E312-0053-41C4-A73C-C63E983323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5027613"/>
          <a:ext cx="86423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Формула" r:id="rId7" imgW="4102100" imgH="431800" progId="Equation.3">
                  <p:embed/>
                </p:oleObj>
              </mc:Choice>
              <mc:Fallback>
                <p:oleObj name="Формула" r:id="rId7" imgW="4102100" imgH="431800" progId="Equation.3">
                  <p:embed/>
                  <p:pic>
                    <p:nvPicPr>
                      <p:cNvPr id="20491" name="Object 18">
                        <a:extLst>
                          <a:ext uri="{FF2B5EF4-FFF2-40B4-BE49-F238E27FC236}">
                            <a16:creationId xmlns:a16="http://schemas.microsoft.com/office/drawing/2014/main" id="{8E12E312-0053-41C4-A73C-C63E98332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5027613"/>
                        <a:ext cx="86423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35C54FD-51D3-4080-8CFD-68A6A0222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altLang="ru-RU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определения конечномерного выпуклого анализа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0185576-9DA4-4B77-8909-B53C90259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400" b="1" dirty="0"/>
              <a:t>2.</a:t>
            </a:r>
            <a:r>
              <a:rPr lang="ru-RU" altLang="ru-RU" sz="2400" b="1" dirty="0"/>
              <a:t>4.3.</a:t>
            </a:r>
            <a:r>
              <a:rPr lang="ru-RU" altLang="ru-RU" sz="2400" b="1" u="sng" dirty="0"/>
              <a:t> Множества уровня.</a:t>
            </a:r>
          </a:p>
        </p:txBody>
      </p:sp>
      <p:pic>
        <p:nvPicPr>
          <p:cNvPr id="21508" name="Picture 4" descr="LE14">
            <a:extLst>
              <a:ext uri="{FF2B5EF4-FFF2-40B4-BE49-F238E27FC236}">
                <a16:creationId xmlns:a16="http://schemas.microsoft.com/office/drawing/2014/main" id="{87C40DB9-BE56-458B-B3FC-FC7C732C0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2276475"/>
            <a:ext cx="266382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09" name="Object 6">
            <a:extLst>
              <a:ext uri="{FF2B5EF4-FFF2-40B4-BE49-F238E27FC236}">
                <a16:creationId xmlns:a16="http://schemas.microsoft.com/office/drawing/2014/main" id="{719068B4-34E5-45C1-98C9-3443EEB08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2492375"/>
          <a:ext cx="1008062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Формула" r:id="rId4" imgW="698500" imgH="228600" progId="Equation.3">
                  <p:embed/>
                </p:oleObj>
              </mc:Choice>
              <mc:Fallback>
                <p:oleObj name="Формула" r:id="rId4" imgW="698500" imgH="228600" progId="Equation.3">
                  <p:embed/>
                  <p:pic>
                    <p:nvPicPr>
                      <p:cNvPr id="21509" name="Object 6">
                        <a:extLst>
                          <a:ext uri="{FF2B5EF4-FFF2-40B4-BE49-F238E27FC236}">
                            <a16:creationId xmlns:a16="http://schemas.microsoft.com/office/drawing/2014/main" id="{719068B4-34E5-45C1-98C9-3443EEB08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2492375"/>
                        <a:ext cx="1008062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5">
            <a:extLst>
              <a:ext uri="{FF2B5EF4-FFF2-40B4-BE49-F238E27FC236}">
                <a16:creationId xmlns:a16="http://schemas.microsoft.com/office/drawing/2014/main" id="{B7696B09-0111-4D0B-9D57-6DDCE45FD1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644901"/>
          <a:ext cx="482441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Формула" r:id="rId6" imgW="2082800" imgH="508000" progId="Equation.3">
                  <p:embed/>
                </p:oleObj>
              </mc:Choice>
              <mc:Fallback>
                <p:oleObj name="Формула" r:id="rId6" imgW="2082800" imgH="508000" progId="Equation.3">
                  <p:embed/>
                  <p:pic>
                    <p:nvPicPr>
                      <p:cNvPr id="21510" name="Object 5">
                        <a:extLst>
                          <a:ext uri="{FF2B5EF4-FFF2-40B4-BE49-F238E27FC236}">
                            <a16:creationId xmlns:a16="http://schemas.microsoft.com/office/drawing/2014/main" id="{B7696B09-0111-4D0B-9D57-6DDCE45FD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644901"/>
                        <a:ext cx="482441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7">
            <a:extLst>
              <a:ext uri="{FF2B5EF4-FFF2-40B4-BE49-F238E27FC236}">
                <a16:creationId xmlns:a16="http://schemas.microsoft.com/office/drawing/2014/main" id="{4893A833-7A63-4925-86B2-D835D111D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173289"/>
            <a:ext cx="5399088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– выпуклая функция.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Зададим 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плоскость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C6745D7E-8199-432E-8505-A26A52C67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6" y="2782889"/>
            <a:ext cx="2879725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Тогда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S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сечение уровня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L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линия уровня.</a:t>
            </a:r>
            <a:endParaRPr lang="ru-RU" altLang="ru-RU" sz="1800" b="1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8B882DA3-3D16-4B8F-8E73-A09CD70B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249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8B68947-6620-49F8-B8FA-D41AD68C5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74639"/>
            <a:ext cx="8291512" cy="1425575"/>
          </a:xfrm>
        </p:spPr>
        <p:txBody>
          <a:bodyPr/>
          <a:lstStyle/>
          <a:p>
            <a:pPr marL="838200" indent="-838200"/>
            <a:r>
              <a:rPr lang="en-US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Дифференцирование функций.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348D0EB-7E2A-45CE-9EC6-B5EB7B47A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844676"/>
            <a:ext cx="8229600" cy="4608513"/>
          </a:xfrm>
        </p:spPr>
        <p:txBody>
          <a:bodyPr/>
          <a:lstStyle/>
          <a:p>
            <a:pPr marL="0" indent="0">
              <a:buNone/>
            </a:pP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4ABC6A7B-F4B8-4D6F-A6A2-0FA9EEF64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2C06EE7C-A8A8-41BB-977F-9CD0861302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2957514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22533" name="Object 5">
                        <a:extLst>
                          <a:ext uri="{FF2B5EF4-FFF2-40B4-BE49-F238E27FC236}">
                            <a16:creationId xmlns:a16="http://schemas.microsoft.com/office/drawing/2014/main" id="{2C06EE7C-A8A8-41BB-977F-9CD0861302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2957514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>
            <a:extLst>
              <a:ext uri="{FF2B5EF4-FFF2-40B4-BE49-F238E27FC236}">
                <a16:creationId xmlns:a16="http://schemas.microsoft.com/office/drawing/2014/main" id="{0F08B4A1-5095-4652-8972-2D133FD54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6774FF01-7084-413C-A356-6AF799101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C32DBC8F-F891-4098-9D63-18CB455B3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01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C420D49C-03B9-4100-BFD6-1DB37175F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753C840B-4641-457B-9F76-57BEABEA0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6" y="1660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071E7CDE-523D-463D-B442-FBFD9B529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0" name="Rectangle 12">
            <a:extLst>
              <a:ext uri="{FF2B5EF4-FFF2-40B4-BE49-F238E27FC236}">
                <a16:creationId xmlns:a16="http://schemas.microsoft.com/office/drawing/2014/main" id="{CA3D7A98-2241-42A7-A45E-B2D04180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1" name="Rectangle 13">
            <a:extLst>
              <a:ext uri="{FF2B5EF4-FFF2-40B4-BE49-F238E27FC236}">
                <a16:creationId xmlns:a16="http://schemas.microsoft.com/office/drawing/2014/main" id="{7417185C-3741-4585-94B4-027C85C67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2542" name="Object 14">
            <a:extLst>
              <a:ext uri="{FF2B5EF4-FFF2-40B4-BE49-F238E27FC236}">
                <a16:creationId xmlns:a16="http://schemas.microsoft.com/office/drawing/2014/main" id="{6B688371-7ABB-4673-B90B-3F207D7632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30686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22542" name="Object 14">
                        <a:extLst>
                          <a:ext uri="{FF2B5EF4-FFF2-40B4-BE49-F238E27FC236}">
                            <a16:creationId xmlns:a16="http://schemas.microsoft.com/office/drawing/2014/main" id="{6B688371-7ABB-4673-B90B-3F207D7632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3068638"/>
                        <a:ext cx="22320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Rectangle 15">
            <a:extLst>
              <a:ext uri="{FF2B5EF4-FFF2-40B4-BE49-F238E27FC236}">
                <a16:creationId xmlns:a16="http://schemas.microsoft.com/office/drawing/2014/main" id="{391D761D-C5B6-45B1-94A0-4F5BEED99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4" name="Rectangle 16">
            <a:extLst>
              <a:ext uri="{FF2B5EF4-FFF2-40B4-BE49-F238E27FC236}">
                <a16:creationId xmlns:a16="http://schemas.microsoft.com/office/drawing/2014/main" id="{514A3C57-63AE-4B12-AC4D-688F731A3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3067050"/>
            <a:ext cx="31210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/>
              <a:t>f</a:t>
            </a:r>
            <a:r>
              <a:rPr lang="ru-RU" altLang="ru-RU" sz="1800"/>
              <a:t>(</a:t>
            </a:r>
            <a:r>
              <a:rPr lang="en-US" altLang="ru-RU" sz="1800"/>
              <a:t>x</a:t>
            </a:r>
            <a:r>
              <a:rPr lang="ru-RU" altLang="ru-RU" sz="1800"/>
              <a:t>)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всюду гладкая функция</a:t>
            </a:r>
            <a:r>
              <a:rPr lang="ru-RU" altLang="ru-RU" sz="1800"/>
              <a:t>.</a:t>
            </a:r>
          </a:p>
        </p:txBody>
      </p:sp>
      <p:pic>
        <p:nvPicPr>
          <p:cNvPr id="22545" name="Picture 17" descr="LE15">
            <a:extLst>
              <a:ext uri="{FF2B5EF4-FFF2-40B4-BE49-F238E27FC236}">
                <a16:creationId xmlns:a16="http://schemas.microsoft.com/office/drawing/2014/main" id="{AAD4C061-90E3-4B73-838C-1F388F177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3500438"/>
            <a:ext cx="2519362" cy="288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6" name="Rectangle 18">
            <a:extLst>
              <a:ext uri="{FF2B5EF4-FFF2-40B4-BE49-F238E27FC236}">
                <a16:creationId xmlns:a16="http://schemas.microsoft.com/office/drawing/2014/main" id="{EE8F7C0B-A191-4EE1-B63D-23D33309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2547" name="Rectangle 20">
            <a:extLst>
              <a:ext uri="{FF2B5EF4-FFF2-40B4-BE49-F238E27FC236}">
                <a16:creationId xmlns:a16="http://schemas.microsoft.com/office/drawing/2014/main" id="{D9C04F56-FD46-4704-B9C1-38B40CDF1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076" y="4122739"/>
            <a:ext cx="25368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для выпуклой функции:</a:t>
            </a:r>
          </a:p>
        </p:txBody>
      </p:sp>
      <p:sp>
        <p:nvSpPr>
          <p:cNvPr id="22548" name="Rectangle 21">
            <a:extLst>
              <a:ext uri="{FF2B5EF4-FFF2-40B4-BE49-F238E27FC236}">
                <a16:creationId xmlns:a16="http://schemas.microsoft.com/office/drawing/2014/main" id="{CBD4C52C-0707-48B5-AF72-3789FFCE8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2549" name="Object 22">
            <a:extLst>
              <a:ext uri="{FF2B5EF4-FFF2-40B4-BE49-F238E27FC236}">
                <a16:creationId xmlns:a16="http://schemas.microsoft.com/office/drawing/2014/main" id="{11569F25-67C4-4236-8E9A-832C41FE9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0275" y="4481514"/>
          <a:ext cx="3816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Формула" r:id="rId8" imgW="1968500" imgH="241300" progId="Equation.3">
                  <p:embed/>
                </p:oleObj>
              </mc:Choice>
              <mc:Fallback>
                <p:oleObj name="Формула" r:id="rId8" imgW="1968500" imgH="241300" progId="Equation.3">
                  <p:embed/>
                  <p:pic>
                    <p:nvPicPr>
                      <p:cNvPr id="22549" name="Object 22">
                        <a:extLst>
                          <a:ext uri="{FF2B5EF4-FFF2-40B4-BE49-F238E27FC236}">
                            <a16:creationId xmlns:a16="http://schemas.microsoft.com/office/drawing/2014/main" id="{11569F25-67C4-4236-8E9A-832C41FE9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275" y="4481514"/>
                        <a:ext cx="3816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0" name="Rectangle 23">
            <a:extLst>
              <a:ext uri="{FF2B5EF4-FFF2-40B4-BE49-F238E27FC236}">
                <a16:creationId xmlns:a16="http://schemas.microsoft.com/office/drawing/2014/main" id="{79D92AE4-2B8B-48BF-8E02-90F63A17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964" y="5038725"/>
            <a:ext cx="52339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фундаментальное неравенство выпуклых функций.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6EFF3B-A2A0-4ABD-AAA1-229B3650224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60851" y="3404346"/>
            <a:ext cx="6732240" cy="644985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22552" name="Прямоугольник 2">
            <a:extLst>
              <a:ext uri="{FF2B5EF4-FFF2-40B4-BE49-F238E27FC236}">
                <a16:creationId xmlns:a16="http://schemas.microsoft.com/office/drawing/2014/main" id="{A571BA19-FB6F-4E7F-94C7-FB5A08AF1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025" y="5864225"/>
            <a:ext cx="2789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опорная гиперплоскость.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9390150-E618-4A1A-94C2-0CF9DE00C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algn="ctr"/>
            <a:r>
              <a:rPr lang="en-US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Дифференцирование функций.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9C26EF5-AE94-414E-BC6B-838966B97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1" y="1628776"/>
            <a:ext cx="8697912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u="sng"/>
              <a:t>Теорема:</a:t>
            </a:r>
            <a:r>
              <a:rPr lang="ru-RU" altLang="ru-RU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Для любой точки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FAD9995C-49A4-4DBA-B59B-11E24D9A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35ACB428-D0F4-4F5E-BE10-7A97E9FD1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A032BEB5-83AA-4F94-8D97-22011D578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AE6A3BD8-86D1-4BAF-A200-FFABD5E28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986751"/>
              </p:ext>
            </p:extLst>
          </p:nvPr>
        </p:nvGraphicFramePr>
        <p:xfrm>
          <a:off x="4757738" y="1697037"/>
          <a:ext cx="17287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name="Формула" r:id="rId3" imgW="1002865" imgH="228501" progId="Equation.3">
                  <p:embed/>
                </p:oleObj>
              </mc:Choice>
              <mc:Fallback>
                <p:oleObj name="Формула" r:id="rId3" imgW="1002865" imgH="228501" progId="Equation.3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AE6A3BD8-86D1-4BAF-A200-FFABD5E28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1697037"/>
                        <a:ext cx="17287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8">
            <a:extLst>
              <a:ext uri="{FF2B5EF4-FFF2-40B4-BE49-F238E27FC236}">
                <a16:creationId xmlns:a16="http://schemas.microsoft.com/office/drawing/2014/main" id="{DB38B784-BD5A-44C8-8809-BFE737EDD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1714759"/>
            <a:ext cx="3600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элемента внутренности множества</a:t>
            </a:r>
          </a:p>
        </p:txBody>
      </p:sp>
      <p:graphicFrame>
        <p:nvGraphicFramePr>
          <p:cNvPr id="23561" name="Object 9">
            <a:extLst>
              <a:ext uri="{FF2B5EF4-FFF2-40B4-BE49-F238E27FC236}">
                <a16:creationId xmlns:a16="http://schemas.microsoft.com/office/drawing/2014/main" id="{6D9D3BE6-624A-4B50-980B-C1A24BDAA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225142"/>
              </p:ext>
            </p:extLst>
          </p:nvPr>
        </p:nvGraphicFramePr>
        <p:xfrm>
          <a:off x="3295470" y="2083871"/>
          <a:ext cx="7191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3" name="Формула" r:id="rId5" imgW="444307" imgH="228501" progId="Equation.3">
                  <p:embed/>
                </p:oleObj>
              </mc:Choice>
              <mc:Fallback>
                <p:oleObj name="Формула" r:id="rId5" imgW="444307" imgH="228501" progId="Equation.3">
                  <p:embed/>
                  <p:pic>
                    <p:nvPicPr>
                      <p:cNvPr id="23561" name="Object 9">
                        <a:extLst>
                          <a:ext uri="{FF2B5EF4-FFF2-40B4-BE49-F238E27FC236}">
                            <a16:creationId xmlns:a16="http://schemas.microsoft.com/office/drawing/2014/main" id="{6D9D3BE6-624A-4B50-980B-C1A24BDAA9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470" y="2083871"/>
                        <a:ext cx="71913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0">
            <a:extLst>
              <a:ext uri="{FF2B5EF4-FFF2-40B4-BE49-F238E27FC236}">
                <a16:creationId xmlns:a16="http://schemas.microsoft.com/office/drawing/2014/main" id="{C72CE1A5-1969-404B-B1E0-891B10FBC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582" y="2060576"/>
            <a:ext cx="2700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компактное множество</a:t>
            </a:r>
            <a:r>
              <a:rPr lang="ru-RU" altLang="ru-RU" sz="1800" dirty="0">
                <a:cs typeface="Times New Roman" panose="02020603050405020304" pitchFamily="18" charset="0"/>
              </a:rPr>
              <a:t>.</a:t>
            </a:r>
            <a:endParaRPr lang="ru-RU" altLang="ru-RU" sz="1800" dirty="0"/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429A7D49-11FE-4A8C-BE5F-C3A832B30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6" y="2048946"/>
            <a:ext cx="17573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сечения уровня 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3BEB81ED-B33B-4E8B-B517-F27D1166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2480745"/>
            <a:ext cx="71755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dirty="0"/>
              <a:t>3.</a:t>
            </a:r>
            <a:r>
              <a:rPr lang="ru-RU" altLang="ru-RU" sz="2400" b="1" dirty="0"/>
              <a:t>1.2.</a:t>
            </a:r>
            <a:r>
              <a:rPr lang="ru-RU" altLang="ru-RU" sz="2400" b="1" u="sng" dirty="0"/>
              <a:t> Производная функции по направлению.</a:t>
            </a:r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0DEBD82D-A43D-4F68-B660-89AD9CEFA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284538"/>
            <a:ext cx="2905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 dirty="0"/>
              <a:t>Определение 3.</a:t>
            </a:r>
            <a:r>
              <a:rPr lang="ru-RU" altLang="ru-RU" sz="1800" dirty="0"/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sz="1800" dirty="0"/>
              <a:t> </a:t>
            </a:r>
            <a:r>
              <a:rPr lang="en-US" altLang="ru-RU" sz="1800" dirty="0"/>
              <a:t>f</a:t>
            </a:r>
            <a:r>
              <a:rPr lang="ru-RU" altLang="ru-RU" sz="1800" dirty="0"/>
              <a:t>: 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ECBEC248-D439-48E5-9EE1-8D6E80256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67" name="Object 15">
            <a:extLst>
              <a:ext uri="{FF2B5EF4-FFF2-40B4-BE49-F238E27FC236}">
                <a16:creationId xmlns:a16="http://schemas.microsoft.com/office/drawing/2014/main" id="{D627C296-3C89-4115-922C-FF971407F5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3284539"/>
          <a:ext cx="26638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4" name="Формула" r:id="rId7" imgW="1536700" imgH="228600" progId="Equation.3">
                  <p:embed/>
                </p:oleObj>
              </mc:Choice>
              <mc:Fallback>
                <p:oleObj name="Формула" r:id="rId7" imgW="1536700" imgH="228600" progId="Equation.3">
                  <p:embed/>
                  <p:pic>
                    <p:nvPicPr>
                      <p:cNvPr id="23567" name="Object 15">
                        <a:extLst>
                          <a:ext uri="{FF2B5EF4-FFF2-40B4-BE49-F238E27FC236}">
                            <a16:creationId xmlns:a16="http://schemas.microsoft.com/office/drawing/2014/main" id="{D627C296-3C89-4115-922C-FF971407F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3284539"/>
                        <a:ext cx="26638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Rectangle 16">
            <a:extLst>
              <a:ext uri="{FF2B5EF4-FFF2-40B4-BE49-F238E27FC236}">
                <a16:creationId xmlns:a16="http://schemas.microsoft.com/office/drawing/2014/main" id="{E89D9EB5-974D-4212-BC54-A9B3F872A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3282950"/>
            <a:ext cx="20224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производной</a:t>
            </a:r>
          </a:p>
        </p:txBody>
      </p:sp>
      <p:sp>
        <p:nvSpPr>
          <p:cNvPr id="23569" name="Rectangle 17">
            <a:extLst>
              <a:ext uri="{FF2B5EF4-FFF2-40B4-BE49-F238E27FC236}">
                <a16:creationId xmlns:a16="http://schemas.microsoft.com/office/drawing/2014/main" id="{DC71CA97-1B75-48A1-B42F-D0E66B46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643314"/>
            <a:ext cx="60594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 направлению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в т.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altLang="ru-RU" sz="1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предел:</a:t>
            </a:r>
          </a:p>
        </p:txBody>
      </p:sp>
      <p:sp>
        <p:nvSpPr>
          <p:cNvPr id="23570" name="Rectangle 18">
            <a:extLst>
              <a:ext uri="{FF2B5EF4-FFF2-40B4-BE49-F238E27FC236}">
                <a16:creationId xmlns:a16="http://schemas.microsoft.com/office/drawing/2014/main" id="{3378CE3C-11C3-44F3-B18D-BD83BA32A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50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3571" name="Rectangle 19">
            <a:extLst>
              <a:ext uri="{FF2B5EF4-FFF2-40B4-BE49-F238E27FC236}">
                <a16:creationId xmlns:a16="http://schemas.microsoft.com/office/drawing/2014/main" id="{BFE622CC-FFE8-448E-BD0F-807E244C7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175126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altLang="ru-RU" sz="1800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cs typeface="Times New Roman" panose="02020603050405020304" pitchFamily="18" charset="0"/>
              </a:rPr>
              <a:t>=</a:t>
            </a:r>
            <a:endParaRPr lang="ru-RU" altLang="ru-RU" sz="1800"/>
          </a:p>
        </p:txBody>
      </p:sp>
      <p:graphicFrame>
        <p:nvGraphicFramePr>
          <p:cNvPr id="23572" name="Object 20">
            <a:extLst>
              <a:ext uri="{FF2B5EF4-FFF2-40B4-BE49-F238E27FC236}">
                <a16:creationId xmlns:a16="http://schemas.microsoft.com/office/drawing/2014/main" id="{FA2DD915-151C-4247-996A-35E254BDF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6" y="4076701"/>
          <a:ext cx="33115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5" name="Формула" r:id="rId9" imgW="2260600" imgH="393700" progId="Equation.3">
                  <p:embed/>
                </p:oleObj>
              </mc:Choice>
              <mc:Fallback>
                <p:oleObj name="Формула" r:id="rId9" imgW="2260600" imgH="393700" progId="Equation.3">
                  <p:embed/>
                  <p:pic>
                    <p:nvPicPr>
                      <p:cNvPr id="23572" name="Object 20">
                        <a:extLst>
                          <a:ext uri="{FF2B5EF4-FFF2-40B4-BE49-F238E27FC236}">
                            <a16:creationId xmlns:a16="http://schemas.microsoft.com/office/drawing/2014/main" id="{FA2DD915-151C-4247-996A-35E254BDF4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4076701"/>
                        <a:ext cx="331152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3" name="Rectangle 21">
            <a:extLst>
              <a:ext uri="{FF2B5EF4-FFF2-40B4-BE49-F238E27FC236}">
                <a16:creationId xmlns:a16="http://schemas.microsoft.com/office/drawing/2014/main" id="{9AA7BBCD-E3F1-40DF-B9DB-266F3901C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76" y="3624264"/>
            <a:ext cx="2698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</a:t>
            </a:r>
            <a:endParaRPr lang="ru-RU" altLang="ru-RU" sz="1800"/>
          </a:p>
        </p:txBody>
      </p:sp>
      <p:sp>
        <p:nvSpPr>
          <p:cNvPr id="23574" name="Rectangle 22">
            <a:extLst>
              <a:ext uri="{FF2B5EF4-FFF2-40B4-BE49-F238E27FC236}">
                <a16:creationId xmlns:a16="http://schemas.microsoft.com/office/drawing/2014/main" id="{75D38BA4-3DFE-4E2B-AE31-2277B14F4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722814"/>
            <a:ext cx="6048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</a:p>
        </p:txBody>
      </p:sp>
      <p:sp>
        <p:nvSpPr>
          <p:cNvPr id="23575" name="Rectangle 23">
            <a:extLst>
              <a:ext uri="{FF2B5EF4-FFF2-40B4-BE49-F238E27FC236}">
                <a16:creationId xmlns:a16="http://schemas.microsoft.com/office/drawing/2014/main" id="{C3A5A076-FB85-46C4-A2D8-B94892BFC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76" name="Object 24">
            <a:extLst>
              <a:ext uri="{FF2B5EF4-FFF2-40B4-BE49-F238E27FC236}">
                <a16:creationId xmlns:a16="http://schemas.microsoft.com/office/drawing/2014/main" id="{DA1AD0CD-FA42-4872-B809-15CC1895A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4652963"/>
          <a:ext cx="38163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6" name="Формула" r:id="rId11" imgW="2679700" imgH="444500" progId="Equation.3">
                  <p:embed/>
                </p:oleObj>
              </mc:Choice>
              <mc:Fallback>
                <p:oleObj name="Формула" r:id="rId11" imgW="2679700" imgH="444500" progId="Equation.3">
                  <p:embed/>
                  <p:pic>
                    <p:nvPicPr>
                      <p:cNvPr id="23576" name="Object 24">
                        <a:extLst>
                          <a:ext uri="{FF2B5EF4-FFF2-40B4-BE49-F238E27FC236}">
                            <a16:creationId xmlns:a16="http://schemas.microsoft.com/office/drawing/2014/main" id="{DA1AD0CD-FA42-4872-B809-15CC1895A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652963"/>
                        <a:ext cx="38163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Rectangle 25">
            <a:extLst>
              <a:ext uri="{FF2B5EF4-FFF2-40B4-BE49-F238E27FC236}">
                <a16:creationId xmlns:a16="http://schemas.microsoft.com/office/drawing/2014/main" id="{402BFBB5-5166-422C-A697-E304694C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5372100"/>
            <a:ext cx="35671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Обобщение: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Производная Гато</a:t>
            </a:r>
            <a:r>
              <a:rPr lang="ru-RU" altLang="ru-RU" sz="1800"/>
              <a:t>: </a:t>
            </a:r>
          </a:p>
        </p:txBody>
      </p:sp>
      <p:sp>
        <p:nvSpPr>
          <p:cNvPr id="23578" name="Rectangle 26">
            <a:extLst>
              <a:ext uri="{FF2B5EF4-FFF2-40B4-BE49-F238E27FC236}">
                <a16:creationId xmlns:a16="http://schemas.microsoft.com/office/drawing/2014/main" id="{EA3E4B79-DFA8-482E-8458-D7C472F53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3579" name="Object 27">
            <a:extLst>
              <a:ext uri="{FF2B5EF4-FFF2-40B4-BE49-F238E27FC236}">
                <a16:creationId xmlns:a16="http://schemas.microsoft.com/office/drawing/2014/main" id="{D8AA3D3C-3315-47A6-97FB-9BF3D8BAB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567280"/>
              </p:ext>
            </p:extLst>
          </p:nvPr>
        </p:nvGraphicFramePr>
        <p:xfrm>
          <a:off x="5304632" y="5294313"/>
          <a:ext cx="17272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" name="Формула" r:id="rId13" imgW="1244600" imgH="444500" progId="Equation.3">
                  <p:embed/>
                </p:oleObj>
              </mc:Choice>
              <mc:Fallback>
                <p:oleObj name="Формула" r:id="rId13" imgW="1244600" imgH="444500" progId="Equation.3">
                  <p:embed/>
                  <p:pic>
                    <p:nvPicPr>
                      <p:cNvPr id="23579" name="Object 27">
                        <a:extLst>
                          <a:ext uri="{FF2B5EF4-FFF2-40B4-BE49-F238E27FC236}">
                            <a16:creationId xmlns:a16="http://schemas.microsoft.com/office/drawing/2014/main" id="{D8AA3D3C-3315-47A6-97FB-9BF3D8BAB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4632" y="5294313"/>
                        <a:ext cx="17272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0" name="Rectangle 28">
            <a:extLst>
              <a:ext uri="{FF2B5EF4-FFF2-40B4-BE49-F238E27FC236}">
                <a16:creationId xmlns:a16="http://schemas.microsoft.com/office/drawing/2014/main" id="{438152F6-4C21-4AA5-ADE9-AD209C2F1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5668963"/>
            <a:ext cx="8640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Из существования производной Гато не следует существование дифференциала Фреше.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23FAA-3624-4940-B7C5-B606B417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Дифференцирование функций.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3A39074-624A-4D6F-BCEA-F6A875173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Определение 4.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субградиентом</a:t>
                </a:r>
                <a:r>
                  <a:rPr lang="en-US" b="1" i="1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выпуклой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в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если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b="1" dirty="0"/>
                  <a:t>Определение 5.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всех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субградиентов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</a:t>
                </a:r>
                <a:r>
                  <a:rPr lang="ru-RU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субдифференциалом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3A39074-624A-4D6F-BCEA-F6A875173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836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3DEDA57-21E7-4574-A122-1280BB151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Дифференцирование функций.</a:t>
            </a:r>
          </a:p>
        </p:txBody>
      </p:sp>
      <p:pic>
        <p:nvPicPr>
          <p:cNvPr id="24579" name="Picture 3" descr="LE16">
            <a:extLst>
              <a:ext uri="{FF2B5EF4-FFF2-40B4-BE49-F238E27FC236}">
                <a16:creationId xmlns:a16="http://schemas.microsoft.com/office/drawing/2014/main" id="{71A068A8-1231-4710-9A96-715458F6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773238"/>
            <a:ext cx="806450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26234DC-D6B9-4FFD-9398-8A2DB68E1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Дифференцирование функций.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0D6C1A9-9225-4695-AECE-D3A93B45E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DC9C0140-3A94-49B3-A467-BC44538F4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CF85ECAE-A687-4C69-87E0-D4CE7163A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212E360D-B834-41A9-855F-82F25431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93289296-EF59-419F-8FBC-20DE33836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300E9BB1-B885-4E36-85ED-CA729475E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1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0A1F2802-3C3F-435D-BC65-6B39DABEC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537A9541-703D-41C7-9371-8DED4F24F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82CF09B3-7620-498F-8806-3475C8FCB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1511300"/>
            <a:ext cx="663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/>
              <a:t>3.</a:t>
            </a:r>
            <a:r>
              <a:rPr lang="ru-RU" altLang="ru-RU" sz="2400" b="1"/>
              <a:t>1.3.</a:t>
            </a:r>
            <a:r>
              <a:rPr lang="ru-RU" altLang="ru-RU" sz="2400" b="1" u="sng"/>
              <a:t> Разложение функции в ряд Тейлора.</a:t>
            </a:r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948F634C-C6FB-4986-B9CF-874C7E22A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987550"/>
            <a:ext cx="75723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-мерного пространства переменных - разложение в ряд Тейлора.</a:t>
            </a:r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5EC96E77-E394-43C9-A58C-326AC7A43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64" y="2419351"/>
            <a:ext cx="1373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25A66572-9193-4E3B-A181-D3654456F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15" name="Object 15">
            <a:extLst>
              <a:ext uri="{FF2B5EF4-FFF2-40B4-BE49-F238E27FC236}">
                <a16:creationId xmlns:a16="http://schemas.microsoft.com/office/drawing/2014/main" id="{C6656364-85E5-40C7-AAF9-76E8E8BAB9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2420939"/>
          <a:ext cx="24479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25615" name="Object 15">
                        <a:extLst>
                          <a:ext uri="{FF2B5EF4-FFF2-40B4-BE49-F238E27FC236}">
                            <a16:creationId xmlns:a16="http://schemas.microsoft.com/office/drawing/2014/main" id="{C6656364-85E5-40C7-AAF9-76E8E8BAB9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420939"/>
                        <a:ext cx="24479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6" name="Rectangle 16">
            <a:extLst>
              <a:ext uri="{FF2B5EF4-FFF2-40B4-BE49-F238E27FC236}">
                <a16:creationId xmlns:a16="http://schemas.microsoft.com/office/drawing/2014/main" id="{8330D6B7-E8C6-417F-B940-8966F9710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2419350"/>
            <a:ext cx="41862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, если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раз дифференцируема </a:t>
            </a:r>
          </a:p>
        </p:txBody>
      </p:sp>
      <p:sp>
        <p:nvSpPr>
          <p:cNvPr id="25617" name="Rectangle 17">
            <a:extLst>
              <a:ext uri="{FF2B5EF4-FFF2-40B4-BE49-F238E27FC236}">
                <a16:creationId xmlns:a16="http://schemas.microsoft.com/office/drawing/2014/main" id="{AD003554-809F-485E-BBC7-D2007B57A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771775"/>
            <a:ext cx="13985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т.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то     </a:t>
            </a:r>
          </a:p>
        </p:txBody>
      </p:sp>
      <p:sp>
        <p:nvSpPr>
          <p:cNvPr id="25618" name="Rectangle 18">
            <a:extLst>
              <a:ext uri="{FF2B5EF4-FFF2-40B4-BE49-F238E27FC236}">
                <a16:creationId xmlns:a16="http://schemas.microsoft.com/office/drawing/2014/main" id="{199CF409-C714-4AD4-A01E-F51784FEF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6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19" name="Object 19">
            <a:extLst>
              <a:ext uri="{FF2B5EF4-FFF2-40B4-BE49-F238E27FC236}">
                <a16:creationId xmlns:a16="http://schemas.microsoft.com/office/drawing/2014/main" id="{740EA4C7-651C-4EB5-9F98-E6ABDCAE9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2852739"/>
          <a:ext cx="57594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Формула" r:id="rId5" imgW="4013200" imgH="279400" progId="Equation.3">
                  <p:embed/>
                </p:oleObj>
              </mc:Choice>
              <mc:Fallback>
                <p:oleObj name="Формула" r:id="rId5" imgW="4013200" imgH="279400" progId="Equation.3">
                  <p:embed/>
                  <p:pic>
                    <p:nvPicPr>
                      <p:cNvPr id="25619" name="Object 19">
                        <a:extLst>
                          <a:ext uri="{FF2B5EF4-FFF2-40B4-BE49-F238E27FC236}">
                            <a16:creationId xmlns:a16="http://schemas.microsoft.com/office/drawing/2014/main" id="{740EA4C7-651C-4EB5-9F98-E6ABDCAE94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2852739"/>
                        <a:ext cx="57594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0" name="Rectangle 20">
            <a:extLst>
              <a:ext uri="{FF2B5EF4-FFF2-40B4-BE49-F238E27FC236}">
                <a16:creationId xmlns:a16="http://schemas.microsoft.com/office/drawing/2014/main" id="{24C58D95-AB80-4EE8-B4D1-72FA2DC01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21" name="Rectangle 21">
            <a:extLst>
              <a:ext uri="{FF2B5EF4-FFF2-40B4-BE49-F238E27FC236}">
                <a16:creationId xmlns:a16="http://schemas.microsoft.com/office/drawing/2014/main" id="{56A4B51E-0851-4E4D-B591-9F42F391E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140075"/>
            <a:ext cx="43830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- остаточный член в форме Пеано;</a:t>
            </a:r>
          </a:p>
        </p:txBody>
      </p:sp>
      <p:sp>
        <p:nvSpPr>
          <p:cNvPr id="25622" name="Rectangle 22">
            <a:extLst>
              <a:ext uri="{FF2B5EF4-FFF2-40B4-BE49-F238E27FC236}">
                <a16:creationId xmlns:a16="http://schemas.microsoft.com/office/drawing/2014/main" id="{4FAE3AD5-9A8C-41B0-81E9-BD698B401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23" name="Object 23">
            <a:extLst>
              <a:ext uri="{FF2B5EF4-FFF2-40B4-BE49-F238E27FC236}">
                <a16:creationId xmlns:a16="http://schemas.microsoft.com/office/drawing/2014/main" id="{968298D8-273D-4B64-9191-F2940AD10C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3521076"/>
          <a:ext cx="3455987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Формула" r:id="rId7" imgW="2260600" imgH="508000" progId="Equation.3">
                  <p:embed/>
                </p:oleObj>
              </mc:Choice>
              <mc:Fallback>
                <p:oleObj name="Формула" r:id="rId7" imgW="2260600" imgH="508000" progId="Equation.3">
                  <p:embed/>
                  <p:pic>
                    <p:nvPicPr>
                      <p:cNvPr id="25623" name="Object 23">
                        <a:extLst>
                          <a:ext uri="{FF2B5EF4-FFF2-40B4-BE49-F238E27FC236}">
                            <a16:creationId xmlns:a16="http://schemas.microsoft.com/office/drawing/2014/main" id="{968298D8-273D-4B64-9191-F2940AD10C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3521076"/>
                        <a:ext cx="3455987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Rectangle 24">
            <a:extLst>
              <a:ext uri="{FF2B5EF4-FFF2-40B4-BE49-F238E27FC236}">
                <a16:creationId xmlns:a16="http://schemas.microsoft.com/office/drawing/2014/main" id="{ECBB863C-20E7-4345-963C-D65B76E1C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951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25" name="Rectangle 25">
            <a:extLst>
              <a:ext uri="{FF2B5EF4-FFF2-40B4-BE49-F238E27FC236}">
                <a16:creationId xmlns:a16="http://schemas.microsoft.com/office/drawing/2014/main" id="{19329A12-4B6D-4376-987B-E0CA019DE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3714750"/>
            <a:ext cx="32448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градиент функции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в т.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</p:txBody>
      </p:sp>
      <p:sp>
        <p:nvSpPr>
          <p:cNvPr id="25626" name="Rectangle 26">
            <a:extLst>
              <a:ext uri="{FF2B5EF4-FFF2-40B4-BE49-F238E27FC236}">
                <a16:creationId xmlns:a16="http://schemas.microsoft.com/office/drawing/2014/main" id="{56BD0EE5-9746-42AB-A4C9-6A9E37BD6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8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5627" name="Object 27">
            <a:extLst>
              <a:ext uri="{FF2B5EF4-FFF2-40B4-BE49-F238E27FC236}">
                <a16:creationId xmlns:a16="http://schemas.microsoft.com/office/drawing/2014/main" id="{3116DCA3-F067-4ED6-B070-28116AA03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4029076"/>
          <a:ext cx="21605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Формула" r:id="rId9" imgW="1459866" imgH="571252" progId="Equation.3">
                  <p:embed/>
                </p:oleObj>
              </mc:Choice>
              <mc:Fallback>
                <p:oleObj name="Формула" r:id="rId9" imgW="1459866" imgH="571252" progId="Equation.3">
                  <p:embed/>
                  <p:pic>
                    <p:nvPicPr>
                      <p:cNvPr id="25627" name="Object 27">
                        <a:extLst>
                          <a:ext uri="{FF2B5EF4-FFF2-40B4-BE49-F238E27FC236}">
                            <a16:creationId xmlns:a16="http://schemas.microsoft.com/office/drawing/2014/main" id="{3116DCA3-F067-4ED6-B070-28116AA03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4029076"/>
                        <a:ext cx="21605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8" name="Rectangle 28">
            <a:extLst>
              <a:ext uri="{FF2B5EF4-FFF2-40B4-BE49-F238E27FC236}">
                <a16:creationId xmlns:a16="http://schemas.microsoft.com/office/drawing/2014/main" id="{22AD468D-6097-4523-961B-11E5B03A5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29" name="Rectangle 29">
            <a:extLst>
              <a:ext uri="{FF2B5EF4-FFF2-40B4-BE49-F238E27FC236}">
                <a16:creationId xmlns:a16="http://schemas.microsoft.com/office/drawing/2014/main" id="{7BC20260-78F8-4A52-836E-0E313A066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1" y="4129088"/>
            <a:ext cx="51038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матрица Гессе 2-х частных производных в т. </a:t>
            </a:r>
            <a:r>
              <a:rPr lang="ru-RU" altLang="ru-RU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5630" name="Rectangle 30">
            <a:extLst>
              <a:ext uri="{FF2B5EF4-FFF2-40B4-BE49-F238E27FC236}">
                <a16:creationId xmlns:a16="http://schemas.microsoft.com/office/drawing/2014/main" id="{4EB5816E-E666-4E16-A954-38E92B215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4795839"/>
            <a:ext cx="7254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</a:p>
        </p:txBody>
      </p:sp>
      <p:sp>
        <p:nvSpPr>
          <p:cNvPr id="25631" name="Rectangle 31">
            <a:extLst>
              <a:ext uri="{FF2B5EF4-FFF2-40B4-BE49-F238E27FC236}">
                <a16:creationId xmlns:a16="http://schemas.microsoft.com/office/drawing/2014/main" id="{0B3560A3-D14B-4393-A960-76F39EF4F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2" name="Rectangle 33">
            <a:extLst>
              <a:ext uri="{FF2B5EF4-FFF2-40B4-BE49-F238E27FC236}">
                <a16:creationId xmlns:a16="http://schemas.microsoft.com/office/drawing/2014/main" id="{E0E3C0D0-CC66-48E6-8C15-17EF920E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6" y="4795839"/>
            <a:ext cx="48815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функция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(x) в т. х0 выпукла (если &gt; – строго</a:t>
            </a:r>
            <a:r>
              <a:rPr lang="ru-RU" altLang="ru-RU" sz="1800"/>
              <a:t>).</a:t>
            </a:r>
          </a:p>
        </p:txBody>
      </p:sp>
      <p:sp>
        <p:nvSpPr>
          <p:cNvPr id="25633" name="Rectangle 34">
            <a:extLst>
              <a:ext uri="{FF2B5EF4-FFF2-40B4-BE49-F238E27FC236}">
                <a16:creationId xmlns:a16="http://schemas.microsoft.com/office/drawing/2014/main" id="{4C0BD35F-3CD1-41F8-B071-34E2A6F36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4" name="Rectangle 36">
            <a:extLst>
              <a:ext uri="{FF2B5EF4-FFF2-40B4-BE49-F238E27FC236}">
                <a16:creationId xmlns:a16="http://schemas.microsoft.com/office/drawing/2014/main" id="{E0EA7C53-E29F-4E6C-AD30-ECFE238F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3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5" name="Rectangle 37">
            <a:extLst>
              <a:ext uri="{FF2B5EF4-FFF2-40B4-BE49-F238E27FC236}">
                <a16:creationId xmlns:a16="http://schemas.microsoft.com/office/drawing/2014/main" id="{6ABD0F28-B8E3-45F4-BC5B-76EFE6B17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5229226"/>
            <a:ext cx="4878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функция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(x) в т. х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вогнута (если &lt; – строго).</a:t>
            </a:r>
          </a:p>
        </p:txBody>
      </p:sp>
      <p:sp>
        <p:nvSpPr>
          <p:cNvPr id="25636" name="Rectangle 38">
            <a:extLst>
              <a:ext uri="{FF2B5EF4-FFF2-40B4-BE49-F238E27FC236}">
                <a16:creationId xmlns:a16="http://schemas.microsoft.com/office/drawing/2014/main" id="{8D968549-97DC-4805-846B-D3CE99C53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5227639"/>
            <a:ext cx="73183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ru-RU" altLang="ru-RU" sz="1800"/>
              <a:t> </a:t>
            </a:r>
          </a:p>
        </p:txBody>
      </p:sp>
      <p:sp>
        <p:nvSpPr>
          <p:cNvPr id="25637" name="Rectangle 40">
            <a:extLst>
              <a:ext uri="{FF2B5EF4-FFF2-40B4-BE49-F238E27FC236}">
                <a16:creationId xmlns:a16="http://schemas.microsoft.com/office/drawing/2014/main" id="{DEB85BEE-3279-43CE-BC60-49D828ABA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5588000"/>
            <a:ext cx="7254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</a:p>
        </p:txBody>
      </p:sp>
      <p:sp>
        <p:nvSpPr>
          <p:cNvPr id="25638" name="Rectangle 41">
            <a:extLst>
              <a:ext uri="{FF2B5EF4-FFF2-40B4-BE49-F238E27FC236}">
                <a16:creationId xmlns:a16="http://schemas.microsoft.com/office/drawing/2014/main" id="{A37539CD-E6A6-43F3-A019-4E26E59E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3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5639" name="Rectangle 42">
            <a:extLst>
              <a:ext uri="{FF2B5EF4-FFF2-40B4-BE49-F238E27FC236}">
                <a16:creationId xmlns:a16="http://schemas.microsoft.com/office/drawing/2014/main" id="{CA29F2A1-01FC-429C-BFD1-B0958522B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5589588"/>
            <a:ext cx="59039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функция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(x) в т. х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вырожденность матрицы Гессе</a:t>
            </a:r>
            <a:r>
              <a:rPr lang="ru-RU" altLang="ru-RU" sz="1800">
                <a:cs typeface="Times New Roman" panose="02020603050405020304" pitchFamily="18" charset="0"/>
              </a:rPr>
              <a:t>.</a:t>
            </a:r>
            <a:r>
              <a:rPr lang="ru-RU" altLang="ru-RU" sz="1800"/>
              <a:t>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55D98E-DD3C-4784-ABA6-FB1CBAFB975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06321" y="4806434"/>
            <a:ext cx="1273554" cy="369332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0745B8-3D37-447A-AC91-251E681D21E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85420" y="5280078"/>
            <a:ext cx="1273554" cy="369332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613AC92-5B3A-43CE-ADA1-D54F62D481E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94647" y="5647174"/>
            <a:ext cx="1522404" cy="388696"/>
          </a:xfrm>
          <a:prstGeom prst="rect">
            <a:avLst/>
          </a:prstGeom>
          <a:blipFill rotWithShape="0">
            <a:blip r:embed="rId13"/>
            <a:stretch>
              <a:fillRect l="-3600" t="-6250" b="-20313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B87BFB2-BB57-413D-BE8D-BD7016255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Дифференцирование функций.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42B82C2-DBA0-491F-A6C3-C395EBE2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E9AA1844-3F80-46FB-AD55-93B961069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33EC5BBF-F499-409D-8274-AEBF234BB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88E57401-71D0-488E-8046-46C8447B2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A8593FB1-1C5B-4ECE-94C1-9BF0C4F6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AEEC0ADE-925E-407C-BBEE-B24662A01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48519639-DA43-48B8-8DF0-7BC5DB05B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7414B69F-4BC8-4CE0-8979-FDE5737CA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5" name="Rectangle 11">
            <a:extLst>
              <a:ext uri="{FF2B5EF4-FFF2-40B4-BE49-F238E27FC236}">
                <a16:creationId xmlns:a16="http://schemas.microsoft.com/office/drawing/2014/main" id="{BCBF332E-B10E-4DD1-82B6-32DA30DCA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6" name="Rectangle 12">
            <a:extLst>
              <a:ext uri="{FF2B5EF4-FFF2-40B4-BE49-F238E27FC236}">
                <a16:creationId xmlns:a16="http://schemas.microsoft.com/office/drawing/2014/main" id="{F1E68F36-6123-446C-A0A2-4D4085848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13575CE2-B9FD-49E2-886F-667D69EF2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8" name="Rectangle 14">
            <a:extLst>
              <a:ext uri="{FF2B5EF4-FFF2-40B4-BE49-F238E27FC236}">
                <a16:creationId xmlns:a16="http://schemas.microsoft.com/office/drawing/2014/main" id="{38442A1D-8B94-4B59-BD80-9D3C00E4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96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7F309EBA-E132-4C75-8601-B2B8FFE37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1484313"/>
            <a:ext cx="4891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 u="sng"/>
              <a:t>3.</a:t>
            </a:r>
            <a:r>
              <a:rPr lang="ru-RU" altLang="ru-RU" sz="2400" b="1" u="sng"/>
              <a:t>1.4. Матрица Якоби. Якобиан</a:t>
            </a:r>
            <a:r>
              <a:rPr lang="ru-RU" altLang="ru-RU" sz="2400" u="sng"/>
              <a:t>.</a:t>
            </a:r>
          </a:p>
        </p:txBody>
      </p:sp>
      <p:sp>
        <p:nvSpPr>
          <p:cNvPr id="26640" name="Rectangle 16">
            <a:extLst>
              <a:ext uri="{FF2B5EF4-FFF2-40B4-BE49-F238E27FC236}">
                <a16:creationId xmlns:a16="http://schemas.microsoft.com/office/drawing/2014/main" id="{9D370B82-C455-4FE9-BDB6-9B035F7C7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1987550"/>
            <a:ext cx="40528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- операторное отображение: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6641" name="Rectangle 17">
            <a:extLst>
              <a:ext uri="{FF2B5EF4-FFF2-40B4-BE49-F238E27FC236}">
                <a16:creationId xmlns:a16="http://schemas.microsoft.com/office/drawing/2014/main" id="{79CCA8B3-FA4E-40E3-B0A3-F1C0FA55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42" name="Object 18">
            <a:extLst>
              <a:ext uri="{FF2B5EF4-FFF2-40B4-BE49-F238E27FC236}">
                <a16:creationId xmlns:a16="http://schemas.microsoft.com/office/drawing/2014/main" id="{068EB974-462D-4E63-B827-D9353ED84C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5" y="1989138"/>
          <a:ext cx="3024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Формула" r:id="rId3" imgW="1600200" imgH="228600" progId="Equation.3">
                  <p:embed/>
                </p:oleObj>
              </mc:Choice>
              <mc:Fallback>
                <p:oleObj name="Формула" r:id="rId3" imgW="1600200" imgH="228600" progId="Equation.3">
                  <p:embed/>
                  <p:pic>
                    <p:nvPicPr>
                      <p:cNvPr id="26642" name="Object 18">
                        <a:extLst>
                          <a:ext uri="{FF2B5EF4-FFF2-40B4-BE49-F238E27FC236}">
                            <a16:creationId xmlns:a16="http://schemas.microsoft.com/office/drawing/2014/main" id="{068EB974-462D-4E63-B827-D9353ED84C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1989138"/>
                        <a:ext cx="30241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Rectangle 19">
            <a:extLst>
              <a:ext uri="{FF2B5EF4-FFF2-40B4-BE49-F238E27FC236}">
                <a16:creationId xmlns:a16="http://schemas.microsoft.com/office/drawing/2014/main" id="{9667936E-68E8-4931-B988-5AC7D8128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44" name="Rectangle 20">
            <a:extLst>
              <a:ext uri="{FF2B5EF4-FFF2-40B4-BE49-F238E27FC236}">
                <a16:creationId xmlns:a16="http://schemas.microsoft.com/office/drawing/2014/main" id="{CE17F802-FAC6-4980-900F-4EF773EC3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2563814"/>
            <a:ext cx="43973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                                – матрица Якоби, </a:t>
            </a:r>
          </a:p>
        </p:txBody>
      </p:sp>
      <p:sp>
        <p:nvSpPr>
          <p:cNvPr id="26645" name="Rectangle 21">
            <a:extLst>
              <a:ext uri="{FF2B5EF4-FFF2-40B4-BE49-F238E27FC236}">
                <a16:creationId xmlns:a16="http://schemas.microsoft.com/office/drawing/2014/main" id="{B13DAB70-5F0D-476C-BCC6-5B75DB8C3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46" name="Object 22">
            <a:extLst>
              <a:ext uri="{FF2B5EF4-FFF2-40B4-BE49-F238E27FC236}">
                <a16:creationId xmlns:a16="http://schemas.microsoft.com/office/drawing/2014/main" id="{C8870DBC-4B20-46B8-AAB6-2F43A0DA14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2565401"/>
          <a:ext cx="20161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Формула" r:id="rId5" imgW="1257300" imgH="228600" progId="Equation.3">
                  <p:embed/>
                </p:oleObj>
              </mc:Choice>
              <mc:Fallback>
                <p:oleObj name="Формула" r:id="rId5" imgW="1257300" imgH="228600" progId="Equation.3">
                  <p:embed/>
                  <p:pic>
                    <p:nvPicPr>
                      <p:cNvPr id="26646" name="Object 22">
                        <a:extLst>
                          <a:ext uri="{FF2B5EF4-FFF2-40B4-BE49-F238E27FC236}">
                            <a16:creationId xmlns:a16="http://schemas.microsoft.com/office/drawing/2014/main" id="{C8870DBC-4B20-46B8-AAB6-2F43A0DA14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2565401"/>
                        <a:ext cx="20161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7" name="Rectangle 23">
            <a:extLst>
              <a:ext uri="{FF2B5EF4-FFF2-40B4-BE49-F238E27FC236}">
                <a16:creationId xmlns:a16="http://schemas.microsoft.com/office/drawing/2014/main" id="{D31446B3-3534-4DC1-B55C-46881388F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2565401"/>
            <a:ext cx="1162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ru-RU" altLang="ru-RU" sz="1800"/>
              <a:t>	 </a:t>
            </a: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E8878DF9-DE3C-44C0-A1AA-F1CB063C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77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49" name="Object 25">
            <a:extLst>
              <a:ext uri="{FF2B5EF4-FFF2-40B4-BE49-F238E27FC236}">
                <a16:creationId xmlns:a16="http://schemas.microsoft.com/office/drawing/2014/main" id="{985A58FF-E6FC-4715-BDFE-FA0C7775F9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4788" y="2393950"/>
          <a:ext cx="25193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Формула" r:id="rId7" imgW="1396394" imgH="533169" progId="Equation.3">
                  <p:embed/>
                </p:oleObj>
              </mc:Choice>
              <mc:Fallback>
                <p:oleObj name="Формула" r:id="rId7" imgW="1396394" imgH="533169" progId="Equation.3">
                  <p:embed/>
                  <p:pic>
                    <p:nvPicPr>
                      <p:cNvPr id="26649" name="Object 25">
                        <a:extLst>
                          <a:ext uri="{FF2B5EF4-FFF2-40B4-BE49-F238E27FC236}">
                            <a16:creationId xmlns:a16="http://schemas.microsoft.com/office/drawing/2014/main" id="{985A58FF-E6FC-4715-BDFE-FA0C7775F9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2393950"/>
                        <a:ext cx="25193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0" name="Rectangle 26">
            <a:extLst>
              <a:ext uri="{FF2B5EF4-FFF2-40B4-BE49-F238E27FC236}">
                <a16:creationId xmlns:a16="http://schemas.microsoft.com/office/drawing/2014/main" id="{03076B40-6792-4336-B1A2-AF281416B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2922589"/>
            <a:ext cx="4673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/>
              <a:t>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det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0)) </a:t>
            </a: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Якобиан.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det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0)) =  |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0)|. </a:t>
            </a:r>
          </a:p>
        </p:txBody>
      </p:sp>
      <p:sp>
        <p:nvSpPr>
          <p:cNvPr id="26651" name="Rectangle 27">
            <a:extLst>
              <a:ext uri="{FF2B5EF4-FFF2-40B4-BE49-F238E27FC236}">
                <a16:creationId xmlns:a16="http://schemas.microsoft.com/office/drawing/2014/main" id="{3DE3B356-1ACD-4DE0-A01B-D47BC5ACA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013" y="22764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6652" name="Rectangle 28">
            <a:extLst>
              <a:ext uri="{FF2B5EF4-FFF2-40B4-BE49-F238E27FC236}">
                <a16:creationId xmlns:a16="http://schemas.microsoft.com/office/drawing/2014/main" id="{6164D649-CA7A-4DA6-A074-50D394E95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3427414"/>
            <a:ext cx="7254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</a:p>
        </p:txBody>
      </p:sp>
      <p:sp>
        <p:nvSpPr>
          <p:cNvPr id="26653" name="Rectangle 29">
            <a:extLst>
              <a:ext uri="{FF2B5EF4-FFF2-40B4-BE49-F238E27FC236}">
                <a16:creationId xmlns:a16="http://schemas.microsoft.com/office/drawing/2014/main" id="{37E558FD-642B-4DDB-95DE-64AF03012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54" name="Object 30">
            <a:extLst>
              <a:ext uri="{FF2B5EF4-FFF2-40B4-BE49-F238E27FC236}">
                <a16:creationId xmlns:a16="http://schemas.microsoft.com/office/drawing/2014/main" id="{92738B2F-F096-4BF9-BD39-43DE56B7F1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500439"/>
          <a:ext cx="1079500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Формула" r:id="rId9" imgW="799753" imgH="203112" progId="Equation.3">
                  <p:embed/>
                </p:oleObj>
              </mc:Choice>
              <mc:Fallback>
                <p:oleObj name="Формула" r:id="rId9" imgW="799753" imgH="203112" progId="Equation.3">
                  <p:embed/>
                  <p:pic>
                    <p:nvPicPr>
                      <p:cNvPr id="26654" name="Object 30">
                        <a:extLst>
                          <a:ext uri="{FF2B5EF4-FFF2-40B4-BE49-F238E27FC236}">
                            <a16:creationId xmlns:a16="http://schemas.microsoft.com/office/drawing/2014/main" id="{92738B2F-F096-4BF9-BD39-43DE56B7F1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500439"/>
                        <a:ext cx="1079500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5" name="Rectangle 31">
            <a:extLst>
              <a:ext uri="{FF2B5EF4-FFF2-40B4-BE49-F238E27FC236}">
                <a16:creationId xmlns:a16="http://schemas.microsoft.com/office/drawing/2014/main" id="{CDCA18C8-E333-4AA0-A2A9-C7A6EFF2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427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56" name="Rectangle 32">
            <a:extLst>
              <a:ext uri="{FF2B5EF4-FFF2-40B4-BE49-F238E27FC236}">
                <a16:creationId xmlns:a16="http://schemas.microsoft.com/office/drawing/2014/main" id="{E20932CF-7A98-4A4A-BC01-E0C5DC15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3427414"/>
            <a:ext cx="50069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 система уравнений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имеет решение. </a:t>
            </a:r>
          </a:p>
        </p:txBody>
      </p:sp>
      <p:sp>
        <p:nvSpPr>
          <p:cNvPr id="26657" name="Rectangle 33">
            <a:extLst>
              <a:ext uri="{FF2B5EF4-FFF2-40B4-BE49-F238E27FC236}">
                <a16:creationId xmlns:a16="http://schemas.microsoft.com/office/drawing/2014/main" id="{8876304F-662A-482A-9BC8-C5200F1C4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58" name="Object 34">
            <a:extLst>
              <a:ext uri="{FF2B5EF4-FFF2-40B4-BE49-F238E27FC236}">
                <a16:creationId xmlns:a16="http://schemas.microsoft.com/office/drawing/2014/main" id="{5756EE64-E373-44F4-BA46-EC59042B8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3933825"/>
          <a:ext cx="865188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Формула" r:id="rId11" imgW="494870" imgH="177646" progId="Equation.3">
                  <p:embed/>
                </p:oleObj>
              </mc:Choice>
              <mc:Fallback>
                <p:oleObj name="Формула" r:id="rId11" imgW="494870" imgH="177646" progId="Equation.3">
                  <p:embed/>
                  <p:pic>
                    <p:nvPicPr>
                      <p:cNvPr id="26658" name="Object 34">
                        <a:extLst>
                          <a:ext uri="{FF2B5EF4-FFF2-40B4-BE49-F238E27FC236}">
                            <a16:creationId xmlns:a16="http://schemas.microsoft.com/office/drawing/2014/main" id="{5756EE64-E373-44F4-BA46-EC59042B8D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933825"/>
                        <a:ext cx="865188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9" name="Rectangle 35">
            <a:extLst>
              <a:ext uri="{FF2B5EF4-FFF2-40B4-BE49-F238E27FC236}">
                <a16:creationId xmlns:a16="http://schemas.microsoft.com/office/drawing/2014/main" id="{23A1C994-9627-461C-B239-029B7D461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393382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26660" name="Rectangle 36">
            <a:extLst>
              <a:ext uri="{FF2B5EF4-FFF2-40B4-BE49-F238E27FC236}">
                <a16:creationId xmlns:a16="http://schemas.microsoft.com/office/drawing/2014/main" id="{0A51F632-D585-4C11-97AD-3E4A093FF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3932239"/>
            <a:ext cx="501491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существует обратное отображение</a:t>
            </a:r>
          </a:p>
        </p:txBody>
      </p:sp>
      <p:sp>
        <p:nvSpPr>
          <p:cNvPr id="26661" name="Rectangle 37">
            <a:extLst>
              <a:ext uri="{FF2B5EF4-FFF2-40B4-BE49-F238E27FC236}">
                <a16:creationId xmlns:a16="http://schemas.microsoft.com/office/drawing/2014/main" id="{C249BC49-34E6-45F8-A1DB-8EAA90FAC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6662" name="Object 38">
            <a:extLst>
              <a:ext uri="{FF2B5EF4-FFF2-40B4-BE49-F238E27FC236}">
                <a16:creationId xmlns:a16="http://schemas.microsoft.com/office/drawing/2014/main" id="{F4F09741-26C5-4737-9AA9-4D4756C71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4365626"/>
          <a:ext cx="33845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" name="Формула" r:id="rId13" imgW="1993900" imgH="241300" progId="Equation.3">
                  <p:embed/>
                </p:oleObj>
              </mc:Choice>
              <mc:Fallback>
                <p:oleObj name="Формула" r:id="rId13" imgW="1993900" imgH="241300" progId="Equation.3">
                  <p:embed/>
                  <p:pic>
                    <p:nvPicPr>
                      <p:cNvPr id="26662" name="Object 38">
                        <a:extLst>
                          <a:ext uri="{FF2B5EF4-FFF2-40B4-BE49-F238E27FC236}">
                            <a16:creationId xmlns:a16="http://schemas.microsoft.com/office/drawing/2014/main" id="{F4F09741-26C5-4737-9AA9-4D4756C71C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365626"/>
                        <a:ext cx="33845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3" name="Rectangle 39">
            <a:extLst>
              <a:ext uri="{FF2B5EF4-FFF2-40B4-BE49-F238E27FC236}">
                <a16:creationId xmlns:a16="http://schemas.microsoft.com/office/drawing/2014/main" id="{76095609-7245-4934-9676-D0D0AAF64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61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6664" name="Rectangle 40">
            <a:extLst>
              <a:ext uri="{FF2B5EF4-FFF2-40B4-BE49-F238E27FC236}">
                <a16:creationId xmlns:a16="http://schemas.microsoft.com/office/drawing/2014/main" id="{62D133DD-EC59-442F-9F6B-D8CB00551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4868863"/>
            <a:ext cx="7934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Это имеет большое значение при решении задач с неявно заданными функциями.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30B371D-6BAA-4FDE-BE6A-8DDC7FD16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143000"/>
          </a:xfrm>
        </p:spPr>
        <p:txBody>
          <a:bodyPr/>
          <a:lstStyle/>
          <a:p>
            <a:r>
              <a:rPr lang="en-US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altLang="ru-RU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Дифференцирование функций.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377158F-D3DF-4A9B-A419-A4A246969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70EFE52E-733B-48E9-9B10-F1229F28D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D22E27B-92AA-4A44-8EB9-33997EB6C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BE0774EC-4AD6-4565-A9F5-0F827E869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74879ED0-46D7-4C70-B708-BF69E59F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FD288434-A81D-4151-829F-996D698A2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CC32400B-D065-4D5D-B9E2-AC3526823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712A6023-BCDE-4DE9-A849-B8CBBD8EE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67BCCB15-879E-4AD6-B9F2-97B7CE1A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626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F631C0A7-DD67-4234-ABB3-627FAEBC3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6" y="4323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6CCAC594-0444-44A9-A4F8-609D366B2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584325"/>
            <a:ext cx="694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/>
              <a:t>3.</a:t>
            </a:r>
            <a:r>
              <a:rPr lang="ru-RU" altLang="ru-RU" sz="2400" b="1"/>
              <a:t>1.5. </a:t>
            </a:r>
            <a:r>
              <a:rPr lang="ru-RU" altLang="ru-RU" sz="2400" b="1" u="sng"/>
              <a:t>Классы дифференцируемых функций.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AB7B137A-5EA8-441F-9052-00C2EE50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133601"/>
            <a:ext cx="1055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E6ECD4D4-77D7-457C-9366-AE94C12B1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0F2E50AB-A643-40B6-8055-84108D906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2162175"/>
          <a:ext cx="2305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27664" name="Object 16">
                        <a:extLst>
                          <a:ext uri="{FF2B5EF4-FFF2-40B4-BE49-F238E27FC236}">
                            <a16:creationId xmlns:a16="http://schemas.microsoft.com/office/drawing/2014/main" id="{0F2E50AB-A643-40B6-8055-84108D906D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162175"/>
                        <a:ext cx="23050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Rectangle 17">
            <a:extLst>
              <a:ext uri="{FF2B5EF4-FFF2-40B4-BE49-F238E27FC236}">
                <a16:creationId xmlns:a16="http://schemas.microsoft.com/office/drawing/2014/main" id="{B4673F37-F0A2-44BE-8A82-B9483703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9" y="2132014"/>
            <a:ext cx="7000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</a:t>
            </a:r>
          </a:p>
        </p:txBody>
      </p:sp>
      <p:sp>
        <p:nvSpPr>
          <p:cNvPr id="27666" name="Rectangle 18">
            <a:extLst>
              <a:ext uri="{FF2B5EF4-FFF2-40B4-BE49-F238E27FC236}">
                <a16:creationId xmlns:a16="http://schemas.microsoft.com/office/drawing/2014/main" id="{409E1BA8-BA9D-4F52-B4DA-596DA6F59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67" name="Object 19">
            <a:extLst>
              <a:ext uri="{FF2B5EF4-FFF2-40B4-BE49-F238E27FC236}">
                <a16:creationId xmlns:a16="http://schemas.microsoft.com/office/drawing/2014/main" id="{DF879495-189C-4B0D-84AB-0E7A5FD58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609851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Формула" r:id="rId5" imgW="901309" imgH="228501" progId="Equation.3">
                  <p:embed/>
                </p:oleObj>
              </mc:Choice>
              <mc:Fallback>
                <p:oleObj name="Формула" r:id="rId5" imgW="901309" imgH="228501" progId="Equation.3">
                  <p:embed/>
                  <p:pic>
                    <p:nvPicPr>
                      <p:cNvPr id="27667" name="Object 19">
                        <a:extLst>
                          <a:ext uri="{FF2B5EF4-FFF2-40B4-BE49-F238E27FC236}">
                            <a16:creationId xmlns:a16="http://schemas.microsoft.com/office/drawing/2014/main" id="{DF879495-189C-4B0D-84AB-0E7A5FD58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609851"/>
                        <a:ext cx="129698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8" name="Rectangle 20">
            <a:extLst>
              <a:ext uri="{FF2B5EF4-FFF2-40B4-BE49-F238E27FC236}">
                <a16:creationId xmlns:a16="http://schemas.microsoft.com/office/drawing/2014/main" id="{20934C04-5BC3-4733-913B-EE8FF7DA1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4" y="2635250"/>
            <a:ext cx="32797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класс непрерывных функций;</a:t>
            </a:r>
          </a:p>
        </p:txBody>
      </p:sp>
      <p:sp>
        <p:nvSpPr>
          <p:cNvPr id="27669" name="Rectangle 21">
            <a:extLst>
              <a:ext uri="{FF2B5EF4-FFF2-40B4-BE49-F238E27FC236}">
                <a16:creationId xmlns:a16="http://schemas.microsoft.com/office/drawing/2014/main" id="{3BC09E3E-24C4-4F45-BEDF-8F38B6416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70" name="Object 22">
            <a:extLst>
              <a:ext uri="{FF2B5EF4-FFF2-40B4-BE49-F238E27FC236}">
                <a16:creationId xmlns:a16="http://schemas.microsoft.com/office/drawing/2014/main" id="{F6AE4CA8-8BC6-4FD8-B296-E7E121919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3141664"/>
          <a:ext cx="12954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Формула" r:id="rId7" imgW="876300" imgH="228600" progId="Equation.3">
                  <p:embed/>
                </p:oleObj>
              </mc:Choice>
              <mc:Fallback>
                <p:oleObj name="Формула" r:id="rId7" imgW="876300" imgH="228600" progId="Equation.3">
                  <p:embed/>
                  <p:pic>
                    <p:nvPicPr>
                      <p:cNvPr id="27670" name="Object 22">
                        <a:extLst>
                          <a:ext uri="{FF2B5EF4-FFF2-40B4-BE49-F238E27FC236}">
                            <a16:creationId xmlns:a16="http://schemas.microsoft.com/office/drawing/2014/main" id="{F6AE4CA8-8BC6-4FD8-B296-E7E121919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141664"/>
                        <a:ext cx="12954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Rectangle 23">
            <a:extLst>
              <a:ext uri="{FF2B5EF4-FFF2-40B4-BE49-F238E27FC236}">
                <a16:creationId xmlns:a16="http://schemas.microsoft.com/office/drawing/2014/main" id="{BE13C4CD-2058-4091-A516-2717F71B5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6" y="3140075"/>
            <a:ext cx="44688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1 раз дифференцируемых функций;</a:t>
            </a:r>
          </a:p>
        </p:txBody>
      </p:sp>
      <p:sp>
        <p:nvSpPr>
          <p:cNvPr id="27672" name="Rectangle 24">
            <a:extLst>
              <a:ext uri="{FF2B5EF4-FFF2-40B4-BE49-F238E27FC236}">
                <a16:creationId xmlns:a16="http://schemas.microsoft.com/office/drawing/2014/main" id="{5E455FDD-D00C-4BA9-868D-CB104D443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73" name="Object 25">
            <a:extLst>
              <a:ext uri="{FF2B5EF4-FFF2-40B4-BE49-F238E27FC236}">
                <a16:creationId xmlns:a16="http://schemas.microsoft.com/office/drawing/2014/main" id="{2C08D6F3-B164-46EE-AA78-853C4F3579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3716339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Формула" r:id="rId9" imgW="901309" imgH="228501" progId="Equation.3">
                  <p:embed/>
                </p:oleObj>
              </mc:Choice>
              <mc:Fallback>
                <p:oleObj name="Формула" r:id="rId9" imgW="901309" imgH="228501" progId="Equation.3">
                  <p:embed/>
                  <p:pic>
                    <p:nvPicPr>
                      <p:cNvPr id="27673" name="Object 25">
                        <a:extLst>
                          <a:ext uri="{FF2B5EF4-FFF2-40B4-BE49-F238E27FC236}">
                            <a16:creationId xmlns:a16="http://schemas.microsoft.com/office/drawing/2014/main" id="{2C08D6F3-B164-46EE-AA78-853C4F3579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716339"/>
                        <a:ext cx="129698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Rectangle 26">
            <a:extLst>
              <a:ext uri="{FF2B5EF4-FFF2-40B4-BE49-F238E27FC236}">
                <a16:creationId xmlns:a16="http://schemas.microsoft.com/office/drawing/2014/main" id="{1AD3C24D-192D-4A2C-8188-3C71D5B36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3714750"/>
            <a:ext cx="45720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2 раза дифференцируемых функций;</a:t>
            </a:r>
          </a:p>
        </p:txBody>
      </p:sp>
      <p:sp>
        <p:nvSpPr>
          <p:cNvPr id="27675" name="Rectangle 27">
            <a:extLst>
              <a:ext uri="{FF2B5EF4-FFF2-40B4-BE49-F238E27FC236}">
                <a16:creationId xmlns:a16="http://schemas.microsoft.com/office/drawing/2014/main" id="{91D24E0A-9E3C-40A1-8AF2-ED730EF7A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4221163"/>
            <a:ext cx="640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/>
              <a:t>………………………………………………………………….</a:t>
            </a:r>
          </a:p>
        </p:txBody>
      </p:sp>
      <p:sp>
        <p:nvSpPr>
          <p:cNvPr id="27676" name="Rectangle 28">
            <a:extLst>
              <a:ext uri="{FF2B5EF4-FFF2-40B4-BE49-F238E27FC236}">
                <a16:creationId xmlns:a16="http://schemas.microsoft.com/office/drawing/2014/main" id="{36C3E5FC-BF88-40CE-88AE-48B4531DD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7677" name="Object 29">
            <a:extLst>
              <a:ext uri="{FF2B5EF4-FFF2-40B4-BE49-F238E27FC236}">
                <a16:creationId xmlns:a16="http://schemas.microsoft.com/office/drawing/2014/main" id="{DBA6D508-93DA-4D6F-829F-24D35C992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4652964"/>
          <a:ext cx="13684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Формула" r:id="rId11" imgW="901309" imgH="228501" progId="Equation.3">
                  <p:embed/>
                </p:oleObj>
              </mc:Choice>
              <mc:Fallback>
                <p:oleObj name="Формула" r:id="rId11" imgW="901309" imgH="228501" progId="Equation.3">
                  <p:embed/>
                  <p:pic>
                    <p:nvPicPr>
                      <p:cNvPr id="27677" name="Object 29">
                        <a:extLst>
                          <a:ext uri="{FF2B5EF4-FFF2-40B4-BE49-F238E27FC236}">
                            <a16:creationId xmlns:a16="http://schemas.microsoft.com/office/drawing/2014/main" id="{DBA6D508-93DA-4D6F-829F-24D35C992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652964"/>
                        <a:ext cx="136842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8" name="Rectangle 30">
            <a:extLst>
              <a:ext uri="{FF2B5EF4-FFF2-40B4-BE49-F238E27FC236}">
                <a16:creationId xmlns:a16="http://schemas.microsoft.com/office/drawing/2014/main" id="{54BD2505-23CE-4997-819C-820D64B1A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4651375"/>
            <a:ext cx="44434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класс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раз дифференцируемых функций.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BFCEE51-00EF-4296-A445-6FD2A3E57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alt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D80ED93-4860-49EA-A1A1-75B198F9E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EF2CE0C9-BC74-4E7A-A217-A2C352EAF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0C1B8418-C1AE-41F2-AE21-7B3F274C7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493BD1A-3BDC-4CAA-A313-AF2E5345A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2EE85748-5682-49E5-B6DC-E0E2AC0B0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80" name="Rectangle 8">
            <a:extLst>
              <a:ext uri="{FF2B5EF4-FFF2-40B4-BE49-F238E27FC236}">
                <a16:creationId xmlns:a16="http://schemas.microsoft.com/office/drawing/2014/main" id="{C8291279-E62F-4145-8A3F-408CB0516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614489"/>
            <a:ext cx="829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000" b="1" u="sng"/>
              <a:t>4.</a:t>
            </a:r>
            <a:r>
              <a:rPr lang="ru-RU" altLang="ru-RU" sz="2000" b="1" u="sng"/>
              <a:t>1.Условия существования экстремума без учета ограничений.</a:t>
            </a:r>
          </a:p>
        </p:txBody>
      </p:sp>
      <p:sp>
        <p:nvSpPr>
          <p:cNvPr id="28681" name="Rectangle 9">
            <a:extLst>
              <a:ext uri="{FF2B5EF4-FFF2-40B4-BE49-F238E27FC236}">
                <a16:creationId xmlns:a16="http://schemas.microsoft.com/office/drawing/2014/main" id="{3535EC6E-F521-42D3-A32D-99DFB12C7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2060576"/>
            <a:ext cx="7731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4.1.1.</a:t>
            </a:r>
            <a:r>
              <a:rPr lang="ru-RU" altLang="ru-RU" sz="1800" b="1" u="sng"/>
              <a:t>Необходимые и достаточные условия выпуклости функций.</a:t>
            </a:r>
          </a:p>
        </p:txBody>
      </p:sp>
      <p:sp>
        <p:nvSpPr>
          <p:cNvPr id="28682" name="Rectangle 10">
            <a:extLst>
              <a:ext uri="{FF2B5EF4-FFF2-40B4-BE49-F238E27FC236}">
                <a16:creationId xmlns:a16="http://schemas.microsoft.com/office/drawing/2014/main" id="{75AC2B71-48F4-49C8-BB96-98FAB0135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490789"/>
            <a:ext cx="39846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Теорема1.</a:t>
            </a:r>
            <a:r>
              <a:rPr lang="ru-RU" altLang="ru-RU" sz="1800" u="sng"/>
              <a:t> (</a:t>
            </a:r>
            <a:r>
              <a:rPr lang="ru-RU" altLang="ru-RU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условия</a:t>
            </a:r>
            <a:r>
              <a:rPr lang="ru-RU" altLang="ru-RU" sz="1800" u="sng"/>
              <a:t>)</a:t>
            </a:r>
            <a:r>
              <a:rPr lang="ru-RU" altLang="ru-RU" sz="1800"/>
              <a:t>. </a:t>
            </a:r>
          </a:p>
        </p:txBody>
      </p:sp>
      <p:sp>
        <p:nvSpPr>
          <p:cNvPr id="28683" name="Rectangle 11">
            <a:extLst>
              <a:ext uri="{FF2B5EF4-FFF2-40B4-BE49-F238E27FC236}">
                <a16:creationId xmlns:a16="http://schemas.microsoft.com/office/drawing/2014/main" id="{0E824C90-424C-4DB0-A7F1-DC29650EA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2924176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8684" name="Rectangle 12">
            <a:extLst>
              <a:ext uri="{FF2B5EF4-FFF2-40B4-BE49-F238E27FC236}">
                <a16:creationId xmlns:a16="http://schemas.microsoft.com/office/drawing/2014/main" id="{A045ACBC-0C8B-4EC0-96FE-99100008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685" name="Object 13">
            <a:extLst>
              <a:ext uri="{FF2B5EF4-FFF2-40B4-BE49-F238E27FC236}">
                <a16:creationId xmlns:a16="http://schemas.microsoft.com/office/drawing/2014/main" id="{15B4DFFD-23B6-49FD-8012-5AE4074744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2917825"/>
          <a:ext cx="24495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4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28685" name="Object 13">
                        <a:extLst>
                          <a:ext uri="{FF2B5EF4-FFF2-40B4-BE49-F238E27FC236}">
                            <a16:creationId xmlns:a16="http://schemas.microsoft.com/office/drawing/2014/main" id="{15B4DFFD-23B6-49FD-8012-5AE4074744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2917825"/>
                        <a:ext cx="24495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Rectangle 14">
            <a:extLst>
              <a:ext uri="{FF2B5EF4-FFF2-40B4-BE49-F238E27FC236}">
                <a16:creationId xmlns:a16="http://schemas.microsoft.com/office/drawing/2014/main" id="{8BF38727-8E40-420E-8C0F-631810C38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419556B5-FFDF-4ED9-B2E3-FA923C030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1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688" name="Object 16">
            <a:extLst>
              <a:ext uri="{FF2B5EF4-FFF2-40B4-BE49-F238E27FC236}">
                <a16:creationId xmlns:a16="http://schemas.microsoft.com/office/drawing/2014/main" id="{0A0D27E2-B3CF-40B6-A775-8ED544485A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2852738"/>
          <a:ext cx="10080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5" name="Формула" r:id="rId5" imgW="660113" imgH="304668" progId="Equation.3">
                  <p:embed/>
                </p:oleObj>
              </mc:Choice>
              <mc:Fallback>
                <p:oleObj name="Формула" r:id="rId5" imgW="660113" imgH="304668" progId="Equation.3">
                  <p:embed/>
                  <p:pic>
                    <p:nvPicPr>
                      <p:cNvPr id="28688" name="Object 16">
                        <a:extLst>
                          <a:ext uri="{FF2B5EF4-FFF2-40B4-BE49-F238E27FC236}">
                            <a16:creationId xmlns:a16="http://schemas.microsoft.com/office/drawing/2014/main" id="{0A0D27E2-B3CF-40B6-A775-8ED544485A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2852738"/>
                        <a:ext cx="100806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9" name="Rectangle 17">
            <a:extLst>
              <a:ext uri="{FF2B5EF4-FFF2-40B4-BE49-F238E27FC236}">
                <a16:creationId xmlns:a16="http://schemas.microsoft.com/office/drawing/2014/main" id="{76403FBE-760F-46C7-AFE5-94D24792F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0" name="Rectangle 18">
            <a:extLst>
              <a:ext uri="{FF2B5EF4-FFF2-40B4-BE49-F238E27FC236}">
                <a16:creationId xmlns:a16="http://schemas.microsoft.com/office/drawing/2014/main" id="{CC3C17F0-BCEF-4BB3-96BA-ADA835E5D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1" name="Rectangle 19">
            <a:extLst>
              <a:ext uri="{FF2B5EF4-FFF2-40B4-BE49-F238E27FC236}">
                <a16:creationId xmlns:a16="http://schemas.microsoft.com/office/drawing/2014/main" id="{4A685F10-A5B3-4E2D-8683-225D21A16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1" y="3282950"/>
            <a:ext cx="29241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 для того, чтобы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8692" name="Rectangle 20">
            <a:extLst>
              <a:ext uri="{FF2B5EF4-FFF2-40B4-BE49-F238E27FC236}">
                <a16:creationId xmlns:a16="http://schemas.microsoft.com/office/drawing/2014/main" id="{CDC44509-A81D-457B-9956-6A8F9F0E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3787775"/>
            <a:ext cx="19272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была выпуклой в </a:t>
            </a:r>
          </a:p>
        </p:txBody>
      </p:sp>
      <p:sp>
        <p:nvSpPr>
          <p:cNvPr id="28693" name="Rectangle 21">
            <a:extLst>
              <a:ext uri="{FF2B5EF4-FFF2-40B4-BE49-F238E27FC236}">
                <a16:creationId xmlns:a16="http://schemas.microsoft.com/office/drawing/2014/main" id="{65FC8598-3626-4C4F-8DCD-1911874D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3789363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</a:p>
        </p:txBody>
      </p:sp>
      <p:sp>
        <p:nvSpPr>
          <p:cNvPr id="28694" name="Rectangle 22">
            <a:extLst>
              <a:ext uri="{FF2B5EF4-FFF2-40B4-BE49-F238E27FC236}">
                <a16:creationId xmlns:a16="http://schemas.microsoft.com/office/drawing/2014/main" id="{D78ED240-7A96-4F73-B03A-85D704D9B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3787775"/>
            <a:ext cx="21256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необходимо, чтобы </a:t>
            </a:r>
          </a:p>
        </p:txBody>
      </p:sp>
      <p:sp>
        <p:nvSpPr>
          <p:cNvPr id="28695" name="Rectangle 23">
            <a:extLst>
              <a:ext uri="{FF2B5EF4-FFF2-40B4-BE49-F238E27FC236}">
                <a16:creationId xmlns:a16="http://schemas.microsoft.com/office/drawing/2014/main" id="{05FE97A2-D29F-4B10-AE3B-5BEA12EB1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6" name="Rectangle 24">
            <a:extLst>
              <a:ext uri="{FF2B5EF4-FFF2-40B4-BE49-F238E27FC236}">
                <a16:creationId xmlns:a16="http://schemas.microsoft.com/office/drawing/2014/main" id="{09E59A16-0024-4731-8C9C-7B9372B26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211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8697" name="Rectangle 25">
            <a:extLst>
              <a:ext uri="{FF2B5EF4-FFF2-40B4-BE49-F238E27FC236}">
                <a16:creationId xmlns:a16="http://schemas.microsoft.com/office/drawing/2014/main" id="{5C6EA2E8-9E6F-45CA-A25E-6F9D6ECE1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4221163"/>
            <a:ext cx="592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где </a:t>
            </a:r>
          </a:p>
        </p:txBody>
      </p:sp>
      <p:sp>
        <p:nvSpPr>
          <p:cNvPr id="28698" name="Rectangle 26">
            <a:extLst>
              <a:ext uri="{FF2B5EF4-FFF2-40B4-BE49-F238E27FC236}">
                <a16:creationId xmlns:a16="http://schemas.microsoft.com/office/drawing/2014/main" id="{B7E627AF-6BC7-426A-A093-9A47141A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699" name="Rectangle 27">
            <a:extLst>
              <a:ext uri="{FF2B5EF4-FFF2-40B4-BE49-F238E27FC236}">
                <a16:creationId xmlns:a16="http://schemas.microsoft.com/office/drawing/2014/main" id="{877F3EFC-7E0D-4962-A00F-842CA9BFB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4076701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28700" name="Rectangle 28">
            <a:extLst>
              <a:ext uri="{FF2B5EF4-FFF2-40B4-BE49-F238E27FC236}">
                <a16:creationId xmlns:a16="http://schemas.microsoft.com/office/drawing/2014/main" id="{01BD289D-0380-4C22-8F1D-1E50BE4A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4579939"/>
            <a:ext cx="38163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Теорема2.(</a:t>
            </a:r>
            <a:r>
              <a:rPr lang="ru-RU" altLang="ru-RU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Достаточные условия</a:t>
            </a:r>
            <a:r>
              <a:rPr lang="ru-RU" altLang="ru-RU" sz="1800" u="sng"/>
              <a:t>).</a:t>
            </a:r>
          </a:p>
        </p:txBody>
      </p:sp>
      <p:sp>
        <p:nvSpPr>
          <p:cNvPr id="28701" name="Rectangle 29">
            <a:extLst>
              <a:ext uri="{FF2B5EF4-FFF2-40B4-BE49-F238E27FC236}">
                <a16:creationId xmlns:a16="http://schemas.microsoft.com/office/drawing/2014/main" id="{53406BDF-CBB1-4DBB-B225-C0EF5B100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5013326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8702" name="Rectangle 30">
            <a:extLst>
              <a:ext uri="{FF2B5EF4-FFF2-40B4-BE49-F238E27FC236}">
                <a16:creationId xmlns:a16="http://schemas.microsoft.com/office/drawing/2014/main" id="{8F38E3EF-3F48-4420-AF2C-1B9821BF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03" name="Object 31">
            <a:extLst>
              <a:ext uri="{FF2B5EF4-FFF2-40B4-BE49-F238E27FC236}">
                <a16:creationId xmlns:a16="http://schemas.microsoft.com/office/drawing/2014/main" id="{8AC0FE76-1AE6-465F-83A8-8C2068905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5013326"/>
          <a:ext cx="22320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6" name="Формула" r:id="rId7" imgW="1498600" imgH="228600" progId="Equation.3">
                  <p:embed/>
                </p:oleObj>
              </mc:Choice>
              <mc:Fallback>
                <p:oleObj name="Формула" r:id="rId7" imgW="1498600" imgH="228600" progId="Equation.3">
                  <p:embed/>
                  <p:pic>
                    <p:nvPicPr>
                      <p:cNvPr id="28703" name="Object 31">
                        <a:extLst>
                          <a:ext uri="{FF2B5EF4-FFF2-40B4-BE49-F238E27FC236}">
                            <a16:creationId xmlns:a16="http://schemas.microsoft.com/office/drawing/2014/main" id="{8AC0FE76-1AE6-465F-83A8-8C2068905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5013326"/>
                        <a:ext cx="223202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4" name="Rectangle 32">
            <a:extLst>
              <a:ext uri="{FF2B5EF4-FFF2-40B4-BE49-F238E27FC236}">
                <a16:creationId xmlns:a16="http://schemas.microsoft.com/office/drawing/2014/main" id="{25327CD4-7E62-49E3-A81C-8DA076A50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494188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и </a:t>
            </a:r>
          </a:p>
        </p:txBody>
      </p:sp>
      <p:sp>
        <p:nvSpPr>
          <p:cNvPr id="28705" name="Rectangle 33">
            <a:extLst>
              <a:ext uri="{FF2B5EF4-FFF2-40B4-BE49-F238E27FC236}">
                <a16:creationId xmlns:a16="http://schemas.microsoft.com/office/drawing/2014/main" id="{9A09C390-180F-4D93-B104-4B377200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49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06" name="Object 34">
            <a:extLst>
              <a:ext uri="{FF2B5EF4-FFF2-40B4-BE49-F238E27FC236}">
                <a16:creationId xmlns:a16="http://schemas.microsoft.com/office/drawing/2014/main" id="{431A4238-1D22-4BB3-A327-BEBC895383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8663" y="5013326"/>
          <a:ext cx="431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Формула" r:id="rId8" imgW="215619" imgH="164885" progId="Equation.3">
                  <p:embed/>
                </p:oleObj>
              </mc:Choice>
              <mc:Fallback>
                <p:oleObj name="Формула" r:id="rId8" imgW="215619" imgH="164885" progId="Equation.3">
                  <p:embed/>
                  <p:pic>
                    <p:nvPicPr>
                      <p:cNvPr id="28706" name="Object 34">
                        <a:extLst>
                          <a:ext uri="{FF2B5EF4-FFF2-40B4-BE49-F238E27FC236}">
                            <a16:creationId xmlns:a16="http://schemas.microsoft.com/office/drawing/2014/main" id="{431A4238-1D22-4BB3-A327-BEBC89538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5013326"/>
                        <a:ext cx="4318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7" name="Rectangle 35">
            <a:extLst>
              <a:ext uri="{FF2B5EF4-FFF2-40B4-BE49-F238E27FC236}">
                <a16:creationId xmlns:a16="http://schemas.microsoft.com/office/drawing/2014/main" id="{5921F2E4-E1AC-423A-8B1B-804E37C1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4940300"/>
            <a:ext cx="15922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для которой </a:t>
            </a:r>
          </a:p>
        </p:txBody>
      </p:sp>
      <p:sp>
        <p:nvSpPr>
          <p:cNvPr id="28708" name="Rectangle 36">
            <a:extLst>
              <a:ext uri="{FF2B5EF4-FFF2-40B4-BE49-F238E27FC236}">
                <a16:creationId xmlns:a16="http://schemas.microsoft.com/office/drawing/2014/main" id="{43D4A68D-C045-4491-B4BA-401430110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09" name="Object 37">
            <a:extLst>
              <a:ext uri="{FF2B5EF4-FFF2-40B4-BE49-F238E27FC236}">
                <a16:creationId xmlns:a16="http://schemas.microsoft.com/office/drawing/2014/main" id="{021CE1D1-5A3B-4D86-9BF6-783AEDF79D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7664" y="4941889"/>
          <a:ext cx="17287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8" name="Формула" r:id="rId10" imgW="1079032" imgH="253890" progId="Equation.3">
                  <p:embed/>
                </p:oleObj>
              </mc:Choice>
              <mc:Fallback>
                <p:oleObj name="Формула" r:id="rId10" imgW="1079032" imgH="253890" progId="Equation.3">
                  <p:embed/>
                  <p:pic>
                    <p:nvPicPr>
                      <p:cNvPr id="28709" name="Object 37">
                        <a:extLst>
                          <a:ext uri="{FF2B5EF4-FFF2-40B4-BE49-F238E27FC236}">
                            <a16:creationId xmlns:a16="http://schemas.microsoft.com/office/drawing/2014/main" id="{021CE1D1-5A3B-4D86-9BF6-783AEDF79D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7664" y="4941889"/>
                        <a:ext cx="17287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0" name="Rectangle 38">
            <a:extLst>
              <a:ext uri="{FF2B5EF4-FFF2-40B4-BE49-F238E27FC236}">
                <a16:creationId xmlns:a16="http://schemas.microsoft.com/office/drawing/2014/main" id="{AB891044-5320-4CD8-961F-EF20B66FC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8" y="4941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8711" name="Rectangle 39">
            <a:extLst>
              <a:ext uri="{FF2B5EF4-FFF2-40B4-BE49-F238E27FC236}">
                <a16:creationId xmlns:a16="http://schemas.microsoft.com/office/drawing/2014/main" id="{4539A60B-F962-4B7A-93F7-EE0071EA6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12" name="Object 40">
            <a:extLst>
              <a:ext uri="{FF2B5EF4-FFF2-40B4-BE49-F238E27FC236}">
                <a16:creationId xmlns:a16="http://schemas.microsoft.com/office/drawing/2014/main" id="{91A3559B-4976-4C82-9F64-A887E830B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5376864"/>
          <a:ext cx="36004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9" name="Формула" r:id="rId12" imgW="1866900" imgH="228600" progId="Equation.3">
                  <p:embed/>
                </p:oleObj>
              </mc:Choice>
              <mc:Fallback>
                <p:oleObj name="Формула" r:id="rId12" imgW="1866900" imgH="228600" progId="Equation.3">
                  <p:embed/>
                  <p:pic>
                    <p:nvPicPr>
                      <p:cNvPr id="28712" name="Object 40">
                        <a:extLst>
                          <a:ext uri="{FF2B5EF4-FFF2-40B4-BE49-F238E27FC236}">
                            <a16:creationId xmlns:a16="http://schemas.microsoft.com/office/drawing/2014/main" id="{91A3559B-4976-4C82-9F64-A887E830B5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376864"/>
                        <a:ext cx="36004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3" name="Rectangle 41">
            <a:extLst>
              <a:ext uri="{FF2B5EF4-FFF2-40B4-BE49-F238E27FC236}">
                <a16:creationId xmlns:a16="http://schemas.microsoft.com/office/drawing/2014/main" id="{F0342D3A-4AAE-4862-87F3-C48DE1679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544512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28714" name="Rectangle 42">
            <a:extLst>
              <a:ext uri="{FF2B5EF4-FFF2-40B4-BE49-F238E27FC236}">
                <a16:creationId xmlns:a16="http://schemas.microsoft.com/office/drawing/2014/main" id="{B74C6AD3-F3EE-4011-96EE-02D3A7ED9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5372100"/>
            <a:ext cx="3414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того, чтобы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была </a:t>
            </a:r>
          </a:p>
        </p:txBody>
      </p:sp>
      <p:sp>
        <p:nvSpPr>
          <p:cNvPr id="28715" name="Rectangle 43">
            <a:extLst>
              <a:ext uri="{FF2B5EF4-FFF2-40B4-BE49-F238E27FC236}">
                <a16:creationId xmlns:a16="http://schemas.microsoft.com/office/drawing/2014/main" id="{A58DEBEF-9D2C-45F3-8CA3-5FADE5C2E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875339"/>
            <a:ext cx="41211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выпуклой в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достаточно, чтобы </a:t>
            </a:r>
          </a:p>
        </p:txBody>
      </p:sp>
      <p:sp>
        <p:nvSpPr>
          <p:cNvPr id="28716" name="Rectangle 44">
            <a:extLst>
              <a:ext uri="{FF2B5EF4-FFF2-40B4-BE49-F238E27FC236}">
                <a16:creationId xmlns:a16="http://schemas.microsoft.com/office/drawing/2014/main" id="{793F0EE8-7E22-4E56-B6F5-5CC3AC612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717" name="Rectangle 45">
            <a:extLst>
              <a:ext uri="{FF2B5EF4-FFF2-40B4-BE49-F238E27FC236}">
                <a16:creationId xmlns:a16="http://schemas.microsoft.com/office/drawing/2014/main" id="{A17EA74A-C257-4C19-9128-41CFEA886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718" name="Rectangle 47">
            <a:extLst>
              <a:ext uri="{FF2B5EF4-FFF2-40B4-BE49-F238E27FC236}">
                <a16:creationId xmlns:a16="http://schemas.microsoft.com/office/drawing/2014/main" id="{D1714637-C5CF-48C5-8024-A24E01710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1" y="5872163"/>
            <a:ext cx="238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28719" name="Rectangle 48">
            <a:extLst>
              <a:ext uri="{FF2B5EF4-FFF2-40B4-BE49-F238E27FC236}">
                <a16:creationId xmlns:a16="http://schemas.microsoft.com/office/drawing/2014/main" id="{D6CCB2CC-17BC-4B64-8798-FD0ACE4B3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8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20" name="Object 49">
            <a:extLst>
              <a:ext uri="{FF2B5EF4-FFF2-40B4-BE49-F238E27FC236}">
                <a16:creationId xmlns:a16="http://schemas.microsoft.com/office/drawing/2014/main" id="{CC2D5670-E72E-4EC7-AC54-A5DF803254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1651" y="4175125"/>
          <a:ext cx="20875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0" name="Формула" r:id="rId14" imgW="1104900" imgH="254000" progId="Equation.3">
                  <p:embed/>
                </p:oleObj>
              </mc:Choice>
              <mc:Fallback>
                <p:oleObj name="Формула" r:id="rId14" imgW="1104900" imgH="254000" progId="Equation.3">
                  <p:embed/>
                  <p:pic>
                    <p:nvPicPr>
                      <p:cNvPr id="28720" name="Object 49">
                        <a:extLst>
                          <a:ext uri="{FF2B5EF4-FFF2-40B4-BE49-F238E27FC236}">
                            <a16:creationId xmlns:a16="http://schemas.microsoft.com/office/drawing/2014/main" id="{CC2D5670-E72E-4EC7-AC54-A5DF803254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1" y="4175125"/>
                        <a:ext cx="20875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1" name="Rectangle 50">
            <a:extLst>
              <a:ext uri="{FF2B5EF4-FFF2-40B4-BE49-F238E27FC236}">
                <a16:creationId xmlns:a16="http://schemas.microsoft.com/office/drawing/2014/main" id="{36B526A4-6EEF-49DE-849F-D52223151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22" name="Object 51">
            <a:extLst>
              <a:ext uri="{FF2B5EF4-FFF2-40B4-BE49-F238E27FC236}">
                <a16:creationId xmlns:a16="http://schemas.microsoft.com/office/drawing/2014/main" id="{E22C5B0C-A550-48B4-9B90-D3139A227E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38" y="5862638"/>
          <a:ext cx="863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1" name="Формула" r:id="rId16" imgW="406224" imgH="228501" progId="Equation.3">
                  <p:embed/>
                </p:oleObj>
              </mc:Choice>
              <mc:Fallback>
                <p:oleObj name="Формула" r:id="rId16" imgW="406224" imgH="228501" progId="Equation.3">
                  <p:embed/>
                  <p:pic>
                    <p:nvPicPr>
                      <p:cNvPr id="28722" name="Object 51">
                        <a:extLst>
                          <a:ext uri="{FF2B5EF4-FFF2-40B4-BE49-F238E27FC236}">
                            <a16:creationId xmlns:a16="http://schemas.microsoft.com/office/drawing/2014/main" id="{E22C5B0C-A550-48B4-9B90-D3139A227E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5862638"/>
                        <a:ext cx="8636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3" name="Rectangle 52">
            <a:extLst>
              <a:ext uri="{FF2B5EF4-FFF2-40B4-BE49-F238E27FC236}">
                <a16:creationId xmlns:a16="http://schemas.microsoft.com/office/drawing/2014/main" id="{11B275A5-388C-4F57-A3C6-863FAEF21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8724" name="Object 53">
            <a:extLst>
              <a:ext uri="{FF2B5EF4-FFF2-40B4-BE49-F238E27FC236}">
                <a16:creationId xmlns:a16="http://schemas.microsoft.com/office/drawing/2014/main" id="{492C7397-9A46-42F1-AAD5-B91032498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3284538"/>
          <a:ext cx="417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2" name="Формула" r:id="rId18" imgW="2514600" imgH="228600" progId="Equation.3">
                  <p:embed/>
                </p:oleObj>
              </mc:Choice>
              <mc:Fallback>
                <p:oleObj name="Формула" r:id="rId18" imgW="2514600" imgH="228600" progId="Equation.3">
                  <p:embed/>
                  <p:pic>
                    <p:nvPicPr>
                      <p:cNvPr id="28724" name="Object 53">
                        <a:extLst>
                          <a:ext uri="{FF2B5EF4-FFF2-40B4-BE49-F238E27FC236}">
                            <a16:creationId xmlns:a16="http://schemas.microsoft.com/office/drawing/2014/main" id="{492C7397-9A46-42F1-AAD5-B91032498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284538"/>
                        <a:ext cx="4176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5" name="Object 54">
            <a:extLst>
              <a:ext uri="{FF2B5EF4-FFF2-40B4-BE49-F238E27FC236}">
                <a16:creationId xmlns:a16="http://schemas.microsoft.com/office/drawing/2014/main" id="{B13EBB0A-A56A-4235-8896-D2786665F5A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24114" y="4149725"/>
          <a:ext cx="37433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3" name="Формула" r:id="rId20" imgW="1866090" imgH="253890" progId="Equation.3">
                  <p:embed/>
                </p:oleObj>
              </mc:Choice>
              <mc:Fallback>
                <p:oleObj name="Формула" r:id="rId20" imgW="1866090" imgH="253890" progId="Equation.3">
                  <p:embed/>
                  <p:pic>
                    <p:nvPicPr>
                      <p:cNvPr id="28725" name="Object 54">
                        <a:extLst>
                          <a:ext uri="{FF2B5EF4-FFF2-40B4-BE49-F238E27FC236}">
                            <a16:creationId xmlns:a16="http://schemas.microsoft.com/office/drawing/2014/main" id="{B13EBB0A-A56A-4235-8896-D2786665F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149725"/>
                        <a:ext cx="37433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CB51FCC-5C61-4DC9-88D0-28841CF175F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35281" y="5874306"/>
            <a:ext cx="1175450" cy="369332"/>
          </a:xfrm>
          <a:prstGeom prst="rect">
            <a:avLst/>
          </a:prstGeom>
          <a:blipFill rotWithShape="0">
            <a:blip r:embed="rId2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02F1053-4DC0-4A81-B8FA-C211E406D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0" y="177800"/>
            <a:ext cx="9452264" cy="1143000"/>
          </a:xfrm>
        </p:spPr>
        <p:txBody>
          <a:bodyPr/>
          <a:lstStyle/>
          <a:p>
            <a:pPr algn="ctr"/>
            <a:r>
              <a:rPr lang="en-US" alt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alt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  <a:r>
              <a:rPr lang="ru-RU" altLang="ru-RU" sz="2800" b="1" i="1" u="sng" dirty="0">
                <a:latin typeface="+mn-lt"/>
              </a:rPr>
              <a:t>.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B42840A-6607-488B-B90F-8CC00A25E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CC0C784A-1F20-4ED4-BB3E-E1EA989E8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8296372B-F552-4DFB-9F61-3983A4CB9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00EE7C41-7379-44DB-9BDB-A443E0521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41010F4A-9D14-4CE2-B9F4-142848F24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531CE8F0-A9D3-4EFA-A3E5-E173B9AAB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58600B1A-85BF-46D1-8AED-EADA6BD47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484313"/>
            <a:ext cx="8785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4.1.2.</a:t>
            </a:r>
            <a:r>
              <a:rPr lang="ru-RU" altLang="ru-RU" sz="1800" b="1" u="sng"/>
              <a:t>Необходимые и достаточные условия существования экстремума функции без ограничений.</a:t>
            </a:r>
          </a:p>
        </p:txBody>
      </p: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23B3A34F-AAA3-4F68-919E-6BAEAC12A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276476"/>
            <a:ext cx="2279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/>
              <a:t>Теорема3.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9707" name="Rectangle 11">
            <a:extLst>
              <a:ext uri="{FF2B5EF4-FFF2-40B4-BE49-F238E27FC236}">
                <a16:creationId xmlns:a16="http://schemas.microsoft.com/office/drawing/2014/main" id="{CBC4A4BB-0F8D-4EE7-9E39-254BDF595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08" name="Object 12">
            <a:extLst>
              <a:ext uri="{FF2B5EF4-FFF2-40B4-BE49-F238E27FC236}">
                <a16:creationId xmlns:a16="http://schemas.microsoft.com/office/drawing/2014/main" id="{1E633ADA-1D2D-4AB2-ACDC-CDE563244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3" y="2290764"/>
          <a:ext cx="20891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29708" name="Object 12">
                        <a:extLst>
                          <a:ext uri="{FF2B5EF4-FFF2-40B4-BE49-F238E27FC236}">
                            <a16:creationId xmlns:a16="http://schemas.microsoft.com/office/drawing/2014/main" id="{1E633ADA-1D2D-4AB2-ACDC-CDE563244D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2290764"/>
                        <a:ext cx="20891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13">
            <a:extLst>
              <a:ext uri="{FF2B5EF4-FFF2-40B4-BE49-F238E27FC236}">
                <a16:creationId xmlns:a16="http://schemas.microsoft.com/office/drawing/2014/main" id="{B4ED87CE-E8D3-4DA4-A65D-C72E148FF61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014914" y="3142197"/>
            <a:ext cx="1529585" cy="636777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29710" name="Rectangle 14">
            <a:extLst>
              <a:ext uri="{FF2B5EF4-FFF2-40B4-BE49-F238E27FC236}">
                <a16:creationId xmlns:a16="http://schemas.microsoft.com/office/drawing/2014/main" id="{FDBEF5E3-16BA-4DD0-B4A5-785B1142F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11" name="Object 15">
            <a:extLst>
              <a:ext uri="{FF2B5EF4-FFF2-40B4-BE49-F238E27FC236}">
                <a16:creationId xmlns:a16="http://schemas.microsoft.com/office/drawing/2014/main" id="{CB5D123E-2622-4FA9-8F89-F634CC702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276475"/>
          <a:ext cx="36004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Формула" r:id="rId6" imgW="2400300" imgH="228600" progId="Equation.3">
                  <p:embed/>
                </p:oleObj>
              </mc:Choice>
              <mc:Fallback>
                <p:oleObj name="Формула" r:id="rId6" imgW="2400300" imgH="228600" progId="Equation.3">
                  <p:embed/>
                  <p:pic>
                    <p:nvPicPr>
                      <p:cNvPr id="29711" name="Object 15">
                        <a:extLst>
                          <a:ext uri="{FF2B5EF4-FFF2-40B4-BE49-F238E27FC236}">
                            <a16:creationId xmlns:a16="http://schemas.microsoft.com/office/drawing/2014/main" id="{CB5D123E-2622-4FA9-8F89-F634CC702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276475"/>
                        <a:ext cx="36004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Rectangle 16">
            <a:extLst>
              <a:ext uri="{FF2B5EF4-FFF2-40B4-BE49-F238E27FC236}">
                <a16:creationId xmlns:a16="http://schemas.microsoft.com/office/drawing/2014/main" id="{BCE7FA99-E369-4136-B0C3-2DE70278E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A793D855-8F7C-49A5-98AB-6502580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22764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; </a:t>
            </a: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4DBA4FF4-CAD3-4142-9FB7-8F40EB092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779714"/>
            <a:ext cx="23717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Тогда, для того чтобы </a:t>
            </a:r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18F68F2D-6F4A-49CB-ABC7-76705DF79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16" name="Object 20">
            <a:extLst>
              <a:ext uri="{FF2B5EF4-FFF2-40B4-BE49-F238E27FC236}">
                <a16:creationId xmlns:a16="http://schemas.microsoft.com/office/drawing/2014/main" id="{A64A90CA-8EBC-4383-9EA3-D34CB149C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4" y="2803525"/>
          <a:ext cx="17287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Формула" r:id="rId8" imgW="1282700" imgH="241300" progId="Equation.3">
                  <p:embed/>
                </p:oleObj>
              </mc:Choice>
              <mc:Fallback>
                <p:oleObj name="Формула" r:id="rId8" imgW="1282700" imgH="241300" progId="Equation.3">
                  <p:embed/>
                  <p:pic>
                    <p:nvPicPr>
                      <p:cNvPr id="29716" name="Object 20">
                        <a:extLst>
                          <a:ext uri="{FF2B5EF4-FFF2-40B4-BE49-F238E27FC236}">
                            <a16:creationId xmlns:a16="http://schemas.microsoft.com/office/drawing/2014/main" id="{A64A90CA-8EBC-4383-9EA3-D34CB149C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2803525"/>
                        <a:ext cx="172878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7" name="Rectangle 21">
            <a:extLst>
              <a:ext uri="{FF2B5EF4-FFF2-40B4-BE49-F238E27FC236}">
                <a16:creationId xmlns:a16="http://schemas.microsoft.com/office/drawing/2014/main" id="{8D319CB6-DF9B-4F4F-9D46-37CF5ADA2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2779714"/>
            <a:ext cx="34671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и достаточно, чтобы </a:t>
            </a:r>
          </a:p>
        </p:txBody>
      </p:sp>
      <p:sp>
        <p:nvSpPr>
          <p:cNvPr id="29718" name="Rectangle 22">
            <a:extLst>
              <a:ext uri="{FF2B5EF4-FFF2-40B4-BE49-F238E27FC236}">
                <a16:creationId xmlns:a16="http://schemas.microsoft.com/office/drawing/2014/main" id="{A76E0A4A-0321-4079-8C38-1DF9190B1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282950"/>
            <a:ext cx="28416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выполнены условия: </a:t>
            </a:r>
          </a:p>
        </p:txBody>
      </p:sp>
      <p:sp>
        <p:nvSpPr>
          <p:cNvPr id="29719" name="Rectangle 23">
            <a:extLst>
              <a:ext uri="{FF2B5EF4-FFF2-40B4-BE49-F238E27FC236}">
                <a16:creationId xmlns:a16="http://schemas.microsoft.com/office/drawing/2014/main" id="{54434FEB-C230-47A6-816F-A1BC99966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8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20" name="Rectangle 25">
            <a:extLst>
              <a:ext uri="{FF2B5EF4-FFF2-40B4-BE49-F238E27FC236}">
                <a16:creationId xmlns:a16="http://schemas.microsoft.com/office/drawing/2014/main" id="{FDAEDD9A-2B41-4AC4-B489-9D31D696B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003675"/>
            <a:ext cx="13398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этом:   </a:t>
            </a:r>
          </a:p>
        </p:txBody>
      </p:sp>
      <p:sp>
        <p:nvSpPr>
          <p:cNvPr id="29721" name="Rectangle 27">
            <a:extLst>
              <a:ext uri="{FF2B5EF4-FFF2-40B4-BE49-F238E27FC236}">
                <a16:creationId xmlns:a16="http://schemas.microsoft.com/office/drawing/2014/main" id="{1004A209-A40C-4198-B3AA-6E9548CA3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6" y="3684589"/>
            <a:ext cx="2905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 sz="600"/>
              <a:t> </a:t>
            </a:r>
            <a:endParaRPr lang="ru-RU" altLang="ru-RU" sz="1800"/>
          </a:p>
        </p:txBody>
      </p:sp>
      <p:sp>
        <p:nvSpPr>
          <p:cNvPr id="29722" name="Rectangle 28">
            <a:extLst>
              <a:ext uri="{FF2B5EF4-FFF2-40B4-BE49-F238E27FC236}">
                <a16:creationId xmlns:a16="http://schemas.microsoft.com/office/drawing/2014/main" id="{40265013-D8AB-4619-A605-ED5902F62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9" y="4075114"/>
            <a:ext cx="15636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приводит к     </a:t>
            </a:r>
          </a:p>
        </p:txBody>
      </p:sp>
      <p:sp>
        <p:nvSpPr>
          <p:cNvPr id="29723" name="Rectangle 29">
            <a:extLst>
              <a:ext uri="{FF2B5EF4-FFF2-40B4-BE49-F238E27FC236}">
                <a16:creationId xmlns:a16="http://schemas.microsoft.com/office/drawing/2014/main" id="{319B4523-6FCE-4EFF-916A-9DF5A6245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24" name="Object 30">
            <a:extLst>
              <a:ext uri="{FF2B5EF4-FFF2-40B4-BE49-F238E27FC236}">
                <a16:creationId xmlns:a16="http://schemas.microsoft.com/office/drawing/2014/main" id="{2E6CFC52-6944-4424-9416-E99B6166DA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5" y="4076701"/>
          <a:ext cx="25908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Формула" r:id="rId10" imgW="1358310" imgH="241195" progId="Equation.3">
                  <p:embed/>
                </p:oleObj>
              </mc:Choice>
              <mc:Fallback>
                <p:oleObj name="Формула" r:id="rId10" imgW="1358310" imgH="241195" progId="Equation.3">
                  <p:embed/>
                  <p:pic>
                    <p:nvPicPr>
                      <p:cNvPr id="29724" name="Object 30">
                        <a:extLst>
                          <a:ext uri="{FF2B5EF4-FFF2-40B4-BE49-F238E27FC236}">
                            <a16:creationId xmlns:a16="http://schemas.microsoft.com/office/drawing/2014/main" id="{2E6CFC52-6944-4424-9416-E99B6166D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4076701"/>
                        <a:ext cx="25908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5" name="Rectangle 31">
            <a:extLst>
              <a:ext uri="{FF2B5EF4-FFF2-40B4-BE49-F238E27FC236}">
                <a16:creationId xmlns:a16="http://schemas.microsoft.com/office/drawing/2014/main" id="{905C129E-F9F0-49EB-BB2C-E11D0826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8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9726" name="Rectangle 33">
            <a:extLst>
              <a:ext uri="{FF2B5EF4-FFF2-40B4-BE49-F238E27FC236}">
                <a16:creationId xmlns:a16="http://schemas.microsoft.com/office/drawing/2014/main" id="{C0BBA2BB-0A8F-4EE1-8A61-9588B095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5156200"/>
            <a:ext cx="15636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приводит к     </a:t>
            </a:r>
          </a:p>
        </p:txBody>
      </p:sp>
      <p:sp>
        <p:nvSpPr>
          <p:cNvPr id="29727" name="Rectangle 34">
            <a:extLst>
              <a:ext uri="{FF2B5EF4-FFF2-40B4-BE49-F238E27FC236}">
                <a16:creationId xmlns:a16="http://schemas.microsoft.com/office/drawing/2014/main" id="{A5155D95-2619-4F6E-ADA8-B1B2A1257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29728" name="Object 35">
            <a:extLst>
              <a:ext uri="{FF2B5EF4-FFF2-40B4-BE49-F238E27FC236}">
                <a16:creationId xmlns:a16="http://schemas.microsoft.com/office/drawing/2014/main" id="{49B4A61E-AE7A-45F5-B73D-49006080F6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5092700"/>
          <a:ext cx="25923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Формула" r:id="rId12" imgW="1384300" imgH="241300" progId="Equation.3">
                  <p:embed/>
                </p:oleObj>
              </mc:Choice>
              <mc:Fallback>
                <p:oleObj name="Формула" r:id="rId12" imgW="1384300" imgH="241300" progId="Equation.3">
                  <p:embed/>
                  <p:pic>
                    <p:nvPicPr>
                      <p:cNvPr id="29728" name="Object 35">
                        <a:extLst>
                          <a:ext uri="{FF2B5EF4-FFF2-40B4-BE49-F238E27FC236}">
                            <a16:creationId xmlns:a16="http://schemas.microsoft.com/office/drawing/2014/main" id="{49B4A61E-AE7A-45F5-B73D-49006080F6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5092700"/>
                        <a:ext cx="25923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CEEF09-839B-42CC-A1A0-58F603DF413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17888" y="4004375"/>
            <a:ext cx="1562030" cy="636777"/>
          </a:xfrm>
          <a:prstGeom prst="rect">
            <a:avLst/>
          </a:prstGeom>
          <a:blipFill rotWithShape="0"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7E8E666-C8E4-490D-81D8-2E46D4081AE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93857" y="5022756"/>
            <a:ext cx="1562030" cy="636777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1934</Words>
  <Application>Microsoft Office PowerPoint</Application>
  <PresentationFormat>Широкоэкранный</PresentationFormat>
  <Paragraphs>259</Paragraphs>
  <Slides>29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Рисунок</vt:lpstr>
      <vt:lpstr>ЛЕКЦИЯ № 2</vt:lpstr>
      <vt:lpstr>1. Краткий экскурс в функциональный анализ</vt:lpstr>
      <vt:lpstr>1. Краткий экскурс в функциональный анализ.</vt:lpstr>
      <vt:lpstr>1. Краткий экскурс в функциональный анализ.</vt:lpstr>
      <vt:lpstr>1. Краткий экскурс в функциональный анализ.</vt:lpstr>
      <vt:lpstr>Понятие нормы</vt:lpstr>
      <vt:lpstr>Матричная норма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2. Основные понятия и определения конечномерного выпуклого анализа.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3. Дифференцирование функций.</vt:lpstr>
      <vt:lpstr>4.Необходимые и достаточные условия существования экстремума функции.</vt:lpstr>
      <vt:lpstr>4.Необходимые и достаточные условия существования экстремума функции.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2</dc:title>
  <dc:creator>Yuriy Kaganov</dc:creator>
  <cp:lastModifiedBy>Yuriy Kaganov</cp:lastModifiedBy>
  <cp:revision>8</cp:revision>
  <dcterms:created xsi:type="dcterms:W3CDTF">2021-02-10T08:04:28Z</dcterms:created>
  <dcterms:modified xsi:type="dcterms:W3CDTF">2025-09-15T12:25:56Z</dcterms:modified>
</cp:coreProperties>
</file>