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74" r:id="rId2"/>
    <p:sldId id="256" r:id="rId3"/>
    <p:sldId id="277" r:id="rId4"/>
    <p:sldId id="257" r:id="rId5"/>
    <p:sldId id="258" r:id="rId6"/>
    <p:sldId id="259" r:id="rId7"/>
    <p:sldId id="278" r:id="rId8"/>
    <p:sldId id="260" r:id="rId9"/>
    <p:sldId id="279" r:id="rId10"/>
    <p:sldId id="280" r:id="rId11"/>
    <p:sldId id="281" r:id="rId12"/>
    <p:sldId id="282" r:id="rId13"/>
    <p:sldId id="283" r:id="rId14"/>
    <p:sldId id="284" r:id="rId15"/>
    <p:sldId id="300" r:id="rId16"/>
    <p:sldId id="285" r:id="rId17"/>
    <p:sldId id="286" r:id="rId18"/>
    <p:sldId id="287" r:id="rId19"/>
    <p:sldId id="288" r:id="rId20"/>
    <p:sldId id="289" r:id="rId21"/>
    <p:sldId id="301" r:id="rId22"/>
    <p:sldId id="290" r:id="rId23"/>
    <p:sldId id="291" r:id="rId24"/>
    <p:sldId id="292" r:id="rId25"/>
    <p:sldId id="293" r:id="rId26"/>
    <p:sldId id="294" r:id="rId27"/>
    <p:sldId id="302" r:id="rId28"/>
    <p:sldId id="303" r:id="rId29"/>
    <p:sldId id="304" r:id="rId30"/>
    <p:sldId id="295" r:id="rId31"/>
    <p:sldId id="305" r:id="rId32"/>
    <p:sldId id="296" r:id="rId33"/>
    <p:sldId id="261" r:id="rId34"/>
    <p:sldId id="306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67" y="47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94DEB1-C7F3-456F-A5E6-24B62BE5506C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CAB50-960B-4FDE-AE1E-542B78D2AA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7817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699023"/>
            <a:ext cx="6858000" cy="1238113"/>
          </a:xfrm>
        </p:spPr>
        <p:txBody>
          <a:bodyPr>
            <a:norm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Лекция № 11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20717" y="3558778"/>
            <a:ext cx="8607973" cy="2132800"/>
          </a:xfrm>
        </p:spPr>
        <p:txBody>
          <a:bodyPr>
            <a:normAutofit/>
          </a:bodyPr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Иерархическая оптимизация: обобщение гибридной и мета-оптимизации. Связь с 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холархической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организацией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213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ПЛАН ЛЕКЦИИ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199"/>
            <a:ext cx="8229600" cy="4983163"/>
          </a:xfrm>
        </p:spPr>
        <p:txBody>
          <a:bodyPr>
            <a:noAutofit/>
          </a:bodyPr>
          <a:lstStyle/>
          <a:p>
            <a:pPr algn="l">
              <a:buFont typeface="+mj-lt"/>
              <a:buAutoNum type="arabicPeriod"/>
            </a:pPr>
            <a:r>
              <a:rPr lang="ru-RU" sz="3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Проблемы сложных систем и оптимизации.</a:t>
            </a:r>
          </a:p>
          <a:p>
            <a:pPr algn="l">
              <a:buFont typeface="+mj-lt"/>
              <a:buAutoNum type="arabicPeriod"/>
            </a:pPr>
            <a:r>
              <a:rPr lang="ru-RU" sz="3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Часть I:</a:t>
            </a:r>
            <a:r>
              <a:rPr lang="ru-RU" sz="3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Иерархическая оптимизация (ИО).</a:t>
            </a:r>
          </a:p>
          <a:p>
            <a:pPr algn="l">
              <a:buFont typeface="+mj-lt"/>
              <a:buAutoNum type="arabicPeriod"/>
            </a:pPr>
            <a:r>
              <a:rPr lang="ru-RU" sz="3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Часть II: </a:t>
            </a:r>
            <a:r>
              <a:rPr lang="ru-RU" sz="3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 гибридных и мета-методов к обобщённой ИО.</a:t>
            </a:r>
          </a:p>
          <a:p>
            <a:pPr algn="l">
              <a:buFont typeface="+mj-lt"/>
              <a:buAutoNum type="arabicPeriod"/>
            </a:pPr>
            <a:r>
              <a:rPr lang="ru-RU" sz="3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Часть III</a:t>
            </a:r>
            <a:r>
              <a:rPr lang="ru-RU" sz="3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3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Холархия</a:t>
            </a:r>
            <a:r>
              <a:rPr lang="ru-RU" sz="3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как организационный принцип.</a:t>
            </a:r>
          </a:p>
          <a:p>
            <a:pPr algn="l">
              <a:buFont typeface="+mj-lt"/>
              <a:buAutoNum type="arabicPeriod"/>
            </a:pPr>
            <a:r>
              <a:rPr lang="ru-RU" sz="3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Часть IV</a:t>
            </a:r>
            <a:r>
              <a:rPr lang="ru-RU" sz="3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Связь ИО и </a:t>
            </a:r>
            <a:r>
              <a:rPr lang="ru-RU" sz="3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холархии</a:t>
            </a:r>
            <a:r>
              <a:rPr lang="ru-RU" sz="3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Практические следствия.</a:t>
            </a:r>
          </a:p>
          <a:p>
            <a:pPr algn="l">
              <a:buFont typeface="+mj-lt"/>
              <a:buAutoNum type="arabicPeriod"/>
            </a:pPr>
            <a:r>
              <a:rPr lang="ru-RU" sz="3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Заключение.</a:t>
            </a:r>
          </a:p>
          <a:p>
            <a:pPr marL="0" indent="0">
              <a:buNone/>
            </a:pPr>
            <a:b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352BE5-34F6-4DBA-A64D-2F6DEAF55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076" y="1061545"/>
            <a:ext cx="8229600" cy="3520965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Часть 1:</a:t>
            </a:r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Проблемы и основы</a:t>
            </a:r>
            <a:b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7527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227" y="274638"/>
            <a:ext cx="8665779" cy="1606714"/>
          </a:xfrm>
        </p:spPr>
        <p:txBody>
          <a:bodyPr>
            <a:noAutofit/>
          </a:bodyPr>
          <a:lstStyle/>
          <a:p>
            <a:pPr>
              <a:lnSpc>
                <a:spcPts val="2100"/>
              </a:lnSpc>
              <a:spcBef>
                <a:spcPts val="1200"/>
              </a:spcBef>
              <a:spcAft>
                <a:spcPts val="600"/>
              </a:spcAft>
            </a:pPr>
            <a:r>
              <a:rPr lang="ru-RU" sz="36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Вызовы оптимизации сложных систем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054" y="2209800"/>
            <a:ext cx="8665779" cy="4525963"/>
          </a:xfrm>
        </p:spPr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Высокая размерность: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Много параметров.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Мультимодальность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Много локальных оптимумов.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Противоречивость: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Конфликт нескольких целевых функций (многокритериальность).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Вычислительная сложность: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Прямой перебор невозможен.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Неоднородность: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Разные части задачи имеют разную природу.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Эволюция подходов к оптимизации</a:t>
            </a:r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734D8FB-AE0D-4DDB-B12D-4ADD7CA9397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57200" y="1600200"/>
            <a:ext cx="8229600" cy="5250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Классические методы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(градиентные, симплекс-метод): Быстры, но для гладких, выпуклых задач.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Метаэвристики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(ГА, Рой частиц, Муравьиный алгоритм): Гибкие, глобальный поиск, но медленные, требуют настройки.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Гибридные методы: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Попытка объединить сильные стороны.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Иерархическая оптимизация: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Системный, многоуровневый подход для управления сложностью.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1738"/>
            <a:ext cx="8229600" cy="1208690"/>
          </a:xfrm>
        </p:spPr>
        <p:txBody>
          <a:bodyPr>
            <a:noAutofit/>
          </a:bodyPr>
          <a:lstStyle/>
          <a:p>
            <a:r>
              <a:rPr lang="ru-RU" sz="36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иерархическая оптимизация (ИО)?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62959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Определение: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Стратегия декомпозиции сложной задачи на уровни (страты) с разной степенью детализации и разными моделями.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Ключевая идея: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«Разделяй и властвуй» + координация между уровнями.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Верхний уровень (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Метауровень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Определяет стратегию, выбирает методы, управляет ресурсами. </a:t>
            </a:r>
            <a:r>
              <a:rPr lang="ru-RU" b="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Грубая модель.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Нижний уровень (Базовый уровень):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Решает конкретные подзадачи, детальная настройка. </a:t>
            </a:r>
            <a:r>
              <a:rPr lang="ru-RU" b="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Детальная модель.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>
            <a:extLst>
              <a:ext uri="{FF2B5EF4-FFF2-40B4-BE49-F238E27FC236}">
                <a16:creationId xmlns:a16="http://schemas.microsoft.com/office/drawing/2014/main" id="{7EE2D4B7-D163-445C-8F68-201BBE76A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3" y="2503158"/>
            <a:ext cx="8622564" cy="1243651"/>
          </a:xfrm>
        </p:spPr>
        <p:txBody>
          <a:bodyPr>
            <a:normAutofit/>
          </a:bodyPr>
          <a:lstStyle/>
          <a:p>
            <a:pPr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Часть 2: </a:t>
            </a:r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Иерархическая оптимизация: от частного к обобщению</a:t>
            </a:r>
            <a:b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803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75360"/>
            <a:ext cx="8229600" cy="1241927"/>
          </a:xfrm>
        </p:spPr>
        <p:txBody>
          <a:bodyPr>
            <a:noAutofit/>
          </a:bodyPr>
          <a:lstStyle/>
          <a:p>
            <a:r>
              <a:rPr lang="ru-RU" sz="36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Гибридная оптимизация (ГО)</a:t>
            </a:r>
            <a:br>
              <a:rPr lang="ru-RU" sz="36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36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86D7251-4877-4773-AC40-14BD3EFE04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051620"/>
            <a:ext cx="8229600" cy="3929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Суть: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Комбинация двух или более алгоритмов, где один дополняет слабости другого.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Классическая схема: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Глобальный поиск (например, ГА) → Локальное уточнение (например, градиентный метод).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Пример: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PSO + метод сопряжённых градиентов. ГА для выбора региона,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квазиньютоновский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метод для финальной настройки.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37F47C-E96E-4293-BEDC-94379D2BB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Мета-оптимизация (МО) или Выбор </a:t>
            </a:r>
            <a:r>
              <a:rPr lang="ru-RU" sz="36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гиперпараметров</a:t>
            </a:r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FCE729-241A-421C-93E8-AA3BCA787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Суть: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Оптимизация самого алгоритма оптимизации.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«Оптимизатор оптимизирующий оптимизатор».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Внешний алгоритм ищет лучшие параметры (скорость обучения, размер популяции и т.д.) для внутреннего алгоритма.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Автоматизация настройки и повышение робастности.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37559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45F91-C153-41EB-AE5A-84BB3EAAD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Ограничения ГО и МО по отдельности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116175-0494-47B2-9BCF-BBB9B97D9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083" y="1885991"/>
            <a:ext cx="9059917" cy="4024156"/>
          </a:xfrm>
        </p:spPr>
        <p:txBody>
          <a:bodyPr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ГО: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Жёсткая, часто однонаправленная связь (сверху вниз). Нет адаптивной обратной связи на стратегию.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Часто фокусируется только на параметрах одного алгоритма, не на архитектуре решения.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Общая проблема: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Отсутствие полной, адаптивной, многоуровневой координации.</a:t>
            </a:r>
          </a:p>
          <a:p>
            <a:endParaRPr lang="ru-RU" sz="1300" dirty="0"/>
          </a:p>
        </p:txBody>
      </p:sp>
    </p:spTree>
    <p:extLst>
      <p:ext uri="{BB962C8B-B14F-4D97-AF65-F5344CB8AC3E}">
        <p14:creationId xmlns:p14="http://schemas.microsoft.com/office/powerpoint/2010/main" val="1032536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06CF86-2C39-47F2-B994-EB214F857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Иерархическая оптимизация как обобщающая парадигма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1FE771B-ABA0-4F7F-8E29-16948F1E5E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1914" y="1677300"/>
            <a:ext cx="8297141" cy="39959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5392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ИО включает в себя ГО и МО как частные случаи.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ГО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≈ Частный случай двухуровневой ИО с фиксированным распределением ролей.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≈ Частный случай ИО, где верхний уровень оптимизирует параметры нижнего.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Обобщение: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ИО допускает: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 уровней.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Двустороннюю связь (восходящую и нисходящую).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Динамическое перераспределение задач между уровнями.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Координацию множества разнородных алгоритмов.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3602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60297D-CC82-4E4E-BF7D-E0C4430AB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обобщённой </a:t>
            </a:r>
            <a:br>
              <a:rPr lang="ru-RU" sz="36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ИО-системы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AAAD6D-1AB5-42C8-A008-7FF9B2013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925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3 (Стратегический):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Метауправление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Оценка эффективности всей схемы, принятие решений о смене парадигмы оптимизации.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2 (Тактический):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Координация. Распределение ресурсов, выбор гибридной схемы или алгоритма МО для конкретной фазы.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1 (Операционный):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Исполнение. Запуск конкретных алгоритмов (ГА, градиентных и пр.) для решения подзадач.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Потоки информации: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Двунаправленные.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0213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525A18-F81B-4F27-B72E-B0362956A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 обобщённого подхода ИО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B178ED-F916-47EB-8FF2-9CFC35850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Снижение сложности: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Каждый уровень решает свою задачу.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Гибкость и адаптивность: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Система может менять стратегию на лету.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Масштабируемость: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Легко добавлять новые уровни или алгоритмы.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Универсальность: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Применима к задачам разной природы (проектирование, логистика, ML).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4859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EEBE95-FC69-4A4B-9442-28E5A7112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31837"/>
            <a:ext cx="8229600" cy="1143000"/>
          </a:xfrm>
        </p:spPr>
        <p:txBody>
          <a:bodyPr>
            <a:noAutofit/>
          </a:bodyPr>
          <a:lstStyle/>
          <a:p>
            <a:r>
              <a:rPr lang="ru-RU" sz="36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Пример: ИО в проектировании сложного изделия</a:t>
            </a:r>
            <a:br>
              <a:rPr lang="ru-RU" sz="36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C21B1A-B105-40B6-B963-8FFF36F85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12795"/>
            <a:ext cx="8229600" cy="4525963"/>
          </a:xfrm>
        </p:spPr>
        <p:txBody>
          <a:bodyPr>
            <a:normAutofit fontScale="925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3: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Оптимизация общей компоновки и выбора технологий (дискретный поиск).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2: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Для выбранной компоновки — оптимизация параметров подсистем (гибридный метод).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1: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Детальный инженерный расчёт (например, МКЭ) для проверки ограничений.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Обратная связь: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Результаты расчётов (Ур.1) меняют параметры (Ур.2), что может привести к смене компоновки (Ур.3).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3709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06E271-0D47-41CA-8824-2290E58DB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71429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Часть III: </a:t>
            </a:r>
            <a:r>
              <a:rPr lang="ru-RU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Холархия</a:t>
            </a:r>
            <a:r>
              <a:rPr lang="ru-RU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организационный принцип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08442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6D4CC6-E37D-4733-A7E7-75EAADB95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227" y="274638"/>
            <a:ext cx="8229600" cy="1421468"/>
          </a:xfrm>
        </p:spPr>
        <p:txBody>
          <a:bodyPr>
            <a:normAutofit fontScale="90000"/>
          </a:bodyPr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 иерархии к 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холархии</a:t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8F968A-B003-4100-841D-34BBA0256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227" y="1696106"/>
            <a:ext cx="8912773" cy="4887255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Классическая иерархия: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Жёсткая, древовидная структура. Власть и информация — сверху вниз. Части подчинены целому.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Проблемы иерархии: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Негибкость, медленное реагирование, подавление инициативы.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Холархия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(Артур 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Кестлер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Философская и управленческая концепция.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121972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EC28F6-9B6B-41AD-A825-C470B8EFC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ru-RU" sz="4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Определение </a:t>
            </a:r>
            <a:r>
              <a:rPr lang="ru-RU" sz="40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холархии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6C02FF-5567-4D6F-AE14-FD9B3E345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Холон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Автономная, самоуправляемая единица, которая одновременно является 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целым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для своих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подчастей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 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частью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более крупного целого.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Холархия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Иерархия самоуправляемых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холонов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сотрудничающих для достижения цели системы.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Девиз: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«Целое больше суммы частей, а часть больше, чем просто доля целого».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993428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6E7495-4A6D-4E40-A7B4-35F6E7996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принципы </a:t>
            </a:r>
            <a:r>
              <a:rPr lang="ru-RU" sz="40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холархии</a:t>
            </a:r>
            <a:br>
              <a:rPr lang="ru-RU" sz="4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200" b="0" i="0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8017EC-11CB-43BC-BB75-8F13652D5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421" y="1032203"/>
            <a:ext cx="8653346" cy="5691982"/>
          </a:xfrm>
        </p:spPr>
        <p:txBody>
          <a:bodyPr>
            <a:normAutofit/>
          </a:bodyPr>
          <a:lstStyle/>
          <a:p>
            <a:pPr marL="0" indent="0"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48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Автономия: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Холон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имеет право самоуправления в своей области.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Кооперация (Связность):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Холоны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добровольно кооперируются для решения общих задач.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Двойственная природа: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Быть и целым, и частью.</a:t>
            </a:r>
          </a:p>
          <a:p>
            <a:pPr algn="l">
              <a:buFont typeface="+mj-lt"/>
              <a:buAutoNum type="arabicPeriod"/>
            </a:pPr>
            <a:r>
              <a:rPr lang="ru-RU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Гибридность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структуры: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Сочетает иерархию (для стабильности) и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гетерархию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(сети, для гибкости).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38417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2774EE-DF7C-4F7A-B279-BB638074F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712" y="846138"/>
            <a:ext cx="8229600" cy="1143000"/>
          </a:xfrm>
        </p:spPr>
        <p:txBody>
          <a:bodyPr>
            <a:noAutofit/>
          </a:bodyPr>
          <a:lstStyle/>
          <a:p>
            <a:r>
              <a:rPr lang="ru-RU" sz="4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 </a:t>
            </a:r>
            <a:r>
              <a:rPr lang="ru-RU" sz="40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холархий</a:t>
            </a:r>
            <a:r>
              <a:rPr lang="ru-RU" sz="4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 природе и обществе</a:t>
            </a:r>
            <a:br>
              <a:rPr lang="ru-RU" sz="4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4000" b="0" i="0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F6EB83-04AD-41F4-BDFF-ED3EC1E70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325029"/>
            <a:ext cx="8229600" cy="4142678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Биологический организм: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Клетка (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холон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→ Орган (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холон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→ Организм (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холон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Общество: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Человек → Семья → Город → Государство.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Гибкая компания (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Holacracy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Самоуправляемые команды (круги), роли, а не должности.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76753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3D81DA-38FE-49FE-BEB3-41F6B5AA6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Холархия</a:t>
            </a:r>
            <a:r>
              <a:rPr lang="ru-RU" sz="36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ru-RU" sz="36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Иерархия и </a:t>
            </a:r>
            <a:r>
              <a:rPr lang="ru-RU" sz="36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Гетерархия</a:t>
            </a:r>
            <a:br>
              <a:rPr lang="ru-RU" sz="36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36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77570C-00EC-4FB1-A306-4BBE879B7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2807"/>
            <a:ext cx="8229600" cy="3752385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Иерархия: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Жёсткий контроль, вертикаль.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Гетерархия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Сетевое равенство, горизонталь.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Холархия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Динамический баланс. Вертикаль для координации и стратегии, горизонталь для сотрудничества и тактики.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46191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45445B-8154-4BB8-B62F-203D9F5F0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sz="4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Часть IV: Связь и взаимное обогащение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735792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2EDDE0-70A8-48C9-9BAF-BF3C72965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36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Аналогия: ИО как вычислительная </a:t>
            </a:r>
            <a:r>
              <a:rPr lang="ru-RU" sz="36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холархия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5C9DCD-7BDF-4CAB-85E1-D904581FC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15910"/>
          </a:xfrm>
        </p:spPr>
        <p:txBody>
          <a:bodyPr>
            <a:normAutofit/>
          </a:bodyPr>
          <a:lstStyle/>
          <a:p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7516A6-B2AC-41CD-AE39-124A7376A877}"/>
              </a:ext>
            </a:extLst>
          </p:cNvPr>
          <p:cNvSpPr txBox="1"/>
          <p:nvPr/>
        </p:nvSpPr>
        <p:spPr>
          <a:xfrm>
            <a:off x="379141" y="1720840"/>
            <a:ext cx="8575288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8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Холон</a:t>
            </a: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 ИО: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Алгоритм или группа алгоритмов на определённом уровне.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Автономия: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Алгоритм решает свою задачу своим внутренним методом.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Кооперация: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Алгоритмы обмениваются решениями, лучшими практиками (например, через миграцию особей в ГА).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Быть частью: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Алгоритм нижнего уровня получает направление поиска сверху.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Быть целым: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Алгоритм верхнего уровня использует агрегированные результаты снизу.</a:t>
            </a:r>
          </a:p>
        </p:txBody>
      </p:sp>
    </p:spTree>
    <p:extLst>
      <p:ext uri="{BB962C8B-B14F-4D97-AF65-F5344CB8AC3E}">
        <p14:creationId xmlns:p14="http://schemas.microsoft.com/office/powerpoint/2010/main" val="37824539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7806D6-5F4A-459A-85B6-299959674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75721"/>
            <a:ext cx="8229600" cy="1143000"/>
          </a:xfrm>
        </p:spPr>
        <p:txBody>
          <a:bodyPr>
            <a:noAutofit/>
          </a:bodyPr>
          <a:lstStyle/>
          <a:p>
            <a:r>
              <a:rPr lang="ru-RU" sz="36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Обратное влияние: </a:t>
            </a:r>
            <a:r>
              <a:rPr lang="ru-RU" sz="3600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Холархия</a:t>
            </a:r>
            <a:r>
              <a:rPr lang="ru-RU" sz="36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как метафора для построения ИО-систем</a:t>
            </a:r>
            <a:br>
              <a:rPr lang="ru-RU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794782-CDB4-4C00-89E3-9D0CBE311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57399"/>
            <a:ext cx="8229600" cy="4525963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Проектируя ИО-систему, мы можем сознательно применять принципы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холархии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Наделять «агентов» (алгоритмы) разумной автономией.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Проектировать протоколы их кооперации (обмен данными, правила остановки).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Создавать гибкие, а не жёсткие связи между уровнями.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6339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73109E-8636-4405-A7CD-64F704E21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Сходства (Таблица)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542BC675-65C0-432C-9AC8-0B060F90F1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3405732"/>
              </p:ext>
            </p:extLst>
          </p:nvPr>
        </p:nvGraphicFramePr>
        <p:xfrm>
          <a:off x="323385" y="1836261"/>
          <a:ext cx="8508380" cy="3505200"/>
        </p:xfrm>
        <a:graphic>
          <a:graphicData uri="http://schemas.openxmlformats.org/drawingml/2006/table">
            <a:tbl>
              <a:tblPr/>
              <a:tblGrid>
                <a:gridCol w="2923504">
                  <a:extLst>
                    <a:ext uri="{9D8B030D-6E8A-4147-A177-3AD203B41FA5}">
                      <a16:colId xmlns:a16="http://schemas.microsoft.com/office/drawing/2014/main" val="1231357464"/>
                    </a:ext>
                  </a:extLst>
                </a:gridCol>
                <a:gridCol w="2792438">
                  <a:extLst>
                    <a:ext uri="{9D8B030D-6E8A-4147-A177-3AD203B41FA5}">
                      <a16:colId xmlns:a16="http://schemas.microsoft.com/office/drawing/2014/main" val="2031209809"/>
                    </a:ext>
                  </a:extLst>
                </a:gridCol>
                <a:gridCol w="2792438">
                  <a:extLst>
                    <a:ext uri="{9D8B030D-6E8A-4147-A177-3AD203B41FA5}">
                      <a16:colId xmlns:a16="http://schemas.microsoft.com/office/drawing/2014/main" val="27684116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  <a:endParaRPr lang="ru-RU" sz="20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Иерархическая оптимизация</a:t>
                      </a:r>
                      <a:endParaRPr lang="ru-RU" sz="20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Холархическая организация</a:t>
                      </a:r>
                      <a:endParaRPr lang="ru-RU" sz="20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168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Структура</a:t>
                      </a:r>
                      <a:endParaRPr lang="ru-RU" sz="20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Многоуровневая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Многоуровневая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358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Декомпозиция</a:t>
                      </a:r>
                      <a:endParaRPr lang="ru-RU" sz="20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Разделение сложной задачи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Разделение сложной системы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310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Взаимодействие</a:t>
                      </a:r>
                      <a:endParaRPr lang="ru-RU" sz="20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Потоки информации (верх/низ)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Потоки информации и власти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776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Цель</a:t>
                      </a:r>
                      <a:endParaRPr lang="ru-RU" sz="20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Глобально оптимальное решение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Устойчивость и адаптивность системы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9290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81561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BD2A94-75E5-4E11-801E-40934AFF9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отличия и дополнения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8BA595-FC82-4ED2-A04C-9B9D50F07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722" y="1600200"/>
            <a:ext cx="8831766" cy="4525963"/>
          </a:xfrm>
        </p:spPr>
        <p:txBody>
          <a:bodyPr>
            <a:normAutofit fontScale="925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ИО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 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инженерная, алгоритмическая парадигма.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Фокус на эффективности решения задачи.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Холархия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 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философская, организационная парадигма.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Фокус на жизнеспособности и эволюции системы.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Холархия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привносит в ИО: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Акцент на 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самоорганизации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эмерджентности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(возникновении новых свойств) и 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эволюционной адаптации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самой структуры оптимизации.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77307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C2A1CA-C41E-4B1E-8F15-A64ECD270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Практическое следствие 1: 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Самооптимизирующиеся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723544-83A2-48DF-BECD-637F3E7CC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16" y="1739911"/>
            <a:ext cx="8692055" cy="4025269"/>
          </a:xfrm>
        </p:spPr>
        <p:txBody>
          <a:bodyPr>
            <a:normAutofit/>
          </a:bodyPr>
          <a:lstStyle/>
          <a:p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ИО-система, построенная по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холархическим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принципам, может 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самостоятельно перестраивать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свою внутреннюю архитектуру (добавлять/убирать уровни, менять алгоритмы) в ответ на изменение решаемой задачи.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44645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C1299F-272C-479A-B6B5-A911B9FCB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Практическое следствие 2: Робастность и отказоустойчивость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B3485C-0E09-4923-AFC7-BAE9F09DB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34737"/>
            <a:ext cx="8229600" cy="3495907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Автономия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холонов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-алгоритмов обеспечивает устойчивость к сбоям. Если один алгоритм «застревает», другие могут компенсировать это.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Кооперация позволяет системе находить обходные пути.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48792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516ACB-4A0B-4FE1-830D-45C938C7D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Практическое следствие 3: Масштабирование и распределённые вычисления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6FD239-59DD-4E04-8F8C-F1A0F9212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141" y="2057399"/>
            <a:ext cx="8229600" cy="3540513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Холархическая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ИО естественно ложится на распределённые архитектуры (облако, кластер).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Каждый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холон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(группа алгоритмов) может работать на отдельном узле, координируясь через лёгкие протоколы.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5652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8EA7A9-9FDA-4720-A50A-D04902D20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14399"/>
            <a:ext cx="8229600" cy="724830"/>
          </a:xfrm>
        </p:spPr>
        <p:txBody>
          <a:bodyPr>
            <a:noAutofit/>
          </a:bodyPr>
          <a:lstStyle/>
          <a:p>
            <a:r>
              <a:rPr lang="ru-RU" sz="36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Пример-метафора: Рой роботов-разведчиков</a:t>
            </a:r>
            <a:br>
              <a:rPr lang="ru-RU" sz="36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36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9CF68B-E085-41B6-9CF9-AA3A7CF10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3551664"/>
          </a:xfrm>
        </p:spPr>
        <p:txBody>
          <a:bodyPr>
            <a:normAutofit fontScale="850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3 (Стратег):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Карта целей, распределение глобальных зон ответственности.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2 (Стая):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Группа роботов. Кооперативный поиск в зоне (гибридные алгоритмы).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1 (Робот):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Индивидуальное избегание препятствий, детальное сканирование.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Это 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холархия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Каждый робот автономен, стая самоорганизуется, все подчиняются общей цели.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263078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>
            <a:extLst>
              <a:ext uri="{FF2B5EF4-FFF2-40B4-BE49-F238E27FC236}">
                <a16:creationId xmlns:a16="http://schemas.microsoft.com/office/drawing/2014/main" id="{9972C6CF-9271-4F01-9076-E663E229C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772" y="1408386"/>
            <a:ext cx="8229600" cy="2592114"/>
          </a:xfrm>
        </p:spPr>
        <p:txBody>
          <a:bodyPr>
            <a:noAutofit/>
          </a:bodyPr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br>
              <a:rPr lang="ru-RU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09273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93AD5775-B8BB-4A9F-9FAD-3CC4834694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Объединение </a:t>
            </a:r>
            <a:r>
              <a:rPr lang="ru-RU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ИО</a:t>
            </a:r>
            <a:r>
              <a:rPr lang="ru-RU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и </a:t>
            </a:r>
            <a:r>
              <a:rPr lang="ru-RU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холархии</a:t>
            </a:r>
            <a:r>
              <a:rPr lang="ru-RU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даёт мощный концептуальный каркас для создания:</a:t>
            </a:r>
            <a:endParaRPr lang="ru-RU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32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Адаптивных вычислительных систем.</a:t>
            </a:r>
            <a:endParaRPr lang="ru-RU" sz="32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32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Устойчивых организационных структур в IT и управлении.</a:t>
            </a:r>
            <a:endParaRPr lang="ru-RU" sz="32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32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«Живых», эволюционирующих моделей для сложных проблем.</a:t>
            </a:r>
            <a:endParaRPr lang="ru-RU" sz="32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7B3BF18-546B-42E5-9999-B8A1105022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Синтез парадигм: Новая методология</a:t>
            </a:r>
            <a:endParaRPr lang="ru-RU" sz="3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05035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66C278-CA54-413A-8FFA-2D70F549D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</p:spPr>
        <p:txBody>
          <a:bodyPr>
            <a:noAutofit/>
          </a:bodyPr>
          <a:lstStyle/>
          <a:p>
            <a:r>
              <a:rPr lang="ru-RU" sz="4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Области применения</a:t>
            </a:r>
            <a:br>
              <a:rPr lang="ru-RU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E17AC0-A8AE-4C5E-8B9B-034FBC11F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62958"/>
            <a:ext cx="8229600" cy="3907221"/>
          </a:xfrm>
        </p:spPr>
        <p:txBody>
          <a:bodyPr/>
          <a:lstStyle/>
          <a:p>
            <a:pPr marL="342900" lvl="0" indent="-342900">
              <a:lnSpc>
                <a:spcPts val="21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Проектирование: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Самолётов, процессоров, городской среды.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Логистика и цепи поставок: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Многоуровневое адаптивное планирование.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ИИ и Машинное обучение: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AutoML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следующего поколения (нейро-эволюция архитектур).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Управление предприятиями: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Построение гибких, 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Agile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и 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Holacracy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-подобных структур.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4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Киберфизические</a:t>
            </a: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системы: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Умные сети, автономный транспорт.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65185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Выводы</a:t>
            </a:r>
            <a:br>
              <a:rPr lang="ru-RU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Иерархическая оптимизация является </a:t>
            </a:r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естественным обобщением</a:t>
            </a:r>
            <a:r>
              <a:rPr lang="ru-RU" sz="2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гибридной и мета-оптимизации.</a:t>
            </a:r>
            <a:endParaRPr lang="ru-RU" sz="28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8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Холархия</a:t>
            </a:r>
            <a:r>
              <a:rPr lang="ru-RU" sz="2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предлагает </a:t>
            </a:r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глубокую философскую и структурную аналогию</a:t>
            </a:r>
            <a:r>
              <a:rPr lang="ru-RU" sz="2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для построения сложных адаптивных систем.</a:t>
            </a:r>
            <a:endParaRPr lang="ru-RU" sz="28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Синтез этих концепций ведёт к созданию </a:t>
            </a:r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более гибких, робастных и интеллектуальных</a:t>
            </a:r>
            <a:r>
              <a:rPr lang="ru-RU" sz="2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систем как в вычислениях, так и в организации.</a:t>
            </a:r>
            <a:endParaRPr lang="ru-RU" sz="28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5BD03B-9FFA-4215-A084-2117F3E5D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Направления будущих исследований</a:t>
            </a:r>
            <a:b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99009F-F63B-41D1-8128-904468D8F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Формальные языки для описания </a:t>
            </a:r>
            <a:r>
              <a:rPr lang="ru-RU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холархических</a:t>
            </a:r>
            <a:r>
              <a:rPr lang="ru-RU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ИО-систем.</a:t>
            </a:r>
            <a:endParaRPr lang="ru-RU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Алгоритмы для автоматической реконфигурации уровней оптимизации.</a:t>
            </a:r>
            <a:endParaRPr lang="ru-RU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Квантовые и </a:t>
            </a:r>
            <a:r>
              <a:rPr lang="ru-RU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нейроморфные</a:t>
            </a:r>
            <a:r>
              <a:rPr lang="ru-RU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вычисления в рамках </a:t>
            </a:r>
            <a:r>
              <a:rPr lang="ru-RU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холархической</a:t>
            </a:r>
            <a:r>
              <a:rPr lang="ru-RU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парадигмы.</a:t>
            </a:r>
            <a:endParaRPr lang="ru-RU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Применение в социотехнических системах и экономике.</a:t>
            </a:r>
            <a:endParaRPr lang="ru-RU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55053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496</TotalTime>
  <Words>1479</Words>
  <Application>Microsoft Office PowerPoint</Application>
  <PresentationFormat>Экран (4:3)</PresentationFormat>
  <Paragraphs>153</Paragraphs>
  <Slides>34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34</vt:i4>
      </vt:variant>
    </vt:vector>
  </HeadingPairs>
  <TitlesOfParts>
    <vt:vector size="41" baseType="lpstr">
      <vt:lpstr>Arial</vt:lpstr>
      <vt:lpstr>Calibri</vt:lpstr>
      <vt:lpstr>Courier New</vt:lpstr>
      <vt:lpstr>quote-cjk-patch</vt:lpstr>
      <vt:lpstr>Symbol</vt:lpstr>
      <vt:lpstr>Times New Roman</vt:lpstr>
      <vt:lpstr>Office Theme</vt:lpstr>
      <vt:lpstr>Лекция № 11</vt:lpstr>
      <vt:lpstr>ПЛАН ЛЕКЦИИ</vt:lpstr>
      <vt:lpstr>Часть 1:Проблемы и основы </vt:lpstr>
      <vt:lpstr>Вызовы оптимизации сложных систем</vt:lpstr>
      <vt:lpstr>Эволюция подходов к оптимизации</vt:lpstr>
      <vt:lpstr>Что такое иерархическая оптимизация (ИО)?</vt:lpstr>
      <vt:lpstr>Часть 2: Иерархическая оптимизация: от частного к обобщению </vt:lpstr>
      <vt:lpstr>Гибридная оптимизация (ГО)  </vt:lpstr>
      <vt:lpstr>Мета-оптимизация (МО) или Выбор гиперпараметров</vt:lpstr>
      <vt:lpstr>Ограничения ГО и МО по отдельности</vt:lpstr>
      <vt:lpstr>Иерархическая оптимизация как обобщающая парадигма</vt:lpstr>
      <vt:lpstr>Архитектура обобщённой  ИО-системы</vt:lpstr>
      <vt:lpstr>Преимущества обобщённого подхода ИО</vt:lpstr>
      <vt:lpstr>Пример: ИО в проектировании сложного изделия  </vt:lpstr>
      <vt:lpstr>Часть III: Холархия — организационный принцип </vt:lpstr>
      <vt:lpstr>От иерархии к холархии  </vt:lpstr>
      <vt:lpstr> Определение холархии</vt:lpstr>
      <vt:lpstr>Ключевые принципы холархии  </vt:lpstr>
      <vt:lpstr>Примеры холархий в природе и обществе  </vt:lpstr>
      <vt:lpstr>Холархия vs. Иерархия и Гетерархия  </vt:lpstr>
      <vt:lpstr>Часть IV: Связь и взаимное обогащение </vt:lpstr>
      <vt:lpstr> Аналогия: ИО как вычислительная холархия</vt:lpstr>
      <vt:lpstr>Обратное влияние: Холархия как метафора для построения ИО-систем </vt:lpstr>
      <vt:lpstr>Сходства (Таблица)</vt:lpstr>
      <vt:lpstr>Ключевые отличия и дополнения</vt:lpstr>
      <vt:lpstr>Практическое следствие 1: Самооптимизирующиеся системы</vt:lpstr>
      <vt:lpstr>Практическое следствие 2: Робастность и отказоустойчивость</vt:lpstr>
      <vt:lpstr>Практическое следствие 3: Масштабирование и распределённые вычисления</vt:lpstr>
      <vt:lpstr>Пример-метафора: Рой роботов-разведчиков  </vt:lpstr>
      <vt:lpstr>Заключение </vt:lpstr>
      <vt:lpstr>Синтез парадигм: Новая методология</vt:lpstr>
      <vt:lpstr>Области применения </vt:lpstr>
      <vt:lpstr>Выводы </vt:lpstr>
      <vt:lpstr>Направления будущих исследований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Биоинспирированные алгоритмы</dc:title>
  <dc:subject/>
  <dc:creator>User</dc:creator>
  <cp:keywords/>
  <dc:description>generated using python-pptx</dc:description>
  <cp:lastModifiedBy>Yuriy Kaganov</cp:lastModifiedBy>
  <cp:revision>57</cp:revision>
  <dcterms:created xsi:type="dcterms:W3CDTF">2013-01-27T09:14:16Z</dcterms:created>
  <dcterms:modified xsi:type="dcterms:W3CDTF">2025-12-22T12:39:33Z</dcterms:modified>
  <cp:category/>
</cp:coreProperties>
</file>