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74" r:id="rId2"/>
    <p:sldId id="256" r:id="rId3"/>
    <p:sldId id="277" r:id="rId4"/>
    <p:sldId id="257" r:id="rId5"/>
    <p:sldId id="258" r:id="rId6"/>
    <p:sldId id="259" r:id="rId7"/>
    <p:sldId id="278" r:id="rId8"/>
    <p:sldId id="260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61" r:id="rId28"/>
    <p:sldId id="297" r:id="rId29"/>
    <p:sldId id="262" r:id="rId30"/>
    <p:sldId id="263" r:id="rId31"/>
    <p:sldId id="264" r:id="rId32"/>
    <p:sldId id="298" r:id="rId33"/>
    <p:sldId id="265" r:id="rId34"/>
    <p:sldId id="266" r:id="rId35"/>
    <p:sldId id="267" r:id="rId36"/>
    <p:sldId id="268" r:id="rId37"/>
    <p:sldId id="269" r:id="rId38"/>
    <p:sldId id="299" r:id="rId39"/>
    <p:sldId id="270" r:id="rId40"/>
    <p:sldId id="271" r:id="rId41"/>
    <p:sldId id="272" r:id="rId42"/>
    <p:sldId id="275" r:id="rId43"/>
    <p:sldId id="273" r:id="rId44"/>
    <p:sldId id="276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72" y="12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94DEB1-C7F3-456F-A5E6-24B62BE5506C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CAB50-960B-4FDE-AE1E-542B78D2AA3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7817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CAB50-960B-4FDE-AE1E-542B78D2AA3D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0361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699023"/>
            <a:ext cx="6858000" cy="1238113"/>
          </a:xfrm>
        </p:spPr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Лекция № 10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558778"/>
            <a:ext cx="6858000" cy="2132800"/>
          </a:xfrm>
        </p:spPr>
        <p:txBody>
          <a:bodyPr>
            <a:normAutofit/>
          </a:bodyPr>
          <a:lstStyle/>
          <a:p>
            <a:r>
              <a:rPr lang="ru-RU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Метаоптимизация</a:t>
            </a:r>
            <a:r>
              <a:rPr lang="ru-RU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популяционных алгоритмов для решения задач многокритериальной оптимизации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ru-RU" sz="2800" dirty="0"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ru-RU" sz="3300" b="1" dirty="0"/>
          </a:p>
        </p:txBody>
      </p:sp>
    </p:spTree>
    <p:extLst>
      <p:ext uri="{BB962C8B-B14F-4D97-AF65-F5344CB8AC3E}">
        <p14:creationId xmlns:p14="http://schemas.microsoft.com/office/powerpoint/2010/main" val="1793213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 ЛЕКЦИИ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199"/>
            <a:ext cx="8229600" cy="5126421"/>
          </a:xfrm>
        </p:spPr>
        <p:txBody>
          <a:bodyPr>
            <a:noAutofit/>
          </a:bodyPr>
          <a:lstStyle/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Часть 1: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Введение в проблему: Многокритериальная оптимизация (МКО)</a:t>
            </a: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Часть 2: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Инструменты: Популяционные алгоритмы (ПА)</a:t>
            </a: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Часть 3: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Проблема: Настройка ПА (От искусства к науке)</a:t>
            </a: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Часть 4: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Решение: 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Метаоптимизация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(Идеи и уровни)</a:t>
            </a: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Часть 5: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Практика: Подходы и примеры</a:t>
            </a: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Часть 6: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Заключение и вызовы будущего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352BE5-34F6-4DBA-A64D-2F6DEAF55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076" y="1061545"/>
            <a:ext cx="8229600" cy="3520965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Часть 1: Введение в проблему: Многокритериальная оптимизация</a:t>
            </a:r>
            <a:br>
              <a:rPr lang="ru-RU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527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606714"/>
          </a:xfrm>
        </p:spPr>
        <p:txBody>
          <a:bodyPr>
            <a:noAutofit/>
          </a:bodyPr>
          <a:lstStyle/>
          <a:p>
            <a:pPr>
              <a:lnSpc>
                <a:spcPts val="2100"/>
              </a:lnSpc>
              <a:spcBef>
                <a:spcPts val="1200"/>
              </a:spcBef>
              <a:spcAft>
                <a:spcPts val="600"/>
              </a:spcAft>
            </a:pPr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Мир компромиссов</a:t>
            </a:r>
            <a:b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Тезис:</a:t>
            </a:r>
            <a:r>
              <a:rPr lang="ru-RU" sz="36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Реальные задачи редко имеют одну цель.</a:t>
            </a:r>
            <a:br>
              <a:rPr lang="ru-RU" sz="36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055" y="220980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Примеры:</a:t>
            </a:r>
            <a:endParaRPr lang="ru-RU" sz="2800" b="1" dirty="0">
              <a:solidFill>
                <a:srgbClr val="0F1115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Проектирование:</a:t>
            </a:r>
            <a:r>
              <a:rPr lang="ru-RU" sz="32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Прочность </a:t>
            </a:r>
            <a:r>
              <a:rPr lang="ru-RU" sz="32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ru-RU" sz="32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Вес </a:t>
            </a:r>
            <a:r>
              <a:rPr lang="ru-RU" sz="32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ru-RU" sz="32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Стоимость.</a:t>
            </a:r>
          </a:p>
          <a:p>
            <a:pPr marL="0" indent="0">
              <a:buNone/>
            </a:pPr>
            <a:br>
              <a:rPr lang="ru-RU" sz="2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Финансы:</a:t>
            </a:r>
            <a:r>
              <a:rPr lang="ru-RU" sz="32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Доходность </a:t>
            </a:r>
            <a:r>
              <a:rPr lang="ru-RU" sz="32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ru-RU" sz="32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Риск.</a:t>
            </a:r>
            <a:br>
              <a:rPr lang="ru-RU" sz="2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ML:</a:t>
            </a:r>
            <a:r>
              <a:rPr lang="ru-RU" sz="32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Точность модели </a:t>
            </a:r>
            <a:r>
              <a:rPr lang="ru-RU" sz="32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ru-RU" sz="32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Сложность (скорость/память).</a:t>
            </a:r>
          </a:p>
          <a:p>
            <a:pPr marL="0" indent="0">
              <a:buNone/>
            </a:pPr>
            <a:endParaRPr lang="ru-RU" sz="32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Визуализация: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Коллаж из иконок, иллюстрирующих противоречивые цели.</a:t>
            </a:r>
            <a:endParaRPr lang="ru-RU" sz="18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Формальная постановка задачи МКО</a:t>
            </a:r>
            <a:b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734D8FB-AE0D-4DDB-B12D-4ADD7CA9397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57200" y="1600200"/>
            <a:ext cx="8229600" cy="2931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Формула: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Minimize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F(x) = [f_1(x), f_2(x), ..., 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f_k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(x)] при x ∈ Ω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Ключевые отличия от однокритериальной: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Нет единственного решения!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Визуализация: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Пространство решений и пространство критериев. Множество возможных точек F(x).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1738"/>
            <a:ext cx="8229600" cy="1208690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Парето-оптимальность — философия баланса</a:t>
            </a:r>
            <a:br>
              <a:rPr lang="ru-RU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62959"/>
            <a:ext cx="8229600" cy="4525963"/>
          </a:xfrm>
        </p:spPr>
        <p:txBody>
          <a:bodyPr>
            <a:normAutofit/>
          </a:bodyPr>
          <a:lstStyle/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Определение доминирования: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Решение A доминирует B, если оно не хуже по всем критериям и строго лучше хотя бы по одному.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Парето-оптимальное решение: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Решение, которое не 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доминируемо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никаким другим.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Парето-фронт (</a:t>
            </a:r>
            <a:r>
              <a:rPr lang="ru-RU" sz="24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Pareto</a:t>
            </a: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Front, PF):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Множество значений целевых функций всех Парето-оптимальных решений в пространстве критериев.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Визуализация: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2D-график с облаком точек. Явно показаны 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доминируемые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недоминируемые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(Парето-оптимальные) точки. Линия/кривая, соединяющая последние, — это PF.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>
            <a:extLst>
              <a:ext uri="{FF2B5EF4-FFF2-40B4-BE49-F238E27FC236}">
                <a16:creationId xmlns:a16="http://schemas.microsoft.com/office/drawing/2014/main" id="{7EE2D4B7-D163-445C-8F68-201BBE76A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63" y="2503159"/>
            <a:ext cx="8229600" cy="1143000"/>
          </a:xfrm>
        </p:spPr>
        <p:txBody>
          <a:bodyPr>
            <a:normAutofit/>
          </a:bodyPr>
          <a:lstStyle/>
          <a:p>
            <a: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Часть 2: Инструменты: Популяционные алгоритмы</a:t>
            </a:r>
            <a:endParaRPr lang="ru-RU" sz="3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803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Почему популяционные алгоритмы для МКО?</a:t>
            </a:r>
            <a:b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160986"/>
          </a:xfrm>
        </p:spPr>
        <p:txBody>
          <a:bodyPr>
            <a:normAutofit/>
          </a:bodyPr>
          <a:lstStyle/>
          <a:p>
            <a:pPr marL="342900" lvl="0" indent="-342900">
              <a:lnSpc>
                <a:spcPts val="21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Ключевые представители: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ts val="21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NSGA-II</a:t>
            </a:r>
            <a:r>
              <a:rPr lang="en-US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(Non-dominated Sorting Genetic Algorithm II) — 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эталон</a:t>
            </a:r>
            <a:r>
              <a:rPr lang="en-US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ts val="21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SPEA2</a:t>
            </a:r>
            <a:r>
              <a:rPr lang="en-US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(Strength Pareto Evolutionary Algorithm 2).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ts val="21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MOEA/D</a:t>
            </a:r>
            <a:r>
              <a:rPr lang="en-US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(Multi-Objective Evolutionary Algorithm Based on Decomposition).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ts val="21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PAES</a:t>
            </a:r>
            <a:r>
              <a:rPr lang="en-US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(Pareto Archived Evolution Strategy).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Визуализация: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Иконки/логотипы алгоритмов.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37F47C-E96E-4293-BEDC-94379D2BB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Алгоритм 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NSGA-II</a:t>
            </a:r>
            <a:br>
              <a:rPr lang="ru-RU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36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FCE729-241A-421C-93E8-AA3BCA787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NSGA-II (Алгоритм генетической сортировки по </a:t>
            </a:r>
            <a:r>
              <a:rPr lang="ru-RU" sz="18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недоминированию</a:t>
            </a: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версия II)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— это один из самых популярных и эффективных эволюционных алгоритмов для решения </a:t>
            </a: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многокритериальных (многоцелевых) задач оптимизации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Основная идея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однокритериальной задаче мы ищем одну "лучшую" точку. В многокритериальной — несколько целей часто конфликтуют между собой (например, минимизация стоимости и максимизация надежности системы). Вместо одного решения существует набор </a:t>
            </a: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компромиссных решений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известный как </a:t>
            </a: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Парето-оптимальный фронт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Цель NSGA-II — найти набор решений, максимально приближенный к истинному Парето-фронту, и максимально разнообразный по нему.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7559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45F91-C153-41EB-AE5A-84BB3EAAD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Пошаговое описание алгоритма NSGA-II</a:t>
            </a:r>
            <a:b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116175-0494-47B2-9BCF-BBB9B97D9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41" y="846138"/>
            <a:ext cx="9059917" cy="6011862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Пусть дана задача с M целями для минимизации.</a:t>
            </a:r>
            <a:endParaRPr lang="ru-RU" sz="13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13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Шаг 0: Инициализация</a:t>
            </a:r>
            <a:b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Генерируется начальная популяция P₀ размером N случайных особей (решений). Устанавливается номер поколения t = 0.</a:t>
            </a:r>
            <a:endParaRPr lang="ru-RU" sz="13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13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Далее алгоритм работает в цикле (поколениями):</a:t>
            </a:r>
            <a:endParaRPr lang="ru-RU" sz="13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13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Шаг 1: Создание потомства (</a:t>
            </a:r>
            <a:r>
              <a:rPr lang="ru-RU" sz="13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Reproduction</a:t>
            </a:r>
            <a:r>
              <a:rPr lang="ru-RU" sz="13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Из текущей популяции Pₜ с помощью операторов </a:t>
            </a:r>
            <a:r>
              <a:rPr lang="ru-RU" sz="13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селекции, кроссовера (скрещивания) и мутации</a:t>
            </a:r>
            <a: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создается популяция потомков Qₜ того же размера N.</a:t>
            </a:r>
            <a:endParaRPr lang="ru-RU" sz="13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3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Селекция:</a:t>
            </a:r>
            <a: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Для выбора родителей используется </a:t>
            </a:r>
            <a:r>
              <a:rPr lang="ru-RU" sz="13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бинарный турнирный отбор</a:t>
            </a:r>
            <a: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основанный на ранге и расстоянию переполнения (см. ниже).</a:t>
            </a:r>
            <a:endParaRPr lang="ru-RU" sz="13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13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Шаг 2: Объединение (</a:t>
            </a:r>
            <a:r>
              <a:rPr lang="ru-RU" sz="13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Combination</a:t>
            </a:r>
            <a:r>
              <a:rPr lang="ru-RU" sz="13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Текущая популяция и популяция потомков объединяются в одну общую популяцию Rₜ = Pₜ ∪ Qₜ размером 2N.</a:t>
            </a:r>
            <a:endParaRPr lang="ru-RU" sz="13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13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Шаг 3: Классификация по фронтам (Non-</a:t>
            </a:r>
            <a:r>
              <a:rPr lang="ru-RU" sz="13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dominated</a:t>
            </a:r>
            <a:r>
              <a:rPr lang="ru-RU" sz="13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3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Sorting</a:t>
            </a:r>
            <a:r>
              <a:rPr lang="ru-RU" sz="13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Это </a:t>
            </a:r>
            <a:r>
              <a:rPr lang="ru-RU" sz="13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ключевой этап</a:t>
            </a:r>
            <a: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Объединенная популяция Rₜ делится на иерархические </a:t>
            </a:r>
            <a:r>
              <a:rPr lang="ru-RU" sz="13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фронты </a:t>
            </a:r>
            <a:r>
              <a:rPr lang="ru-RU" sz="13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недоминирования</a:t>
            </a:r>
            <a:r>
              <a:rPr lang="ru-RU" sz="13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(Парето-фронты)</a:t>
            </a:r>
            <a: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3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3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Фронт 1 (F₁):</a:t>
            </a:r>
            <a: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Все решения, которые не </a:t>
            </a:r>
            <a:r>
              <a:rPr lang="ru-RU" sz="13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доминируются</a:t>
            </a:r>
            <a: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130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никем</a:t>
            </a:r>
            <a: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в Rₜ (наилучшие).</a:t>
            </a:r>
            <a:endParaRPr lang="ru-RU" sz="13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3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Фронт 2 (F₂):</a:t>
            </a:r>
            <a: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Все решения, которые </a:t>
            </a:r>
            <a:r>
              <a:rPr lang="ru-RU" sz="13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доминируются</a:t>
            </a:r>
            <a: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130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только</a:t>
            </a:r>
            <a: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решениями из F₁, но не </a:t>
            </a:r>
            <a:r>
              <a:rPr lang="ru-RU" sz="13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доминируются</a:t>
            </a:r>
            <a: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другими.</a:t>
            </a:r>
            <a:endParaRPr lang="ru-RU" sz="13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3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Фронт 3 (F₃):</a:t>
            </a:r>
            <a: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13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Доминируются</a:t>
            </a:r>
            <a: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решениями из F₁ и F₂, и так далее.</a:t>
            </a:r>
            <a:b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Этот процесс продолжается, пока все решения в Rₜ не будут распределены по фронтам.</a:t>
            </a:r>
            <a:endParaRPr lang="ru-RU" sz="13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1300" dirty="0"/>
          </a:p>
        </p:txBody>
      </p:sp>
    </p:spTree>
    <p:extLst>
      <p:ext uri="{BB962C8B-B14F-4D97-AF65-F5344CB8AC3E}">
        <p14:creationId xmlns:p14="http://schemas.microsoft.com/office/powerpoint/2010/main" val="1032536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06CF86-2C39-47F2-B994-EB214F857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Пошаговое описание алгоритма NSGA-II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24A183-780D-4DF8-9377-87B862A98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207" y="1409755"/>
            <a:ext cx="8723586" cy="5306355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13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Шаг 4: Заполнение новой популяции (</a:t>
            </a:r>
            <a:r>
              <a:rPr lang="ru-RU" sz="13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Forming</a:t>
            </a:r>
            <a:r>
              <a:rPr lang="ru-RU" sz="13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New </a:t>
            </a:r>
            <a:r>
              <a:rPr lang="ru-RU" sz="13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Population</a:t>
            </a:r>
            <a:r>
              <a:rPr lang="ru-RU" sz="13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Новая популяция Pₜ₊₁ формируется последовательным добавлением целых фронтов, начиная с наилучшего (F₁).</a:t>
            </a:r>
            <a:endParaRPr lang="ru-RU" sz="13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Добавляем все решения из F₁.</a:t>
            </a:r>
            <a:endParaRPr lang="ru-RU" sz="13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Затем добавляем все решения из F₂.</a:t>
            </a:r>
            <a:endParaRPr lang="ru-RU" sz="13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 так далее, пока добавление </a:t>
            </a:r>
            <a:r>
              <a:rPr lang="ru-RU" sz="130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целого</a:t>
            </a:r>
            <a: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следующего фронта Fₖ не превысит размер N. То есть |Pₜ₊₁| + |Fₖ| &gt; N.</a:t>
            </a:r>
            <a:endParaRPr lang="ru-RU" sz="13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13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Шаг 5: Ничья разрешение (</a:t>
            </a:r>
            <a:r>
              <a:rPr lang="ru-RU" sz="13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Crowding</a:t>
            </a:r>
            <a:r>
              <a:rPr lang="ru-RU" sz="13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3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Distance</a:t>
            </a:r>
            <a:r>
              <a:rPr lang="ru-RU" sz="13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ru-RU" sz="13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Sorting</a:t>
            </a:r>
            <a:r>
              <a:rPr lang="ru-RU" sz="13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Если после добавления фронта Fₖ₋₁ место в новой популяции Pₜ₊₁ осталось, но его меньше, чем размер фронта Fₖ, необходимо выбрать </a:t>
            </a:r>
            <a:r>
              <a:rPr lang="ru-RU" sz="13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наиболее разнообразные</a:t>
            </a:r>
            <a: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решения из Fₖ.</a:t>
            </a:r>
            <a:b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этого используется метрика </a:t>
            </a:r>
            <a:r>
              <a:rPr lang="ru-RU" sz="13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расстояние переполнения (</a:t>
            </a:r>
            <a:r>
              <a:rPr lang="ru-RU" sz="13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crowding</a:t>
            </a:r>
            <a:r>
              <a:rPr lang="ru-RU" sz="13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3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distance</a:t>
            </a:r>
            <a:r>
              <a:rPr lang="ru-RU" sz="13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3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3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Что это?</a:t>
            </a:r>
            <a: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Это оценка плотности решений вокруг данной особи. Большее расстояние означает, что соседних решений мало, и особь находится в менее "заполненной" области фронта.</a:t>
            </a:r>
            <a:endParaRPr lang="ru-RU" sz="13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3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Как считается?</a:t>
            </a:r>
            <a: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Для каждого фронта Fₖ:</a:t>
            </a:r>
            <a:endParaRPr lang="ru-RU" sz="13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каждой цели (m) решения на фронте сортируются по значению этой цели.</a:t>
            </a:r>
            <a:endParaRPr lang="ru-RU" sz="13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Крайним точкам (с минимальным и максимальным значением) присваивается бесконечное расстояние (чтобы их сохранить).</a:t>
            </a:r>
            <a:endParaRPr lang="ru-RU" sz="13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ru-RU" sz="13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внутренних точек расстояние вычисляется как нормализованная разность значений цели у соседних (в отсортированном порядке) справа и слева решений. Суммируется по всем целям.</a:t>
            </a:r>
            <a:endParaRPr lang="ru-RU" sz="13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3602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60297D-CC82-4E4E-BF7D-E0C4430AB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Пошаговое описание алгоритма NSGA-II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AAAD6D-1AB5-42C8-A008-7FF9B2013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Как выбираем?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Решения внутри фронта Fₖ сортируются по </a:t>
            </a: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убыванию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расстояния переполнения (предпочтение отдается более изолированным решениям). Затем из отсортированного списка Fₖ берется ровно столько лучших решений, сколько нужно, чтобы заполнить популяцию Pₜ₊₁ до размера N.</a:t>
            </a:r>
            <a:endParaRPr lang="ru-RU" sz="18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Шаг 6: Итерация</a:t>
            </a:r>
            <a:b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Увеличиваем t = t + 1. Новая популяция Pₜ₊₁ становится текущей. Возвращаемся к </a:t>
            </a: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Шагу 1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Цикл повторяется до выполнения условия остановки (например, достижение максимального числа поколений).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0213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525A18-F81B-4F27-B72E-B0362956A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Схематично один цикл (поколение) можно представить так:</a:t>
            </a:r>
            <a:b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B178ED-F916-47EB-8FF2-9CFC35850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Pₜ (Родители, размер N) + Qₜ (Потомки, размер N)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Rₜ = Pₜ ∪ Qₜ (Размер 2N)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Не-доминирующая Сортировка Rₜ → [F₁, F₂, F₃, ...]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Формирование Pₜ₊₁: Берем F₁, F₂, ... пока не заполним </a:t>
            </a:r>
            <a:endParaRPr lang="en-US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 мест.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Если места не хватает → Сортировка по 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Crowding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Distance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внутри последнего фронта.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Pₜ₊₁ (Новая популяция, размер N)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4859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EEBE95-FC69-4A4B-9442-28E5A7112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Ключевые преимущества NSGA-II:</a:t>
            </a:r>
            <a:br>
              <a:rPr lang="ru-RU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C21B1A-B105-40B6-B963-8FFF36F85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Элитизм</a:t>
            </a: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Сохранение лучших решений из поколения в поколение (через объединение Rₜ).</a:t>
            </a:r>
            <a:endParaRPr lang="ru-RU" sz="18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Явная стратегия разнообразия: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Использование </a:t>
            </a: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расстояния переполнения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позволяет равномерно распределять решения по Парето-фронту, избегая скученности.</a:t>
            </a:r>
            <a:endParaRPr lang="ru-RU" sz="18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Вычислительная эффективность: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Алгоритм имеет сложность O(M * N²), что лучше, чем у предшественника NSGA (O(M * N³)), благодаря эффективной процедуре </a:t>
            </a:r>
            <a:r>
              <a:rPr lang="ru-RU" sz="18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недоминирующей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сортировки.</a:t>
            </a:r>
            <a:endParaRPr lang="ru-RU" sz="18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Отсутствие параметра "ниша":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В отличие от многих других алгоритмов, NSGA-II не требует ручной настройки параметра размера ниши, используя вместо этого </a:t>
            </a:r>
            <a:r>
              <a:rPr lang="ru-RU" sz="18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crowding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distance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Итог: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NSGA-II — это мощный, сбалансированный алгоритм, который одновременно </a:t>
            </a: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сближается с истинным Парето-фронтом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(за счет </a:t>
            </a:r>
            <a:r>
              <a:rPr lang="ru-RU" sz="18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недоминирующей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сортировки и </a:t>
            </a:r>
            <a:r>
              <a:rPr lang="ru-RU" sz="18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элитизма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и </a:t>
            </a: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поддерживает разнообразие решений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на нем (за счет расстояния переполнения). Это делает его эталонным методом в области многокритериальной оптимизации.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3709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6D4CC6-E37D-4733-A7E7-75EAADB95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SPEA2</a:t>
            </a:r>
            <a:r>
              <a:rPr lang="en-US" sz="4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(Strength Pareto Evolutionary Algorithm 2)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8F968A-B003-4100-841D-34BBA0256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227" y="1696106"/>
            <a:ext cx="8912773" cy="4887255"/>
          </a:xfrm>
        </p:spPr>
        <p:txBody>
          <a:bodyPr>
            <a:normAutofit lnSpcReduction="10000"/>
          </a:bodyPr>
          <a:lstStyle/>
          <a:p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SPEA2 (Эволюционный алгоритм силы Парето, версия 2)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— это улучшенный эволюционный алгоритм для многокритериальной оптимизации, являющийся развитием оригинального алгоритма SPEA. Его основная цель — нахождение набора решений, максимально приближенного к истинному Парето-оптимальному фронту, с равномерным распределением по нему.</a:t>
            </a:r>
            <a:endParaRPr lang="en-US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Основная идея и отличие от NSGA-II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отличие от </a:t>
            </a: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NSGA-II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который работает с единой популяцией и классифицирует решения по фронтам, </a:t>
            </a: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SPEA2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использует </a:t>
            </a: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элитный архив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sz="1800" i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archive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 Этот архив хранит наилучшие </a:t>
            </a:r>
            <a:r>
              <a:rPr lang="ru-RU" sz="18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недоминируемые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решения, найденные на данный момент. Отбор, кроссовер и мутация производятся с участием этого архива, что обеспечивает более сильный и направленный </a:t>
            </a:r>
            <a:r>
              <a:rPr lang="ru-RU" sz="18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элитизм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2197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EC28F6-9B6B-41AD-A825-C470B8EFC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SPEA2</a:t>
            </a:r>
            <a:r>
              <a:rPr lang="en-US" sz="4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(Strength Pareto Evolutionary Algorithm 2)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6C02FF-5567-4D6F-AE14-FD9B3E345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2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Ключевые понятия и компоненты</a:t>
            </a:r>
            <a:endParaRPr lang="ru-RU" sz="2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Основная популяция (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Обычная популяция решений, как в классическом генетическом алгоритме.</a:t>
            </a:r>
            <a:endParaRPr lang="ru-RU" sz="18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Архив (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Внешний набор, хранящий лучшие (</a:t>
            </a:r>
            <a:r>
              <a:rPr lang="ru-RU" sz="18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недоминируемые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решения. Его размер фиксирован (обычно равен размеру основной популяции N). Это ключевой механизм </a:t>
            </a:r>
            <a:r>
              <a:rPr lang="ru-RU" sz="18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элитизма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Сила особи (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S(i)</a:t>
            </a: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ru-RU" sz="1800" b="1" i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Raw</a:t>
            </a:r>
            <a:r>
              <a:rPr lang="ru-RU" sz="1800" b="1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Fitness</a:t>
            </a: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Мера, показывающая, скольким особям из объединенной популяции (P ∪ A) данная особь i доминирует. </a:t>
            </a: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Чем меньше значение силы, тем лучше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(идеал = 0 для </a:t>
            </a:r>
            <a:r>
              <a:rPr lang="ru-RU" sz="18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недоминируемой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особи).</a:t>
            </a:r>
            <a:endParaRPr lang="ru-RU" sz="18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Плотность (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D(i)</a:t>
            </a: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ru-RU" sz="1800" b="1" i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Density</a:t>
            </a:r>
            <a:r>
              <a:rPr lang="ru-RU" sz="1800" b="1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i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Estimation</a:t>
            </a: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Дополнительная мера, оценивающая "скученность" окрестности особи. Используется для разрешения ничьих между особями с одинаковой силой. Рассчитывается через расстояние до k-го ближайшего соседа. </a:t>
            </a: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Чем меньше плотность, тем лучше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(больше свободного пространства вокруг).</a:t>
            </a:r>
            <a:endParaRPr lang="ru-RU" sz="18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9342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6E7495-4A6D-4E40-A7B4-35F6E7996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Схематично один цикл (поколение) можно представить так:</a:t>
            </a:r>
            <a:b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8017EC-11CB-43BC-BB75-8F13652D5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6018"/>
            <a:ext cx="9059917" cy="5691982"/>
          </a:xfrm>
        </p:spPr>
        <p:txBody>
          <a:bodyPr>
            <a:normAutofit fontScale="25000" lnSpcReduction="20000"/>
          </a:bodyPr>
          <a:lstStyle/>
          <a:p>
            <a:pPr latinLnBrk="1">
              <a:lnSpc>
                <a:spcPts val="165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4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Pₜ (N)          Aₜ (N_A)</a:t>
            </a:r>
            <a:endParaRPr lang="ru-RU" sz="4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4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↘            ↙</a:t>
            </a:r>
            <a:endParaRPr lang="en-US" sz="48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4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Объединенная популяция Pₜ ∪ Aₜ (N + N_A)</a:t>
            </a:r>
            <a:endParaRPr lang="ru-RU" sz="4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4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  <a:endParaRPr lang="ru-RU" sz="4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4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Расчет приспособленности F(i)=R(i)+D(i)</a:t>
            </a:r>
            <a:endParaRPr lang="ru-RU" sz="4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4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  <a:endParaRPr lang="ru-RU" sz="4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4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Отбор </a:t>
            </a:r>
            <a:r>
              <a:rPr lang="ru-RU" sz="48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недоминируемых</a:t>
            </a:r>
            <a:r>
              <a:rPr lang="ru-RU" sz="4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в архив-кандидат</a:t>
            </a:r>
            <a:endParaRPr lang="ru-RU" sz="4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4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  <a:endParaRPr lang="ru-RU" sz="4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4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Если |Архив| &gt; N_A → Прореживание (</a:t>
            </a:r>
            <a:r>
              <a:rPr lang="ru-RU" sz="48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Truncation</a:t>
            </a:r>
            <a:r>
              <a:rPr lang="ru-RU" sz="4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4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4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Если |Архив| &lt; N_A → </a:t>
            </a:r>
            <a:r>
              <a:rPr lang="ru-RU" sz="48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Дозаполнение</a:t>
            </a:r>
            <a:r>
              <a:rPr lang="ru-RU" sz="4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лучшими</a:t>
            </a:r>
            <a:endParaRPr lang="ru-RU" sz="4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4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  <a:endParaRPr lang="ru-RU" sz="4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4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Aₜ₊₁ (Обновленный архив, размер N_A)</a:t>
            </a:r>
            <a:endParaRPr lang="ru-RU" sz="4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4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  <a:endParaRPr lang="ru-RU" sz="4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4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Турнирный отбор из Aₜ₊₁ → Кроссовер/Мутация</a:t>
            </a:r>
            <a:endParaRPr lang="ru-RU" sz="4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4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  <a:endParaRPr lang="ru-RU" sz="4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latinLnBrk="1">
              <a:lnSpc>
                <a:spcPts val="165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4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Pₜ₊₁ (Новая основная популяция)</a:t>
            </a:r>
            <a:endParaRPr lang="ru-RU" sz="4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38417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2774EE-DF7C-4F7A-B279-BB638074F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Ключевые особенности и преимущества SPEA2 (по сравнению с первой версией и NSGA-II):</a:t>
            </a:r>
            <a:b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F6EB83-04AD-41F4-BDFF-ED3EC1E70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15910"/>
          </a:xfrm>
        </p:spPr>
        <p:txBody>
          <a:bodyPr>
            <a:normAutofit fontScale="70000" lnSpcReduction="20000"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Усовершенствованная мера приспособленности: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Используется комбинация </a:t>
            </a:r>
            <a:r>
              <a:rPr lang="ru-RU" sz="200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силы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(R) и </a:t>
            </a:r>
            <a:r>
              <a:rPr lang="ru-RU" sz="200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плотности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(D), что дает более точную градацию решений, особенно когда много </a:t>
            </a:r>
            <a:r>
              <a:rPr lang="ru-RU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недоминируемых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особей.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Точная оценка плотности: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Использование расстояния до k-го ближайшего соседа (вместо обратного расстояния до фиксированной n-й особи в SPEA1) более надежно и менее подвержено случайным выбросам.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Детерминированный метод прореживания архива: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Процедура удаления особей с минимальным расстоянием до соседа гарантирует сохранение граничных решений и поддержание разнообразия, даже когда архив переполнен </a:t>
            </a:r>
            <a:r>
              <a:rPr lang="ru-RU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недоминируемыми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решениями.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Постоянный и сильный </a:t>
            </a:r>
            <a:r>
              <a:rPr lang="ru-RU" sz="20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элитизм</a:t>
            </a: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Архив целенаправленно хранит и передает в следующие поколения только лучшие найденные решения.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Вычислительная сложность: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Основные операции (расчет расстояний для плотности и прореживания) имеют сложность O((N+N_A)² * M), что сравнимо с O(M*N²) в NSGA-II.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Итог: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SPEA2 — это мощный алгоритм, особенно эффективный в задачах, где важно поддерживать стабильный и разнообразный набор Парето-оптимальных решений. Его механизм внешнего архива и усовершенствованные метрики приспособленности делают его надежной альтернативой NSGA-II, часто показывающей лучшие результаты на задачах со сложными формами фронтов или большим числом целей.</a:t>
            </a: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76753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3D81DA-38FE-49FE-BEB3-41F6B5AA6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i="0" dirty="0">
                <a:solidFill>
                  <a:srgbClr val="61666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MOEA/D (Multi-Objective Evolutionary Algorithm Based on Decomposition)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77570C-00EC-4FB1-A306-4BBE879B7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sz="2400" b="1" i="0" dirty="0">
                <a:solidFill>
                  <a:srgbClr val="61666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MOEA/D (Multi-</a:t>
            </a:r>
            <a:r>
              <a:rPr lang="ru-RU" sz="2400" b="1" i="0" dirty="0" err="1">
                <a:solidFill>
                  <a:srgbClr val="61666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ru-RU" sz="2400" b="1" i="0" dirty="0">
                <a:solidFill>
                  <a:srgbClr val="61666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i="0" dirty="0" err="1">
                <a:solidFill>
                  <a:srgbClr val="61666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Evolutionary</a:t>
            </a:r>
            <a:r>
              <a:rPr lang="ru-RU" sz="2400" b="1" i="0" dirty="0">
                <a:solidFill>
                  <a:srgbClr val="61666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i="0" dirty="0" err="1">
                <a:solidFill>
                  <a:srgbClr val="61666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ru-RU" sz="2400" b="1" i="0" dirty="0">
                <a:solidFill>
                  <a:srgbClr val="61666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Based </a:t>
            </a:r>
            <a:r>
              <a:rPr lang="ru-RU" sz="2400" b="1" i="0" dirty="0" err="1">
                <a:solidFill>
                  <a:srgbClr val="61666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ru-RU" sz="2400" b="1" i="0" dirty="0">
                <a:solidFill>
                  <a:srgbClr val="61666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i="0" dirty="0" err="1">
                <a:solidFill>
                  <a:srgbClr val="61666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Decomposition</a:t>
            </a:r>
            <a:r>
              <a:rPr lang="ru-RU" sz="2400" b="1" i="0" dirty="0">
                <a:solidFill>
                  <a:srgbClr val="61666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400" b="0" i="0" dirty="0">
                <a:solidFill>
                  <a:srgbClr val="61666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это многокритериальный эволюционный алгоритм, основанный на декомпозиции. В отличие от NSGA-II и SPEA2, которые используют понятие доминирования по Парето для сравнения решений, MOEA/D разбивает многокритериальную задачу на множество скалярных подзадач (обычно с помощью метода взвешенных сумм, метода Чебышёва или других методов агрегирования). Затем эти подзадачи решаются одновременно в рамках одной популяции, где каждое решение ассоциировано с одной подзадачей.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6191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2EDDE0-70A8-48C9-9BAF-BF3C72965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600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PAES (Pareto Archived Evolution Strategy)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5C9DCD-7BDF-4CAB-85E1-D904581FC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15910"/>
          </a:xfrm>
        </p:spPr>
        <p:txBody>
          <a:bodyPr>
            <a:normAutofit fontScale="85000" lnSpcReduction="10000"/>
          </a:bodyPr>
          <a:lstStyle/>
          <a:p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PAES (Эволюционная стратегия с архивом Парето)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— это один из первых и наиболее влиятельных алгоритмов многокритериальной оптимизации, который представил несколько фундаментальных концепций, ставших стандартом в этой области. Его ключевые особенности — </a:t>
            </a: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использование внешнего архива для хранения </a:t>
            </a:r>
            <a:r>
              <a:rPr lang="ru-RU" sz="18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недоминируемых</a:t>
            </a: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решений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и </a:t>
            </a: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инновационный механизм поддержания разнообразия</a:t>
            </a:r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на основе адаптивной решетки.</a:t>
            </a: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19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PAES — это </a:t>
            </a:r>
            <a:r>
              <a:rPr lang="ru-RU" sz="19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(1+1)-эволюционная стратегия</a:t>
            </a:r>
            <a:r>
              <a:rPr lang="ru-RU" sz="19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для многокритериальной оптимизации:</a:t>
            </a:r>
            <a:endParaRPr lang="ru-RU" sz="19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9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"1+1"</a:t>
            </a:r>
            <a:r>
              <a:rPr lang="ru-RU" sz="19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Алгоритм работает с </a:t>
            </a:r>
            <a:r>
              <a:rPr lang="ru-RU" sz="19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одной особью-родителем</a:t>
            </a:r>
            <a:r>
              <a:rPr lang="ru-RU" sz="19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и создает </a:t>
            </a:r>
            <a:r>
              <a:rPr lang="ru-RU" sz="19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одного потомка</a:t>
            </a:r>
            <a:r>
              <a:rPr lang="ru-RU" sz="19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за итерацию.</a:t>
            </a:r>
            <a:endParaRPr lang="ru-RU" sz="19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9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"Эволюционная стратегия"</a:t>
            </a:r>
            <a:r>
              <a:rPr lang="ru-RU" sz="19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Использует механизмы, характерные для классических эволюционных стратегий (мутация с адаптацией параметров).</a:t>
            </a:r>
            <a:endParaRPr lang="ru-RU" sz="19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9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"С архивом Парето"</a:t>
            </a:r>
            <a:r>
              <a:rPr lang="ru-RU" sz="19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Все найденные </a:t>
            </a:r>
            <a:r>
              <a:rPr lang="ru-RU" sz="19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недоминируемые</a:t>
            </a:r>
            <a:r>
              <a:rPr lang="ru-RU" sz="19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решения сохраняются во внешнем неизменяемом архиве.</a:t>
            </a:r>
            <a:endParaRPr lang="ru-RU" sz="19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19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PAES решает две ключевые проблемы:</a:t>
            </a:r>
            <a:endParaRPr lang="ru-RU" sz="19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9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Как сравнивать родителя и потомка в многокритериальной среде.</a:t>
            </a:r>
            <a:endParaRPr lang="ru-RU" sz="19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9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Как поддерживать разнообразие решений в архиве ограниченного размера</a:t>
            </a:r>
            <a:r>
              <a:rPr lang="ru-RU" sz="19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9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24539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7806D6-5F4A-459A-85B6-299959674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Ключевые концепции</a:t>
            </a:r>
            <a:br>
              <a:rPr lang="ru-RU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794782-CDB4-4C00-89E3-9D0CBE311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Внешний архив (</a:t>
            </a:r>
            <a:r>
              <a:rPr lang="ru-RU" sz="20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Pareto</a:t>
            </a: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Archive</a:t>
            </a: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Хранит все найденные </a:t>
            </a:r>
            <a:r>
              <a:rPr lang="ru-RU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недоминируемые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решения. Основная цель — сохранять Парето-оптимальные решения по мере их обнаружения.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Адаптивная решетка (</a:t>
            </a:r>
            <a:r>
              <a:rPr lang="ru-RU" sz="20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Adaptive</a:t>
            </a: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Grid):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Механизм для поддержания разнообразия и ограничения размера архива. Пространство целевых функций разбивается на гиперкубы (ячейки). Решения, попадающие в одну ячейку, считаются "похожими".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Плотность ячейки (</a:t>
            </a:r>
            <a:r>
              <a:rPr lang="ru-RU" sz="20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Crowding</a:t>
            </a: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Degree</a:t>
            </a: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Количество решений в конкретной ячейке решетки. Используется для принятия решений при переполнении архива.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6339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73109E-8636-4405-A7CD-64F704E21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Ключевые инновации и преимущества PAES:</a:t>
            </a:r>
            <a:b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3B65C0-CC83-42EE-B857-0F5E78FA2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Простота и минимализм: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(1+1)-подход делает алгоритм очень простым для реализации и анализа.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Первый алгоритм с адаптивной решеткой: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Ввел идею пространственного разделения для поддержания разнообразия, которая повлияла на развитие области.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Явное разделение текущей особи и архива: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Архив хранит историю лучших решений, а поиск ведется одной текущей особью.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Эффективность для быстрого поиска: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Требует мало вычислений на итерацию, поэтому может быстро найти хорошие приближения.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81561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BD2A94-75E5-4E11-801E-40934AFF9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Недостатки и ограничения:</a:t>
            </a:r>
            <a:br>
              <a:rPr lang="ru-RU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8BA595-FC82-4ED2-A04C-9B9D50F07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Низкая скорость сходимости: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(1+1)-стратегия не использует преимущества популяционных методов (рекомбинацию, параллельный поиск).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Чувствительность к параметру решетки 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Качество распределения решений сильно зависит от выбора этого параметра.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Проблемы с масштабированием: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При увеличении числа целей (&gt;3) эффективность решеточного подхода снижается ("проклятие размерности").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Отсутствие рекомбинации: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Не использует скрещивание, что ограничивает исследовательские возможности.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77307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C2A1CA-C41E-4B1E-8F15-A64ECD270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Вариации PAES:</a:t>
            </a:r>
            <a:br>
              <a:rPr lang="ru-RU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723544-83A2-48DF-BECD-637F3E7CC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16" y="1137745"/>
            <a:ext cx="8692055" cy="5231524"/>
          </a:xfrm>
        </p:spPr>
        <p:txBody>
          <a:bodyPr>
            <a:normAutofit fontScale="92500" lnSpcReduction="10000"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9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(1+λ)-PAES</a:t>
            </a:r>
            <a:r>
              <a:rPr lang="ru-RU" sz="19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Использует λ потомков на итерацию, выбирая лучшего.</a:t>
            </a:r>
            <a:endParaRPr lang="ru-RU" sz="19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9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9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μ+λ</a:t>
            </a:r>
            <a:r>
              <a:rPr lang="ru-RU" sz="19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)-PAES</a:t>
            </a:r>
            <a:r>
              <a:rPr lang="ru-RU" sz="19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Полноценная популяционная версия.</a:t>
            </a:r>
            <a:endParaRPr lang="ru-RU" sz="19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9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PHC (</a:t>
            </a:r>
            <a:r>
              <a:rPr lang="ru-RU" sz="19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Pareto</a:t>
            </a:r>
            <a:r>
              <a:rPr lang="ru-RU" sz="19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Hill </a:t>
            </a:r>
            <a:r>
              <a:rPr lang="ru-RU" sz="19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Climber</a:t>
            </a:r>
            <a:r>
              <a:rPr lang="ru-RU" sz="19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19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Упрощенная версия без адаптивной решетки.</a:t>
            </a:r>
            <a:endParaRPr lang="ru-RU" sz="19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19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Историческое значение и влияние:</a:t>
            </a:r>
            <a:r>
              <a:rPr lang="ru-RU" sz="19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PAES, предложенный Джошуа </a:t>
            </a:r>
            <a:r>
              <a:rPr lang="ru-RU" sz="19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Ноулом</a:t>
            </a:r>
            <a:r>
              <a:rPr lang="ru-RU" sz="19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19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Joshua</a:t>
            </a:r>
            <a:r>
              <a:rPr lang="ru-RU" sz="19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Knowles</a:t>
            </a:r>
            <a:r>
              <a:rPr lang="ru-RU" sz="19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и Дэвидом Корном (David </a:t>
            </a:r>
            <a:r>
              <a:rPr lang="ru-RU" sz="19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Corne</a:t>
            </a:r>
            <a:r>
              <a:rPr lang="ru-RU" sz="19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в 1999 году, стал </a:t>
            </a:r>
            <a:r>
              <a:rPr lang="ru-RU" sz="19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первым алгоритмом, использующим внешний архив и механизм ниши на основе решетки</a:t>
            </a:r>
            <a:r>
              <a:rPr lang="ru-RU" sz="19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Его идеи легли в основу более поздних и совершенных алгоритмов, таких как </a:t>
            </a:r>
            <a:r>
              <a:rPr lang="ru-RU" sz="19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SPEA2</a:t>
            </a:r>
            <a:r>
              <a:rPr lang="ru-RU" sz="19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(где решетка была заменена на k-го ближайшего соседа) и </a:t>
            </a:r>
            <a:r>
              <a:rPr lang="ru-RU" sz="19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PESA</a:t>
            </a:r>
            <a:r>
              <a:rPr lang="ru-RU" sz="19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ru-RU" sz="19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Population-based</a:t>
            </a:r>
            <a:r>
              <a:rPr lang="ru-RU" sz="19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ESA).</a:t>
            </a:r>
            <a:endParaRPr lang="ru-RU" sz="19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</a:pPr>
            <a:r>
              <a:rPr lang="ru-RU" sz="19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Итог:</a:t>
            </a:r>
            <a:r>
              <a:rPr lang="ru-RU" sz="19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PAES — это элегантный минималистичный алгоритм, который ввел в многокритериальную оптимизацию несколько фундаментальных концепций. Хотя современные алгоритмы (NSGA-II, SPEA2, MOEA/D) обычно превосходят его по эффективности, PAES остается важной вехой в истории развития области и полезным инструментом для простых задач или когда требуется быстрый прототип.</a:t>
            </a:r>
            <a:endParaRPr lang="ru-RU" sz="19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9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4645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>
            <a:extLst>
              <a:ext uri="{FF2B5EF4-FFF2-40B4-BE49-F238E27FC236}">
                <a16:creationId xmlns:a16="http://schemas.microsoft.com/office/drawing/2014/main" id="{9972C6CF-9271-4F01-9076-E663E229C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772" y="1408386"/>
            <a:ext cx="8229600" cy="2592114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Часть 3: Проблема: Настройка ПА (От искусства к науке)</a:t>
            </a:r>
            <a:br>
              <a:rPr lang="ru-RU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9273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66C278-CA54-413A-8FFA-2D70F549D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</p:spPr>
        <p:txBody>
          <a:bodyPr>
            <a:noAutofit/>
          </a:bodyPr>
          <a:lstStyle/>
          <a:p>
            <a:r>
              <a:rPr lang="ru-RU" sz="36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Гиперпараметры</a:t>
            </a:r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ПА — что можно настраивать?</a:t>
            </a:r>
            <a:br>
              <a:rPr lang="ru-RU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E17AC0-A8AE-4C5E-8B9B-034FBC11F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62958"/>
            <a:ext cx="8229600" cy="3907221"/>
          </a:xfrm>
        </p:spPr>
        <p:txBody>
          <a:bodyPr/>
          <a:lstStyle/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Популяционные: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Размер популяции (N), число поколений.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Операторы поиска: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ts val="21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ГА: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Вероятности кроссовера (</a:t>
            </a:r>
            <a:r>
              <a:rPr lang="ru-RU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p_c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и мутации (</a:t>
            </a:r>
            <a:r>
              <a:rPr lang="ru-RU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p_m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их типы (SBX, PM).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ts val="21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DE: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Весовой коэффициент (F) и вероятность кроссовера (CR).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ts val="21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PSO: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Коэффициенты инерции, когнитивный и социальный.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Визуализация: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Таблица с группами параметров и их типичными диапазонами.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65185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Сложность ручной настройки</a:t>
            </a:r>
            <a:br>
              <a:rPr lang="ru-RU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Проблема 1: Нет универсальных настроек.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Оптимальные параметры зависят от </a:t>
            </a:r>
            <a:r>
              <a:rPr lang="ru-RU" sz="240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(размерность, форма PF, тип функций).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Проблема 2: Взаимовлияние.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Параметры сильно коррелированы.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Проблема 3: Высокая стоимость.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Каждый прогон алгоритма — дорогое вычисление F(x) тысячи раз.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Вывод: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Ручная настройка методом проб и ошибок неэффективна и ненаучна.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15887C-770C-4D60-BF49-9ECDC9FA0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6" y="1019503"/>
            <a:ext cx="8229600" cy="286806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Часть 4: Решение: </a:t>
            </a:r>
            <a:r>
              <a:rPr lang="ru-RU" sz="3600" b="1" dirty="0" err="1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Метаоптимизация</a:t>
            </a:r>
            <a:r>
              <a:rPr lang="ru-RU" sz="36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(Идеи и уровни)</a:t>
            </a:r>
            <a:br>
              <a:rPr lang="ru-RU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7930710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Что такое </a:t>
            </a:r>
            <a:r>
              <a:rPr lang="ru-RU" sz="36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метаоптимизация</a:t>
            </a:r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ru-RU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EF53602-DE39-4BDF-BBB6-CCB683C7D9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1" y="1972969"/>
            <a:ext cx="8566726" cy="37804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03136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Идея: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Использовать внешний </a:t>
            </a:r>
            <a:r>
              <a:rPr lang="ru-RU" sz="200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мета-алгоритм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для автоматического поиска наилучших параметров </a:t>
            </a:r>
            <a:r>
              <a:rPr lang="ru-RU" sz="200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базового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алгоритма.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Формально: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θ* = </a:t>
            </a:r>
            <a:r>
              <a:rPr lang="ru-RU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argmin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J(θ), где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ts val="21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θ — вектор параметров настраиваемого ПА (например, [N, </a:t>
            </a:r>
            <a:r>
              <a:rPr lang="ru-RU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p_c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p_m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ts val="21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J(θ) — </a:t>
            </a:r>
            <a:r>
              <a:rPr lang="ru-RU" sz="200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мета-функция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(критерий эффективности ПА с параметрами θ на целевой задаче).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Визуализация: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Двухуровневая схема: Мета-алгоритм → (настройка θ) → Базовый ПА → (оценка на задаче) → Значение J(θ).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17528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Ключевой вопрос: Как оценивать эффективность? (J(θ))</a:t>
            </a:r>
            <a:b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52448"/>
            <a:ext cx="8229600" cy="4525963"/>
          </a:xfrm>
        </p:spPr>
        <p:txBody>
          <a:bodyPr>
            <a:normAutofit/>
          </a:bodyPr>
          <a:lstStyle/>
          <a:p>
            <a:pPr marL="342900" lvl="0" indent="-342900">
              <a:lnSpc>
                <a:spcPts val="21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Метрики качества Парето-приближения: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ts val="21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4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Hypervolume</a:t>
            </a: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(HV, S-метрика):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Объем пространства, 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доминируемый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PF. </a:t>
            </a: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Золотой стандарт.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Чем больше, тем лучше.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ts val="21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4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Inverted</a:t>
            </a: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Generational</a:t>
            </a: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Distance</a:t>
            </a: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(IGD):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Среднее расстояние от точек истинного PF до найденного. Чем меньше, тем лучше.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Выбор мета-функции: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J(θ) = -HV(A(θ)) или J(θ) = IGD(A(θ)), где A(θ) — результат работы алгоритма с настройками θ.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Визуализация: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Графическое объяснение 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Hypervolume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для 2D случая.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2607" y="493986"/>
            <a:ext cx="8229600" cy="1566041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Уровни </a:t>
            </a:r>
            <a:r>
              <a:rPr lang="ru-RU" sz="36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метаоптимизации</a:t>
            </a:r>
            <a:r>
              <a:rPr lang="en-US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(Offline, Online, Meta-control)</a:t>
            </a:r>
            <a:br>
              <a:rPr lang="ru-RU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60028"/>
            <a:ext cx="8229600" cy="3710152"/>
          </a:xfrm>
        </p:spPr>
        <p:txBody>
          <a:bodyPr>
            <a:normAutofit/>
          </a:bodyPr>
          <a:lstStyle/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Offline</a:t>
            </a: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(обучающая выборка):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Настройка θ раз и навсегда на наборе </a:t>
            </a:r>
            <a:r>
              <a:rPr lang="ru-RU" sz="240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тренировочных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задач. Цель — хорошая </a:t>
            </a: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обобщающая способность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Online (в процессе решения):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Настройка θ динамически, в ходе решения </a:t>
            </a:r>
            <a:r>
              <a:rPr lang="ru-RU" sz="240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одной конкретной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задачи.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Meta-control</a:t>
            </a: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Настройка не параметров, а </a:t>
            </a:r>
            <a:r>
              <a:rPr lang="ru-RU" sz="240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правил их адаптации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(например, стратегии изменения 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p_m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от поколения к поколению).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Визуализация: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Сравнительная схема трех подходов.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BCE048-D917-4611-942C-6F01F26F2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86913"/>
            <a:ext cx="8229600" cy="1143000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Часть 5: Практика: Подходы и примеры</a:t>
            </a:r>
            <a:b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51748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18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Выбор мета-алгоритма</a:t>
            </a:r>
            <a:br>
              <a:rPr lang="ru-RU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7B7DC82-990D-45A6-B459-B3B7251DF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33041"/>
          </a:xfrm>
        </p:spPr>
        <p:txBody>
          <a:bodyPr/>
          <a:lstStyle/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Критерии: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Эффективность при малом числе вызовов дорогой J(θ), работа с непрерывными/дискретными θ.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Кандидаты: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ts val="21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Байесовская оптимизация (BO):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Идеально для дорогих </a:t>
            </a:r>
            <a:r>
              <a:rPr lang="ru-RU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black-box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функций. Использует суррогатную модель (GP).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ts val="21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Другие ПА (меметика):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Например, настройка DE с помощью GA.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ts val="21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Методы основанные на градиентах: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Если J(θ) дифференцируема (редко).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Визуализация: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Логотипы/названия методов.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Пример 1: </a:t>
            </a:r>
            <a:r>
              <a:rPr lang="ru-RU" sz="32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Offline</a:t>
            </a: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-настройка с помощью Байесовской оптимизации</a:t>
            </a:r>
            <a:b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22CCFB-0C92-4B4B-B392-829964C0F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Найти θ для NSGA-II, </a:t>
            </a:r>
            <a:r>
              <a:rPr lang="ru-RU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максимизирующий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средний </a:t>
            </a:r>
            <a:r>
              <a:rPr lang="ru-RU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Hypervolume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на наборе тестовых функций (ZDT, DTLZ).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Шаги: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ts val="21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Определить пространство параметров θ (диапазоны для </a:t>
            </a:r>
            <a:r>
              <a:rPr lang="ru-RU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p_c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ru-RU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p_m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ru-RU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η_c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ru-RU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η_m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ts val="21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Создать суррогатную модель J(θ) по результатам нескольких прогонов.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ts val="21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Использовать функцию приобретения (EI, UCB) для выбора новой перспективной точки θ.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ts val="21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Повторять, пока не исчерпан бюджет мета-оптимизации.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Визуализация: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График сходимости BO, сравнение PF до и после настройки.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Пример 2: Online-адаптация (Self-</a:t>
            </a:r>
            <a:r>
              <a:rPr lang="ru-RU" sz="32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Adaptive</a:t>
            </a: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для МКО)</a:t>
            </a:r>
            <a:b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95348"/>
            <a:ext cx="8229600" cy="3476297"/>
          </a:xfrm>
        </p:spPr>
        <p:txBody>
          <a:bodyPr>
            <a:normAutofit/>
          </a:bodyPr>
          <a:lstStyle/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Идея: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Включить параметры F и CR в хромосому и эволюционировать их вместе с переменными задачи.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Как: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Каждая особь имеет свои 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F_i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и 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CR_i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Успешные особи передают свои параметры потомкам.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Преимущество: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Автоматическая подстройка к различным этапам поиска (исследование/использование).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Визуализация: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Схема модифицированной хромосомы и процесса наследования параметров.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Пример 3: Настройка операторов (</a:t>
            </a:r>
            <a:r>
              <a:rPr lang="ru-RU" sz="32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Adaptive</a:t>
            </a: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</a:t>
            </a: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Selection</a:t>
            </a: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20311"/>
            <a:ext cx="8229600" cy="3812628"/>
          </a:xfrm>
        </p:spPr>
        <p:txBody>
          <a:bodyPr>
            <a:normAutofit/>
          </a:bodyPr>
          <a:lstStyle/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Проблема: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Какой оператор мутации лучше применить </a:t>
            </a:r>
            <a:r>
              <a:rPr lang="ru-RU" sz="240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сейчас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Решение (Credit </a:t>
            </a:r>
            <a:r>
              <a:rPr lang="ru-RU" sz="24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Assignment</a:t>
            </a: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Давать "кредит" оператору, если он создал хорошее потомство.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Выбор (</a:t>
            </a:r>
            <a:r>
              <a:rPr lang="ru-RU" sz="24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Probability</a:t>
            </a: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Matching</a:t>
            </a: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Выбирать оператор с вероятностью, пропорциональной его накопленному кредиту.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Визуализация: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Схема адаптивного выбора из пула операторов (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Polynomial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Mutation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Uniform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Mutation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 др.).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Пример 4: </a:t>
            </a:r>
            <a:r>
              <a:rPr lang="ru-RU" sz="36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Метаоптимизация</a:t>
            </a:r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в промышленности (Кейс)</a:t>
            </a:r>
            <a:br>
              <a:rPr lang="ru-RU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42796"/>
            <a:ext cx="8229600" cy="3371193"/>
          </a:xfrm>
        </p:spPr>
        <p:txBody>
          <a:bodyPr>
            <a:normAutofit/>
          </a:bodyPr>
          <a:lstStyle/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Задача: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Оптимизация аэродинамического профиля.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Критерии: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f1 — подъемная сила (максимизировать), f2 — лобовое сопротивление (минимизировать).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Проблема: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Один вызов симулятора (CFD) — минуты/часы.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Решение: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Offline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-настройка алгоритма MOEA/D на быстрых аналитических моделях (суррогатах), затем применение с найденными параметрами к дорогой симуляции.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3F8F89-6BDB-4B15-AB0D-C6BBFA1C1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607" y="2112579"/>
            <a:ext cx="8229600" cy="2247955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Часть 6: Заключение и вызовы будущего</a:t>
            </a:r>
            <a:b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2146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Преимущества </a:t>
            </a:r>
            <a:r>
              <a:rPr lang="ru-RU" sz="32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метаоптимизированных</a:t>
            </a: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алгоритмов</a:t>
            </a:r>
            <a:b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87870"/>
            <a:ext cx="8229600" cy="2356786"/>
          </a:xfrm>
        </p:spPr>
        <p:txBody>
          <a:bodyPr>
            <a:normAutofit/>
          </a:bodyPr>
          <a:lstStyle/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Автоматизация: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Уход от ручных "костылей".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Робастность: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Лучшая работа на широком классе задач.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Эффективность: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Достижение лучшего качества PF при том же вычислительном бюджете.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Воспроизводимость: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Научный подход к настройке.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659265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Текущие проблемы и вызовы </a:t>
            </a:r>
            <a:b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(Open </a:t>
            </a:r>
            <a:r>
              <a:rPr lang="ru-RU" sz="32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ru-RU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F5A15E-FEFF-41A2-869B-8957A0B7FBC5}"/>
              </a:ext>
            </a:extLst>
          </p:cNvPr>
          <p:cNvSpPr txBox="1"/>
          <p:nvPr/>
        </p:nvSpPr>
        <p:spPr>
          <a:xfrm>
            <a:off x="457200" y="2286379"/>
            <a:ext cx="8229600" cy="2559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ts val="21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"Мета-зависимость":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Настройка самого мета-алгоритма (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гипер-гиперпараметры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Перенос настроек (Transfer Learning):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Как настройки с одних задач помогут на новых?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Высокая вычислительная стоимость: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Метаоптимизация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это оптимизация в квадрате.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Интерпретируемость: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Почему данный набор θ оказался лучшим?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Тренды и будущее</a:t>
            </a:r>
            <a:br>
              <a:rPr lang="ru-RU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7230C5-20A1-4C97-8F03-BE024FDABC74}"/>
              </a:ext>
            </a:extLst>
          </p:cNvPr>
          <p:cNvSpPr txBox="1"/>
          <p:nvPr/>
        </p:nvSpPr>
        <p:spPr>
          <a:xfrm>
            <a:off x="457200" y="2216200"/>
            <a:ext cx="8434552" cy="242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Метаоптимизация</a:t>
            </a: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ИИ: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Использование глубокого обучения для предсказания хороших параметров по свойствам задачи.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Алгоритм-конфигураторы общего назначения: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(например, </a:t>
            </a:r>
            <a:r>
              <a:rPr lang="ru-RU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irace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SMAC).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Фокус на </a:t>
            </a:r>
            <a:r>
              <a:rPr lang="ru-RU" sz="20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many-objective</a:t>
            </a: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оптимизацию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(более 3 критериев).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Облачные и распределенные </a:t>
            </a:r>
            <a:r>
              <a:rPr lang="ru-RU" sz="20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метаоптимизационные</a:t>
            </a:r>
            <a:r>
              <a:rPr lang="ru-RU" sz="20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фреймворки.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6A7487-6948-48C4-832A-8F75C7E81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85F9F0-9977-4ABF-AF97-4D3BEC382C7C}"/>
              </a:ext>
            </a:extLst>
          </p:cNvPr>
          <p:cNvSpPr txBox="1"/>
          <p:nvPr/>
        </p:nvSpPr>
        <p:spPr>
          <a:xfrm>
            <a:off x="105103" y="1152986"/>
            <a:ext cx="8933793" cy="2756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МКО — адекватная модель реальных задач.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ПА — мощный инструмент для МКО, но их эффективность критически зависит от параметров.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Метаоптимизация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— системный ответ на проблему настройки.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Это активно развивающаяся область на стыке оптимизации и машинного обучения.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0793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Гибридные алгоритмы и современные тенденции</a:t>
            </a:r>
            <a:b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69BFCB-B3EE-4CA2-9CAE-87CC64D9D8BA}"/>
              </a:ext>
            </a:extLst>
          </p:cNvPr>
          <p:cNvSpPr txBox="1"/>
          <p:nvPr/>
        </p:nvSpPr>
        <p:spPr>
          <a:xfrm>
            <a:off x="278524" y="1250576"/>
            <a:ext cx="8586952" cy="4511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Проблема: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У каждого алгоритма есть свои недостатки.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Решение: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Создание гибридных методов.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ABC + локальный поиск: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Для ускорения финальной сходимости.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BFO + PSO/FA: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Для ускорения процесса хемотаксиса.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 + дифференциальная эволюция: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Для улучшения механизма исследования.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Тренды: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Параллельные реализации (GPU), применение в машинном обучении (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selection</a:t>
            </a:r>
            <a:r>
              <a:rPr lang="ru-RU" sz="2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оптимизация глубоких нейросетей.</a:t>
            </a:r>
            <a:endParaRPr lang="ru-RU" sz="24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586F34-B1A8-4A9C-9017-A4A3C3EF6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Список литературы и источники</a:t>
            </a:r>
            <a:b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60E033-45F2-4930-B8DA-EB01EA1B5705}"/>
              </a:ext>
            </a:extLst>
          </p:cNvPr>
          <p:cNvSpPr txBox="1"/>
          <p:nvPr/>
        </p:nvSpPr>
        <p:spPr>
          <a:xfrm>
            <a:off x="367862" y="1609077"/>
            <a:ext cx="8318938" cy="3444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Карпенко А. П.</a:t>
            </a:r>
            <a:r>
              <a:rPr lang="en-US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(20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2000" dirty="0">
                <a:solidFill>
                  <a:srgbClr val="0F1115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 </a:t>
            </a:r>
            <a:r>
              <a:rPr lang="ru-RU" sz="200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Современные алгоритмы поисковой оптимизации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– М.: МГТУ, 2014.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dirty="0">
                <a:solidFill>
                  <a:srgbClr val="0F1115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Дэн Саймон, (2020). </a:t>
            </a:r>
            <a:r>
              <a:rPr lang="ru-RU" sz="2000" i="1" dirty="0">
                <a:solidFill>
                  <a:srgbClr val="0F1115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Алгоритмы эволюционной оптимизации</a:t>
            </a:r>
            <a:r>
              <a:rPr lang="ru-RU" sz="2000" dirty="0">
                <a:solidFill>
                  <a:srgbClr val="0F1115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М.: ДМК Пресс, 2020.  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Passino</a:t>
            </a:r>
            <a:r>
              <a:rPr lang="en-US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K.M. (2002). </a:t>
            </a:r>
            <a:r>
              <a:rPr lang="en-US" sz="200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Biomimicry of bacterial foraging for distributed optimization and control</a:t>
            </a:r>
            <a:r>
              <a:rPr lang="en-US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Control Systems Magazine.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Yang, X.S. (2008). </a:t>
            </a:r>
            <a:r>
              <a:rPr lang="en-US" sz="200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Nature-Inspired Metaheuristic Algorithms</a:t>
            </a:r>
            <a:r>
              <a:rPr lang="en-US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Luniver</a:t>
            </a: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Press.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Статьи с сайтов</a:t>
            </a:r>
            <a:r>
              <a:rPr lang="en-US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20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ResearchGate, Scholar Google.</a:t>
            </a:r>
            <a:endParaRPr lang="ru-RU" sz="2000" dirty="0">
              <a:solidFill>
                <a:srgbClr val="0F1115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238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3692</Words>
  <Application>Microsoft Office PowerPoint</Application>
  <PresentationFormat>Экран (4:3)</PresentationFormat>
  <Paragraphs>250</Paragraphs>
  <Slides>44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44</vt:i4>
      </vt:variant>
    </vt:vector>
  </HeadingPairs>
  <TitlesOfParts>
    <vt:vector size="51" baseType="lpstr">
      <vt:lpstr>Arial</vt:lpstr>
      <vt:lpstr>Calibri</vt:lpstr>
      <vt:lpstr>Courier New</vt:lpstr>
      <vt:lpstr>Segoe UI</vt:lpstr>
      <vt:lpstr>Symbol</vt:lpstr>
      <vt:lpstr>Times New Roman</vt:lpstr>
      <vt:lpstr>Office Theme</vt:lpstr>
      <vt:lpstr>Лекция № 10</vt:lpstr>
      <vt:lpstr>ПЛАН ЛЕКЦИИ</vt:lpstr>
      <vt:lpstr>Часть 1: Введение в проблему: Многокритериальная оптимизация </vt:lpstr>
      <vt:lpstr>Мир компромиссов  Тезис: Реальные задачи редко имеют одну цель. </vt:lpstr>
      <vt:lpstr>Формальная постановка задачи МКО </vt:lpstr>
      <vt:lpstr>Парето-оптимальность — философия баланса </vt:lpstr>
      <vt:lpstr>Часть 2: Инструменты: Популяционные алгоритмы</vt:lpstr>
      <vt:lpstr>Почему популяционные алгоритмы для МКО? </vt:lpstr>
      <vt:lpstr>Алгоритм NSGA-II </vt:lpstr>
      <vt:lpstr>Пошаговое описание алгоритма NSGA-II </vt:lpstr>
      <vt:lpstr>Пошаговое описание алгоритма NSGA-II</vt:lpstr>
      <vt:lpstr>Пошаговое описание алгоритма NSGA-II</vt:lpstr>
      <vt:lpstr>Схематично один цикл (поколение) можно представить так: </vt:lpstr>
      <vt:lpstr>Ключевые преимущества NSGA-II: </vt:lpstr>
      <vt:lpstr>SPEA2 (Strength Pareto Evolutionary Algorithm 2)</vt:lpstr>
      <vt:lpstr>SPEA2 (Strength Pareto Evolutionary Algorithm 2)</vt:lpstr>
      <vt:lpstr>Схематично один цикл (поколение) можно представить так: </vt:lpstr>
      <vt:lpstr>Ключевые особенности и преимущества SPEA2 (по сравнению с первой версией и NSGA-II): </vt:lpstr>
      <vt:lpstr>MOEA/D (Multi-Objective Evolutionary Algorithm Based on Decomposition)</vt:lpstr>
      <vt:lpstr> PAES (Pareto Archived Evolution Strategy)</vt:lpstr>
      <vt:lpstr>Ключевые концепции </vt:lpstr>
      <vt:lpstr>Ключевые инновации и преимущества PAES: </vt:lpstr>
      <vt:lpstr>Недостатки и ограничения: </vt:lpstr>
      <vt:lpstr>Вариации PAES: </vt:lpstr>
      <vt:lpstr>Часть 3: Проблема: Настройка ПА (От искусства к науке) </vt:lpstr>
      <vt:lpstr>Гиперпараметры ПА — что можно настраивать? </vt:lpstr>
      <vt:lpstr>Сложность ручной настройки </vt:lpstr>
      <vt:lpstr>Часть 4: Решение: Метаоптимизация (Идеи и уровни) </vt:lpstr>
      <vt:lpstr>Что такое метаоптимизация? </vt:lpstr>
      <vt:lpstr>Ключевой вопрос: Как оценивать эффективность? (J(θ)) </vt:lpstr>
      <vt:lpstr>Уровни метаоптимизации (Offline, Online, Meta-control) </vt:lpstr>
      <vt:lpstr>Часть 5: Практика: Подходы и примеры </vt:lpstr>
      <vt:lpstr> Выбор мета-алгоритма </vt:lpstr>
      <vt:lpstr>Пример 1: Offline-настройка с помощью Байесовской оптимизации </vt:lpstr>
      <vt:lpstr>Пример 2: Online-адаптация (Self-Adaptive DE для МКО) </vt:lpstr>
      <vt:lpstr>Пример 3: Настройка операторов (Adaptive Operator Selection) </vt:lpstr>
      <vt:lpstr>Пример 4: Метаоптимизация в промышленности (Кейс) </vt:lpstr>
      <vt:lpstr>Часть 6: Заключение и вызовы будущего </vt:lpstr>
      <vt:lpstr>Преимущества метаоптимизированных алгоритмов </vt:lpstr>
      <vt:lpstr>Текущие проблемы и вызовы  (Open Problems) </vt:lpstr>
      <vt:lpstr>Тренды и будущее </vt:lpstr>
      <vt:lpstr>Заключение</vt:lpstr>
      <vt:lpstr>Гибридные алгоритмы и современные тенденции </vt:lpstr>
      <vt:lpstr>Список литературы и источники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Биоинспирированные алгоритмы</dc:title>
  <dc:subject/>
  <dc:creator>User</dc:creator>
  <cp:keywords/>
  <dc:description>generated using python-pptx</dc:description>
  <cp:lastModifiedBy>Yuriy Kaganov</cp:lastModifiedBy>
  <cp:revision>40</cp:revision>
  <dcterms:created xsi:type="dcterms:W3CDTF">2013-01-27T09:14:16Z</dcterms:created>
  <dcterms:modified xsi:type="dcterms:W3CDTF">2025-12-15T11:56:46Z</dcterms:modified>
  <cp:category/>
</cp:coreProperties>
</file>