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  <p:sldId id="272" r:id="rId7"/>
    <p:sldId id="273" r:id="rId8"/>
    <p:sldId id="271" r:id="rId9"/>
    <p:sldId id="281" r:id="rId10"/>
    <p:sldId id="282" r:id="rId11"/>
    <p:sldId id="283" r:id="rId12"/>
    <p:sldId id="284" r:id="rId13"/>
    <p:sldId id="274" r:id="rId14"/>
    <p:sldId id="258" r:id="rId15"/>
    <p:sldId id="275" r:id="rId16"/>
    <p:sldId id="276" r:id="rId17"/>
    <p:sldId id="277" r:id="rId18"/>
    <p:sldId id="278" r:id="rId19"/>
    <p:sldId id="279" r:id="rId20"/>
    <p:sldId id="280" r:id="rId21"/>
    <p:sldId id="285" r:id="rId22"/>
    <p:sldId id="286" r:id="rId23"/>
    <p:sldId id="288" r:id="rId24"/>
    <p:sldId id="287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42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57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80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18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32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36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56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869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08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82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D53D9-DA3B-4D25-AC0E-C8F05FD3A15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95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0817"/>
          </a:xfrm>
        </p:spPr>
        <p:txBody>
          <a:bodyPr>
            <a:normAutofit/>
          </a:bodyPr>
          <a:lstStyle/>
          <a:p>
            <a:r>
              <a:rPr lang="ru-RU" sz="6600" b="1" dirty="0">
                <a:latin typeface="+mn-lt"/>
              </a:rPr>
              <a:t>Лекция </a:t>
            </a:r>
            <a:r>
              <a:rPr lang="ru-RU" sz="6600" b="1">
                <a:latin typeface="+mn-lt"/>
              </a:rPr>
              <a:t>№ 6</a:t>
            </a:r>
            <a:endParaRPr lang="ru-RU" sz="6600" b="1" dirty="0">
              <a:latin typeface="+mn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43733"/>
          </a:xfrm>
        </p:spPr>
        <p:txBody>
          <a:bodyPr>
            <a:normAutofit/>
          </a:bodyPr>
          <a:lstStyle/>
          <a:p>
            <a:pPr algn="ctr"/>
            <a:r>
              <a:rPr lang="ru-RU" sz="4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Решения задач глобальной условной оптимизации методами искусственных иммунных систем</a:t>
            </a:r>
          </a:p>
          <a:p>
            <a:pPr algn="ctr"/>
            <a:r>
              <a:rPr lang="ru-RU" sz="4400" b="1" dirty="0">
                <a:latin typeface="Times New Roman" panose="02020603050405020304" pitchFamily="18" charset="0"/>
                <a:ea typeface="MS Mincho" panose="02020609040205080304" pitchFamily="49" charset="-128"/>
              </a:rPr>
              <a:t>(</a:t>
            </a:r>
            <a:r>
              <a:rPr lang="ru-RU" sz="4400" b="1" dirty="0" err="1">
                <a:latin typeface="Times New Roman" panose="02020603050405020304" pitchFamily="18" charset="0"/>
                <a:ea typeface="MS Mincho" panose="02020609040205080304" pitchFamily="49" charset="-128"/>
              </a:rPr>
              <a:t>метаэвристические</a:t>
            </a:r>
            <a:r>
              <a:rPr lang="ru-RU" sz="4400" b="1" dirty="0">
                <a:latin typeface="Times New Roman" panose="02020603050405020304" pitchFamily="18" charset="0"/>
                <a:ea typeface="MS Mincho" panose="02020609040205080304" pitchFamily="49" charset="-128"/>
              </a:rPr>
              <a:t> алгоритмы)</a:t>
            </a:r>
            <a:r>
              <a:rPr lang="ru-RU" sz="4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 </a:t>
            </a:r>
          </a:p>
          <a:p>
            <a:pPr algn="ctr"/>
            <a:endParaRPr lang="ru-RU" sz="44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algn="ctr"/>
            <a:endParaRPr lang="ru-RU" sz="80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206" y="312905"/>
            <a:ext cx="10515600" cy="1111162"/>
          </a:xfrm>
        </p:spPr>
        <p:txBody>
          <a:bodyPr>
            <a:normAutofit fontScale="90000"/>
          </a:bodyPr>
          <a:lstStyle/>
          <a:p>
            <a:pPr marL="838200" indent="-838200" algn="ctr"/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Постановка задачи</a:t>
            </a:r>
            <a:b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altLang="ru-RU" sz="53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</p:spPr>
            <p:txBody>
              <a:bodyPr>
                <a:normAutofit lnSpcReduction="10000"/>
              </a:bodyPr>
              <a:lstStyle/>
              <a:p>
                <a:pPr>
                  <a:buFontTx/>
                  <a:buNone/>
                </a:pPr>
                <a:r>
                  <a:rPr lang="ru-RU" altLang="ru-RU" dirty="0"/>
                  <a:t>	</a:t>
                </a: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Требуется найти глобальный минимум целевой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множестве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т.е. такую точку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altLang="ru-RU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altLang="ru-RU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ru-RU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что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где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поиска минимума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сводится к задаче поиска максимума путем замены знака перед функцией на противоположный.</a:t>
                </a:r>
              </a:p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ru-RU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ru-RU" sz="27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  <m: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⁡[−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)].</m:t>
                        </m:r>
                      </m:fName>
                      <m:e/>
                    </m:func>
                  </m:oMath>
                </a14:m>
                <a:endParaRPr lang="ru-RU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Метаэвристические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алгоритмы: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А) объединяют в себе один или более эвристических алгоритмов (процедур),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Б) опираются на стратегию более высокого уровня (отсюда – 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</a:t>
                </a: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47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  <a:blipFill>
                <a:blip r:embed="rId2"/>
                <a:stretch>
                  <a:fillRect l="-1101" t="-2619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10565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181D6-F014-4E18-A37C-43492406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МЕТАЭВРИСТИЧЕСКИХ АЛГОРИТМОВ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7141C1-8B35-4E49-8E1E-DA1B6F609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ЭВОЛЮЦИОННЫЕ АЛГОРИТМЫ.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алгоритмы:</a:t>
            </a:r>
          </a:p>
          <a:p>
            <a:pPr>
              <a:buFontTx/>
              <a:buChar char="-"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 с бинарным кодированием</a:t>
            </a:r>
          </a:p>
          <a:p>
            <a:pPr>
              <a:buFontTx/>
              <a:buChar char="-"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 с вещественным кодированием.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Методы, имитирующие  иммунные системы организмов – методы искусственных иммунных систем.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Методы рассеивания.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Методы дифференциальной эволюции.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Д) Методы, имитирующие распространения сорняков.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Е) Методы имитирующие поведение кукушек. 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9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790D3-4855-4BDD-B802-6ED2181F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МЕТАЭВРИСТИЧЕСКИХ АЛГОРИТМОВ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AFC1A1-1AAD-4084-89A8-543DAEB21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МЕТОДЫ «РОЕВОГО» ИНТЕЛЛЕКТА.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частиц в стае.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 муравьиных колоний.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Метод имитации поведения бактерий.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Метод пчелиного роя.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Д) Метод, имитирующий поведение стаи рыб.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Е) Метод, имитирующий поведение светлячков.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Ж) Алгоритм, имитирующий поведение лягушек.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912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48679-5E39-431D-9EE9-B6FE0167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МЕТАЭВРИСТИЧЕСКИХ АЛГОРИТМОВ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B795D-4E86-40A7-86E2-FC07B0431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МЕТОДЫ, ИМИТИРУЮЩИЕ ФИЗИЧЕКИЕ ПРОЦЕССЫ.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Методы гравитационной кинематики.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Методы имитации отжига.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Методы поиска гармонии.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Методы, использующие закон электромагнетизма.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МУЛЬТИСТАРТОВЫЕ МЕТОДЫ.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Жадный адаптивный метод случайного поиска.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 направленного табу-поиска.</a:t>
            </a:r>
          </a:p>
        </p:txBody>
      </p:sp>
    </p:spTree>
    <p:extLst>
      <p:ext uri="{BB962C8B-B14F-4D97-AF65-F5344CB8AC3E}">
        <p14:creationId xmlns:p14="http://schemas.microsoft.com/office/powerpoint/2010/main" val="277559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945E5-F105-43B3-95BE-CCCBAEFD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553942-57E9-495C-B131-8E641AA2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Искусственная иммунная система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(ИИС) - адаптивная вычислительная система, использующая модели, принципы, механизмы и функции, описанные в теоретической 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иммуннологии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применяются для решения прикладных задач.</a:t>
            </a:r>
          </a:p>
          <a:p>
            <a:pPr algn="just"/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Несмотря на то, что природные иммунные системы изучены далеко не полностью, на сегодня существуют по меньшей мере три теории, объясняющие функционирование иммунной системы и описывающие взаимодействие её элементов, а именно: теория негативного отбора, теория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клональной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селекции и теория иммунной сети.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7975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D614C-8C50-45C5-BA04-68171487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DD002-CBD2-4E72-ADEC-18957D711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9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ИИС появились в середине 1980-х годов в статьях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Фармера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Паккарда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Перельсона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Packard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Perelson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(1986)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Берсини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Варела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Bersini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Varela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(1990) по иммунным сетям. Однако основы ИИС утвердились только к середине 1990-х годов. Форрест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Forrest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(негативный отбор)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Кепхарт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Kephart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опубликовали первую статью по ИИС в 1994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Дасгупта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Dasgupta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провёл обширные исследования негативного алгоритма отбора. Хант и Кук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Hunt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Cooke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начали работу над иммунным сетевым алгоритмом в 1995;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Тиммис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Нил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Timmis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Neal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продолжили эту работу и внесли некоторые улучшения. Первая книга по искусственным иммунным системам вышла под редакцией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Дасгупты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Dasgupta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в 1999 году.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6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320" y="372291"/>
            <a:ext cx="10515600" cy="761917"/>
          </a:xfrm>
        </p:spPr>
        <p:txBody>
          <a:bodyPr>
            <a:normAutofit fontScale="90000"/>
          </a:bodyPr>
          <a:lstStyle/>
          <a:p>
            <a:pPr marL="838200" indent="-838200" algn="ctr"/>
            <a:b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altLang="ru-RU" b="1" dirty="0">
              <a:latin typeface="+mn-lt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21834"/>
            <a:ext cx="10515600" cy="5356387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Метод </a:t>
            </a:r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искусственных иммунных систем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(ИИС) использует идеи, заимствованные из иммунологии, имитируя работу иммунной системы живого организма.</a:t>
            </a:r>
          </a:p>
          <a:p>
            <a:pPr indent="2286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Иммунной системой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живого организма называется подсистема, объединяющая органы и ткани, которые защищают организм от заболеваний. Назначение иммунной системы живого организма заключается в том, что она идентифицирует и уничтожает чужеродные тела, попавшие в организм, и совершенствуется, накапливая опыт борьбы с ними.</a:t>
            </a:r>
          </a:p>
          <a:p>
            <a:pPr indent="2286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Антигеном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называется вещество, которое воспринимается живым организмом как чужеродное и от которого организм пытается защититься. Для того чтобы организм смог защититься от антигенов, в нем при помощи специальных иммунных клеток вырабатываются антитела.</a:t>
            </a:r>
          </a:p>
          <a:p>
            <a:pPr indent="3429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Антителом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называется вещество, которое распознает антиген и способствует его уничтожению. Если иммунные клетки выработали антитела, которые смогли распознать антиген, то информация об этих антителах сохраняется в клетках памяти.</a:t>
            </a:r>
          </a:p>
          <a:p>
            <a:pPr indent="2286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Клеткой памяти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называется иммунная клетка, которая сохраняет в себе информацию о новых антителах, способных распознать антиген, для того, чтобы в следующий раз, когда в организм попадет такой же или похожий антиген, иммунная система смогла работать эффективнее.</a:t>
            </a:r>
          </a:p>
          <a:p>
            <a:pPr>
              <a:buFontTx/>
              <a:buNone/>
            </a:pPr>
            <a:endParaRPr lang="ru-RU" alt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96012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2A355-4612-4C1C-8004-EAC9192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EC8581-7FAF-4AC1-8A26-FCE4A942D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Естественная иммунная система представляет собой сложную систему, состоящую из нескольких функционально различных компонентов. Иммунная система использует многоуровневую защиту против внешних антигенов, включая действие неспецифических (врожденных) и специфических (приобретенных) защитных механизмов. Основная роль иммунной системы состоит в распознавании всех клеток организма и классификации их как «своих» и «чужих». Чужеродные клетки подвергаются дальнейшей классификации с целью стимуляции защитного механизма соответствующего типа. В процессе эволюции иммунная система обучается различать внешние антигены (например бактерии и вирусы) и собственные клетки и молекулы организма. </a:t>
            </a:r>
          </a:p>
        </p:txBody>
      </p:sp>
    </p:spTree>
    <p:extLst>
      <p:ext uri="{BB962C8B-B14F-4D97-AF65-F5344CB8AC3E}">
        <p14:creationId xmlns:p14="http://schemas.microsoft.com/office/powerpoint/2010/main" val="30176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02462-F6FE-4636-96B3-CC43E35A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B4F689-2AFA-41F6-AAA8-2D4C958F1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662"/>
            <a:ext cx="10515600" cy="546233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Установлено, что в организме человека поддерживается большое количество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иммуннокомпетентных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клеток, которые циркулируют по всему организму. Основным типом клеток, участвующих в иммунном ответе и обладающих свойством специфичности, разнообразия, памяти и адаптивности, являются лимфоциты. Другие клетки, имеющие название фагоцитов являются вспомогательными клетками, Основная функция которых состоит в уничтожении антигенов. В организме имеются два основных типа лимфоцитов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-лимфоциты. Например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 образуются в костном мозге и затем попадают в тимус, где происходит их дальнейшее развитие.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образуются в костном мозге. Эти два типа лимфоцитов играют в иммунном ответе разную роль. Например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 могут усиливать или подавлять реакцию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-клеток на действие стимула.</a:t>
            </a:r>
          </a:p>
        </p:txBody>
      </p:sp>
    </p:spTree>
    <p:extLst>
      <p:ext uri="{BB962C8B-B14F-4D97-AF65-F5344CB8AC3E}">
        <p14:creationId xmlns:p14="http://schemas.microsoft.com/office/powerpoint/2010/main" val="417946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E0289-00DE-4823-97CF-EB7AD0C4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3D029C-5524-4F72-84F9-88065D1FC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663"/>
            <a:ext cx="10515600" cy="509721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попадании антигена в организм лишь малая часть клеток иммунной системы способна к распознаванию его молекул. Такое распознавание стимулирует процессы размножения и дифференцировки лимфоцитов, приводящие к образованию клонов идентичных клеток (или антител). При этом увеличение аффинности происходит, если при образовании связей между антителами клона и антигеном скорость мутации клеток увеличивается. Мутантные клетки, образующие более тесные связи, делятся быстрее. Этот процесс формирует многочисленную популяцию специфичных к антигену клеток. Размножение клона клеток приводит к разрушению или нейтрализации антигена. Часть образовавшихся клеток сохраняется для иммунной памяти. В результате, последующее воздействие похожего антигена приводит к более быстрой иммунной реакции (вторичному ответу).    </a:t>
            </a:r>
          </a:p>
        </p:txBody>
      </p:sp>
    </p:spTree>
    <p:extLst>
      <p:ext uri="{BB962C8B-B14F-4D97-AF65-F5344CB8AC3E}">
        <p14:creationId xmlns:p14="http://schemas.microsoft.com/office/powerpoint/2010/main" val="316773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938DA-0887-4A4B-A1A7-998C431E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5A5A07-43B1-4B73-8C4E-53C4BB2E6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Существуют два основных варианта иммунного ответа: гуморальный, опосредованный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-клетками и их продуктами и клеточный, в котором участвуют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-клетки. Обоим вариантам иммунных реакций соответствуют сходные последовательности этапов защиты организма: активация, деление, дифференцировка, секреция, иммунная атака, супрессия и память. В регуляции как гуморального, так и клеточного иммунитета участвуют популяции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-клеток, называемые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хелперными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супрессорными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клетками, которые усиливают, либо подавляют иммунный ответ.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Иммунная система представляет собой чрезвычайно сложную систему.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По-сути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она может быть названа «вторым мозгом» поскольку способна хранить информацию об интенсивности предыдущих контактов составляющих ее клеток и отвечать на новые, ранее не встречавшиеся структуры (антигены).    </a:t>
            </a:r>
          </a:p>
        </p:txBody>
      </p:sp>
    </p:spTree>
    <p:extLst>
      <p:ext uri="{BB962C8B-B14F-4D97-AF65-F5344CB8AC3E}">
        <p14:creationId xmlns:p14="http://schemas.microsoft.com/office/powerpoint/2010/main" val="60557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67E76-AA14-4E46-ADF7-22007AE3A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ИИС</a:t>
            </a:r>
            <a:b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A339F-18F9-4F78-93FF-02E076CC8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538"/>
            <a:ext cx="10515600" cy="502117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Общие методы </a:t>
            </a:r>
            <a:r>
              <a:rPr lang="ru-RU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основаны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конкретных иммунологических теориях, которые объясняют функции и поведение адаптивной иммунной системы млекопитающих.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Клональный</a:t>
            </a: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алгоритм отбора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класс алгоритмов, основанных на теории клоновой селекции приобретенного </a:t>
            </a:r>
            <a:r>
              <a:rPr lang="ru-RU" sz="3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иммуннитета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объясняет, как </a:t>
            </a:r>
            <a:r>
              <a:rPr lang="en-US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Т лимфоциты улучшают их реакцию на антигены с течением времени, что называется </a:t>
            </a:r>
            <a:r>
              <a:rPr lang="ru-RU" sz="3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affinity</a:t>
            </a: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maturation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Эти алгоритмы сосредоточены на атрибутах теорию Дарвина, где выбор основан на близости взаимодействия антигенов и антител и репродукции на принципе деления клеток и вариациях на основе соматических </a:t>
            </a:r>
            <a:r>
              <a:rPr lang="ru-RU" sz="3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гипермутаций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Негативный алгоритм отбора. </a:t>
            </a:r>
            <a:endParaRPr lang="ru-RU" sz="3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Иммунный сетевой алгоритм.</a:t>
            </a:r>
            <a:endParaRPr lang="ru-RU" sz="3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Дендритный алгоритм.</a:t>
            </a:r>
            <a:endParaRPr lang="ru-RU" sz="3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23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206" y="312905"/>
            <a:ext cx="10515600" cy="1111162"/>
          </a:xfrm>
        </p:spPr>
        <p:txBody>
          <a:bodyPr>
            <a:normAutofit fontScale="90000"/>
          </a:bodyPr>
          <a:lstStyle/>
          <a:p>
            <a:pPr marL="838200" indent="-838200" algn="ctr"/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Постановка задачи</a:t>
            </a:r>
            <a:b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altLang="ru-RU" sz="53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</p:spPr>
            <p:txBody>
              <a:bodyPr>
                <a:normAutofit lnSpcReduction="10000"/>
              </a:bodyPr>
              <a:lstStyle/>
              <a:p>
                <a:pPr>
                  <a:buFontTx/>
                  <a:buNone/>
                </a:pPr>
                <a:r>
                  <a:rPr lang="ru-RU" altLang="ru-RU" dirty="0"/>
                  <a:t>	</a:t>
                </a: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Требуется найти глобальный минимум целевой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множестве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т.е. такую точку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altLang="ru-RU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altLang="ru-RU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ru-RU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что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где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поиска минимума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сводится к задаче поиска максимума путем замены знака перед функцией на противоположный.</a:t>
                </a:r>
              </a:p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ru-RU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ru-RU" sz="27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  <m: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⁡[−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)].</m:t>
                        </m:r>
                      </m:fName>
                      <m:e/>
                    </m:func>
                  </m:oMath>
                </a14:m>
                <a:endParaRPr lang="ru-RU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Метаэвристические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алгоритмы: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А) объединяют в себе один или более эвристических алгоритмов (процедур),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Б) опираются на стратегию более высокого уровня (отсюда – 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</a:t>
                </a: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47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  <a:blipFill>
                <a:blip r:embed="rId2"/>
                <a:stretch>
                  <a:fillRect l="-1101" t="-2619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793338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1427B-CDD3-4275-8925-160181FD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поиска решения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B9D35E8-9430-4656-86CB-36CB1696DF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Целевая функция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эквивалентна природному понятию приспособленности иммунной клетки к борьбе с антигенами, т.е. способности клетки вырабатывать антитела. Поэтому будем называть целевую функцию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функцией приспособленности.</a:t>
                </a:r>
              </a:p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параметров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ru-RU" sz="3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целевой функции называется </a:t>
                </a:r>
                <a:r>
                  <a:rPr lang="ru-RU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имунной</a:t>
                </a:r>
                <a:r>
                  <a:rPr lang="ru-RU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клеткой,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которая вырабатывает антитела.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B9D35E8-9430-4656-86CB-36CB1696DF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30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291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18EE8-4D53-4676-887F-01B1CFAD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поиска решения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74A088B-701A-492C-A716-F26795C930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решении задачи глобальной оптимизации используются конечные наборы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𝑁𝑝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возможных решений, называемые </a:t>
                </a:r>
                <a:r>
                  <a:rPr lang="ru-RU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популяциями,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иммунная клетка с номером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𝑁𝑃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 популяции. Чем меньше значение целевой функции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тем более иммунная клетка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приспособлена, т.е. способна вырабатывать необходимые антитела, и подходит в качестве решения.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74A088B-701A-492C-A716-F26795C93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30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964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34361-0EF2-4668-9921-CB9ACA0E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br>
              <a:rPr lang="ru-RU" sz="4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08B6C5D-413E-4E8E-B98C-B8F5E7B86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Создание начальной популяции.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1.1. Задать количество иммунных клеток в популяции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𝑵𝒑</m:t>
                    </m:r>
                    <m:r>
                      <a:rPr lang="ru-RU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число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родительских клеток, выбираемых из популяции в ходе селекции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число клеток в популяции с наихудшим значением функции приспособленности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максимальное количество итераций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𝑲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𝜼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𝑵𝒄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зависимости от варианта клонирования, параметр мутации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1.2. Сгенерировать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𝑵𝒑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клеток начальной популяции на множестве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используя равномерный закон распределения. Положить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k=0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(счетчик итераций).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1.3. Для всех клеток популяции найти значения их функции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=1,2,…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𝑁𝑝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Результатом шага 1 является сформированная начальная популяция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08B6C5D-413E-4E8E-B98C-B8F5E7B86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782" r="-986" b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403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225A9-DC8C-4788-BD1D-03B8FF35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BF0E75A-C2D8-43F1-B742-B12E37431E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4124"/>
                <a:ext cx="10515600" cy="552387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</a:t>
                </a:r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u-RU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Клонирование.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2.1. Упорядочить клетки в популяции по возрастанию соответствующего им значения функции приспособленности:</a:t>
                </a:r>
                <a:r>
                  <a:rPr lang="en-US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𝑁𝑝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ru-RU" sz="22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𝑁𝑝</m:t>
                            </m:r>
                          </m:sup>
                        </m:sSup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𝑎𝑥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Выбрать из упорядоченной популяции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u-RU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родительских клеток с наилучшими функциями приспособленности (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первых клеток).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2.2. Для каждой выбранной клетки используются два варианта клонирования:</a:t>
                </a:r>
              </a:p>
              <a:p>
                <a:pPr marL="514350" indent="-514350">
                  <a:buAutoNum type="arabicParenR"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«пропорциональное» - для каждой клетки с номером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упорядоченной популяции генерируется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клонов,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  <m:r>
                              <a:rPr lang="ru-R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𝑁𝑝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ru-RU" sz="22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«равномерное» - для каждой клетки генерируются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клонов,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𝑁𝑐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клонирования. 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Результатом шага 2 является популяция из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первоначальных клеток и клонов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родительских клеток, т.е. всего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клеток.</a:t>
                </a:r>
              </a:p>
              <a:p>
                <a:pPr marL="0" indent="0">
                  <a:buNone/>
                </a:pPr>
                <a:r>
                  <a:rPr lang="ru-RU" sz="2200" dirty="0"/>
                  <a:t> </a:t>
                </a:r>
                <a:endParaRPr lang="en-US" sz="2200" dirty="0"/>
              </a:p>
              <a:p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BF0E75A-C2D8-43F1-B742-B12E37431E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4124"/>
                <a:ext cx="10515600" cy="5523876"/>
              </a:xfrm>
              <a:blipFill>
                <a:blip r:embed="rId2"/>
                <a:stretch>
                  <a:fillRect l="-754" t="-1325" b="-152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833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E15AC-3839-4308-83A1-2610216B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E884481-C26C-4FD4-A055-65E3E39E8B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4085"/>
                <a:ext cx="10515600" cy="532150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3. </a:t>
                </a:r>
                <a:r>
                  <a:rPr lang="ru-RU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Мутация.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каждой родительской клетки с номером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выполнить процедуру мутации всех ее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клонов. Для этого каждую координату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клона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/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заменить 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R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используя равномерный закон распределения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;1</m:t>
                        </m:r>
                      </m:e>
                    </m:d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сгенерировать число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&gt;0.5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 положить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0;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если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&lt;0.5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0;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ru-RU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случайная величина, равномерно распределенная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4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мутации;</a:t>
                </a:r>
              </a:p>
              <a:p>
                <a:pPr marL="0" indent="0">
                  <a:buNone/>
                </a:pPr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если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процедуру повторить.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Результатом шага 3 является популяция, состоящая из 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первоначальных клеток.</a:t>
                </a:r>
                <a:endParaRPr lang="ru-RU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R"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R"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E884481-C26C-4FD4-A055-65E3E39E8B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4085"/>
                <a:ext cx="10515600" cy="5321508"/>
              </a:xfrm>
              <a:blipFill>
                <a:blip r:embed="rId2"/>
                <a:stretch>
                  <a:fillRect l="-1043" t="-1833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099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21F82-401D-44AE-A267-25932498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FD18FA-BF41-4253-92E7-791491064F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8997"/>
                <a:ext cx="10515600" cy="49638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 </a:t>
                </a:r>
                <a:r>
                  <a:rPr lang="ru-RU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Селекция, формирование новой популяции.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4.1. Вычислить значение функции приспособленности для каждого клона-мутанта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4.2. Для каждой родительской клетки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среди ее клонов-мутантов найти клетку с наименьшим значением функции приспособленности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заменить в новой популяции родительскую клетку клоном-мутантом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иначе оставить родительскую клетку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Результатом шага 4 является новая популяция из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клеток.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FD18FA-BF41-4253-92E7-791491064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8997"/>
                <a:ext cx="10515600" cy="4963878"/>
              </a:xfrm>
              <a:blipFill>
                <a:blip r:embed="rId2"/>
                <a:stretch>
                  <a:fillRect l="-1217" t="-2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052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97B38-F15B-4167-8987-668D3E83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2BA692-AE18-440E-B8E0-DB710A8AE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 </a:t>
                </a:r>
                <a:r>
                  <a:rPr lang="ru-RU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Обновление популяции.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5.1. Выбрать из популяции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клеток с наихудшими значениями функции приспособленности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последних клеток) и заменить их новыми клетками, генерируемыми случайным образом на множестве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5.2. Вычислить значения функции приспособленности новых клеток.</a:t>
                </a:r>
              </a:p>
              <a:p>
                <a:pPr marL="0" indent="0">
                  <a:buNone/>
                </a:pP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5.3. Положить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2BA692-AE18-440E-B8E0-DB710A8AE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4341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730C4-C305-44B1-A5E2-2FB33916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096309-8F29-47DB-9304-F445AD2FBA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6.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Проверка условия окончания поиска.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поиск завершить, перейти на шаг 7.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поиск завершить, перейти на шаг 2.</a:t>
                </a:r>
              </a:p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7.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Выбор решения из последней популяции.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Закончить работу алгоритма. В качестве решения (приближенного) задачи </a:t>
                </a:r>
                <a:r>
                  <a:rPr lang="en-US" altLang="ru-RU" sz="28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8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выбрать клетку с наименьшим значением функции приспособленности (функции фитнеса) из текущей популяции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alt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̃"/>
                        <m:ctrlPr>
                          <a:rPr lang="ru-RU" alt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r>
                      <a:rPr lang="ru-RU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ru-RU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ru-RU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altLang="ru-RU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altLang="ru-RU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ru-RU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096309-8F29-47DB-9304-F445AD2FB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107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FD870-2A9E-49BF-9DEA-7B29FD4B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E42CBD-4791-4F48-B11F-5B8FE8384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 1.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Обычно размер популяции выбирают в пределах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𝑁𝑃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=30 −60 особей.</m:t>
                    </m:r>
                  </m:oMath>
                </a14:m>
                <a:endParaRPr lang="ru-RU" sz="3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 2.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мутации принимают равным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=0.1 −0.5.</m:t>
                    </m:r>
                  </m:oMath>
                </a14:m>
                <a:endParaRPr lang="en-US" sz="3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 3.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 принимают равным </a:t>
                </a:r>
                <a14:m>
                  <m:oMath xmlns:m="http://schemas.openxmlformats.org/officeDocument/2006/math">
                    <m:r>
                      <a:rPr lang="ru-RU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ru-R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.5 −0.7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E42CBD-4791-4F48-B11F-5B8FE8384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582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E2737-935D-442F-A415-76566336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ИИС В СИСТЕМАХ ОБРАБОТКИ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6715F-9D67-4808-8491-62E419936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Мощная система оптимизации для плохо структурированных оптимизационных задач.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безопасность.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Обнаружение вирусов.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Обнаружение аномалий во временных рядах данных.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Диагностика неисправностей.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распознавания образов.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Совместное использование ИИС и других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метаэвристических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алгоритмов для решения сложных задач принятия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37417270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2243</Words>
  <Application>Microsoft Office PowerPoint</Application>
  <PresentationFormat>Широкоэкранный</PresentationFormat>
  <Paragraphs>138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Linux Libertine</vt:lpstr>
      <vt:lpstr>Times New Roman</vt:lpstr>
      <vt:lpstr>Тема Office</vt:lpstr>
      <vt:lpstr>Лекция № 6</vt:lpstr>
      <vt:lpstr> Постановка задачи </vt:lpstr>
      <vt:lpstr>КЛАССИФИКАЦИЯ МЕТАЭВРИСТИЧЕСКИХ АЛГОРИТМОВ</vt:lpstr>
      <vt:lpstr>КЛАССИФИКАЦИЯ МЕТАЭВРИСТИЧЕСКИХ АЛГОРИТМОВ</vt:lpstr>
      <vt:lpstr>КЛАССИФИКАЦИЯ МЕТАЭВРИСТИЧЕСКИХ АЛГОРИТМОВ</vt:lpstr>
      <vt:lpstr> Теоретические основы ИИС </vt:lpstr>
      <vt:lpstr>Теоретические основы ИИС</vt:lpstr>
      <vt:lpstr> Теоретические основы ИИС </vt:lpstr>
      <vt:lpstr>Теоретические основы ИИС </vt:lpstr>
      <vt:lpstr>Теоретические основы ИИС</vt:lpstr>
      <vt:lpstr>Теоретические основы ИИС</vt:lpstr>
      <vt:lpstr>Теоретические основы ИИС</vt:lpstr>
      <vt:lpstr> Методы ИИС </vt:lpstr>
      <vt:lpstr> Постановка задачи </vt:lpstr>
      <vt:lpstr>Стратегия поиска решения</vt:lpstr>
      <vt:lpstr>Стратегия поиска решения</vt:lpstr>
      <vt:lpstr>Алгоритм решения задачи на основе ИИС 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ПРИЛОЖЕНИЯ ИИС В СИСТЕМАХ ОБРАБОТКИ ИНФОРМАЦИИ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Kaganov</dc:creator>
  <cp:lastModifiedBy>Yuriy Kaganov</cp:lastModifiedBy>
  <cp:revision>64</cp:revision>
  <dcterms:created xsi:type="dcterms:W3CDTF">2020-02-16T18:50:25Z</dcterms:created>
  <dcterms:modified xsi:type="dcterms:W3CDTF">2025-11-09T21:06:24Z</dcterms:modified>
</cp:coreProperties>
</file>