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56" r:id="rId3"/>
    <p:sldId id="257" r:id="rId4"/>
    <p:sldId id="258" r:id="rId5"/>
    <p:sldId id="275" r:id="rId6"/>
    <p:sldId id="276" r:id="rId7"/>
    <p:sldId id="279" r:id="rId8"/>
    <p:sldId id="278" r:id="rId9"/>
    <p:sldId id="277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72" y="3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699023"/>
            <a:ext cx="6858000" cy="1238113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 7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558778"/>
            <a:ext cx="6858000" cy="2132800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Роевые алгоритмы и их применение для решения оптимизационных задач в условиях неопределенности</a:t>
            </a:r>
            <a:endParaRPr lang="ru-RU" sz="3300" dirty="0">
              <a:solidFill>
                <a:schemeClr val="tx1"/>
              </a:solidFill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algn="ctr"/>
            <a:endParaRPr lang="ru-RU" sz="6000" dirty="0"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endParaRPr lang="ru-RU" sz="3300" b="1" dirty="0"/>
          </a:p>
        </p:txBody>
      </p:sp>
    </p:spTree>
    <p:extLst>
      <p:ext uri="{BB962C8B-B14F-4D97-AF65-F5344CB8AC3E}">
        <p14:creationId xmlns:p14="http://schemas.microsoft.com/office/powerpoint/2010/main" val="179321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Роевые алгоритмы: 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lvl="1"/>
            <a:r>
              <a:rPr dirty="0" err="1"/>
              <a:t>Определение</a:t>
            </a:r>
            <a:r>
              <a:rPr dirty="0"/>
              <a:t> </a:t>
            </a:r>
            <a:r>
              <a:rPr dirty="0" err="1"/>
              <a:t>роевых</a:t>
            </a:r>
            <a:r>
              <a:rPr dirty="0"/>
              <a:t> </a:t>
            </a:r>
            <a:r>
              <a:rPr dirty="0" err="1"/>
              <a:t>алгоритмов</a:t>
            </a:r>
            <a:endParaRPr lang="ru-RU" dirty="0"/>
          </a:p>
          <a:p>
            <a:r>
              <a:rPr lang="ru-RU" sz="1600" b="1" dirty="0"/>
              <a:t>Роевые алгоритмы</a:t>
            </a:r>
            <a:r>
              <a:rPr lang="ru-RU" sz="1600" dirty="0"/>
              <a:t> — это класс эволюционных и </a:t>
            </a:r>
            <a:r>
              <a:rPr lang="ru-RU" sz="1600" dirty="0" err="1"/>
              <a:t>метаэвристических</a:t>
            </a:r>
            <a:r>
              <a:rPr lang="ru-RU" sz="1600" dirty="0"/>
              <a:t> методов оптимизации, основанных на моделировании коллективного поведения групп простых агентов (муравьёв, птиц, рыб, пчёл). Каждый агент действует по простым локальным правилам, а глобальное оптимальное решение возникает из их кооперации, самоорганизации и обмена информацией.</a:t>
            </a:r>
          </a:p>
          <a:p>
            <a:r>
              <a:rPr lang="ru-RU" sz="1600" b="1" dirty="0"/>
              <a:t>Ключевые свойства: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 err="1"/>
              <a:t>децентрализованность</a:t>
            </a:r>
            <a:r>
              <a:rPr lang="ru-RU" sz="1600" dirty="0"/>
              <a:t> управления;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адаптивность к изменениям среды;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стохастичность поведения агентов;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коллективный поиск оптимальных решений.</a:t>
            </a:r>
          </a:p>
          <a:p>
            <a:pPr marL="457200" lvl="1" indent="0"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Истоки и биологические прототипы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Муравьиные колонии</a:t>
            </a:r>
          </a:p>
          <a:p>
            <a:pPr lvl="1"/>
            <a:r>
              <a:t>Птичьи стаи</a:t>
            </a:r>
          </a:p>
          <a:p>
            <a:pPr lvl="1"/>
            <a:r>
              <a:t>Рыбные косяки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Класс роевых алгоритмов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 err="1"/>
              <a:t>Муравьиный</a:t>
            </a:r>
            <a:r>
              <a:rPr dirty="0"/>
              <a:t> </a:t>
            </a:r>
            <a:r>
              <a:rPr dirty="0" err="1"/>
              <a:t>алгоритм</a:t>
            </a:r>
            <a:r>
              <a:rPr dirty="0"/>
              <a:t> (ACO)</a:t>
            </a:r>
          </a:p>
          <a:p>
            <a:pPr lvl="1"/>
            <a:r>
              <a:rPr dirty="0" err="1"/>
              <a:t>Алгоритм</a:t>
            </a:r>
            <a:r>
              <a:rPr dirty="0"/>
              <a:t> </a:t>
            </a:r>
            <a:r>
              <a:rPr dirty="0" err="1"/>
              <a:t>роя</a:t>
            </a:r>
            <a:r>
              <a:rPr dirty="0"/>
              <a:t> </a:t>
            </a:r>
            <a:r>
              <a:rPr dirty="0" err="1"/>
              <a:t>частиц</a:t>
            </a:r>
            <a:r>
              <a:rPr dirty="0"/>
              <a:t> (PSO)</a:t>
            </a:r>
          </a:p>
          <a:p>
            <a:pPr lvl="1"/>
            <a:r>
              <a:rPr dirty="0" err="1"/>
              <a:t>Пчелиные</a:t>
            </a:r>
            <a:r>
              <a:rPr dirty="0"/>
              <a:t> </a:t>
            </a:r>
            <a:r>
              <a:rPr dirty="0" err="1"/>
              <a:t>алгоритмы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10C59-2416-418A-97CF-44E2CCFE0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Муравьиный алгоритм (</a:t>
            </a:r>
            <a:r>
              <a:rPr lang="en-US" dirty="0"/>
              <a:t>ACO)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EF65C2-AECC-480B-953D-9A00A2C55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1" dirty="0"/>
              <a:t>Муравьиный алгоритм (ACO)</a:t>
            </a:r>
          </a:p>
          <a:p>
            <a:r>
              <a:rPr lang="ru-RU" b="1" dirty="0"/>
              <a:t>Муравьиный алгоритм</a:t>
            </a:r>
            <a:r>
              <a:rPr lang="ru-RU" dirty="0"/>
              <a:t> — это </a:t>
            </a:r>
            <a:r>
              <a:rPr lang="ru-RU" dirty="0" err="1"/>
              <a:t>метаэвристический</a:t>
            </a:r>
            <a:r>
              <a:rPr lang="ru-RU" dirty="0"/>
              <a:t> метод оптимизации, основанный на модели поведения колоний муравьёв при поиске кратчайшего пути к источнику пищи.</a:t>
            </a:r>
          </a:p>
          <a:p>
            <a:r>
              <a:rPr lang="ru-RU" dirty="0"/>
              <a:t>Каждый «муравей» в алгоритме представляет собой агент, который строит решение, двигаясь по графу и оставляя </a:t>
            </a:r>
            <a:r>
              <a:rPr lang="ru-RU" b="1" dirty="0" err="1"/>
              <a:t>феромонный</a:t>
            </a:r>
            <a:r>
              <a:rPr lang="ru-RU" b="1" dirty="0"/>
              <a:t> след</a:t>
            </a:r>
            <a:r>
              <a:rPr lang="ru-RU" dirty="0"/>
              <a:t>. Вероятность выбора дальнейшего шага зависит от: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концентрации феромона</a:t>
            </a:r>
            <a:r>
              <a:rPr lang="ru-RU" dirty="0"/>
              <a:t> на ребре (информация от других агентов),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эвристической привлекательности</a:t>
            </a:r>
            <a:r>
              <a:rPr lang="ru-RU" dirty="0"/>
              <a:t> (например, обратной длине ребра),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параметров чувствительности</a:t>
            </a:r>
            <a:r>
              <a:rPr lang="ru-RU" dirty="0"/>
              <a:t> к феромону и эвристике.</a:t>
            </a:r>
          </a:p>
          <a:p>
            <a:r>
              <a:rPr lang="ru-RU" dirty="0"/>
              <a:t>После прохождения колонии муравьёв феромон обновляется: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усиливается на более успешных маршрутах,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испаряется на остальных, предотвращая преждевременную конвергенцию.</a:t>
            </a:r>
          </a:p>
          <a:p>
            <a:r>
              <a:rPr lang="ru-RU" b="1" dirty="0"/>
              <a:t>Основная идея:</a:t>
            </a:r>
            <a:r>
              <a:rPr lang="ru-RU" dirty="0"/>
              <a:t> через коллективное взаимодействие и накопление информации в виде феромона алгоритм эффективно находит хорошие решения комбинаторных задач.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116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7D5730-C9BE-466A-AB4B-F6FA06AFF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Муравьиный алгоритм (</a:t>
            </a:r>
            <a:r>
              <a:rPr lang="en-US" dirty="0"/>
              <a:t>ACO)</a:t>
            </a:r>
            <a:br>
              <a:rPr lang="en-US" dirty="0"/>
            </a:b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A359D3C-0C3F-4D41-8BA0-7295D7B8533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124" y="1600200"/>
            <a:ext cx="6096000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0927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657E6E-E409-4811-830E-2C6D8312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Муравьиный алгоритм (</a:t>
            </a:r>
            <a:r>
              <a:rPr lang="en-US" dirty="0"/>
              <a:t>ACO)</a:t>
            </a:r>
            <a:endParaRPr lang="ru-RU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D1612A33-7149-4875-B564-D0BB645042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7638"/>
            <a:ext cx="8229600" cy="483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164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71CBCE-17AA-4D20-A0E8-4E40785AF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2314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9F7B0803-EB81-45B5-AD0E-4033DF14A4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72" y="274638"/>
            <a:ext cx="9070428" cy="5851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651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1ACC4F-18CD-4C93-9A0C-48A2DF2F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703576EC-C249-48B9-A7A8-D2602EF19F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290" y="105102"/>
            <a:ext cx="8492358" cy="634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657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Муравьиный алгоритм (ACO): Идея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Использование феромонных следов</a:t>
            </a:r>
          </a:p>
          <a:p>
            <a:pPr lvl="1"/>
            <a:r>
              <a:t>Вероятностный выбор пути</a:t>
            </a:r>
          </a:p>
          <a:p>
            <a:pPr lvl="1"/>
            <a:r>
              <a:t>Комбинационная оптимизация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Муравьиный</a:t>
            </a:r>
            <a:r>
              <a:rPr dirty="0"/>
              <a:t> </a:t>
            </a:r>
            <a:r>
              <a:rPr dirty="0" err="1"/>
              <a:t>алгоритм</a:t>
            </a:r>
            <a:r>
              <a:rPr dirty="0"/>
              <a:t>: </a:t>
            </a:r>
            <a:r>
              <a:rPr dirty="0" err="1"/>
              <a:t>Применение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Маршрутизация</a:t>
            </a:r>
          </a:p>
          <a:p>
            <a:pPr lvl="1"/>
            <a:r>
              <a:t>Задача коммивояжёра</a:t>
            </a:r>
          </a:p>
          <a:p>
            <a:pPr lvl="1"/>
            <a:r>
              <a:t>Оптимизация логистики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Алгоритм роя частиц (PSO): Идея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Движение частиц в пространстве решений</a:t>
            </a:r>
          </a:p>
          <a:p>
            <a:pPr lvl="1"/>
            <a:r>
              <a:t>Обмен информацией между частицами</a:t>
            </a:r>
          </a:p>
          <a:p>
            <a:pPr lvl="1"/>
            <a:r>
              <a:t>Поиск глобального минимума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PSO: Математическая модель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Скорость частицы</a:t>
            </a:r>
          </a:p>
          <a:p>
            <a:pPr lvl="1"/>
            <a:r>
              <a:t>Позиция частицы</a:t>
            </a:r>
          </a:p>
          <a:p>
            <a:pPr lvl="1"/>
            <a:r>
              <a:t>Глобальные и личные лучшие позиции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PSO: Применение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Нелинейная оптимизация</a:t>
            </a:r>
          </a:p>
          <a:p>
            <a:pPr lvl="1"/>
            <a:r>
              <a:t>Регрессия и классификация</a:t>
            </a:r>
          </a:p>
          <a:p>
            <a:pPr lvl="1"/>
            <a:r>
              <a:t>Инженерные задачи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Пчелиные алгоритмы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Разделение ролей (разведчики, работники)</a:t>
            </a:r>
          </a:p>
          <a:p>
            <a:pPr lvl="1"/>
            <a:r>
              <a:t>Поиск перспективных областей</a:t>
            </a:r>
          </a:p>
          <a:p>
            <a:pPr lvl="1"/>
            <a:r>
              <a:t>Баланс исследование/эксплуатация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Особенности оптимизации в условиях неопределённости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Неполнота данных</a:t>
            </a:r>
          </a:p>
          <a:p>
            <a:pPr lvl="1"/>
            <a:r>
              <a:t>Стохастичность функций</a:t>
            </a:r>
          </a:p>
          <a:p>
            <a:pPr lvl="1"/>
            <a:r>
              <a:t>Динамические изменения среды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Преимущества роевых методов при неопределённости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Устойчивость к шуму</a:t>
            </a:r>
          </a:p>
          <a:p>
            <a:pPr lvl="1"/>
            <a:r>
              <a:t>Адаптивность</a:t>
            </a:r>
          </a:p>
          <a:p>
            <a:pPr lvl="1"/>
            <a:r>
              <a:t>Коллективное поведение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Гибридные подходы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Комбинация PSO и ACO</a:t>
            </a:r>
          </a:p>
          <a:p>
            <a:pPr lvl="1"/>
            <a:r>
              <a:t>Использование машинного обучения</a:t>
            </a:r>
          </a:p>
          <a:p>
            <a:pPr lvl="1"/>
            <a:r>
              <a:t>Рост эффективности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Роевые методы в многокритериальной оптимизации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Балансировка целей</a:t>
            </a:r>
          </a:p>
          <a:p>
            <a:pPr lvl="1"/>
            <a:r>
              <a:t>Формирование Парето-оптимального множества</a:t>
            </a:r>
          </a:p>
          <a:p>
            <a:pPr lvl="1"/>
            <a:r>
              <a:t>Адаптивные стратегии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Пример: Оптимизация логистики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Маршрутизация транспорта</a:t>
            </a:r>
          </a:p>
          <a:p>
            <a:pPr lvl="1"/>
            <a:r>
              <a:t>Учёт неопределенных задержек</a:t>
            </a:r>
          </a:p>
          <a:p>
            <a:pPr lvl="1"/>
            <a:r>
              <a:t>Распределение ресурсов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Пример: Технические 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Настройка параметров</a:t>
            </a:r>
          </a:p>
          <a:p>
            <a:pPr lvl="1"/>
            <a:r>
              <a:t>Оптимизация в реальном времени</a:t>
            </a:r>
          </a:p>
          <a:p>
            <a:pPr lvl="1"/>
            <a:r>
              <a:t>Диагностика и прогнозирование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Проблемы и ограничения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Локальные минимумы</a:t>
            </a:r>
          </a:p>
          <a:p>
            <a:pPr lvl="1"/>
            <a:r>
              <a:t>Высокая вычислительная сложность</a:t>
            </a:r>
          </a:p>
          <a:p>
            <a:pPr lvl="1"/>
            <a:r>
              <a:t>Чувствительность к параметрам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Тенденции развития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Самоадаптивные алгоритмы</a:t>
            </a:r>
          </a:p>
          <a:p>
            <a:pPr lvl="1"/>
            <a:r>
              <a:t>Обучение поведения агентов</a:t>
            </a:r>
          </a:p>
          <a:p>
            <a:pPr lvl="1"/>
            <a:r>
              <a:t>Гибридизация с нейросетями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Роевые алгоритмы эффективно решают сложные задачи</a:t>
            </a:r>
          </a:p>
          <a:p>
            <a:pPr lvl="1"/>
            <a:r>
              <a:t>Хорошо работают при неопределённости</a:t>
            </a:r>
          </a:p>
          <a:p>
            <a:pPr lvl="1"/>
            <a:r>
              <a:t>Перспективы дальнейших исследований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444</Words>
  <Application>Microsoft Office PowerPoint</Application>
  <PresentationFormat>Экран (4:3)</PresentationFormat>
  <Paragraphs>109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Лекция № 7</vt:lpstr>
      <vt:lpstr>Роевые алгоритмы: Введение</vt:lpstr>
      <vt:lpstr>Истоки и биологические прототипы</vt:lpstr>
      <vt:lpstr>Класс роевых алгоритмов</vt:lpstr>
      <vt:lpstr>Муравьиный алгоритм (ACO) </vt:lpstr>
      <vt:lpstr>Муравьиный алгоритм (ACO) </vt:lpstr>
      <vt:lpstr>Муравьиный алгоритм (ACO)</vt:lpstr>
      <vt:lpstr>Презентация PowerPoint</vt:lpstr>
      <vt:lpstr>Презентация PowerPoint</vt:lpstr>
      <vt:lpstr>Муравьиный алгоритм (ACO): Идея</vt:lpstr>
      <vt:lpstr>Муравьиный алгоритм: Применение</vt:lpstr>
      <vt:lpstr>Алгоритм роя частиц (PSO): Идея</vt:lpstr>
      <vt:lpstr>PSO: Математическая модель</vt:lpstr>
      <vt:lpstr>PSO: Применение</vt:lpstr>
      <vt:lpstr>Пчелиные алгоритмы</vt:lpstr>
      <vt:lpstr>Особенности оптимизации в условиях неопределённости</vt:lpstr>
      <vt:lpstr>Преимущества роевых методов при неопределённости</vt:lpstr>
      <vt:lpstr>Гибридные подходы</vt:lpstr>
      <vt:lpstr>Роевые методы в многокритериальной оптимизации</vt:lpstr>
      <vt:lpstr>Пример: Оптимизация логистики</vt:lpstr>
      <vt:lpstr>Пример: Технические системы</vt:lpstr>
      <vt:lpstr>Проблемы и ограничения</vt:lpstr>
      <vt:lpstr>Тенденции развития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№ 7</dc:title>
  <dc:subject/>
  <dc:creator>User</dc:creator>
  <cp:keywords/>
  <dc:description>generated using python-pptx</dc:description>
  <cp:lastModifiedBy>Yuriy Kaganov</cp:lastModifiedBy>
  <cp:revision>6</cp:revision>
  <dcterms:created xsi:type="dcterms:W3CDTF">2013-01-27T09:14:16Z</dcterms:created>
  <dcterms:modified xsi:type="dcterms:W3CDTF">2025-12-01T11:54:08Z</dcterms:modified>
  <cp:category/>
</cp:coreProperties>
</file>