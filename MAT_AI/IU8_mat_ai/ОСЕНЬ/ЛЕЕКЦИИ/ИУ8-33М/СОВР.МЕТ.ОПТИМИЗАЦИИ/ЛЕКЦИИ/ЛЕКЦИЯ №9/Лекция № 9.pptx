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7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5" r:id="rId20"/>
    <p:sldId id="273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72" y="12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94DEB1-C7F3-456F-A5E6-24B62BE5506C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CAB50-960B-4FDE-AE1E-542B78D2AA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7817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CAB50-960B-4FDE-AE1E-542B78D2AA3D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0361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699023"/>
            <a:ext cx="6858000" cy="1238113"/>
          </a:xfrm>
        </p:spPr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 9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558778"/>
            <a:ext cx="6858000" cy="2132800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Роевые алгоритмы и их применение для решения оптимизационных задач в условиях неопределенности</a:t>
            </a:r>
            <a:endParaRPr lang="ru-RU" sz="3300" dirty="0">
              <a:solidFill>
                <a:schemeClr val="tx1"/>
              </a:solidFill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algn="ctr"/>
            <a:endParaRPr lang="ru-RU" sz="6000" dirty="0"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endParaRPr lang="ru-RU" sz="3300" b="1" dirty="0"/>
          </a:p>
        </p:txBody>
      </p:sp>
    </p:spTree>
    <p:extLst>
      <p:ext uri="{BB962C8B-B14F-4D97-AF65-F5344CB8AC3E}">
        <p14:creationId xmlns:p14="http://schemas.microsoft.com/office/powerpoint/2010/main" val="1793213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Биоинспирированные алгоритмы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Алгоритмы, основанные на моделировании поведения живых организмов.</a:t>
            </a:r>
          </a:p>
          <a:p>
            <a:r>
              <a:t>Используются для поиска оптимальных решений в сложных пространствах.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D5D3275-5678-4167-B32B-2ADC151F3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Популяционные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алгоритмы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Работают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множеством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одновременно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Эволюционные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мутации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селекция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агентов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Биоинспирированные</a:t>
            </a:r>
            <a:r>
              <a:rPr lang="ru-RU" sz="4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алгоритмы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C522F-C6CF-4832-9E3D-6B31E8488E71}"/>
              </a:ext>
            </a:extLst>
          </p:cNvPr>
          <p:cNvSpPr txBox="1"/>
          <p:nvPr/>
        </p:nvSpPr>
        <p:spPr>
          <a:xfrm>
            <a:off x="578069" y="1800221"/>
            <a:ext cx="7882759" cy="35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Введение в 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биоинспирированные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алгоритмы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Часть 1: Алгоритм оптимизации пчелиной колонией (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Artificial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Bee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Colony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ABC)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364490" algn="l"/>
                <a:tab pos="4572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Часть 2: Алгоритм оптимизации бактериальной колонией (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Bacterial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Foraging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BFO)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Часть 3: Алгоритм оптимизации роем светлячков (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Firefly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FA)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Сравнительный анализ алгоритмов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Примеры практических приложений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9089"/>
            <a:ext cx="8229600" cy="567559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Введение. Что такое </a:t>
            </a:r>
            <a:r>
              <a:rPr lang="ru-RU" sz="36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биоинспирированные</a:t>
            </a:r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алгоритмы?</a:t>
            </a:r>
            <a:b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Класс вычислительных методов, имитирующих принципы коллективного поведения живых систем (роевой интеллект, эволюцию, самоорганизацию) для решения сложных задач оптимизации.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особенности: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Децентрализация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Самоорганизация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Параллелизм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Глобальный поиск решений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Устойчивость к помехам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Зачем они нужны?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Для задач, где классические методы (градиентные и др.) неэффективны: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многомодальные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негладкие, NP-трудные задачи.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Общая схема работы </a:t>
            </a:r>
            <a:r>
              <a:rPr lang="ru-RU" sz="36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биоинспирированных</a:t>
            </a:r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алгоритмов</a:t>
            </a:r>
            <a:b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Идея: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«Черный ящик» — алгоритм не знает внутренней структуры задачи.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Блок-схема: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Инициализация популяции случайных решений («особей»).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Оценка качества каждой особи (функция приспособленности).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Взаимодействие особей по биологическим правилам (обмен информацией, притяжение/отталкивание).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Отбор и «размножение» лучших решений.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критерия остановки (макс. итераций, точность). Если не выполнено — возврат к шагу 2.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Выдача лучшего найденного решения.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Часть 1. Алгоритм оптимизации пчелиной колонией (ABC)</a:t>
            </a:r>
            <a:b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Биологический прототип: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Поведение медоносных пчел при сборе нектара.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Автор и год: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Дервиш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Карабога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2005.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агенты в алгоритме: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Пчелы-разведчики: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Ищут новые источники пищи (случайный поиск).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Пчелы-фуражиры (рабочие/наблюдатели):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Эксплуатируют известные источники, делятся информацией через «танец».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метафора: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Источник нектара = потенциальное решение задачи. Качество нектара = значение функции приспособленности.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Математическая модель ABC (фазы алгоритма)</a:t>
            </a:r>
            <a:b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F53602-DE39-4BDF-BBB6-CCB683C7D9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1" y="1770350"/>
            <a:ext cx="8566726" cy="41856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03136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Фаза пчел-рабочих: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Каждая рабочая пчела модифицирует свою позицию (решение) в окрестности текущего источника.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Формула: 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v_ij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x_ij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φ_ij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* (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x_ij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x_kj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где φ — случайное число, k — соседний источник.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Фаза пчел-наблюдателей: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Выбор источника с вероятностью, пропорциональной его качеству (колесо рулетки).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Фаза пчел-разведчиков: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Если источник исчерпан (не улучшался много итераций), он забрасывается, и разведчик находит новый случайный источник.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 и недостатки </a:t>
            </a:r>
            <a:r>
              <a:rPr lang="en-US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br>
              <a:rPr lang="en-US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Преимущества: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Простота реализации и малое количество параметров.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Эффективный баланс между 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исследованием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exploration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и </a:t>
            </a: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использованием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exploitation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Хорошо работает на многомерных и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многомодальных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задачах.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Недостатки: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Может медленно сходиться на унимодальных задачах по сравнению с градиентными методами.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Скорость сходимости зависит от начальных параметров.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Часть 2. Алгоритм оптимизации бактериальной колонией (BFO)</a:t>
            </a:r>
            <a:b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Биологический прототип: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Хемотаксис кишечной палочки (E.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coli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— движение к питательным веществам и от ядов.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Автор и год: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К.М.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Пассино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2002.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Ключевая идея: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Моделирует четыре процесса: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Хемотаксис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(основной процесс движения).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Скопление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(взаимное притяжение бактерий).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Размножение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Устранение и рассеивание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(заброс в случайную точку для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избежания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локальных оптимумов).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Математическая модель </a:t>
            </a:r>
            <a:r>
              <a:rPr lang="en-US" sz="4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BFO. </a:t>
            </a:r>
            <a:r>
              <a:rPr lang="ru-RU" sz="4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Хемотаксис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A23935-0794-4E8A-9E29-995703E64E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18926"/>
            <a:ext cx="8686800" cy="4888510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Движение бактерии: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«Кувырок» (случайное изменение направления) и «Плавание» (движение в выбранном направлении).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Формула обновления позиции i-й бактерии:</a:t>
            </a:r>
            <a:b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θ_i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(j+1, k, l) =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θ_i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(j, k, l) + C(i) * (Δ /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sqrt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(Δ^T * Δ))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θ — позиция бактерии (решение).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j, k, l — индексы хемотаксиса, размножения и устранения.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C(i) — размер шага.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Δ — вектор случайного направления для «кувырка».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 и недостатки </a:t>
            </a:r>
            <a:r>
              <a:rPr lang="en-US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BFO</a:t>
            </a:r>
            <a:br>
              <a:rPr lang="en-US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000FC3F-C8D8-4BF3-B88A-D74A6E2ADE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3350" y="1044505"/>
            <a:ext cx="8879181" cy="5103953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Преимущества: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Наличие механизма 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«рассеивания»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помогает избегать локальных оптимумов.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Хорошо подходит для задач с динамической средой и шумами.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Параллельная природа (бактерии действуют относительно независимо).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Недостатки: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вычислительная сложность из-за множества вложенных циклов (хемотаксис, размножение, рассеивание).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Большое количество параметров для настройки (C, число шагов хемотаксиса и т.д.).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Медленная сходимость.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Часть 3. Алгоритм оптимизации роем светлячков (FA)</a:t>
            </a:r>
            <a:b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Биологический прототип: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Свечение и привлечение светлячков для спаривания.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Автор и год: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Синь-Шэ Янг, 2008.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Три ключевых правила: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Светлячки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унисексуальны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все привлекаются друг к другу.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Привлекательность пропорциональна яркости и убывает с расстоянием.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Яркость определяется значением целевой функции.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Математическая модель FA</a:t>
            </a:r>
            <a:br>
              <a:rPr lang="ru-RU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Яркость (I):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Прямо пропорциональна значению функции приспособленности I(r) ~ f(r).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Привлекательность (β):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Зависит от яркости и расстояния. Часто используют степенное затухание:</a:t>
            </a:r>
            <a:b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β(r) = β_0 *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(-γ *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r^m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где β_0 — привлекательность при r=0, γ — коэффициент поглощения света.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Расстояние (r):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Евклидово расстояние между светлячками i и j.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Движение светлячка i к более яркому j:</a:t>
            </a:r>
            <a:b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x_i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x_i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β_0 *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(-γ * r_ij^2) * (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x_j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x_i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+ α * (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rand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- 0.5)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α — параметр случайности.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Второе слагаемое — притяжение.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Третье слагаемое — случайное блуждание.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Преимущества и недостатки FA</a:t>
            </a:r>
            <a:b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342900" lvl="0" indent="-342900">
              <a:lnSpc>
                <a:spcPct val="107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Преимущества: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Автоматическое разделение роя: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Благодаря убыванию привлекательности с расстоянием, популяция автоматически разбивается на подгруппы, исследующие разные оптимумы.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Высокая способность к </a:t>
            </a: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исследованию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exploration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пространства.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Простота и элегантность модели.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Недостатки: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Сложность масштабирования на задачи очень высокой размерности (расчет попарных расстояний требует O(N^2) операций).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Зависимость от начальных параметров (γ, α).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Сравнительный анализ (1/2). Критерии</a:t>
            </a:r>
            <a:b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lvl="0" indent="-342900">
              <a:lnSpc>
                <a:spcPct val="107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Тип моделируемого поведения: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ABC: Сбор пищи с разделением ролей.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BFO: Хемотаксическое движение с социальным взаимодействием.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FA: Аттракция на основе визуального сигнала.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Механизм </a:t>
            </a:r>
            <a:r>
              <a:rPr lang="ru-RU" sz="20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избежания</a:t>
            </a: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локальных оптимумов: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ABC: Роль </a:t>
            </a: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разведчиков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BFO: Оператор </a:t>
            </a: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рассеивания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FA: </a:t>
            </a: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Случайное блуждание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(α) и автоматическое разделение.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Скорость сходимости: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BFO — часто самая медленная.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ABC и FA — быстрее, зависят от параметров</a:t>
            </a:r>
            <a:r>
              <a:rPr lang="ru-RU" sz="20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Сравнительный анализ (2/2). Сводная таблица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B8179E1D-91C6-4955-8688-70929461D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599396"/>
              </p:ext>
            </p:extLst>
          </p:nvPr>
        </p:nvGraphicFramePr>
        <p:xfrm>
          <a:off x="289034" y="1417638"/>
          <a:ext cx="8229601" cy="23594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52330">
                  <a:extLst>
                    <a:ext uri="{9D8B030D-6E8A-4147-A177-3AD203B41FA5}">
                      <a16:colId xmlns:a16="http://schemas.microsoft.com/office/drawing/2014/main" val="3339834257"/>
                    </a:ext>
                  </a:extLst>
                </a:gridCol>
                <a:gridCol w="2325757">
                  <a:extLst>
                    <a:ext uri="{9D8B030D-6E8A-4147-A177-3AD203B41FA5}">
                      <a16:colId xmlns:a16="http://schemas.microsoft.com/office/drawing/2014/main" val="2316255238"/>
                    </a:ext>
                  </a:extLst>
                </a:gridCol>
                <a:gridCol w="2325757">
                  <a:extLst>
                    <a:ext uri="{9D8B030D-6E8A-4147-A177-3AD203B41FA5}">
                      <a16:colId xmlns:a16="http://schemas.microsoft.com/office/drawing/2014/main" val="3373692746"/>
                    </a:ext>
                  </a:extLst>
                </a:gridCol>
                <a:gridCol w="2325757">
                  <a:extLst>
                    <a:ext uri="{9D8B030D-6E8A-4147-A177-3AD203B41FA5}">
                      <a16:colId xmlns:a16="http://schemas.microsoft.com/office/drawing/2014/main" val="4076015113"/>
                    </a:ext>
                  </a:extLst>
                </a:gridCol>
              </a:tblGrid>
              <a:tr h="40887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Критерий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ABC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BFO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FA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241369664"/>
                  </a:ext>
                </a:extLst>
              </a:tr>
              <a:tr h="65017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Основной принцип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Разделение труда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Хемотаксис и скопление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Притяжение светом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988951342"/>
                  </a:ext>
                </a:extLst>
              </a:tr>
              <a:tr h="65017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Ключевые параметры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Кол-во пчел, лимит циклов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C, шаги хемотаксиса, вероятность рассеивания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α, β₀, γ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377883198"/>
                  </a:ext>
                </a:extLst>
              </a:tr>
              <a:tr h="65017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Сильная сторона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Баланс исследование/использование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>
                          <a:effectLst/>
                        </a:rPr>
                        <a:t>Устойчивость, избегание лок. оптимумов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</a:rPr>
                        <a:t>Исследование, кластеризация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558079554"/>
                  </a:ext>
                </a:extLst>
              </a:tr>
            </a:tbl>
          </a:graphicData>
        </a:graphic>
      </p:graphicFrame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5C800464-B42F-4A9E-A283-D3E41EFAD6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506735"/>
              </p:ext>
            </p:extLst>
          </p:nvPr>
        </p:nvGraphicFramePr>
        <p:xfrm>
          <a:off x="289034" y="3757900"/>
          <a:ext cx="8229600" cy="8200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66497">
                  <a:extLst>
                    <a:ext uri="{9D8B030D-6E8A-4147-A177-3AD203B41FA5}">
                      <a16:colId xmlns:a16="http://schemas.microsoft.com/office/drawing/2014/main" val="2707368035"/>
                    </a:ext>
                  </a:extLst>
                </a:gridCol>
                <a:gridCol w="2291255">
                  <a:extLst>
                    <a:ext uri="{9D8B030D-6E8A-4147-A177-3AD203B41FA5}">
                      <a16:colId xmlns:a16="http://schemas.microsoft.com/office/drawing/2014/main" val="2047231591"/>
                    </a:ext>
                  </a:extLst>
                </a:gridCol>
                <a:gridCol w="2385848">
                  <a:extLst>
                    <a:ext uri="{9D8B030D-6E8A-4147-A177-3AD203B41FA5}">
                      <a16:colId xmlns:a16="http://schemas.microsoft.com/office/drawing/2014/main" val="32290497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4954101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50">
                          <a:effectLst/>
                        </a:rPr>
                        <a:t>Слабая сторона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50">
                          <a:effectLst/>
                        </a:rPr>
                        <a:t>Скорость сходимости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50">
                          <a:effectLst/>
                        </a:rPr>
                        <a:t>Вычислительная сложность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50">
                          <a:effectLst/>
                        </a:rPr>
                        <a:t>Масштабируемость (O(N²))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695254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50">
                          <a:effectLst/>
                        </a:rPr>
                        <a:t>Лучшие задачи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50">
                          <a:effectLst/>
                        </a:rPr>
                        <a:t>Комбинаторные, непрерывные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50">
                          <a:effectLst/>
                        </a:rPr>
                        <a:t>Динамические, зашумленные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50" dirty="0" err="1">
                          <a:effectLst/>
                        </a:rPr>
                        <a:t>Многомодальные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9237091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Примеры практических приложений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7230C5-20A1-4C97-8F03-BE024FDABC74}"/>
              </a:ext>
            </a:extLst>
          </p:cNvPr>
          <p:cNvSpPr txBox="1"/>
          <p:nvPr/>
        </p:nvSpPr>
        <p:spPr>
          <a:xfrm>
            <a:off x="457200" y="1678936"/>
            <a:ext cx="8434552" cy="5079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ABC: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Настройка параметров нейронных сетей.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Задачи планирования (расписаний, маршрутов).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Цифровая фильтрация.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BFO: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Управление в робототехнике (траектории).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Оптимизация электроэнергетических систем.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Обработка сигналов.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FA: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Кластеризация данных.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Задачи проектирования антенн.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Компьютерное зрение (сегментация изображений).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6A7487-6948-48C4-832A-8F75C7E81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Заключение. Ключевые выводы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85F9F0-9977-4ABF-AF97-4D3BEC382C7C}"/>
              </a:ext>
            </a:extLst>
          </p:cNvPr>
          <p:cNvSpPr txBox="1"/>
          <p:nvPr/>
        </p:nvSpPr>
        <p:spPr>
          <a:xfrm>
            <a:off x="105103" y="1152986"/>
            <a:ext cx="8933793" cy="3534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Биоинспирированные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алгоритмы — мощный инструмент для </a:t>
            </a: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глобальной оптимизации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сложных задач.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прост и сбалансирован, </a:t>
            </a: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BFO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устойчив к застреванию, </a:t>
            </a: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отлично исследует пространство.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Выбор алгоритма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зависит от специфики задачи: размерности, наличия шума, количества локальных оптимумов.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Нет «серебряной пули»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— лучший подход часто лежит в комбинировании идей из разных алгоритмов (гибридизация).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0793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Гибридные алгоритмы и современные тенденции</a:t>
            </a:r>
            <a:b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69BFCB-B3EE-4CA2-9CAE-87CC64D9D8BA}"/>
              </a:ext>
            </a:extLst>
          </p:cNvPr>
          <p:cNvSpPr txBox="1"/>
          <p:nvPr/>
        </p:nvSpPr>
        <p:spPr>
          <a:xfrm>
            <a:off x="278524" y="1250576"/>
            <a:ext cx="8586952" cy="4511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Проблема: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У каждого алгоритма есть свои недостатки.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Решение: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Создание гибридных методов.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ABC + локальный поиск: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Для ускорения финальной сходимости.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BFO + PSO/FA: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Для ускорения процесса хемотаксиса.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 + дифференциальная эволюция: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Для улучшения механизма исследования.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Тренды: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Параллельные реализации (GPU), применение в машинном обучении (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selection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оптимизация глубоких нейросетей.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586F34-B1A8-4A9C-9017-A4A3C3EF6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Список литературы и источники</a:t>
            </a:r>
            <a:b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60E033-45F2-4930-B8DA-EB01EA1B5705}"/>
              </a:ext>
            </a:extLst>
          </p:cNvPr>
          <p:cNvSpPr txBox="1"/>
          <p:nvPr/>
        </p:nvSpPr>
        <p:spPr>
          <a:xfrm>
            <a:off x="367862" y="1609077"/>
            <a:ext cx="8318938" cy="3444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Карпенко А. П.</a:t>
            </a:r>
            <a:r>
              <a:rPr lang="en-US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(20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2000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 </a:t>
            </a:r>
            <a:r>
              <a:rPr lang="ru-RU" sz="200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Современные алгоритмы поисковой оптимизации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– М.: МГТУ, 2014.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>
                <a:solidFill>
                  <a:srgbClr val="0F1115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Дэн Саймон, (2020). </a:t>
            </a:r>
            <a:r>
              <a:rPr lang="ru-RU" sz="2000" i="1" dirty="0">
                <a:solidFill>
                  <a:srgbClr val="0F1115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Алгоритмы эволюционной оптимизации</a:t>
            </a:r>
            <a:r>
              <a:rPr lang="ru-RU" sz="2000" dirty="0">
                <a:solidFill>
                  <a:srgbClr val="0F1115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М.: ДМК Пресс, 2020.  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Passino</a:t>
            </a:r>
            <a:r>
              <a:rPr lang="en-US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K.M. (2002). </a:t>
            </a:r>
            <a:r>
              <a:rPr lang="en-US" sz="200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Biomimicry of bacterial foraging for distributed optimization and control</a:t>
            </a:r>
            <a:r>
              <a:rPr lang="en-US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Control Systems Magazine.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Yang, X.S. (2008). </a:t>
            </a:r>
            <a:r>
              <a:rPr lang="en-US" sz="200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Nature-Inspired Metaheuristic Algorithms</a:t>
            </a:r>
            <a:r>
              <a:rPr lang="en-US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Luniver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Press.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Статьи с сайтов</a:t>
            </a:r>
            <a:r>
              <a:rPr lang="en-US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ResearchGate, Scholar Google.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238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1461</Words>
  <Application>Microsoft Office PowerPoint</Application>
  <PresentationFormat>Экран (4:3)</PresentationFormat>
  <Paragraphs>172</Paragraphs>
  <Slides>21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9" baseType="lpstr">
      <vt:lpstr>Arial</vt:lpstr>
      <vt:lpstr>Calibri</vt:lpstr>
      <vt:lpstr>Courier New</vt:lpstr>
      <vt:lpstr>quote-cjk-patch</vt:lpstr>
      <vt:lpstr>Segoe UI</vt:lpstr>
      <vt:lpstr>Symbol</vt:lpstr>
      <vt:lpstr>Times New Roman</vt:lpstr>
      <vt:lpstr>Office Theme</vt:lpstr>
      <vt:lpstr>Лекция № 9</vt:lpstr>
      <vt:lpstr>Биоинспирированные алгоритмы</vt:lpstr>
      <vt:lpstr>Популяционные алгоритмы</vt:lpstr>
      <vt:lpstr>Биоинспирированные алгоритмы</vt:lpstr>
      <vt:lpstr>Введение. Что такое биоинспирированные алгоритмы? </vt:lpstr>
      <vt:lpstr>Общая схема работы биоинспирированных алгоритмов </vt:lpstr>
      <vt:lpstr>Часть 1. Алгоритм оптимизации пчелиной колонией (ABC) </vt:lpstr>
      <vt:lpstr>Математическая модель ABC (фазы алгоритма) </vt:lpstr>
      <vt:lpstr>Преимущества и недостатки ABC </vt:lpstr>
      <vt:lpstr>Часть 2. Алгоритм оптимизации бактериальной колонией (BFO) </vt:lpstr>
      <vt:lpstr>Математическая модель BFO. Хемотаксис </vt:lpstr>
      <vt:lpstr>Преимущества и недостатки BFO </vt:lpstr>
      <vt:lpstr>Часть 3. Алгоритм оптимизации роем светлячков (FA) </vt:lpstr>
      <vt:lpstr>Математическая модель FA </vt:lpstr>
      <vt:lpstr>Преимущества и недостатки FA </vt:lpstr>
      <vt:lpstr>Сравнительный анализ (1/2). Критерии </vt:lpstr>
      <vt:lpstr>Сравнительный анализ (2/2). Сводная таблица</vt:lpstr>
      <vt:lpstr>Примеры практических приложений</vt:lpstr>
      <vt:lpstr>Заключение. Ключевые выводы</vt:lpstr>
      <vt:lpstr>Гибридные алгоритмы и современные тенденции </vt:lpstr>
      <vt:lpstr>Список литературы и источники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Биоинспирированные алгоритмы</dc:title>
  <dc:subject/>
  <dc:creator>User</dc:creator>
  <cp:keywords/>
  <dc:description>generated using python-pptx</dc:description>
  <cp:lastModifiedBy>Yuriy Kaganov</cp:lastModifiedBy>
  <cp:revision>14</cp:revision>
  <dcterms:created xsi:type="dcterms:W3CDTF">2013-01-27T09:14:16Z</dcterms:created>
  <dcterms:modified xsi:type="dcterms:W3CDTF">2025-12-08T12:40:02Z</dcterms:modified>
  <cp:category/>
</cp:coreProperties>
</file>