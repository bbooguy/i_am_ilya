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73" r:id="rId5"/>
    <p:sldId id="274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43" d="100"/>
          <a:sy n="43" d="100"/>
        </p:scale>
        <p:origin x="53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4" Type="http://schemas.openxmlformats.org/officeDocument/2006/relationships/image" Target="../media/image33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6.wmf"/><Relationship Id="rId7" Type="http://schemas.openxmlformats.org/officeDocument/2006/relationships/image" Target="../media/image40.wmf"/><Relationship Id="rId12" Type="http://schemas.openxmlformats.org/officeDocument/2006/relationships/image" Target="../media/image45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9.wmf"/><Relationship Id="rId11" Type="http://schemas.openxmlformats.org/officeDocument/2006/relationships/image" Target="../media/image44.wmf"/><Relationship Id="rId5" Type="http://schemas.openxmlformats.org/officeDocument/2006/relationships/image" Target="../media/image38.wmf"/><Relationship Id="rId10" Type="http://schemas.openxmlformats.org/officeDocument/2006/relationships/image" Target="../media/image43.wmf"/><Relationship Id="rId4" Type="http://schemas.openxmlformats.org/officeDocument/2006/relationships/image" Target="../media/image37.wmf"/><Relationship Id="rId9" Type="http://schemas.openxmlformats.org/officeDocument/2006/relationships/image" Target="../media/image42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image" Target="../media/image49.wmf"/><Relationship Id="rId7" Type="http://schemas.openxmlformats.org/officeDocument/2006/relationships/image" Target="../media/image53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Relationship Id="rId9" Type="http://schemas.openxmlformats.org/officeDocument/2006/relationships/image" Target="../media/image5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5" Type="http://schemas.openxmlformats.org/officeDocument/2006/relationships/image" Target="../media/image34.wmf"/><Relationship Id="rId4" Type="http://schemas.openxmlformats.org/officeDocument/2006/relationships/image" Target="../media/image69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6" Type="http://schemas.openxmlformats.org/officeDocument/2006/relationships/image" Target="../media/image78.wmf"/><Relationship Id="rId11" Type="http://schemas.openxmlformats.org/officeDocument/2006/relationships/image" Target="../media/image83.wmf"/><Relationship Id="rId5" Type="http://schemas.openxmlformats.org/officeDocument/2006/relationships/image" Target="../media/image77.wmf"/><Relationship Id="rId10" Type="http://schemas.openxmlformats.org/officeDocument/2006/relationships/image" Target="../media/image82.wmf"/><Relationship Id="rId4" Type="http://schemas.openxmlformats.org/officeDocument/2006/relationships/image" Target="../media/image76.wmf"/><Relationship Id="rId9" Type="http://schemas.openxmlformats.org/officeDocument/2006/relationships/image" Target="../media/image81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image" Target="../media/image86.wmf"/><Relationship Id="rId7" Type="http://schemas.openxmlformats.org/officeDocument/2006/relationships/image" Target="../media/image90.wmf"/><Relationship Id="rId2" Type="http://schemas.openxmlformats.org/officeDocument/2006/relationships/image" Target="../media/image85.wmf"/><Relationship Id="rId1" Type="http://schemas.openxmlformats.org/officeDocument/2006/relationships/image" Target="../media/image84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10" Type="http://schemas.openxmlformats.org/officeDocument/2006/relationships/image" Target="../media/image93.wmf"/><Relationship Id="rId4" Type="http://schemas.openxmlformats.org/officeDocument/2006/relationships/image" Target="../media/image87.wmf"/><Relationship Id="rId9" Type="http://schemas.openxmlformats.org/officeDocument/2006/relationships/image" Target="../media/image9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4" Type="http://schemas.openxmlformats.org/officeDocument/2006/relationships/image" Target="../media/image9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426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576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80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6180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327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369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568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869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081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7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822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CD11C2-3E41-4866-879E-EFEC7635596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7313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D53D9-DA3B-4D25-AC0E-C8F05FD3A156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959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4.wmf"/><Relationship Id="rId3" Type="http://schemas.openxmlformats.org/officeDocument/2006/relationships/image" Target="../media/image16.jpeg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1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1.wmf"/><Relationship Id="rId3" Type="http://schemas.openxmlformats.org/officeDocument/2006/relationships/oleObject" Target="../embeddings/oleObject16.bin"/><Relationship Id="rId7" Type="http://schemas.openxmlformats.org/officeDocument/2006/relationships/image" Target="../media/image23.jpeg"/><Relationship Id="rId12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11" Type="http://schemas.openxmlformats.org/officeDocument/2006/relationships/image" Target="../media/image20.wmf"/><Relationship Id="rId5" Type="http://schemas.openxmlformats.org/officeDocument/2006/relationships/oleObject" Target="../embeddings/oleObject17.bin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19.bin"/><Relationship Id="rId4" Type="http://schemas.openxmlformats.org/officeDocument/2006/relationships/image" Target="../media/image17.wmf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2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29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3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13" Type="http://schemas.openxmlformats.org/officeDocument/2006/relationships/oleObject" Target="../embeddings/oleObject37.bin"/><Relationship Id="rId18" Type="http://schemas.openxmlformats.org/officeDocument/2006/relationships/oleObject" Target="../embeddings/oleObject39.bin"/><Relationship Id="rId26" Type="http://schemas.openxmlformats.org/officeDocument/2006/relationships/oleObject" Target="../embeddings/oleObject43.bin"/><Relationship Id="rId3" Type="http://schemas.openxmlformats.org/officeDocument/2006/relationships/oleObject" Target="../embeddings/oleObject32.bin"/><Relationship Id="rId21" Type="http://schemas.openxmlformats.org/officeDocument/2006/relationships/image" Target="../media/image42.wmf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8.wmf"/><Relationship Id="rId17" Type="http://schemas.openxmlformats.org/officeDocument/2006/relationships/image" Target="../media/image46.jpeg"/><Relationship Id="rId25" Type="http://schemas.openxmlformats.org/officeDocument/2006/relationships/image" Target="../media/image44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0.wmf"/><Relationship Id="rId20" Type="http://schemas.openxmlformats.org/officeDocument/2006/relationships/oleObject" Target="../embeddings/oleObject40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6.bin"/><Relationship Id="rId24" Type="http://schemas.openxmlformats.org/officeDocument/2006/relationships/oleObject" Target="../embeddings/oleObject42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23" Type="http://schemas.openxmlformats.org/officeDocument/2006/relationships/image" Target="../media/image43.wmf"/><Relationship Id="rId10" Type="http://schemas.openxmlformats.org/officeDocument/2006/relationships/image" Target="../media/image37.wmf"/><Relationship Id="rId19" Type="http://schemas.openxmlformats.org/officeDocument/2006/relationships/image" Target="../media/image41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9.wmf"/><Relationship Id="rId22" Type="http://schemas.openxmlformats.org/officeDocument/2006/relationships/oleObject" Target="../embeddings/oleObject41.bin"/><Relationship Id="rId27" Type="http://schemas.openxmlformats.org/officeDocument/2006/relationships/image" Target="../media/image4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oleObject" Target="../embeddings/oleObject49.bin"/><Relationship Id="rId18" Type="http://schemas.openxmlformats.org/officeDocument/2006/relationships/image" Target="../media/image54.wmf"/><Relationship Id="rId3" Type="http://schemas.openxmlformats.org/officeDocument/2006/relationships/oleObject" Target="../embeddings/oleObject44.bin"/><Relationship Id="rId21" Type="http://schemas.openxmlformats.org/officeDocument/2006/relationships/image" Target="../media/image55.wmf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51.wmf"/><Relationship Id="rId17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3.wmf"/><Relationship Id="rId20" Type="http://schemas.openxmlformats.org/officeDocument/2006/relationships/oleObject" Target="../embeddings/oleObject53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10" Type="http://schemas.openxmlformats.org/officeDocument/2006/relationships/image" Target="../media/image50.wmf"/><Relationship Id="rId19" Type="http://schemas.openxmlformats.org/officeDocument/2006/relationships/oleObject" Target="../embeddings/oleObject52.bin"/><Relationship Id="rId4" Type="http://schemas.openxmlformats.org/officeDocument/2006/relationships/image" Target="../media/image47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52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58.jpeg"/><Relationship Id="rId4" Type="http://schemas.openxmlformats.org/officeDocument/2006/relationships/image" Target="../media/image5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60.bin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6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5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oleObject" Target="../embeddings/oleObject67.bin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9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70.jpeg"/><Relationship Id="rId4" Type="http://schemas.openxmlformats.org/officeDocument/2006/relationships/image" Target="../media/image66.wmf"/><Relationship Id="rId9" Type="http://schemas.openxmlformats.org/officeDocument/2006/relationships/image" Target="../media/image68.wmf"/><Relationship Id="rId14" Type="http://schemas.openxmlformats.org/officeDocument/2006/relationships/image" Target="../media/image3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73.bin"/><Relationship Id="rId18" Type="http://schemas.openxmlformats.org/officeDocument/2006/relationships/image" Target="../media/image80.wmf"/><Relationship Id="rId3" Type="http://schemas.openxmlformats.org/officeDocument/2006/relationships/oleObject" Target="../embeddings/oleObject68.bin"/><Relationship Id="rId21" Type="http://schemas.openxmlformats.org/officeDocument/2006/relationships/oleObject" Target="../embeddings/oleObject77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77.wmf"/><Relationship Id="rId17" Type="http://schemas.openxmlformats.org/officeDocument/2006/relationships/oleObject" Target="../embeddings/oleObject7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9.wmf"/><Relationship Id="rId20" Type="http://schemas.openxmlformats.org/officeDocument/2006/relationships/image" Target="../media/image81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72.bin"/><Relationship Id="rId24" Type="http://schemas.openxmlformats.org/officeDocument/2006/relationships/image" Target="../media/image83.wmf"/><Relationship Id="rId5" Type="http://schemas.openxmlformats.org/officeDocument/2006/relationships/oleObject" Target="../embeddings/oleObject69.bin"/><Relationship Id="rId15" Type="http://schemas.openxmlformats.org/officeDocument/2006/relationships/oleObject" Target="../embeddings/oleObject74.bin"/><Relationship Id="rId23" Type="http://schemas.openxmlformats.org/officeDocument/2006/relationships/oleObject" Target="../embeddings/oleObject78.bin"/><Relationship Id="rId10" Type="http://schemas.openxmlformats.org/officeDocument/2006/relationships/image" Target="../media/image76.wmf"/><Relationship Id="rId19" Type="http://schemas.openxmlformats.org/officeDocument/2006/relationships/oleObject" Target="../embeddings/oleObject76.bin"/><Relationship Id="rId4" Type="http://schemas.openxmlformats.org/officeDocument/2006/relationships/image" Target="../media/image73.w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78.wmf"/><Relationship Id="rId22" Type="http://schemas.openxmlformats.org/officeDocument/2006/relationships/image" Target="../media/image8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oleObject" Target="../embeddings/oleObject84.bin"/><Relationship Id="rId18" Type="http://schemas.openxmlformats.org/officeDocument/2006/relationships/image" Target="../media/image91.wmf"/><Relationship Id="rId3" Type="http://schemas.openxmlformats.org/officeDocument/2006/relationships/oleObject" Target="../embeddings/oleObject79.bin"/><Relationship Id="rId21" Type="http://schemas.openxmlformats.org/officeDocument/2006/relationships/oleObject" Target="../embeddings/oleObject88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88.wmf"/><Relationship Id="rId17" Type="http://schemas.openxmlformats.org/officeDocument/2006/relationships/oleObject" Target="../embeddings/oleObject86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90.wmf"/><Relationship Id="rId20" Type="http://schemas.openxmlformats.org/officeDocument/2006/relationships/image" Target="../media/image92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83.bin"/><Relationship Id="rId5" Type="http://schemas.openxmlformats.org/officeDocument/2006/relationships/oleObject" Target="../embeddings/oleObject80.bin"/><Relationship Id="rId15" Type="http://schemas.openxmlformats.org/officeDocument/2006/relationships/oleObject" Target="../embeddings/oleObject85.bin"/><Relationship Id="rId10" Type="http://schemas.openxmlformats.org/officeDocument/2006/relationships/image" Target="../media/image87.wmf"/><Relationship Id="rId19" Type="http://schemas.openxmlformats.org/officeDocument/2006/relationships/oleObject" Target="../embeddings/oleObject87.bin"/><Relationship Id="rId4" Type="http://schemas.openxmlformats.org/officeDocument/2006/relationships/image" Target="../media/image84.wmf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89.wmf"/><Relationship Id="rId22" Type="http://schemas.openxmlformats.org/officeDocument/2006/relationships/image" Target="../media/image9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7.wmf"/><Relationship Id="rId11" Type="http://schemas.openxmlformats.org/officeDocument/2006/relationships/image" Target="../media/image100.png"/><Relationship Id="rId5" Type="http://schemas.openxmlformats.org/officeDocument/2006/relationships/oleObject" Target="../embeddings/oleObject90.bin"/><Relationship Id="rId10" Type="http://schemas.openxmlformats.org/officeDocument/2006/relationships/image" Target="../media/image99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92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49506" y="560293"/>
            <a:ext cx="9144000" cy="1909763"/>
          </a:xfrm>
        </p:spPr>
        <p:txBody>
          <a:bodyPr/>
          <a:lstStyle/>
          <a:p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Каганов Ю.Т.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оптимизации</a:t>
            </a:r>
            <a:b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</a:t>
            </a:r>
            <a:r>
              <a:rPr lang="ru-RU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№ 3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49506" y="3189661"/>
            <a:ext cx="9144000" cy="1655762"/>
          </a:xfrm>
        </p:spPr>
        <p:txBody>
          <a:bodyPr>
            <a:normAutofit/>
          </a:bodyPr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математического программирования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79321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en-US" altLang="ru-RU" sz="4000" b="1" u="sng" dirty="0"/>
              <a:t>1</a:t>
            </a:r>
            <a:r>
              <a:rPr lang="ru-RU" altLang="ru-RU" sz="4000" b="1" u="sng" dirty="0"/>
              <a:t>. Алгоритм и сходимость алгоритмов.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313" y="1628776"/>
            <a:ext cx="8229600" cy="4525963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ru-RU" b="1" u="sng" dirty="0"/>
              <a:t>1</a:t>
            </a:r>
            <a:r>
              <a:rPr lang="ru-RU" altLang="ru-RU" b="1" u="sng" dirty="0"/>
              <a:t>.1. Понятие алгоритма. Алгоритмические отображения.</a:t>
            </a:r>
          </a:p>
          <a:p>
            <a:pPr marL="609600" indent="-609600">
              <a:buNone/>
            </a:pPr>
            <a:r>
              <a:rPr lang="ru-RU" altLang="ru-RU" sz="1800" b="1" u="sng" dirty="0"/>
              <a:t>Определение</a:t>
            </a:r>
            <a:r>
              <a:rPr lang="ru-RU" altLang="ru-RU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Алгоритмом называется итеративный процесс вычислений, который порождает последовательность точек в соответствии с предписанным набором правил, включающим критерий окончания этого процесса.</a:t>
            </a:r>
          </a:p>
          <a:p>
            <a:pPr marL="609600" indent="-609600">
              <a:buNone/>
            </a:pPr>
            <a:r>
              <a:rPr lang="ru-RU" altLang="ru-RU" sz="1800" b="1" u="sng" dirty="0"/>
              <a:t>Алгоритмическое отображение.</a:t>
            </a:r>
            <a:r>
              <a:rPr lang="ru-RU" altLang="ru-RU" sz="1800" dirty="0"/>
              <a:t> </a:t>
            </a:r>
          </a:p>
          <a:p>
            <a:pPr marL="609600" indent="-609600"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А: </a:t>
            </a: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0965" name="Object 5"/>
          <p:cNvGraphicFramePr>
            <a:graphicFrameLocks noChangeAspect="1"/>
          </p:cNvGraphicFramePr>
          <p:nvPr/>
        </p:nvGraphicFramePr>
        <p:xfrm>
          <a:off x="3143251" y="4005264"/>
          <a:ext cx="24479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Формула" r:id="rId3" imgW="1016000" imgH="228600" progId="Equation.3">
                  <p:embed/>
                </p:oleObj>
              </mc:Choice>
              <mc:Fallback>
                <p:oleObj name="Формула" r:id="rId3" imgW="1016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4005264"/>
                        <a:ext cx="24479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" name="Rectangle 6"/>
          <p:cNvSpPr>
            <a:spLocks noChangeArrowheads="1"/>
          </p:cNvSpPr>
          <p:nvPr/>
        </p:nvSpPr>
        <p:spPr bwMode="auto">
          <a:xfrm>
            <a:off x="1524001" y="30871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0967" name="Object 7"/>
          <p:cNvGraphicFramePr>
            <a:graphicFrameLocks noChangeAspect="1"/>
          </p:cNvGraphicFramePr>
          <p:nvPr/>
        </p:nvGraphicFramePr>
        <p:xfrm>
          <a:off x="5664201" y="3933826"/>
          <a:ext cx="20161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Формула" r:id="rId5" imgW="876300" imgH="228600" progId="Equation.3">
                  <p:embed/>
                </p:oleObj>
              </mc:Choice>
              <mc:Fallback>
                <p:oleObj name="Формула" r:id="rId5" imgW="876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1" y="3933826"/>
                        <a:ext cx="20161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8" name="Rectangle 8"/>
          <p:cNvSpPr>
            <a:spLocks noChangeArrowheads="1"/>
          </p:cNvSpPr>
          <p:nvPr/>
        </p:nvSpPr>
        <p:spPr bwMode="auto">
          <a:xfrm>
            <a:off x="152400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0969" name="Rectangle 9"/>
          <p:cNvSpPr>
            <a:spLocks noChangeArrowheads="1"/>
          </p:cNvSpPr>
          <p:nvPr/>
        </p:nvSpPr>
        <p:spPr bwMode="auto">
          <a:xfrm>
            <a:off x="7680326" y="3933826"/>
            <a:ext cx="6381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для </a:t>
            </a:r>
          </a:p>
        </p:txBody>
      </p:sp>
      <p:sp>
        <p:nvSpPr>
          <p:cNvPr id="40970" name="Rectangle 10"/>
          <p:cNvSpPr>
            <a:spLocks noChangeArrowheads="1"/>
          </p:cNvSpPr>
          <p:nvPr/>
        </p:nvSpPr>
        <p:spPr bwMode="auto">
          <a:xfrm>
            <a:off x="1524001" y="31109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0971" name="Object 11"/>
          <p:cNvGraphicFramePr>
            <a:graphicFrameLocks noChangeAspect="1"/>
          </p:cNvGraphicFramePr>
          <p:nvPr/>
        </p:nvGraphicFramePr>
        <p:xfrm>
          <a:off x="8256588" y="3933825"/>
          <a:ext cx="1223962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Формула" r:id="rId7" imgW="507780" imgH="177723" progId="Equation.3">
                  <p:embed/>
                </p:oleObj>
              </mc:Choice>
              <mc:Fallback>
                <p:oleObj name="Формула" r:id="rId7" imgW="507780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588" y="3933825"/>
                        <a:ext cx="1223962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2" name="Rectangle 12"/>
          <p:cNvSpPr>
            <a:spLocks noChangeArrowheads="1"/>
          </p:cNvSpPr>
          <p:nvPr/>
        </p:nvSpPr>
        <p:spPr bwMode="auto">
          <a:xfrm>
            <a:off x="5375275" y="4076701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/>
              <a:t>,</a:t>
            </a:r>
            <a:r>
              <a:rPr lang="ru-RU" altLang="ru-RU" sz="1800"/>
              <a:t> </a:t>
            </a:r>
          </a:p>
        </p:txBody>
      </p:sp>
      <p:sp>
        <p:nvSpPr>
          <p:cNvPr id="40973" name="Rectangle 13"/>
          <p:cNvSpPr>
            <a:spLocks noChangeArrowheads="1"/>
          </p:cNvSpPr>
          <p:nvPr/>
        </p:nvSpPr>
        <p:spPr bwMode="auto">
          <a:xfrm>
            <a:off x="9409113" y="400526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b="1"/>
              <a:t>,</a:t>
            </a:r>
            <a:r>
              <a:rPr lang="ru-RU" altLang="ru-RU" sz="1800"/>
              <a:t> </a:t>
            </a:r>
          </a:p>
        </p:txBody>
      </p:sp>
      <p:sp>
        <p:nvSpPr>
          <p:cNvPr id="40974" name="Rectangle 14"/>
          <p:cNvSpPr>
            <a:spLocks noChangeArrowheads="1"/>
          </p:cNvSpPr>
          <p:nvPr/>
        </p:nvSpPr>
        <p:spPr bwMode="auto">
          <a:xfrm>
            <a:off x="2063750" y="4460875"/>
            <a:ext cx="1658938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</a:t>
            </a:r>
          </a:p>
        </p:txBody>
      </p:sp>
      <p:graphicFrame>
        <p:nvGraphicFramePr>
          <p:cNvPr id="40975" name="Object 15"/>
          <p:cNvGraphicFramePr>
            <a:graphicFrameLocks noChangeAspect="1"/>
          </p:cNvGraphicFramePr>
          <p:nvPr/>
        </p:nvGraphicFramePr>
        <p:xfrm>
          <a:off x="3935414" y="4437064"/>
          <a:ext cx="367347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Формула" r:id="rId9" imgW="1549400" imgH="228600" progId="Equation.3">
                  <p:embed/>
                </p:oleObj>
              </mc:Choice>
              <mc:Fallback>
                <p:oleObj name="Формула" r:id="rId9" imgW="1549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4" y="4437064"/>
                        <a:ext cx="3673475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6" name="Rectangle 16"/>
          <p:cNvSpPr>
            <a:spLocks noChangeArrowheads="1"/>
          </p:cNvSpPr>
          <p:nvPr/>
        </p:nvSpPr>
        <p:spPr bwMode="auto">
          <a:xfrm>
            <a:off x="4957764" y="3619500"/>
            <a:ext cx="204787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600"/>
              <a:t> </a:t>
            </a:r>
            <a:endParaRPr lang="ru-RU" altLang="ru-RU" sz="1800"/>
          </a:p>
        </p:txBody>
      </p:sp>
      <p:sp>
        <p:nvSpPr>
          <p:cNvPr id="40977" name="Rectangle 17"/>
          <p:cNvSpPr>
            <a:spLocks noChangeArrowheads="1"/>
          </p:cNvSpPr>
          <p:nvPr/>
        </p:nvSpPr>
        <p:spPr bwMode="auto">
          <a:xfrm>
            <a:off x="7608888" y="4508501"/>
            <a:ext cx="1225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40978" name="Object 18"/>
          <p:cNvGraphicFramePr>
            <a:graphicFrameLocks noChangeAspect="1"/>
          </p:cNvGraphicFramePr>
          <p:nvPr/>
        </p:nvGraphicFramePr>
        <p:xfrm>
          <a:off x="8040689" y="4508500"/>
          <a:ext cx="5048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Формула" r:id="rId11" imgW="253780" imgH="203024" progId="Equation.3">
                  <p:embed/>
                </p:oleObj>
              </mc:Choice>
              <mc:Fallback>
                <p:oleObj name="Формула" r:id="rId11" imgW="253780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689" y="4508500"/>
                        <a:ext cx="5048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9" name="Rectangle 19"/>
          <p:cNvSpPr>
            <a:spLocks noChangeArrowheads="1"/>
          </p:cNvSpPr>
          <p:nvPr/>
        </p:nvSpPr>
        <p:spPr bwMode="auto">
          <a:xfrm>
            <a:off x="8472488" y="4581526"/>
            <a:ext cx="19796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- начальная точка</a:t>
            </a:r>
            <a:r>
              <a:rPr lang="ru-RU" altLang="ru-RU" sz="1800">
                <a:cs typeface="Times New Roman" panose="02020603050405020304" pitchFamily="18" charset="0"/>
              </a:rPr>
              <a:t>.</a:t>
            </a:r>
            <a:endParaRPr lang="ru-RU" altLang="ru-RU" sz="1800"/>
          </a:p>
        </p:txBody>
      </p:sp>
      <p:sp>
        <p:nvSpPr>
          <p:cNvPr id="40980" name="Rectangle 20"/>
          <p:cNvSpPr>
            <a:spLocks noChangeArrowheads="1"/>
          </p:cNvSpPr>
          <p:nvPr/>
        </p:nvSpPr>
        <p:spPr bwMode="auto">
          <a:xfrm>
            <a:off x="1992314" y="5051426"/>
            <a:ext cx="8497887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 качестве реализации алгоритмического отображения методов оптимизации может быть выбрана некоторая функция спуска, зависящая от переменных проектирования </a:t>
            </a:r>
          </a:p>
        </p:txBody>
      </p:sp>
      <p:sp>
        <p:nvSpPr>
          <p:cNvPr id="40981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0982" name="Object 22"/>
          <p:cNvGraphicFramePr>
            <a:graphicFrameLocks noChangeAspect="1"/>
          </p:cNvGraphicFramePr>
          <p:nvPr/>
        </p:nvGraphicFramePr>
        <p:xfrm>
          <a:off x="3776664" y="5588000"/>
          <a:ext cx="115093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Формула" r:id="rId13" imgW="444307" imgH="228501" progId="Equation.3">
                  <p:embed/>
                </p:oleObj>
              </mc:Choice>
              <mc:Fallback>
                <p:oleObj name="Формула" r:id="rId13" imgW="444307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6664" y="5588000"/>
                        <a:ext cx="115093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3" name="Rectangle 23"/>
          <p:cNvSpPr>
            <a:spLocks noChangeArrowheads="1"/>
          </p:cNvSpPr>
          <p:nvPr/>
        </p:nvSpPr>
        <p:spPr bwMode="auto">
          <a:xfrm>
            <a:off x="1981200" y="5837238"/>
            <a:ext cx="47434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При этом она должна удовлетворить условию </a:t>
            </a:r>
          </a:p>
        </p:txBody>
      </p:sp>
      <p:sp>
        <p:nvSpPr>
          <p:cNvPr id="40984" name="Rectangle 24"/>
          <p:cNvSpPr>
            <a:spLocks noChangeArrowheads="1"/>
          </p:cNvSpPr>
          <p:nvPr/>
        </p:nvSpPr>
        <p:spPr bwMode="auto">
          <a:xfrm>
            <a:off x="4886325" y="5626101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 </a:t>
            </a:r>
          </a:p>
        </p:txBody>
      </p:sp>
      <p:sp>
        <p:nvSpPr>
          <p:cNvPr id="40985" name="Rectangle 25"/>
          <p:cNvSpPr>
            <a:spLocks noChangeArrowheads="1"/>
          </p:cNvSpPr>
          <p:nvPr/>
        </p:nvSpPr>
        <p:spPr bwMode="auto">
          <a:xfrm>
            <a:off x="1524001" y="31220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0986" name="Object 26"/>
          <p:cNvGraphicFramePr>
            <a:graphicFrameLocks noChangeAspect="1"/>
          </p:cNvGraphicFramePr>
          <p:nvPr/>
        </p:nvGraphicFramePr>
        <p:xfrm>
          <a:off x="6642100" y="5818189"/>
          <a:ext cx="230505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Формула" r:id="rId15" imgW="1104900" imgH="228600" progId="Equation.3">
                  <p:embed/>
                </p:oleObj>
              </mc:Choice>
              <mc:Fallback>
                <p:oleObj name="Формула" r:id="rId15" imgW="11049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2100" y="5818189"/>
                        <a:ext cx="230505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7" name="Object 27"/>
          <p:cNvGraphicFramePr>
            <a:graphicFrameLocks noChangeAspect="1"/>
          </p:cNvGraphicFramePr>
          <p:nvPr/>
        </p:nvGraphicFramePr>
        <p:xfrm>
          <a:off x="9058276" y="6226176"/>
          <a:ext cx="576263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Формула" r:id="rId17" imgW="342751" imgH="203112" progId="Equation.3">
                  <p:embed/>
                </p:oleObj>
              </mc:Choice>
              <mc:Fallback>
                <p:oleObj name="Формула" r:id="rId17" imgW="342751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8276" y="6226176"/>
                        <a:ext cx="576263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8" name="Object 28"/>
          <p:cNvGraphicFramePr>
            <a:graphicFrameLocks noChangeAspect="1"/>
          </p:cNvGraphicFramePr>
          <p:nvPr/>
        </p:nvGraphicFramePr>
        <p:xfrm>
          <a:off x="5353051" y="6505575"/>
          <a:ext cx="720725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Формула" r:id="rId19" imgW="444307" imgH="203112" progId="Equation.3">
                  <p:embed/>
                </p:oleObj>
              </mc:Choice>
              <mc:Fallback>
                <p:oleObj name="Формула" r:id="rId19" imgW="44430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3051" y="6505575"/>
                        <a:ext cx="720725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9" name="Rectangle 29"/>
          <p:cNvSpPr>
            <a:spLocks noChangeArrowheads="1"/>
          </p:cNvSpPr>
          <p:nvPr/>
        </p:nvSpPr>
        <p:spPr bwMode="auto">
          <a:xfrm>
            <a:off x="1981201" y="6138863"/>
            <a:ext cx="75676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В качестве функции спуска может быть  использована целевая функция </a:t>
            </a:r>
          </a:p>
        </p:txBody>
      </p:sp>
      <p:sp>
        <p:nvSpPr>
          <p:cNvPr id="40990" name="Rectangle 30"/>
          <p:cNvSpPr>
            <a:spLocks noChangeArrowheads="1"/>
          </p:cNvSpPr>
          <p:nvPr/>
        </p:nvSpPr>
        <p:spPr bwMode="auto">
          <a:xfrm>
            <a:off x="1758950" y="6402388"/>
            <a:ext cx="51006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или градиент целевой функции  </a:t>
            </a:r>
          </a:p>
        </p:txBody>
      </p:sp>
      <p:sp>
        <p:nvSpPr>
          <p:cNvPr id="40991" name="Rectangle 24"/>
          <p:cNvSpPr>
            <a:spLocks noChangeArrowheads="1"/>
          </p:cNvSpPr>
          <p:nvPr/>
        </p:nvSpPr>
        <p:spPr bwMode="auto">
          <a:xfrm>
            <a:off x="4886325" y="5626101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 </a:t>
            </a:r>
          </a:p>
        </p:txBody>
      </p:sp>
      <p:sp>
        <p:nvSpPr>
          <p:cNvPr id="40992" name="Rectangle 24"/>
          <p:cNvSpPr>
            <a:spLocks noChangeArrowheads="1"/>
          </p:cNvSpPr>
          <p:nvPr/>
        </p:nvSpPr>
        <p:spPr bwMode="auto">
          <a:xfrm>
            <a:off x="8905875" y="5842001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48697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altLang="ru-RU" sz="4000" b="1" u="sng" dirty="0"/>
              <a:t>1</a:t>
            </a:r>
            <a:r>
              <a:rPr lang="ru-RU" altLang="ru-RU" sz="4000" b="1" u="sng" dirty="0"/>
              <a:t>. Алгоритм и сходимость алгоритмов.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0825" y="1452563"/>
            <a:ext cx="8713788" cy="5257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ru-RU" b="1" u="sng" dirty="0"/>
              <a:t>1</a:t>
            </a:r>
            <a:r>
              <a:rPr lang="ru-RU" altLang="ru-RU" b="1" u="sng" dirty="0"/>
              <a:t>.2.</a:t>
            </a:r>
            <a:r>
              <a:rPr lang="ru-RU" altLang="ru-RU" dirty="0"/>
              <a:t>  </a:t>
            </a:r>
            <a:r>
              <a:rPr lang="ru-RU" altLang="ru-RU" b="1" u="sng" dirty="0"/>
              <a:t>Композиция алгоритмических отображений.</a:t>
            </a:r>
          </a:p>
        </p:txBody>
      </p:sp>
      <p:pic>
        <p:nvPicPr>
          <p:cNvPr id="41988" name="Picture 4" descr="L9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2636839"/>
            <a:ext cx="3455988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1989" name="Object 5"/>
          <p:cNvGraphicFramePr>
            <a:graphicFrameLocks noChangeAspect="1"/>
          </p:cNvGraphicFramePr>
          <p:nvPr/>
        </p:nvGraphicFramePr>
        <p:xfrm>
          <a:off x="8040688" y="2946401"/>
          <a:ext cx="187166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Формула" r:id="rId4" imgW="748975" imgH="215806" progId="Equation.3">
                  <p:embed/>
                </p:oleObj>
              </mc:Choice>
              <mc:Fallback>
                <p:oleObj name="Формула" r:id="rId4" imgW="748975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0688" y="2946401"/>
                        <a:ext cx="1871662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/>
          <p:cNvGraphicFramePr>
            <a:graphicFrameLocks noChangeAspect="1"/>
          </p:cNvGraphicFramePr>
          <p:nvPr/>
        </p:nvGraphicFramePr>
        <p:xfrm>
          <a:off x="8620126" y="3278188"/>
          <a:ext cx="100806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Формула" r:id="rId6" imgW="583947" imgH="228501" progId="Equation.3">
                  <p:embed/>
                </p:oleObj>
              </mc:Choice>
              <mc:Fallback>
                <p:oleObj name="Формула" r:id="rId6" imgW="583947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26" y="3278188"/>
                        <a:ext cx="100806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4926014" y="2303464"/>
            <a:ext cx="538003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AutoNum type="arabicPeriod"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направления уменьшения функции спуска 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– в области возможного направления. Например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992" name="Rectangle 8"/>
          <p:cNvSpPr>
            <a:spLocks noChangeArrowheads="1"/>
          </p:cNvSpPr>
          <p:nvPr/>
        </p:nvSpPr>
        <p:spPr bwMode="auto">
          <a:xfrm>
            <a:off x="5341938" y="3252789"/>
            <a:ext cx="3327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Этот алгоритм  обозначим </a:t>
            </a:r>
            <a:r>
              <a:rPr lang="en-US" altLang="ru-RU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41993" name="Rectangle 9"/>
          <p:cNvSpPr>
            <a:spLocks noChangeArrowheads="1"/>
          </p:cNvSpPr>
          <p:nvPr/>
        </p:nvSpPr>
        <p:spPr bwMode="auto">
          <a:xfrm>
            <a:off x="3292476" y="37909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676275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67627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6762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 sz="1800"/>
          </a:p>
        </p:txBody>
      </p: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1995" name="Object 11"/>
          <p:cNvGraphicFramePr>
            <a:graphicFrameLocks noChangeAspect="1"/>
          </p:cNvGraphicFramePr>
          <p:nvPr/>
        </p:nvGraphicFramePr>
        <p:xfrm>
          <a:off x="7248525" y="3860801"/>
          <a:ext cx="228600" cy="22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Формула" r:id="rId8" imgW="152334" imgH="139639" progId="Equation.3">
                  <p:embed/>
                </p:oleObj>
              </mc:Choice>
              <mc:Fallback>
                <p:oleObj name="Формула" r:id="rId8" imgW="152334" imgH="1396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525" y="3860801"/>
                        <a:ext cx="228600" cy="22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6" name="Rectangle 12"/>
          <p:cNvSpPr>
            <a:spLocks noChangeArrowheads="1"/>
          </p:cNvSpPr>
          <p:nvPr/>
        </p:nvSpPr>
        <p:spPr bwMode="auto">
          <a:xfrm>
            <a:off x="5448300" y="3716339"/>
            <a:ext cx="1854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/>
              <a:t>2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Выбор шага </a:t>
            </a:r>
          </a:p>
        </p:txBody>
      </p:sp>
      <p:sp>
        <p:nvSpPr>
          <p:cNvPr id="41997" name="Rectangle 13"/>
          <p:cNvSpPr>
            <a:spLocks noChangeArrowheads="1"/>
          </p:cNvSpPr>
          <p:nvPr/>
        </p:nvSpPr>
        <p:spPr bwMode="auto">
          <a:xfrm>
            <a:off x="5664200" y="4508501"/>
            <a:ext cx="3460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676275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67627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6762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. 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Этот алгоритм обозначим </a:t>
            </a:r>
            <a:r>
              <a:rPr lang="en-US" altLang="ru-RU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1998" name="Rectangle 14"/>
          <p:cNvSpPr>
            <a:spLocks noChangeArrowheads="1"/>
          </p:cNvSpPr>
          <p:nvPr/>
        </p:nvSpPr>
        <p:spPr bwMode="auto">
          <a:xfrm>
            <a:off x="7391401" y="3789364"/>
            <a:ext cx="55086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→     </a:t>
            </a:r>
            <a:endParaRPr lang="ru-RU" altLang="ru-RU" sz="1800"/>
          </a:p>
        </p:txBody>
      </p:sp>
      <p:graphicFrame>
        <p:nvGraphicFramePr>
          <p:cNvPr id="41999" name="Object 15"/>
          <p:cNvGraphicFramePr>
            <a:graphicFrameLocks noChangeAspect="1"/>
          </p:cNvGraphicFramePr>
          <p:nvPr/>
        </p:nvGraphicFramePr>
        <p:xfrm>
          <a:off x="7608889" y="3789364"/>
          <a:ext cx="280828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Формула" r:id="rId10" imgW="1778000" imgH="228600" progId="Equation.3">
                  <p:embed/>
                </p:oleObj>
              </mc:Choice>
              <mc:Fallback>
                <p:oleObj name="Формула" r:id="rId10" imgW="1778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889" y="3789364"/>
                        <a:ext cx="2808287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0" name="Rectangle 16"/>
          <p:cNvSpPr>
            <a:spLocks noChangeArrowheads="1"/>
          </p:cNvSpPr>
          <p:nvPr/>
        </p:nvSpPr>
        <p:spPr bwMode="auto">
          <a:xfrm>
            <a:off x="4892675" y="3559175"/>
            <a:ext cx="3127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.  </a:t>
            </a:r>
            <a:endParaRPr lang="ru-RU" altLang="ru-RU" sz="1800"/>
          </a:p>
        </p:txBody>
      </p:sp>
      <p:sp>
        <p:nvSpPr>
          <p:cNvPr id="42001" name="Rectangle 17"/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2002" name="Object 18"/>
          <p:cNvGraphicFramePr>
            <a:graphicFrameLocks noChangeAspect="1"/>
          </p:cNvGraphicFramePr>
          <p:nvPr/>
        </p:nvGraphicFramePr>
        <p:xfrm>
          <a:off x="6024563" y="4167188"/>
          <a:ext cx="3816350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Формула" r:id="rId12" imgW="2159000" imgH="228600" progId="Equation.3">
                  <p:embed/>
                </p:oleObj>
              </mc:Choice>
              <mc:Fallback>
                <p:oleObj name="Формула" r:id="rId12" imgW="2159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4167188"/>
                        <a:ext cx="3816350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3" name="Rectangle 19"/>
          <p:cNvSpPr>
            <a:spLocks noChangeArrowheads="1"/>
          </p:cNvSpPr>
          <p:nvPr/>
        </p:nvSpPr>
        <p:spPr bwMode="auto">
          <a:xfrm>
            <a:off x="1524001" y="3358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2004" name="Rectangle 20"/>
          <p:cNvSpPr>
            <a:spLocks noChangeArrowheads="1"/>
          </p:cNvSpPr>
          <p:nvPr/>
        </p:nvSpPr>
        <p:spPr bwMode="auto">
          <a:xfrm>
            <a:off x="5376864" y="4954588"/>
            <a:ext cx="5113337" cy="146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676275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67627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6762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3.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 решается задача с ограничениями, то необходимо ввести еще один алгоритм  </a:t>
            </a:r>
            <a:r>
              <a:rPr lang="en-US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 ,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учитывающий наличие ограничений.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общий алгоритм будет композицией алгоритмов: </a:t>
            </a:r>
          </a:p>
        </p:txBody>
      </p:sp>
      <p:sp>
        <p:nvSpPr>
          <p:cNvPr id="42005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2006" name="Object 22"/>
          <p:cNvGraphicFramePr>
            <a:graphicFrameLocks noChangeAspect="1"/>
          </p:cNvGraphicFramePr>
          <p:nvPr/>
        </p:nvGraphicFramePr>
        <p:xfrm>
          <a:off x="6672264" y="6089651"/>
          <a:ext cx="34575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3" name="Формула" r:id="rId14" imgW="1637589" imgH="203112" progId="Equation.3">
                  <p:embed/>
                </p:oleObj>
              </mc:Choice>
              <mc:Fallback>
                <p:oleObj name="Формула" r:id="rId14" imgW="163758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4" y="6089651"/>
                        <a:ext cx="34575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836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altLang="ru-RU" sz="4000" b="1" u="sng" dirty="0"/>
              <a:t>1</a:t>
            </a:r>
            <a:r>
              <a:rPr lang="ru-RU" altLang="ru-RU" sz="4000" b="1" u="sng" dirty="0"/>
              <a:t>. Алгоритм и сходимость алгоритмов.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3389" y="1412876"/>
            <a:ext cx="8713787" cy="5256213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ru-RU" b="1" u="sng" dirty="0"/>
              <a:t>1</a:t>
            </a:r>
            <a:r>
              <a:rPr lang="ru-RU" altLang="ru-RU" b="1" u="sng" dirty="0"/>
              <a:t>.2. Критерий окончания процесса оптимизации.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3292476" y="37909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676275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67627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6762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 sz="1800"/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4892675" y="3559175"/>
            <a:ext cx="3127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.  </a:t>
            </a:r>
            <a:endParaRPr lang="ru-RU" altLang="ru-RU" sz="1800"/>
          </a:p>
        </p:txBody>
      </p:sp>
      <p:sp>
        <p:nvSpPr>
          <p:cNvPr id="43014" name="Rectangle 6"/>
          <p:cNvSpPr>
            <a:spLocks noChangeArrowheads="1"/>
          </p:cNvSpPr>
          <p:nvPr/>
        </p:nvSpPr>
        <p:spPr bwMode="auto">
          <a:xfrm>
            <a:off x="152400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3015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3016" name="Object 8"/>
          <p:cNvGraphicFramePr>
            <a:graphicFrameLocks noChangeAspect="1"/>
          </p:cNvGraphicFramePr>
          <p:nvPr/>
        </p:nvGraphicFramePr>
        <p:xfrm>
          <a:off x="9023351" y="2278064"/>
          <a:ext cx="4619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Формула" r:id="rId3" imgW="177569" imgH="202936" progId="Equation.3">
                  <p:embed/>
                </p:oleObj>
              </mc:Choice>
              <mc:Fallback>
                <p:oleObj name="Формула" r:id="rId3" imgW="177569" imgH="2029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3351" y="2278064"/>
                        <a:ext cx="461963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7" name="Object 9"/>
          <p:cNvGraphicFramePr>
            <a:graphicFrameLocks noChangeAspect="1"/>
          </p:cNvGraphicFramePr>
          <p:nvPr/>
        </p:nvGraphicFramePr>
        <p:xfrm>
          <a:off x="8035925" y="2795589"/>
          <a:ext cx="14414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Формула" r:id="rId5" imgW="545863" imgH="228501" progId="Equation.3">
                  <p:embed/>
                </p:oleObj>
              </mc:Choice>
              <mc:Fallback>
                <p:oleObj name="Формула" r:id="rId5" imgW="545863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5925" y="2795589"/>
                        <a:ext cx="14414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8" name="Rectangle 10"/>
          <p:cNvSpPr>
            <a:spLocks noChangeArrowheads="1"/>
          </p:cNvSpPr>
          <p:nvPr/>
        </p:nvSpPr>
        <p:spPr bwMode="auto">
          <a:xfrm>
            <a:off x="1774825" y="2349501"/>
            <a:ext cx="7531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Точка зрения  математика состоит в нахождении точного решения </a:t>
            </a:r>
          </a:p>
        </p:txBody>
      </p:sp>
      <p:sp>
        <p:nvSpPr>
          <p:cNvPr id="43019" name="Rectangle 11"/>
          <p:cNvSpPr>
            <a:spLocks noChangeArrowheads="1"/>
          </p:cNvSpPr>
          <p:nvPr/>
        </p:nvSpPr>
        <p:spPr bwMode="auto">
          <a:xfrm>
            <a:off x="1847851" y="2781301"/>
            <a:ext cx="63547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Точка зрения  инженера состоит в определение области </a:t>
            </a:r>
          </a:p>
        </p:txBody>
      </p:sp>
      <p:sp>
        <p:nvSpPr>
          <p:cNvPr id="43020" name="Rectangle 12"/>
          <p:cNvSpPr>
            <a:spLocks noChangeArrowheads="1"/>
          </p:cNvSpPr>
          <p:nvPr/>
        </p:nvSpPr>
        <p:spPr bwMode="auto">
          <a:xfrm>
            <a:off x="1919289" y="3068639"/>
            <a:ext cx="835183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близкой к оптимальной. В связи с этим существует несколько критериев останова в зависимости от точности решаемой задачи. </a:t>
            </a:r>
          </a:p>
          <a:p>
            <a:pPr>
              <a:spcBef>
                <a:spcPct val="0"/>
              </a:spcBef>
              <a:buFontTx/>
              <a:buNone/>
            </a:pPr>
            <a:endParaRPr lang="ru-RU" altLang="ru-RU" sz="2000"/>
          </a:p>
        </p:txBody>
      </p:sp>
      <p:sp>
        <p:nvSpPr>
          <p:cNvPr id="43021" name="Rectangle 13"/>
          <p:cNvSpPr>
            <a:spLocks noChangeArrowheads="1"/>
          </p:cNvSpPr>
          <p:nvPr/>
        </p:nvSpPr>
        <p:spPr bwMode="auto">
          <a:xfrm>
            <a:off x="9347200" y="2411413"/>
            <a:ext cx="247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.</a:t>
            </a:r>
          </a:p>
        </p:txBody>
      </p:sp>
      <p:pic>
        <p:nvPicPr>
          <p:cNvPr id="43022" name="Picture 14" descr="L9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3789363"/>
            <a:ext cx="3419475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23" name="Rectangle 15"/>
          <p:cNvSpPr>
            <a:spLocks noChangeArrowheads="1"/>
          </p:cNvSpPr>
          <p:nvPr/>
        </p:nvSpPr>
        <p:spPr bwMode="auto">
          <a:xfrm>
            <a:off x="1703389" y="6165851"/>
            <a:ext cx="29225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b="1"/>
              <a:t>Точка зрения инженера</a:t>
            </a:r>
            <a:r>
              <a:rPr lang="ru-RU" altLang="ru-RU" sz="1800"/>
              <a:t>.</a:t>
            </a:r>
          </a:p>
        </p:txBody>
      </p:sp>
      <p:sp>
        <p:nvSpPr>
          <p:cNvPr id="43024" name="Rectangle 16"/>
          <p:cNvSpPr>
            <a:spLocks noChangeArrowheads="1"/>
          </p:cNvSpPr>
          <p:nvPr/>
        </p:nvSpPr>
        <p:spPr bwMode="auto">
          <a:xfrm>
            <a:off x="5016501" y="3716338"/>
            <a:ext cx="370681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800" b="1"/>
              <a:t>Критерии останова алгоритма.</a:t>
            </a:r>
          </a:p>
        </p:txBody>
      </p:sp>
      <p:sp>
        <p:nvSpPr>
          <p:cNvPr id="43025" name="Rectangle 17"/>
          <p:cNvSpPr>
            <a:spLocks noChangeArrowheads="1"/>
          </p:cNvSpPr>
          <p:nvPr/>
        </p:nvSpPr>
        <p:spPr bwMode="auto">
          <a:xfrm>
            <a:off x="5016500" y="4076701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cs typeface="Times New Roman" panose="02020603050405020304" pitchFamily="18" charset="0"/>
              </a:rPr>
              <a:t>1.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graphicFrame>
        <p:nvGraphicFramePr>
          <p:cNvPr id="43026" name="Object 18"/>
          <p:cNvGraphicFramePr>
            <a:graphicFrameLocks noChangeAspect="1"/>
          </p:cNvGraphicFramePr>
          <p:nvPr/>
        </p:nvGraphicFramePr>
        <p:xfrm>
          <a:off x="5519739" y="4005263"/>
          <a:ext cx="194468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Формула" r:id="rId8" imgW="1066800" imgH="279400" progId="Equation.3">
                  <p:embed/>
                </p:oleObj>
              </mc:Choice>
              <mc:Fallback>
                <p:oleObj name="Формула" r:id="rId8" imgW="10668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9" y="4005263"/>
                        <a:ext cx="1944687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7" name="Rectangle 19"/>
          <p:cNvSpPr>
            <a:spLocks noChangeArrowheads="1"/>
          </p:cNvSpPr>
          <p:nvPr/>
        </p:nvSpPr>
        <p:spPr bwMode="auto">
          <a:xfrm>
            <a:off x="5562600" y="3567114"/>
            <a:ext cx="2476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600"/>
              <a:t> </a:t>
            </a:r>
            <a:endParaRPr lang="ru-RU" altLang="ru-RU" sz="1800"/>
          </a:p>
        </p:txBody>
      </p:sp>
      <p:sp>
        <p:nvSpPr>
          <p:cNvPr id="43028" name="Rectangle 20"/>
          <p:cNvSpPr>
            <a:spLocks noChangeArrowheads="1"/>
          </p:cNvSpPr>
          <p:nvPr/>
        </p:nvSpPr>
        <p:spPr bwMode="auto">
          <a:xfrm>
            <a:off x="1524001" y="29554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3029" name="Object 21"/>
          <p:cNvGraphicFramePr>
            <a:graphicFrameLocks noChangeAspect="1"/>
          </p:cNvGraphicFramePr>
          <p:nvPr/>
        </p:nvGraphicFramePr>
        <p:xfrm>
          <a:off x="5448301" y="4508500"/>
          <a:ext cx="1655763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Формула" r:id="rId10" imgW="761669" imgH="380835" progId="Equation.3">
                  <p:embed/>
                </p:oleObj>
              </mc:Choice>
              <mc:Fallback>
                <p:oleObj name="Формула" r:id="rId10" imgW="761669" imgH="3808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4508500"/>
                        <a:ext cx="1655763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0" name="Rectangle 22"/>
          <p:cNvSpPr>
            <a:spLocks noChangeArrowheads="1"/>
          </p:cNvSpPr>
          <p:nvPr/>
        </p:nvSpPr>
        <p:spPr bwMode="auto">
          <a:xfrm>
            <a:off x="4943475" y="4581526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/>
              <a:t>2</a:t>
            </a:r>
            <a:r>
              <a:rPr lang="ru-RU" altLang="ru-RU" sz="2000">
                <a:cs typeface="Times New Roman" panose="02020603050405020304" pitchFamily="18" charset="0"/>
              </a:rPr>
              <a:t>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sp>
        <p:nvSpPr>
          <p:cNvPr id="43031" name="Rectangle 23"/>
          <p:cNvSpPr>
            <a:spLocks noChangeArrowheads="1"/>
          </p:cNvSpPr>
          <p:nvPr/>
        </p:nvSpPr>
        <p:spPr bwMode="auto">
          <a:xfrm>
            <a:off x="1524001" y="30538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3032" name="Object 24"/>
          <p:cNvGraphicFramePr>
            <a:graphicFrameLocks noChangeAspect="1"/>
          </p:cNvGraphicFramePr>
          <p:nvPr/>
        </p:nvGraphicFramePr>
        <p:xfrm>
          <a:off x="5375275" y="5338764"/>
          <a:ext cx="25923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Формула" r:id="rId12" imgW="1282700" imgH="228600" progId="Equation.3">
                  <p:embed/>
                </p:oleObj>
              </mc:Choice>
              <mc:Fallback>
                <p:oleObj name="Формула" r:id="rId12" imgW="1282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5" y="5338764"/>
                        <a:ext cx="259238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3" name="Rectangle 25"/>
          <p:cNvSpPr>
            <a:spLocks noChangeArrowheads="1"/>
          </p:cNvSpPr>
          <p:nvPr/>
        </p:nvSpPr>
        <p:spPr bwMode="auto">
          <a:xfrm>
            <a:off x="4943475" y="5300664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/>
              <a:t>3</a:t>
            </a:r>
            <a:r>
              <a:rPr lang="ru-RU" altLang="ru-RU" sz="2000">
                <a:cs typeface="Times New Roman" panose="02020603050405020304" pitchFamily="18" charset="0"/>
              </a:rPr>
              <a:t>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sp>
        <p:nvSpPr>
          <p:cNvPr id="43034" name="Rectangle 26"/>
          <p:cNvSpPr>
            <a:spLocks noChangeArrowheads="1"/>
          </p:cNvSpPr>
          <p:nvPr/>
        </p:nvSpPr>
        <p:spPr bwMode="auto">
          <a:xfrm>
            <a:off x="1524001" y="30046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3035" name="Object 27"/>
          <p:cNvGraphicFramePr>
            <a:graphicFrameLocks noChangeAspect="1"/>
          </p:cNvGraphicFramePr>
          <p:nvPr/>
        </p:nvGraphicFramePr>
        <p:xfrm>
          <a:off x="5303838" y="5805489"/>
          <a:ext cx="252095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Формула" r:id="rId14" imgW="875920" imgH="304668" progId="Equation.3">
                  <p:embed/>
                </p:oleObj>
              </mc:Choice>
              <mc:Fallback>
                <p:oleObj name="Формула" r:id="rId14" imgW="875920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5805489"/>
                        <a:ext cx="2520950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6" name="Rectangle 28"/>
          <p:cNvSpPr>
            <a:spLocks noChangeArrowheads="1"/>
          </p:cNvSpPr>
          <p:nvPr/>
        </p:nvSpPr>
        <p:spPr bwMode="auto">
          <a:xfrm>
            <a:off x="4872038" y="6021389"/>
            <a:ext cx="438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/>
              <a:t>4</a:t>
            </a:r>
            <a:r>
              <a:rPr lang="ru-RU" altLang="ru-RU" sz="2000">
                <a:cs typeface="Times New Roman" panose="02020603050405020304" pitchFamily="18" charset="0"/>
              </a:rPr>
              <a:t>.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</p:spTree>
    <p:extLst>
      <p:ext uri="{BB962C8B-B14F-4D97-AF65-F5344CB8AC3E}">
        <p14:creationId xmlns:p14="http://schemas.microsoft.com/office/powerpoint/2010/main" val="3405991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altLang="ru-RU" sz="4000" b="1" u="sng" dirty="0"/>
              <a:t>1</a:t>
            </a:r>
            <a:r>
              <a:rPr lang="ru-RU" altLang="ru-RU" sz="4000" b="1" u="sng" dirty="0"/>
              <a:t>. Алгоритм и сходимость алгоритмов.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8314" y="1341438"/>
            <a:ext cx="8713787" cy="5256212"/>
          </a:xfrm>
        </p:spPr>
        <p:txBody>
          <a:bodyPr/>
          <a:lstStyle/>
          <a:p>
            <a:pPr marL="609600" indent="-609600">
              <a:buNone/>
            </a:pPr>
            <a:r>
              <a:rPr lang="en-US" altLang="ru-RU" b="1" u="sng" dirty="0"/>
              <a:t>1</a:t>
            </a:r>
            <a:r>
              <a:rPr lang="ru-RU" altLang="ru-RU" b="1" u="sng" dirty="0"/>
              <a:t>.3. Скорость сходимости алгоритмов.</a:t>
            </a:r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3292476" y="3790950"/>
            <a:ext cx="227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676275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67627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6762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76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 sz="1800"/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4892675" y="3559175"/>
            <a:ext cx="3127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.  </a:t>
            </a:r>
            <a:endParaRPr lang="ru-RU" altLang="ru-RU" sz="1800"/>
          </a:p>
        </p:txBody>
      </p:sp>
      <p:sp>
        <p:nvSpPr>
          <p:cNvPr id="44038" name="Rectangle 6"/>
          <p:cNvSpPr>
            <a:spLocks noChangeArrowheads="1"/>
          </p:cNvSpPr>
          <p:nvPr/>
        </p:nvSpPr>
        <p:spPr bwMode="auto">
          <a:xfrm>
            <a:off x="1524001" y="3388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4039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auto">
          <a:xfrm>
            <a:off x="5562600" y="3567114"/>
            <a:ext cx="2476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600"/>
              <a:t> </a:t>
            </a:r>
            <a:endParaRPr lang="ru-RU" altLang="ru-RU" sz="1800"/>
          </a:p>
        </p:txBody>
      </p:sp>
      <p:sp>
        <p:nvSpPr>
          <p:cNvPr id="44041" name="Rectangle 9"/>
          <p:cNvSpPr>
            <a:spLocks noChangeArrowheads="1"/>
          </p:cNvSpPr>
          <p:nvPr/>
        </p:nvSpPr>
        <p:spPr bwMode="auto">
          <a:xfrm>
            <a:off x="1524001" y="29569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4042" name="Rectangle 10"/>
          <p:cNvSpPr>
            <a:spLocks noChangeArrowheads="1"/>
          </p:cNvSpPr>
          <p:nvPr/>
        </p:nvSpPr>
        <p:spPr bwMode="auto">
          <a:xfrm>
            <a:off x="1524001" y="30538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4043" name="Rectangle 11"/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4044" name="Object 12"/>
          <p:cNvGraphicFramePr>
            <a:graphicFrameLocks noChangeAspect="1"/>
          </p:cNvGraphicFramePr>
          <p:nvPr/>
        </p:nvGraphicFramePr>
        <p:xfrm>
          <a:off x="5375276" y="1916114"/>
          <a:ext cx="282575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Формула" r:id="rId3" imgW="126780" imgH="215526" progId="Equation.3">
                  <p:embed/>
                </p:oleObj>
              </mc:Choice>
              <mc:Fallback>
                <p:oleObj name="Формула" r:id="rId3" imgW="126780" imgH="2155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6" y="1916114"/>
                        <a:ext cx="282575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5" name="Rectangle 13"/>
          <p:cNvSpPr>
            <a:spLocks noChangeArrowheads="1"/>
          </p:cNvSpPr>
          <p:nvPr/>
        </p:nvSpPr>
        <p:spPr bwMode="auto">
          <a:xfrm>
            <a:off x="1847851" y="1989139"/>
            <a:ext cx="1230313" cy="350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9121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Пусть</a:t>
            </a: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sp>
        <p:nvSpPr>
          <p:cNvPr id="44046" name="Rectangle 14"/>
          <p:cNvSpPr>
            <a:spLocks noChangeArrowheads="1"/>
          </p:cNvSpPr>
          <p:nvPr/>
        </p:nvSpPr>
        <p:spPr bwMode="auto">
          <a:xfrm>
            <a:off x="3935413" y="1989139"/>
            <a:ext cx="14843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сходится к </a:t>
            </a:r>
            <a:endParaRPr lang="ru-RU" altLang="ru-RU" sz="2000"/>
          </a:p>
        </p:txBody>
      </p:sp>
      <p:sp>
        <p:nvSpPr>
          <p:cNvPr id="44047" name="Rectangle 15"/>
          <p:cNvSpPr>
            <a:spLocks noChangeArrowheads="1"/>
          </p:cNvSpPr>
          <p:nvPr/>
        </p:nvSpPr>
        <p:spPr bwMode="auto">
          <a:xfrm>
            <a:off x="5664201" y="1989139"/>
            <a:ext cx="44926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тогда, если выполняются неравенства:</a:t>
            </a:r>
          </a:p>
          <a:p>
            <a:pPr>
              <a:spcBef>
                <a:spcPct val="0"/>
              </a:spcBef>
              <a:buFontTx/>
              <a:buNone/>
            </a:pPr>
            <a:endParaRPr lang="ru-RU" altLang="ru-RU" sz="2000"/>
          </a:p>
        </p:txBody>
      </p:sp>
      <p:sp>
        <p:nvSpPr>
          <p:cNvPr id="44048" name="Rectangle 16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4049" name="Object 17"/>
          <p:cNvGraphicFramePr>
            <a:graphicFrameLocks noChangeAspect="1"/>
          </p:cNvGraphicFramePr>
          <p:nvPr/>
        </p:nvGraphicFramePr>
        <p:xfrm>
          <a:off x="3071813" y="1989138"/>
          <a:ext cx="64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Формула" r:id="rId5" imgW="342751" imgH="228501" progId="Equation.3">
                  <p:embed/>
                </p:oleObj>
              </mc:Choice>
              <mc:Fallback>
                <p:oleObj name="Формула" r:id="rId5" imgW="342751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1989138"/>
                        <a:ext cx="647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0" name="Rectangle 18"/>
          <p:cNvSpPr>
            <a:spLocks noChangeArrowheads="1"/>
          </p:cNvSpPr>
          <p:nvPr/>
        </p:nvSpPr>
        <p:spPr bwMode="auto">
          <a:xfrm>
            <a:off x="1524001" y="2939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4051" name="Rectangle 19"/>
          <p:cNvSpPr>
            <a:spLocks noChangeArrowheads="1"/>
          </p:cNvSpPr>
          <p:nvPr/>
        </p:nvSpPr>
        <p:spPr bwMode="auto">
          <a:xfrm>
            <a:off x="1703388" y="2551114"/>
            <a:ext cx="817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/>
              <a:t>(1.)</a:t>
            </a:r>
            <a:r>
              <a:rPr lang="ru-RU" altLang="ru-RU" sz="1800"/>
              <a:t>    </a:t>
            </a:r>
          </a:p>
        </p:txBody>
      </p:sp>
      <p:sp>
        <p:nvSpPr>
          <p:cNvPr id="44052" name="Rectangle 20"/>
          <p:cNvSpPr>
            <a:spLocks noChangeArrowheads="1"/>
          </p:cNvSpPr>
          <p:nvPr/>
        </p:nvSpPr>
        <p:spPr bwMode="auto">
          <a:xfrm>
            <a:off x="1524001" y="29474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4053" name="Object 21"/>
          <p:cNvGraphicFramePr>
            <a:graphicFrameLocks noChangeAspect="1"/>
          </p:cNvGraphicFramePr>
          <p:nvPr/>
        </p:nvGraphicFramePr>
        <p:xfrm>
          <a:off x="2208213" y="2420938"/>
          <a:ext cx="424815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Формула" r:id="rId7" imgW="1916868" imgH="393529" progId="Equation.3">
                  <p:embed/>
                </p:oleObj>
              </mc:Choice>
              <mc:Fallback>
                <p:oleObj name="Формула" r:id="rId7" imgW="1916868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2420938"/>
                        <a:ext cx="424815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4" name="Rectangle 22"/>
          <p:cNvSpPr>
            <a:spLocks noChangeArrowheads="1"/>
          </p:cNvSpPr>
          <p:nvPr/>
        </p:nvSpPr>
        <p:spPr bwMode="auto">
          <a:xfrm>
            <a:off x="1524001" y="29173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4055" name="Object 23"/>
          <p:cNvGraphicFramePr>
            <a:graphicFrameLocks noChangeAspect="1"/>
          </p:cNvGraphicFramePr>
          <p:nvPr/>
        </p:nvGraphicFramePr>
        <p:xfrm>
          <a:off x="6648450" y="2600325"/>
          <a:ext cx="349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" name="Формула" r:id="rId9" imgW="164957" imgH="203024" progId="Equation.3">
                  <p:embed/>
                </p:oleObj>
              </mc:Choice>
              <mc:Fallback>
                <p:oleObj name="Формула" r:id="rId9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8450" y="2600325"/>
                        <a:ext cx="3492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6" name="Rectangle 24"/>
          <p:cNvSpPr>
            <a:spLocks noChangeArrowheads="1"/>
          </p:cNvSpPr>
          <p:nvPr/>
        </p:nvSpPr>
        <p:spPr bwMode="auto">
          <a:xfrm>
            <a:off x="6537326" y="2581276"/>
            <a:ext cx="40227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/>
              <a:t>         </a:t>
            </a:r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2000">
                <a:cs typeface="Times New Roman" panose="02020603050405020304" pitchFamily="18" charset="0"/>
              </a:rPr>
              <a:t>- коэффициент  сходимости,</a:t>
            </a:r>
            <a:endParaRPr lang="ru-RU" altLang="ru-RU" sz="2000"/>
          </a:p>
          <a:p>
            <a:pPr>
              <a:spcBef>
                <a:spcPct val="0"/>
              </a:spcBef>
              <a:buFontTx/>
              <a:buNone/>
            </a:pPr>
            <a:r>
              <a:rPr lang="ru-RU" altLang="ru-RU" sz="2000"/>
              <a:t>     </a:t>
            </a:r>
            <a:r>
              <a:rPr lang="ru-RU" altLang="ru-RU" sz="2000">
                <a:cs typeface="Times New Roman" panose="02020603050405020304" pitchFamily="18" charset="0"/>
              </a:rPr>
              <a:t> – линейная сходимость, </a:t>
            </a:r>
            <a:endParaRPr lang="ru-RU" altLang="ru-RU" sz="2000"/>
          </a:p>
        </p:txBody>
      </p:sp>
      <p:sp>
        <p:nvSpPr>
          <p:cNvPr id="44057" name="Rectangle 25"/>
          <p:cNvSpPr>
            <a:spLocks noChangeArrowheads="1"/>
          </p:cNvSpPr>
          <p:nvPr/>
        </p:nvSpPr>
        <p:spPr bwMode="auto">
          <a:xfrm>
            <a:off x="1774825" y="3716338"/>
            <a:ext cx="717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(2.)   </a:t>
            </a:r>
          </a:p>
        </p:txBody>
      </p:sp>
      <p:sp>
        <p:nvSpPr>
          <p:cNvPr id="44058" name="Rectangle 26"/>
          <p:cNvSpPr>
            <a:spLocks noChangeArrowheads="1"/>
          </p:cNvSpPr>
          <p:nvPr/>
        </p:nvSpPr>
        <p:spPr bwMode="auto">
          <a:xfrm>
            <a:off x="-541338" y="42523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4059" name="Object 27"/>
          <p:cNvGraphicFramePr>
            <a:graphicFrameLocks noChangeAspect="1"/>
          </p:cNvGraphicFramePr>
          <p:nvPr/>
        </p:nvGraphicFramePr>
        <p:xfrm>
          <a:off x="2351088" y="3500439"/>
          <a:ext cx="417671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" name="Формула" r:id="rId11" imgW="1777229" imgH="393529" progId="Equation.3">
                  <p:embed/>
                </p:oleObj>
              </mc:Choice>
              <mc:Fallback>
                <p:oleObj name="Формула" r:id="rId11" imgW="1777229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3500439"/>
                        <a:ext cx="4176712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0" name="Rectangle 28"/>
          <p:cNvSpPr>
            <a:spLocks noChangeArrowheads="1"/>
          </p:cNvSpPr>
          <p:nvPr/>
        </p:nvSpPr>
        <p:spPr bwMode="auto">
          <a:xfrm>
            <a:off x="7404101" y="36507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4061" name="Object 29"/>
          <p:cNvGraphicFramePr>
            <a:graphicFrameLocks noChangeAspect="1"/>
          </p:cNvGraphicFramePr>
          <p:nvPr/>
        </p:nvGraphicFramePr>
        <p:xfrm>
          <a:off x="6527800" y="3644900"/>
          <a:ext cx="8636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Формула" r:id="rId13" imgW="330057" imgH="203112" progId="Equation.3">
                  <p:embed/>
                </p:oleObj>
              </mc:Choice>
              <mc:Fallback>
                <p:oleObj name="Формула" r:id="rId13" imgW="33005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3644900"/>
                        <a:ext cx="8636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2" name="Rectangle 30"/>
          <p:cNvSpPr>
            <a:spLocks noChangeArrowheads="1"/>
          </p:cNvSpPr>
          <p:nvPr/>
        </p:nvSpPr>
        <p:spPr bwMode="auto">
          <a:xfrm>
            <a:off x="6383339" y="3643313"/>
            <a:ext cx="26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/>
              <a:t>,</a:t>
            </a:r>
          </a:p>
        </p:txBody>
      </p:sp>
      <p:sp>
        <p:nvSpPr>
          <p:cNvPr id="44063" name="Rectangle 31"/>
          <p:cNvSpPr>
            <a:spLocks noChangeArrowheads="1"/>
          </p:cNvSpPr>
          <p:nvPr/>
        </p:nvSpPr>
        <p:spPr bwMode="auto">
          <a:xfrm>
            <a:off x="6456364" y="2492375"/>
            <a:ext cx="26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/>
              <a:t>,</a:t>
            </a:r>
          </a:p>
        </p:txBody>
      </p:sp>
      <p:sp>
        <p:nvSpPr>
          <p:cNvPr id="44064" name="Rectangle 32"/>
          <p:cNvSpPr>
            <a:spLocks noChangeArrowheads="1"/>
          </p:cNvSpPr>
          <p:nvPr/>
        </p:nvSpPr>
        <p:spPr bwMode="auto">
          <a:xfrm>
            <a:off x="7391400" y="3573464"/>
            <a:ext cx="3276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i="1">
                <a:sym typeface="Symbol" panose="05050102010706020507" pitchFamily="18" charset="2"/>
              </a:rPr>
              <a:t></a:t>
            </a:r>
            <a:r>
              <a:rPr lang="ru-RU" altLang="ru-RU" sz="1800">
                <a:sym typeface="Symbol" panose="05050102010706020507" pitchFamily="18" charset="2"/>
              </a:rPr>
              <a:t> </a:t>
            </a:r>
            <a:r>
              <a:rPr lang="ru-RU" altLang="ru-RU" sz="1800"/>
              <a:t>- порядок сходимости,</a:t>
            </a:r>
          </a:p>
        </p:txBody>
      </p:sp>
      <p:sp>
        <p:nvSpPr>
          <p:cNvPr id="44065" name="Rectangle 33"/>
          <p:cNvSpPr>
            <a:spLocks noChangeArrowheads="1"/>
          </p:cNvSpPr>
          <p:nvPr/>
        </p:nvSpPr>
        <p:spPr bwMode="auto">
          <a:xfrm>
            <a:off x="7248525" y="3716338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/>
              <a:t>,</a:t>
            </a:r>
          </a:p>
        </p:txBody>
      </p:sp>
      <p:sp>
        <p:nvSpPr>
          <p:cNvPr id="44066" name="Rectangle 34"/>
          <p:cNvSpPr>
            <a:spLocks noChangeArrowheads="1"/>
          </p:cNvSpPr>
          <p:nvPr/>
        </p:nvSpPr>
        <p:spPr bwMode="auto">
          <a:xfrm>
            <a:off x="6672263" y="4221163"/>
            <a:ext cx="3441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754063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75406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7540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7540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7540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540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540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540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540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Times New Roman" panose="02020603050405020304" pitchFamily="18" charset="0"/>
              <a:buChar char="-"/>
            </a:pPr>
            <a:r>
              <a:rPr lang="ru-RU" altLang="ru-RU" sz="1800"/>
              <a:t>   суперлинейная сходимость.</a:t>
            </a:r>
          </a:p>
        </p:txBody>
      </p:sp>
      <p:sp>
        <p:nvSpPr>
          <p:cNvPr id="44067" name="Rectangle 35"/>
          <p:cNvSpPr>
            <a:spLocks noChangeArrowheads="1"/>
          </p:cNvSpPr>
          <p:nvPr/>
        </p:nvSpPr>
        <p:spPr bwMode="auto">
          <a:xfrm>
            <a:off x="1919288" y="4967288"/>
            <a:ext cx="59055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При    </a:t>
            </a:r>
            <a:r>
              <a:rPr lang="ru-RU" altLang="ru-RU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ru-RU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2 – квадратичная сходимость.</a:t>
            </a:r>
          </a:p>
        </p:txBody>
      </p:sp>
    </p:spTree>
    <p:extLst>
      <p:ext uri="{BB962C8B-B14F-4D97-AF65-F5344CB8AC3E}">
        <p14:creationId xmlns:p14="http://schemas.microsoft.com/office/powerpoint/2010/main" val="3581140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1206" y="312904"/>
            <a:ext cx="10515600" cy="1325563"/>
          </a:xfrm>
        </p:spPr>
        <p:txBody>
          <a:bodyPr/>
          <a:lstStyle/>
          <a:p>
            <a:pPr marL="838200" indent="-838200" algn="ctr"/>
            <a:r>
              <a:rPr lang="en-US" altLang="ru-RU" sz="4000" b="1" u="sng" dirty="0">
                <a:latin typeface="+mn-lt"/>
              </a:rPr>
              <a:t>2</a:t>
            </a:r>
            <a:r>
              <a:rPr lang="ru-RU" altLang="ru-RU" sz="4000" b="1" u="sng" dirty="0">
                <a:latin typeface="+mn-lt"/>
              </a:rPr>
              <a:t>. Стратегия методов спуска.</a:t>
            </a:r>
            <a:br>
              <a:rPr lang="ru-RU" altLang="ru-RU" sz="4000" dirty="0">
                <a:latin typeface="+mn-lt"/>
              </a:rPr>
            </a:br>
            <a:endParaRPr lang="ru-RU" altLang="ru-RU" sz="4000" dirty="0">
              <a:latin typeface="+mn-lt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математического программирования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основаны на использовании итерационных алгоритмов поиска значений переменных проектирования    , отвечающих экстремуму целевой функции при заданных ограничениях. При этом строится алгоритмическое отображение над функцией спуска    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включающей как целевую функцию    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  так и функции ограничений   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/>
              <a:t>.</a:t>
            </a: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71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442010"/>
              </p:ext>
            </p:extLst>
          </p:nvPr>
        </p:nvGraphicFramePr>
        <p:xfrm>
          <a:off x="5593119" y="2518008"/>
          <a:ext cx="2809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Формула" r:id="rId3" imgW="126780" imgH="215526" progId="Equation.3">
                  <p:embed/>
                </p:oleObj>
              </mc:Choice>
              <mc:Fallback>
                <p:oleObj name="Формула" r:id="rId3" imgW="126780" imgH="2155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3119" y="2518008"/>
                        <a:ext cx="28098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71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605095"/>
              </p:ext>
            </p:extLst>
          </p:nvPr>
        </p:nvGraphicFramePr>
        <p:xfrm>
          <a:off x="9128854" y="3405187"/>
          <a:ext cx="5762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Формула" r:id="rId5" imgW="317087" imgH="215619" progId="Equation.3">
                  <p:embed/>
                </p:oleObj>
              </mc:Choice>
              <mc:Fallback>
                <p:oleObj name="Формула" r:id="rId5" imgW="317087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854" y="3405187"/>
                        <a:ext cx="57626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71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104000"/>
              </p:ext>
            </p:extLst>
          </p:nvPr>
        </p:nvGraphicFramePr>
        <p:xfrm>
          <a:off x="6650592" y="3811587"/>
          <a:ext cx="576262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Формула" r:id="rId7" imgW="330057" imgH="215806" progId="Equation.3">
                  <p:embed/>
                </p:oleObj>
              </mc:Choice>
              <mc:Fallback>
                <p:oleObj name="Формула" r:id="rId7" imgW="330057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592" y="3811587"/>
                        <a:ext cx="576262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4" name="Rectangle 10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71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168031"/>
              </p:ext>
            </p:extLst>
          </p:nvPr>
        </p:nvGraphicFramePr>
        <p:xfrm>
          <a:off x="3096412" y="4115499"/>
          <a:ext cx="60313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Формула" r:id="rId9" imgW="317087" imgH="215619" progId="Equation.3">
                  <p:embed/>
                </p:oleObj>
              </mc:Choice>
              <mc:Fallback>
                <p:oleObj name="Формула" r:id="rId9" imgW="317087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6412" y="4115499"/>
                        <a:ext cx="60313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3338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8"/>
            <a:ext cx="10972800" cy="89376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ru-RU" sz="4000" b="1" u="sng" dirty="0">
                <a:latin typeface="+mn-lt"/>
              </a:rPr>
              <a:t>2</a:t>
            </a:r>
            <a:r>
              <a:rPr lang="ru-RU" altLang="ru-RU" sz="4000" b="1" u="sng" dirty="0">
                <a:latin typeface="+mn-lt"/>
              </a:rPr>
              <a:t>. Стратегия методов спуска.</a:t>
            </a:r>
            <a:br>
              <a:rPr lang="ru-RU" altLang="ru-RU" sz="4000" dirty="0">
                <a:latin typeface="+mn-lt"/>
              </a:rPr>
            </a:br>
            <a:endParaRPr lang="ru-RU" altLang="ru-RU" sz="4000" dirty="0">
              <a:latin typeface="+mn-lt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228725"/>
            <a:ext cx="8507413" cy="4897438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/>
              <a:t>ЗВП		  								</a:t>
            </a:r>
          </a:p>
        </p:txBody>
      </p:sp>
      <p:graphicFrame>
        <p:nvGraphicFramePr>
          <p:cNvPr id="48132" name="Object 4"/>
          <p:cNvGraphicFramePr>
            <a:graphicFrameLocks noChangeAspect="1"/>
          </p:cNvGraphicFramePr>
          <p:nvPr/>
        </p:nvGraphicFramePr>
        <p:xfrm>
          <a:off x="1524000" y="1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2" name="Формула" r:id="rId3" imgW="114151" imgH="215619" progId="Equation.3">
                  <p:embed/>
                </p:oleObj>
              </mc:Choice>
              <mc:Fallback>
                <p:oleObj name="Формула" r:id="rId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5"/>
          <p:cNvGraphicFramePr>
            <a:graphicFrameLocks noChangeAspect="1"/>
          </p:cNvGraphicFramePr>
          <p:nvPr/>
        </p:nvGraphicFramePr>
        <p:xfrm>
          <a:off x="2855914" y="1628776"/>
          <a:ext cx="3455987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3" name="Формула" r:id="rId5" imgW="1803400" imgH="762000" progId="Equation.3">
                  <p:embed/>
                </p:oleObj>
              </mc:Choice>
              <mc:Fallback>
                <p:oleObj name="Формула" r:id="rId5" imgW="18034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1628776"/>
                        <a:ext cx="3455987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4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8135" name="Rectangle 7"/>
          <p:cNvSpPr>
            <a:spLocks noChangeArrowheads="1"/>
          </p:cNvSpPr>
          <p:nvPr/>
        </p:nvSpPr>
        <p:spPr bwMode="auto">
          <a:xfrm>
            <a:off x="1524001" y="280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8136" name="Rectangle 8"/>
          <p:cNvSpPr>
            <a:spLocks noChangeArrowheads="1"/>
          </p:cNvSpPr>
          <p:nvPr/>
        </p:nvSpPr>
        <p:spPr bwMode="auto">
          <a:xfrm>
            <a:off x="1524001" y="7900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8137" name="Rectangle 9"/>
          <p:cNvSpPr>
            <a:spLocks noChangeArrowheads="1"/>
          </p:cNvSpPr>
          <p:nvPr/>
        </p:nvSpPr>
        <p:spPr bwMode="auto">
          <a:xfrm>
            <a:off x="7233743" y="1698903"/>
            <a:ext cx="21377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Выпуклая функция:</a:t>
            </a:r>
          </a:p>
        </p:txBody>
      </p:sp>
      <p:sp>
        <p:nvSpPr>
          <p:cNvPr id="48138" name="Rectangle 10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8139" name="Object 11"/>
          <p:cNvGraphicFramePr>
            <a:graphicFrameLocks noChangeAspect="1"/>
          </p:cNvGraphicFramePr>
          <p:nvPr/>
        </p:nvGraphicFramePr>
        <p:xfrm>
          <a:off x="7175500" y="2205038"/>
          <a:ext cx="2376488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4" name="Формула" r:id="rId7" imgW="1256755" imgH="215806" progId="Equation.3">
                  <p:embed/>
                </p:oleObj>
              </mc:Choice>
              <mc:Fallback>
                <p:oleObj name="Формула" r:id="rId7" imgW="1256755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0" y="2205038"/>
                        <a:ext cx="2376488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0" name="Rectangle 12"/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8141" name="Object 13"/>
          <p:cNvGraphicFramePr>
            <a:graphicFrameLocks noChangeAspect="1"/>
          </p:cNvGraphicFramePr>
          <p:nvPr/>
        </p:nvGraphicFramePr>
        <p:xfrm>
          <a:off x="7175501" y="2708275"/>
          <a:ext cx="143986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5" name="Формула" r:id="rId9" imgW="698197" imgH="203112" progId="Equation.3">
                  <p:embed/>
                </p:oleObj>
              </mc:Choice>
              <mc:Fallback>
                <p:oleObj name="Формула" r:id="rId9" imgW="69819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1" y="2708275"/>
                        <a:ext cx="1439863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2" name="Rectangle 14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8143" name="Object 15"/>
          <p:cNvGraphicFramePr>
            <a:graphicFrameLocks noChangeAspect="1"/>
          </p:cNvGraphicFramePr>
          <p:nvPr/>
        </p:nvGraphicFramePr>
        <p:xfrm>
          <a:off x="7248526" y="3141664"/>
          <a:ext cx="11525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6" name="Формула" r:id="rId11" imgW="508000" imgH="190500" progId="Equation.3">
                  <p:embed/>
                </p:oleObj>
              </mc:Choice>
              <mc:Fallback>
                <p:oleObj name="Формула" r:id="rId11" imgW="508000" imgH="19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526" y="3141664"/>
                        <a:ext cx="115252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4" name="Rectangle 16"/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8145" name="Object 17"/>
          <p:cNvGraphicFramePr>
            <a:graphicFrameLocks noChangeAspect="1"/>
          </p:cNvGraphicFramePr>
          <p:nvPr/>
        </p:nvGraphicFramePr>
        <p:xfrm>
          <a:off x="7248525" y="3644901"/>
          <a:ext cx="19446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7" name="Формула" r:id="rId13" imgW="1104900" imgH="241300" progId="Equation.3">
                  <p:embed/>
                </p:oleObj>
              </mc:Choice>
              <mc:Fallback>
                <p:oleObj name="Формула" r:id="rId13" imgW="11049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8525" y="3644901"/>
                        <a:ext cx="194468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6" name="Rectangle 18"/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8147" name="Object 19"/>
          <p:cNvGraphicFramePr>
            <a:graphicFrameLocks noChangeAspect="1"/>
          </p:cNvGraphicFramePr>
          <p:nvPr/>
        </p:nvGraphicFramePr>
        <p:xfrm>
          <a:off x="2782888" y="3357564"/>
          <a:ext cx="273685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8" name="Формула" r:id="rId15" imgW="1524000" imgH="254000" progId="Equation.3">
                  <p:embed/>
                </p:oleObj>
              </mc:Choice>
              <mc:Fallback>
                <p:oleObj name="Формула" r:id="rId15" imgW="15240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3357564"/>
                        <a:ext cx="273685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8148" name="Picture 20" descr="10_1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76" y="4076701"/>
            <a:ext cx="475297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49" name="Rectangle 21"/>
          <p:cNvSpPr>
            <a:spLocks noChangeArrowheads="1"/>
          </p:cNvSpPr>
          <p:nvPr/>
        </p:nvSpPr>
        <p:spPr bwMode="auto">
          <a:xfrm>
            <a:off x="1847850" y="3860801"/>
            <a:ext cx="360045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Алгоритмическое отображение состоит в том, что требуется на каждой итерации производить поиск  </a:t>
            </a:r>
          </a:p>
        </p:txBody>
      </p:sp>
      <p:sp>
        <p:nvSpPr>
          <p:cNvPr id="48150" name="Rectangle 22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8151" name="Object 23"/>
          <p:cNvGraphicFramePr>
            <a:graphicFrameLocks noChangeAspect="1"/>
          </p:cNvGraphicFramePr>
          <p:nvPr/>
        </p:nvGraphicFramePr>
        <p:xfrm>
          <a:off x="2640013" y="4705350"/>
          <a:ext cx="3022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9" name="Формула" r:id="rId18" imgW="1778000" imgH="228600" progId="Equation.3">
                  <p:embed/>
                </p:oleObj>
              </mc:Choice>
              <mc:Fallback>
                <p:oleObj name="Формула" r:id="rId18" imgW="1778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3" y="4705350"/>
                        <a:ext cx="3022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2" name="Rectangle 24"/>
          <p:cNvSpPr>
            <a:spLocks noChangeArrowheads="1"/>
          </p:cNvSpPr>
          <p:nvPr/>
        </p:nvSpPr>
        <p:spPr bwMode="auto">
          <a:xfrm>
            <a:off x="1919288" y="4940578"/>
            <a:ext cx="12777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так, чтобы </a:t>
            </a:r>
          </a:p>
        </p:txBody>
      </p:sp>
      <p:sp>
        <p:nvSpPr>
          <p:cNvPr id="48153" name="Rectangle 25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8154" name="Object 26"/>
          <p:cNvGraphicFramePr>
            <a:graphicFrameLocks noChangeAspect="1"/>
          </p:cNvGraphicFramePr>
          <p:nvPr/>
        </p:nvGraphicFramePr>
        <p:xfrm>
          <a:off x="2208213" y="5300664"/>
          <a:ext cx="19431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0" name="Формула" r:id="rId20" imgW="1130300" imgH="228600" progId="Equation.3">
                  <p:embed/>
                </p:oleObj>
              </mc:Choice>
              <mc:Fallback>
                <p:oleObj name="Формула" r:id="rId20" imgW="1130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5300664"/>
                        <a:ext cx="194310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5" name="Rectangle 27"/>
          <p:cNvSpPr>
            <a:spLocks noChangeArrowheads="1"/>
          </p:cNvSpPr>
          <p:nvPr/>
        </p:nvSpPr>
        <p:spPr bwMode="auto">
          <a:xfrm>
            <a:off x="1524001" y="31078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8156" name="Object 28"/>
          <p:cNvGraphicFramePr>
            <a:graphicFrameLocks noChangeAspect="1"/>
          </p:cNvGraphicFramePr>
          <p:nvPr/>
        </p:nvGraphicFramePr>
        <p:xfrm>
          <a:off x="1919289" y="5661025"/>
          <a:ext cx="11509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" name="Формула" r:id="rId22" imgW="736600" imgH="279400" progId="Equation.3">
                  <p:embed/>
                </p:oleObj>
              </mc:Choice>
              <mc:Fallback>
                <p:oleObj name="Формула" r:id="rId22" imgW="7366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5661025"/>
                        <a:ext cx="115093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7" name="Rectangle 29"/>
          <p:cNvSpPr>
            <a:spLocks noChangeArrowheads="1"/>
          </p:cNvSpPr>
          <p:nvPr/>
        </p:nvSpPr>
        <p:spPr bwMode="auto">
          <a:xfrm>
            <a:off x="1524001" y="31078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8158" name="Object 30"/>
          <p:cNvGraphicFramePr>
            <a:graphicFrameLocks noChangeAspect="1"/>
          </p:cNvGraphicFramePr>
          <p:nvPr/>
        </p:nvGraphicFramePr>
        <p:xfrm>
          <a:off x="1919289" y="6040438"/>
          <a:ext cx="194468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" name="Формула" r:id="rId24" imgW="1104900" imgH="279400" progId="Equation.3">
                  <p:embed/>
                </p:oleObj>
              </mc:Choice>
              <mc:Fallback>
                <p:oleObj name="Формула" r:id="rId24" imgW="11049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6040438"/>
                        <a:ext cx="1944687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9" name="Rectangle 31"/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8160" name="Object 32"/>
          <p:cNvGraphicFramePr>
            <a:graphicFrameLocks noChangeAspect="1"/>
          </p:cNvGraphicFramePr>
          <p:nvPr/>
        </p:nvGraphicFramePr>
        <p:xfrm>
          <a:off x="3432176" y="5661025"/>
          <a:ext cx="1223963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" name="Формула" r:id="rId26" imgW="634725" imgH="241195" progId="Equation.3">
                  <p:embed/>
                </p:oleObj>
              </mc:Choice>
              <mc:Fallback>
                <p:oleObj name="Формула" r:id="rId26" imgW="634725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6" y="5661025"/>
                        <a:ext cx="1223963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1468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ru-RU" sz="4000" b="1" u="sng" dirty="0">
                <a:latin typeface="+mn-lt"/>
              </a:rPr>
              <a:t>2</a:t>
            </a:r>
            <a:r>
              <a:rPr lang="ru-RU" altLang="ru-RU" sz="4000" b="1" u="sng" dirty="0">
                <a:latin typeface="+mn-lt"/>
              </a:rPr>
              <a:t>. Стратегия методов спуска.</a:t>
            </a:r>
            <a:br>
              <a:rPr lang="ru-RU" altLang="ru-RU" sz="4000" dirty="0">
                <a:latin typeface="+mn-lt"/>
              </a:rPr>
            </a:br>
            <a:endParaRPr lang="ru-RU" altLang="ru-RU" sz="4000" dirty="0">
              <a:latin typeface="+mn-lt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ММП</a:t>
            </a:r>
            <a:r>
              <a:rPr lang="ru-RU" alt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ЗВП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состоит в выборе </a:t>
            </a:r>
          </a:p>
        </p:txBody>
      </p:sp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91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108113"/>
              </p:ext>
            </p:extLst>
          </p:nvPr>
        </p:nvGraphicFramePr>
        <p:xfrm>
          <a:off x="5989675" y="1785937"/>
          <a:ext cx="266541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" name="Формула" r:id="rId3" imgW="1167893" imgH="203112" progId="Equation.3">
                  <p:embed/>
                </p:oleObj>
              </mc:Choice>
              <mc:Fallback>
                <p:oleObj name="Формула" r:id="rId3" imgW="116789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9675" y="1785937"/>
                        <a:ext cx="2665412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438302"/>
              </p:ext>
            </p:extLst>
          </p:nvPr>
        </p:nvGraphicFramePr>
        <p:xfrm>
          <a:off x="4737483" y="2096228"/>
          <a:ext cx="2160587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1" name="Формула" r:id="rId5" imgW="1485900" imgH="228600" progId="Equation.3">
                  <p:embed/>
                </p:oleObj>
              </mc:Choice>
              <mc:Fallback>
                <p:oleObj name="Формула" r:id="rId5" imgW="14859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483" y="2096228"/>
                        <a:ext cx="2160587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2591166"/>
              </p:ext>
            </p:extLst>
          </p:nvPr>
        </p:nvGraphicFramePr>
        <p:xfrm>
          <a:off x="7518037" y="2132013"/>
          <a:ext cx="10795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2" name="Формула" r:id="rId7" imgW="672808" imgH="203112" progId="Equation.3">
                  <p:embed/>
                </p:oleObj>
              </mc:Choice>
              <mc:Fallback>
                <p:oleObj name="Формула" r:id="rId7" imgW="672808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037" y="2132013"/>
                        <a:ext cx="10795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0" name="Rectangle 8"/>
          <p:cNvSpPr>
            <a:spLocks noChangeArrowheads="1"/>
          </p:cNvSpPr>
          <p:nvPr/>
        </p:nvSpPr>
        <p:spPr bwMode="auto">
          <a:xfrm>
            <a:off x="1999770" y="2048503"/>
            <a:ext cx="3057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 образом, чтобы </a:t>
            </a:r>
          </a:p>
        </p:txBody>
      </p:sp>
      <p:sp>
        <p:nvSpPr>
          <p:cNvPr id="49161" name="Rectangle 9"/>
          <p:cNvSpPr>
            <a:spLocks noChangeArrowheads="1"/>
          </p:cNvSpPr>
          <p:nvPr/>
        </p:nvSpPr>
        <p:spPr bwMode="auto">
          <a:xfrm>
            <a:off x="6861357" y="2044422"/>
            <a:ext cx="6431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 dirty="0"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lang="ru-RU" alt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162" name="Rectangle 10"/>
          <p:cNvSpPr>
            <a:spLocks noChangeArrowheads="1"/>
          </p:cNvSpPr>
          <p:nvPr/>
        </p:nvSpPr>
        <p:spPr bwMode="auto">
          <a:xfrm>
            <a:off x="5237163" y="3779839"/>
            <a:ext cx="2270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 sz="1800"/>
          </a:p>
        </p:txBody>
      </p:sp>
      <p:sp>
        <p:nvSpPr>
          <p:cNvPr id="49163" name="Rectangle 11"/>
          <p:cNvSpPr>
            <a:spLocks noChangeArrowheads="1"/>
          </p:cNvSpPr>
          <p:nvPr/>
        </p:nvSpPr>
        <p:spPr bwMode="auto">
          <a:xfrm>
            <a:off x="1992314" y="2491066"/>
            <a:ext cx="43004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При этом для большинства методов МП   </a:t>
            </a:r>
          </a:p>
        </p:txBody>
      </p:sp>
      <p:sp>
        <p:nvSpPr>
          <p:cNvPr id="49164" name="Rectangle 12"/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9165" name="Object 13"/>
          <p:cNvGraphicFramePr>
            <a:graphicFrameLocks noChangeAspect="1"/>
          </p:cNvGraphicFramePr>
          <p:nvPr/>
        </p:nvGraphicFramePr>
        <p:xfrm>
          <a:off x="6067426" y="2447925"/>
          <a:ext cx="201612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3" name="Формула" r:id="rId9" imgW="952087" imgH="203112" progId="Equation.3">
                  <p:embed/>
                </p:oleObj>
              </mc:Choice>
              <mc:Fallback>
                <p:oleObj name="Формула" r:id="rId9" imgW="95208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7426" y="2447925"/>
                        <a:ext cx="201612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6" name="Rectangle 14"/>
          <p:cNvSpPr>
            <a:spLocks noChangeArrowheads="1"/>
          </p:cNvSpPr>
          <p:nvPr/>
        </p:nvSpPr>
        <p:spPr bwMode="auto">
          <a:xfrm>
            <a:off x="2063750" y="2922866"/>
            <a:ext cx="5450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где </a:t>
            </a:r>
          </a:p>
        </p:txBody>
      </p:sp>
      <p:sp>
        <p:nvSpPr>
          <p:cNvPr id="49167" name="Rectangle 15"/>
          <p:cNvSpPr>
            <a:spLocks noChangeArrowheads="1"/>
          </p:cNvSpPr>
          <p:nvPr/>
        </p:nvSpPr>
        <p:spPr bwMode="auto">
          <a:xfrm>
            <a:off x="8401050" y="2492376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, </a:t>
            </a:r>
          </a:p>
        </p:txBody>
      </p:sp>
      <p:sp>
        <p:nvSpPr>
          <p:cNvPr id="49168" name="Rectangle 16"/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9169" name="Object 17"/>
          <p:cNvGraphicFramePr>
            <a:graphicFrameLocks noChangeAspect="1"/>
          </p:cNvGraphicFramePr>
          <p:nvPr/>
        </p:nvGraphicFramePr>
        <p:xfrm>
          <a:off x="2460625" y="2941639"/>
          <a:ext cx="935038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4" name="Формула" r:id="rId11" imgW="583947" imgH="203112" progId="Equation.3">
                  <p:embed/>
                </p:oleObj>
              </mc:Choice>
              <mc:Fallback>
                <p:oleObj name="Формула" r:id="rId11" imgW="58394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625" y="2941639"/>
                        <a:ext cx="935038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0" name="Rectangle 18"/>
          <p:cNvSpPr>
            <a:spLocks noChangeArrowheads="1"/>
          </p:cNvSpPr>
          <p:nvPr/>
        </p:nvSpPr>
        <p:spPr bwMode="auto">
          <a:xfrm>
            <a:off x="1524001" y="3007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9171" name="Rectangle 19"/>
          <p:cNvSpPr>
            <a:spLocks noChangeArrowheads="1"/>
          </p:cNvSpPr>
          <p:nvPr/>
        </p:nvSpPr>
        <p:spPr bwMode="auto">
          <a:xfrm>
            <a:off x="3316289" y="2881314"/>
            <a:ext cx="26558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 направление поиска</a:t>
            </a:r>
            <a:r>
              <a:rPr lang="ru-RU" altLang="ru-RU" sz="2000">
                <a:cs typeface="Times New Roman" panose="02020603050405020304" pitchFamily="18" charset="0"/>
              </a:rPr>
              <a:t>,</a:t>
            </a:r>
            <a:endParaRPr lang="ru-RU" altLang="ru-RU" sz="2000"/>
          </a:p>
        </p:txBody>
      </p:sp>
      <p:sp>
        <p:nvSpPr>
          <p:cNvPr id="49172" name="Rectangle 20"/>
          <p:cNvSpPr>
            <a:spLocks noChangeArrowheads="1"/>
          </p:cNvSpPr>
          <p:nvPr/>
        </p:nvSpPr>
        <p:spPr bwMode="auto">
          <a:xfrm>
            <a:off x="4826001" y="3055939"/>
            <a:ext cx="2270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</a:t>
            </a:r>
            <a:endParaRPr lang="ru-RU" altLang="ru-RU" sz="1800"/>
          </a:p>
        </p:txBody>
      </p:sp>
      <p:graphicFrame>
        <p:nvGraphicFramePr>
          <p:cNvPr id="49173" name="Object 21"/>
          <p:cNvGraphicFramePr>
            <a:graphicFrameLocks noChangeAspect="1"/>
          </p:cNvGraphicFramePr>
          <p:nvPr/>
        </p:nvGraphicFramePr>
        <p:xfrm>
          <a:off x="6099175" y="2844800"/>
          <a:ext cx="108108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5" name="Формула" r:id="rId13" imgW="571252" imgH="203112" progId="Equation.3">
                  <p:embed/>
                </p:oleObj>
              </mc:Choice>
              <mc:Fallback>
                <p:oleObj name="Формула" r:id="rId13" imgW="571252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9175" y="2844800"/>
                        <a:ext cx="1081088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4" name="Rectangle 22"/>
          <p:cNvSpPr>
            <a:spLocks noChangeArrowheads="1"/>
          </p:cNvSpPr>
          <p:nvPr/>
        </p:nvSpPr>
        <p:spPr bwMode="auto">
          <a:xfrm>
            <a:off x="7104063" y="2852739"/>
            <a:ext cx="3352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6858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685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685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 шаг в направлении поиска</a:t>
            </a:r>
            <a:r>
              <a:rPr lang="ru-RU" altLang="ru-RU" sz="2000">
                <a:cs typeface="Times New Roman" panose="02020603050405020304" pitchFamily="18" charset="0"/>
              </a:rPr>
              <a:t>.</a:t>
            </a:r>
            <a:endParaRPr lang="ru-RU" altLang="ru-RU" sz="2000"/>
          </a:p>
        </p:txBody>
      </p:sp>
      <p:sp>
        <p:nvSpPr>
          <p:cNvPr id="50199" name="Rectangle 23"/>
          <p:cNvSpPr>
            <a:spLocks noChangeArrowheads="1"/>
          </p:cNvSpPr>
          <p:nvPr/>
        </p:nvSpPr>
        <p:spPr bwMode="auto">
          <a:xfrm>
            <a:off x="3402134" y="3313083"/>
            <a:ext cx="522104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r>
              <a:rPr lang="ru-RU" alt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задачи ММП </a:t>
            </a:r>
            <a:r>
              <a:rPr lang="ru-RU" altLang="ru-RU" sz="2000" dirty="0">
                <a:latin typeface="Times New Roman" panose="02020603050405020304" pitchFamily="18" charset="0"/>
              </a:rPr>
              <a:t>состоит в следующем:</a:t>
            </a:r>
          </a:p>
        </p:txBody>
      </p:sp>
      <p:sp>
        <p:nvSpPr>
          <p:cNvPr id="49176" name="Rectangle 24"/>
          <p:cNvSpPr>
            <a:spLocks noChangeArrowheads="1"/>
          </p:cNvSpPr>
          <p:nvPr/>
        </p:nvSpPr>
        <p:spPr bwMode="auto">
          <a:xfrm>
            <a:off x="2495550" y="3789364"/>
            <a:ext cx="63373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6858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685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685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AutoNum type="arabicPeriod"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направления поиска на каждой итерации 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оптимизации </a:t>
            </a:r>
          </a:p>
        </p:txBody>
      </p:sp>
      <p:graphicFrame>
        <p:nvGraphicFramePr>
          <p:cNvPr id="49177" name="Object 25"/>
          <p:cNvGraphicFramePr>
            <a:graphicFrameLocks noChangeAspect="1"/>
          </p:cNvGraphicFramePr>
          <p:nvPr/>
        </p:nvGraphicFramePr>
        <p:xfrm>
          <a:off x="4224339" y="4144964"/>
          <a:ext cx="15843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6" name="Формула" r:id="rId15" imgW="901309" imgH="203112" progId="Equation.3">
                  <p:embed/>
                </p:oleObj>
              </mc:Choice>
              <mc:Fallback>
                <p:oleObj name="Формула" r:id="rId15" imgW="90130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9" y="4144964"/>
                        <a:ext cx="15843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8" name="Rectangle 26"/>
          <p:cNvSpPr>
            <a:spLocks noChangeArrowheads="1"/>
          </p:cNvSpPr>
          <p:nvPr/>
        </p:nvSpPr>
        <p:spPr bwMode="auto">
          <a:xfrm>
            <a:off x="4341813" y="3619500"/>
            <a:ext cx="2270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 sz="1800"/>
          </a:p>
        </p:txBody>
      </p:sp>
      <p:sp>
        <p:nvSpPr>
          <p:cNvPr id="49179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9180" name="Object 28"/>
          <p:cNvGraphicFramePr>
            <a:graphicFrameLocks noChangeAspect="1"/>
          </p:cNvGraphicFramePr>
          <p:nvPr/>
        </p:nvGraphicFramePr>
        <p:xfrm>
          <a:off x="5519738" y="4508501"/>
          <a:ext cx="1008062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" name="Формула" r:id="rId17" imgW="609336" imgH="203112" progId="Equation.3">
                  <p:embed/>
                </p:oleObj>
              </mc:Choice>
              <mc:Fallback>
                <p:oleObj name="Формула" r:id="rId17" imgW="609336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738" y="4508501"/>
                        <a:ext cx="1008062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1" name="Object 29"/>
          <p:cNvGraphicFramePr>
            <a:graphicFrameLocks noChangeAspect="1"/>
          </p:cNvGraphicFramePr>
          <p:nvPr/>
        </p:nvGraphicFramePr>
        <p:xfrm>
          <a:off x="8569325" y="4921251"/>
          <a:ext cx="1582738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8" name="Формула" r:id="rId19" imgW="901309" imgH="203112" progId="Equation.3">
                  <p:embed/>
                </p:oleObj>
              </mc:Choice>
              <mc:Fallback>
                <p:oleObj name="Формула" r:id="rId19" imgW="901309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9325" y="4921251"/>
                        <a:ext cx="1582738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82" name="Rectangle 30"/>
          <p:cNvSpPr>
            <a:spLocks noChangeArrowheads="1"/>
          </p:cNvSpPr>
          <p:nvPr/>
        </p:nvSpPr>
        <p:spPr bwMode="auto">
          <a:xfrm>
            <a:off x="2495551" y="4508501"/>
            <a:ext cx="5400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Выбор величины шага </a:t>
            </a:r>
          </a:p>
        </p:txBody>
      </p:sp>
      <p:sp>
        <p:nvSpPr>
          <p:cNvPr id="49183" name="Rectangle 31"/>
          <p:cNvSpPr>
            <a:spLocks noChangeArrowheads="1"/>
          </p:cNvSpPr>
          <p:nvPr/>
        </p:nvSpPr>
        <p:spPr bwMode="auto">
          <a:xfrm>
            <a:off x="6527800" y="4554539"/>
            <a:ext cx="26987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6858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685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685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685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таким образом, чтобы </a:t>
            </a:r>
          </a:p>
          <a:p>
            <a:pPr>
              <a:spcBef>
                <a:spcPct val="0"/>
              </a:spcBef>
              <a:buFontTx/>
              <a:buNone/>
            </a:pPr>
            <a:endParaRPr lang="ru-RU" altLang="ru-RU" sz="2000"/>
          </a:p>
        </p:txBody>
      </p:sp>
      <p:sp>
        <p:nvSpPr>
          <p:cNvPr id="49184" name="Rectangle 32"/>
          <p:cNvSpPr>
            <a:spLocks noChangeArrowheads="1"/>
          </p:cNvSpPr>
          <p:nvPr/>
        </p:nvSpPr>
        <p:spPr bwMode="auto">
          <a:xfrm>
            <a:off x="5951538" y="4881564"/>
            <a:ext cx="27733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 baseline="-30000">
                <a:cs typeface="Times New Roman" panose="02020603050405020304" pitchFamily="18" charset="0"/>
              </a:rPr>
              <a:t>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 направлении вектора </a:t>
            </a:r>
          </a:p>
        </p:txBody>
      </p:sp>
      <p:sp>
        <p:nvSpPr>
          <p:cNvPr id="49185" name="Rectangle 33"/>
          <p:cNvSpPr>
            <a:spLocks noChangeArrowheads="1"/>
          </p:cNvSpPr>
          <p:nvPr/>
        </p:nvSpPr>
        <p:spPr bwMode="auto">
          <a:xfrm>
            <a:off x="4894263" y="4154489"/>
            <a:ext cx="2270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 sz="1800"/>
          </a:p>
        </p:txBody>
      </p:sp>
      <p:sp>
        <p:nvSpPr>
          <p:cNvPr id="49186" name="Rectangle 34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49187" name="Object 35"/>
          <p:cNvGraphicFramePr>
            <a:graphicFrameLocks noChangeAspect="1"/>
          </p:cNvGraphicFramePr>
          <p:nvPr/>
        </p:nvGraphicFramePr>
        <p:xfrm>
          <a:off x="2640014" y="4875213"/>
          <a:ext cx="3240087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9" name="Формула" r:id="rId20" imgW="2019300" imgH="228600" progId="Equation.3">
                  <p:embed/>
                </p:oleObj>
              </mc:Choice>
              <mc:Fallback>
                <p:oleObj name="Формула" r:id="rId20" imgW="2019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4875213"/>
                        <a:ext cx="3240087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1620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ru-RU" sz="4000" b="1" u="sng" dirty="0">
                <a:latin typeface="+mn-lt"/>
              </a:rPr>
              <a:t>2</a:t>
            </a:r>
            <a:r>
              <a:rPr lang="ru-RU" altLang="ru-RU" sz="4000" b="1" u="sng" dirty="0">
                <a:latin typeface="+mn-lt"/>
              </a:rPr>
              <a:t>. Стратегия методов спуска.</a:t>
            </a:r>
            <a:br>
              <a:rPr lang="ru-RU" altLang="ru-RU" sz="4000" dirty="0">
                <a:latin typeface="+mn-lt"/>
              </a:rPr>
            </a:br>
            <a:endParaRPr lang="ru-RU" altLang="ru-RU" sz="4000" dirty="0">
              <a:latin typeface="+mn-lt"/>
            </a:endParaRPr>
          </a:p>
        </p:txBody>
      </p:sp>
      <p:pic>
        <p:nvPicPr>
          <p:cNvPr id="50179" name="Picture 3" descr="10_2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1484313"/>
            <a:ext cx="8229600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1661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ru-RU" sz="3600" b="1" u="sng" dirty="0">
                <a:latin typeface="+mn-lt"/>
              </a:rPr>
              <a:t>3</a:t>
            </a:r>
            <a:r>
              <a:rPr lang="ru-RU" altLang="ru-RU" sz="3600" b="1" u="sng" dirty="0">
                <a:latin typeface="+mn-lt"/>
              </a:rPr>
              <a:t>. Простейшие методы ММП для решения ЗВП.</a:t>
            </a:r>
            <a:r>
              <a:rPr lang="ru-RU" altLang="ru-RU" sz="3600" dirty="0">
                <a:latin typeface="+mn-lt"/>
              </a:rPr>
              <a:t> 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Их можно разбить на 3 основных класса:</a:t>
            </a:r>
          </a:p>
          <a:p>
            <a:pPr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1.Методы 0-го порядка (не использующие производные).</a:t>
            </a:r>
          </a:p>
          <a:p>
            <a:pPr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2.Методы 1-го порядка (использующие 1-е производные).</a:t>
            </a:r>
          </a:p>
          <a:p>
            <a:pPr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3.Методы 2-го порядка (использующие 2-е производные).</a:t>
            </a:r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1528289" y="4221640"/>
            <a:ext cx="80645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2800" b="1" dirty="0">
                <a:latin typeface="Times New Roman" panose="02020603050405020304" pitchFamily="18" charset="0"/>
              </a:rPr>
              <a:t>Рассмотрим простейшие представители каждого из этих классов.</a:t>
            </a:r>
          </a:p>
        </p:txBody>
      </p:sp>
    </p:spTree>
    <p:extLst>
      <p:ext uri="{BB962C8B-B14F-4D97-AF65-F5344CB8AC3E}">
        <p14:creationId xmlns:p14="http://schemas.microsoft.com/office/powerpoint/2010/main" val="3635466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ru-RU" sz="3600" b="1" u="sng" dirty="0">
                <a:latin typeface="+mn-lt"/>
              </a:rPr>
              <a:t>3</a:t>
            </a:r>
            <a:r>
              <a:rPr lang="ru-RU" altLang="ru-RU" sz="3600" b="1" u="sng" dirty="0">
                <a:latin typeface="+mn-lt"/>
              </a:rPr>
              <a:t>.1. Метод покоординатного спуска </a:t>
            </a:r>
            <a:br>
              <a:rPr lang="ru-RU" altLang="ru-RU" sz="3600" b="1" u="sng" dirty="0">
                <a:latin typeface="+mn-lt"/>
              </a:rPr>
            </a:br>
            <a:r>
              <a:rPr lang="ru-RU" altLang="ru-RU" sz="3600" b="1" u="sng" dirty="0">
                <a:latin typeface="+mn-lt"/>
              </a:rPr>
              <a:t>(метод 0-го порядка)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 			–  непрерывная функция.</a:t>
            </a:r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22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03701"/>
              </p:ext>
            </p:extLst>
          </p:nvPr>
        </p:nvGraphicFramePr>
        <p:xfrm>
          <a:off x="2486333" y="1778000"/>
          <a:ext cx="19446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333" y="1778000"/>
                        <a:ext cx="1944687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2230" name="Picture 6" descr="10_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2600325"/>
            <a:ext cx="7345363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97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b="1" u="sng" dirty="0">
                <a:latin typeface="+mn-lt"/>
              </a:rPr>
              <a:t>Алгоритм: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313" y="1557338"/>
            <a:ext cx="8229600" cy="4525962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Ш1. Направление     - выбирается вдоль координаты    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от точки       , т.е.   </a:t>
            </a: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3998914" y="1492250"/>
          <a:ext cx="4159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Формула" r:id="rId3" imgW="190417" imgH="203112" progId="Equation.3">
                  <p:embed/>
                </p:oleObj>
              </mc:Choice>
              <mc:Fallback>
                <p:oleObj name="Формула" r:id="rId3" imgW="190417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4" y="1492250"/>
                        <a:ext cx="41592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3255" name="Object 7"/>
          <p:cNvGraphicFramePr>
            <a:graphicFrameLocks noChangeAspect="1"/>
          </p:cNvGraphicFramePr>
          <p:nvPr/>
        </p:nvGraphicFramePr>
        <p:xfrm>
          <a:off x="9120188" y="1455739"/>
          <a:ext cx="6477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0" name="Формула" r:id="rId5" imgW="253780" imgH="203024" progId="Equation.3">
                  <p:embed/>
                </p:oleObj>
              </mc:Choice>
              <mc:Fallback>
                <p:oleObj name="Формула" r:id="rId5" imgW="253780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0188" y="1455739"/>
                        <a:ext cx="6477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6" name="Rectangle 8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3257" name="Object 9"/>
          <p:cNvGraphicFramePr>
            <a:graphicFrameLocks noChangeAspect="1"/>
          </p:cNvGraphicFramePr>
          <p:nvPr/>
        </p:nvGraphicFramePr>
        <p:xfrm>
          <a:off x="7820026" y="1455738"/>
          <a:ext cx="4413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1" name="Формула" r:id="rId7" imgW="177646" imgH="228402" progId="Equation.3">
                  <p:embed/>
                </p:oleObj>
              </mc:Choice>
              <mc:Fallback>
                <p:oleObj name="Формула" r:id="rId7" imgW="177646" imgH="22840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0026" y="1455738"/>
                        <a:ext cx="44132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8" name="Rectangle 10"/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3259" name="Object 11"/>
          <p:cNvGraphicFramePr>
            <a:graphicFrameLocks noChangeAspect="1"/>
          </p:cNvGraphicFramePr>
          <p:nvPr/>
        </p:nvGraphicFramePr>
        <p:xfrm>
          <a:off x="4910138" y="1757364"/>
          <a:ext cx="143986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Формула" r:id="rId9" imgW="952087" imgH="444307" progId="Equation.3">
                  <p:embed/>
                </p:oleObj>
              </mc:Choice>
              <mc:Fallback>
                <p:oleObj name="Формула" r:id="rId9" imgW="952087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0138" y="1757364"/>
                        <a:ext cx="1439862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0" name="Rectangle 12"/>
          <p:cNvSpPr>
            <a:spLocks noChangeArrowheads="1"/>
          </p:cNvSpPr>
          <p:nvPr/>
        </p:nvSpPr>
        <p:spPr bwMode="auto">
          <a:xfrm>
            <a:off x="1774826" y="2347269"/>
            <a:ext cx="42754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</a:rPr>
              <a:t>Ш2. Определяется величина шага</a:t>
            </a:r>
            <a:r>
              <a:rPr lang="ru-RU" altLang="ru-RU" sz="2400">
                <a:latin typeface="Times New Roman" panose="02020603050405020304" pitchFamily="18" charset="0"/>
              </a:rPr>
              <a:t>     </a:t>
            </a:r>
          </a:p>
        </p:txBody>
      </p:sp>
      <p:sp>
        <p:nvSpPr>
          <p:cNvPr id="53261" name="Rectangle 13"/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3262" name="Object 14"/>
          <p:cNvGraphicFramePr>
            <a:graphicFrameLocks noChangeAspect="1"/>
          </p:cNvGraphicFramePr>
          <p:nvPr/>
        </p:nvGraphicFramePr>
        <p:xfrm>
          <a:off x="6096000" y="2349500"/>
          <a:ext cx="345598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Формула" r:id="rId11" imgW="2336800" imgH="254000" progId="Equation.3">
                  <p:embed/>
                </p:oleObj>
              </mc:Choice>
              <mc:Fallback>
                <p:oleObj name="Формула" r:id="rId11" imgW="23368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349500"/>
                        <a:ext cx="3455988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3" name="Rectangle 15"/>
          <p:cNvSpPr>
            <a:spLocks noChangeArrowheads="1"/>
          </p:cNvSpPr>
          <p:nvPr/>
        </p:nvSpPr>
        <p:spPr bwMode="auto">
          <a:xfrm>
            <a:off x="1847850" y="2851121"/>
            <a:ext cx="41549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</a:rPr>
              <a:t>Ш3. Формируется новое значение    </a:t>
            </a:r>
          </a:p>
        </p:txBody>
      </p:sp>
      <p:sp>
        <p:nvSpPr>
          <p:cNvPr id="53264" name="Rectangle 16"/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3265" name="Object 17"/>
          <p:cNvGraphicFramePr>
            <a:graphicFrameLocks noChangeAspect="1"/>
          </p:cNvGraphicFramePr>
          <p:nvPr/>
        </p:nvGraphicFramePr>
        <p:xfrm>
          <a:off x="6096000" y="2852738"/>
          <a:ext cx="31686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4" name="Формула" r:id="rId13" imgW="1371600" imgH="203200" progId="Equation.3">
                  <p:embed/>
                </p:oleObj>
              </mc:Choice>
              <mc:Fallback>
                <p:oleObj name="Формула" r:id="rId13" imgW="13716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852738"/>
                        <a:ext cx="31686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6" name="Rectangle 18"/>
          <p:cNvSpPr>
            <a:spLocks noChangeArrowheads="1"/>
          </p:cNvSpPr>
          <p:nvPr/>
        </p:nvSpPr>
        <p:spPr bwMode="auto">
          <a:xfrm>
            <a:off x="1933899" y="3386108"/>
            <a:ext cx="32092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</a:rPr>
              <a:t>Ш4. Проверка сходимости:</a:t>
            </a:r>
            <a:r>
              <a:rPr lang="ru-RU" altLang="ru-RU" sz="1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3267" name="Rectangle 19"/>
          <p:cNvSpPr>
            <a:spLocks noChangeArrowheads="1"/>
          </p:cNvSpPr>
          <p:nvPr/>
        </p:nvSpPr>
        <p:spPr bwMode="auto">
          <a:xfrm>
            <a:off x="2495550" y="3859491"/>
            <a:ext cx="7248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Если </a:t>
            </a:r>
          </a:p>
        </p:txBody>
      </p:sp>
      <p:sp>
        <p:nvSpPr>
          <p:cNvPr id="53268" name="Rectangle 20"/>
          <p:cNvSpPr>
            <a:spLocks noChangeArrowheads="1"/>
          </p:cNvSpPr>
          <p:nvPr/>
        </p:nvSpPr>
        <p:spPr bwMode="auto">
          <a:xfrm>
            <a:off x="1524001" y="31078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3269" name="Object 21"/>
          <p:cNvGraphicFramePr>
            <a:graphicFrameLocks noChangeAspect="1"/>
          </p:cNvGraphicFramePr>
          <p:nvPr/>
        </p:nvGraphicFramePr>
        <p:xfrm>
          <a:off x="3216275" y="3789363"/>
          <a:ext cx="42481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" name="Формула" r:id="rId15" imgW="2552700" imgH="279400" progId="Equation.3">
                  <p:embed/>
                </p:oleObj>
              </mc:Choice>
              <mc:Fallback>
                <p:oleObj name="Формула" r:id="rId15" imgW="25527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3789363"/>
                        <a:ext cx="424815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0" name="Rectangle 22"/>
          <p:cNvSpPr>
            <a:spLocks noChangeArrowheads="1"/>
          </p:cNvSpPr>
          <p:nvPr/>
        </p:nvSpPr>
        <p:spPr bwMode="auto">
          <a:xfrm>
            <a:off x="7464425" y="3789363"/>
            <a:ext cx="1441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, то </a:t>
            </a:r>
            <a:r>
              <a:rPr lang="ru-RU" altLang="ru-RU" sz="1800" i="1">
                <a:latin typeface="Times New Roman" panose="02020603050405020304" pitchFamily="18" charset="0"/>
              </a:rPr>
              <a:t>КОНЕЦ</a:t>
            </a:r>
            <a:r>
              <a:rPr lang="ru-RU" altLang="ru-RU" sz="1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3271" name="Rectangle 23"/>
          <p:cNvSpPr>
            <a:spLocks noChangeArrowheads="1"/>
          </p:cNvSpPr>
          <p:nvPr/>
        </p:nvSpPr>
        <p:spPr bwMode="auto">
          <a:xfrm>
            <a:off x="2639112" y="4219853"/>
            <a:ext cx="33180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Иначе  к=к+1 и переход на Ш 1.</a:t>
            </a:r>
          </a:p>
        </p:txBody>
      </p:sp>
      <p:sp>
        <p:nvSpPr>
          <p:cNvPr id="53272" name="Rectangle 24"/>
          <p:cNvSpPr>
            <a:spLocks noChangeArrowheads="1"/>
          </p:cNvSpPr>
          <p:nvPr/>
        </p:nvSpPr>
        <p:spPr bwMode="auto">
          <a:xfrm>
            <a:off x="1919288" y="4508500"/>
            <a:ext cx="6121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u="sng">
                <a:latin typeface="Times New Roman" panose="02020603050405020304" pitchFamily="18" charset="0"/>
              </a:rPr>
              <a:t>Достоинства:</a:t>
            </a:r>
            <a:r>
              <a:rPr lang="ru-RU" altLang="ru-RU" sz="1800">
                <a:latin typeface="Times New Roman" panose="02020603050405020304" pitchFamily="18" charset="0"/>
              </a:rPr>
              <a:t> возможность оптимизации для задач с недифференцируемыми функциями.</a:t>
            </a:r>
          </a:p>
        </p:txBody>
      </p:sp>
      <p:sp>
        <p:nvSpPr>
          <p:cNvPr id="53273" name="Rectangle 25"/>
          <p:cNvSpPr>
            <a:spLocks noChangeArrowheads="1"/>
          </p:cNvSpPr>
          <p:nvPr/>
        </p:nvSpPr>
        <p:spPr bwMode="auto">
          <a:xfrm>
            <a:off x="2255213" y="5018774"/>
            <a:ext cx="55130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 u="sng">
                <a:latin typeface="Times New Roman" panose="02020603050405020304" pitchFamily="18" charset="0"/>
              </a:rPr>
              <a:t>Недостатки:</a:t>
            </a:r>
            <a:r>
              <a:rPr lang="ru-RU" altLang="ru-RU" sz="1800">
                <a:latin typeface="Times New Roman" panose="02020603050405020304" pitchFamily="18" charset="0"/>
              </a:rPr>
              <a:t>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1. Низкая скорость сходимости (сублинейная, т.е. </a:t>
            </a:r>
            <a:r>
              <a:rPr lang="ru-RU" altLang="ru-RU" sz="1800">
                <a:latin typeface="Times New Roman" panose="02020603050405020304" pitchFamily="18" charset="0"/>
                <a:sym typeface="Symbol" panose="05050102010706020507" pitchFamily="18" charset="2"/>
              </a:rPr>
              <a:t></a:t>
            </a:r>
            <a:r>
              <a:rPr lang="ru-RU" altLang="ru-RU" sz="1800">
                <a:latin typeface="Times New Roman" panose="02020603050405020304" pitchFamily="18" charset="0"/>
              </a:rPr>
              <a:t>&lt;1)</a:t>
            </a:r>
          </a:p>
        </p:txBody>
      </p:sp>
      <p:sp>
        <p:nvSpPr>
          <p:cNvPr id="53274" name="Rectangle 26"/>
          <p:cNvSpPr>
            <a:spLocks noChangeArrowheads="1"/>
          </p:cNvSpPr>
          <p:nvPr/>
        </p:nvSpPr>
        <p:spPr bwMode="auto">
          <a:xfrm>
            <a:off x="2063750" y="5734050"/>
            <a:ext cx="7848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2.Возможность зацикливания при плохой обусловленности задачи, т.е. когда функция </a:t>
            </a:r>
            <a:r>
              <a:rPr lang="ru-RU" altLang="ru-RU" sz="180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ru-RU" altLang="ru-RU" sz="1800">
                <a:latin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sym typeface="Symbol" panose="05050102010706020507" pitchFamily="18" charset="2"/>
              </a:rPr>
              <a:t>) имеет овражный характер.</a:t>
            </a:r>
          </a:p>
        </p:txBody>
      </p:sp>
    </p:spTree>
    <p:extLst>
      <p:ext uri="{BB962C8B-B14F-4D97-AF65-F5344CB8AC3E}">
        <p14:creationId xmlns:p14="http://schemas.microsoft.com/office/powerpoint/2010/main" val="2650732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b="1" dirty="0">
                <a:latin typeface="+mn-lt"/>
              </a:rPr>
              <a:t>Обусловленность задачи</a:t>
            </a:r>
            <a:r>
              <a:rPr lang="ru-RU" altLang="ru-RU" dirty="0">
                <a:latin typeface="+mn-lt"/>
              </a:rPr>
              <a:t> 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600201"/>
            <a:ext cx="8291513" cy="452596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Определяется числом обусловленности матрицы Гессе (если она существует), т.е. отношением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4277" name="Object 5"/>
          <p:cNvGraphicFramePr>
            <a:graphicFrameLocks noChangeAspect="1"/>
          </p:cNvGraphicFramePr>
          <p:nvPr/>
        </p:nvGraphicFramePr>
        <p:xfrm>
          <a:off x="5951538" y="1844676"/>
          <a:ext cx="8636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Формула" r:id="rId3" imgW="431613" imgH="393529" progId="Equation.3">
                  <p:embed/>
                </p:oleObj>
              </mc:Choice>
              <mc:Fallback>
                <p:oleObj name="Формула" r:id="rId3" imgW="43161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8" y="1844676"/>
                        <a:ext cx="8636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2339275" y="2476471"/>
            <a:ext cx="54830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Где</a:t>
            </a:r>
            <a:r>
              <a:rPr lang="ru-RU" altLang="ru-RU" sz="2000" b="1" i="1" dirty="0">
                <a:latin typeface="Times New Roman" panose="02020603050405020304" pitchFamily="18" charset="0"/>
              </a:rPr>
              <a:t> </a:t>
            </a:r>
            <a:r>
              <a:rPr lang="en-US" altLang="ru-RU" sz="2000" b="1" i="1" dirty="0">
                <a:latin typeface="Times New Roman" panose="02020603050405020304" pitchFamily="18" charset="0"/>
              </a:rPr>
              <a:t>L</a:t>
            </a:r>
            <a:r>
              <a:rPr lang="ru-RU" altLang="ru-RU" sz="2000" b="1" i="1" dirty="0">
                <a:latin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</a:rPr>
              <a:t>- максимальное собственное число            ,</a:t>
            </a:r>
          </a:p>
        </p:txBody>
      </p:sp>
      <p:sp>
        <p:nvSpPr>
          <p:cNvPr id="54279" name="Rectangle 7"/>
          <p:cNvSpPr>
            <a:spLocks noChangeArrowheads="1"/>
          </p:cNvSpPr>
          <p:nvPr/>
        </p:nvSpPr>
        <p:spPr bwMode="auto">
          <a:xfrm>
            <a:off x="2279651" y="2833688"/>
            <a:ext cx="417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минимальное собственное число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54280" name="Object 8"/>
          <p:cNvGraphicFramePr>
            <a:graphicFrameLocks noChangeAspect="1"/>
          </p:cNvGraphicFramePr>
          <p:nvPr/>
        </p:nvGraphicFramePr>
        <p:xfrm>
          <a:off x="6396038" y="2903538"/>
          <a:ext cx="792162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name="Формула" r:id="rId5" imgW="508000" imgH="228600" progId="Equation.3">
                  <p:embed/>
                </p:oleObj>
              </mc:Choice>
              <mc:Fallback>
                <p:oleObj name="Формула" r:id="rId5" imgW="508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6038" y="2903538"/>
                        <a:ext cx="792162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1" name="Rectangle 9"/>
          <p:cNvSpPr>
            <a:spLocks noChangeArrowheads="1"/>
          </p:cNvSpPr>
          <p:nvPr/>
        </p:nvSpPr>
        <p:spPr bwMode="auto">
          <a:xfrm>
            <a:off x="6888163" y="198913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cs typeface="Times New Roman" panose="02020603050405020304" pitchFamily="18" charset="0"/>
              </a:rPr>
              <a:t>.</a:t>
            </a:r>
            <a:r>
              <a:rPr lang="ru-RU" altLang="ru-RU" sz="600"/>
              <a:t> </a:t>
            </a:r>
            <a:endParaRPr lang="ru-RU" altLang="ru-RU" sz="1800"/>
          </a:p>
        </p:txBody>
      </p:sp>
      <p:graphicFrame>
        <p:nvGraphicFramePr>
          <p:cNvPr id="54282" name="Object 10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45432393"/>
              </p:ext>
            </p:extLst>
          </p:nvPr>
        </p:nvGraphicFramePr>
        <p:xfrm>
          <a:off x="6871750" y="2533650"/>
          <a:ext cx="79216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2" name="Формула" r:id="rId7" imgW="508000" imgH="228600" progId="Equation.3">
                  <p:embed/>
                </p:oleObj>
              </mc:Choice>
              <mc:Fallback>
                <p:oleObj name="Формула" r:id="rId7" imgW="508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1750" y="2533650"/>
                        <a:ext cx="79216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3" name="Rectangle 11"/>
          <p:cNvSpPr>
            <a:spLocks noChangeArrowheads="1"/>
          </p:cNvSpPr>
          <p:nvPr/>
        </p:nvSpPr>
        <p:spPr bwMode="auto">
          <a:xfrm>
            <a:off x="7416800" y="2852738"/>
            <a:ext cx="190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cs typeface="Times New Roman" panose="02020603050405020304" pitchFamily="18" charset="0"/>
              </a:rPr>
              <a:t>.</a:t>
            </a:r>
            <a:r>
              <a:rPr lang="ru-RU" altLang="ru-RU" sz="600"/>
              <a:t> </a:t>
            </a:r>
            <a:endParaRPr lang="ru-RU" altLang="ru-RU" sz="1800"/>
          </a:p>
        </p:txBody>
      </p:sp>
      <p:sp>
        <p:nvSpPr>
          <p:cNvPr id="54284" name="Rectangle 12"/>
          <p:cNvSpPr>
            <a:spLocks noChangeArrowheads="1"/>
          </p:cNvSpPr>
          <p:nvPr/>
        </p:nvSpPr>
        <p:spPr bwMode="auto">
          <a:xfrm>
            <a:off x="2208214" y="3573464"/>
            <a:ext cx="7991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 случае отсутствия матрицы Гессе числом обусловленности может быть отношение</a:t>
            </a:r>
            <a:r>
              <a:rPr lang="ru-RU" altLang="ru-RU" sz="2000">
                <a:cs typeface="Times New Roman" panose="02020603050405020304" pitchFamily="18" charset="0"/>
              </a:rPr>
              <a:t>: </a:t>
            </a:r>
            <a:endParaRPr lang="ru-RU" altLang="ru-RU" sz="2000"/>
          </a:p>
        </p:txBody>
      </p:sp>
      <p:graphicFrame>
        <p:nvGraphicFramePr>
          <p:cNvPr id="54285" name="Object 13"/>
          <p:cNvGraphicFramePr>
            <a:graphicFrameLocks noChangeAspect="1"/>
          </p:cNvGraphicFramePr>
          <p:nvPr/>
        </p:nvGraphicFramePr>
        <p:xfrm>
          <a:off x="4224339" y="3860800"/>
          <a:ext cx="28797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3" name="Формула" r:id="rId8" imgW="1651000" imgH="609600" progId="Equation.3">
                  <p:embed/>
                </p:oleObj>
              </mc:Choice>
              <mc:Fallback>
                <p:oleObj name="Формула" r:id="rId8" imgW="1651000" imgH="60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9" y="3860800"/>
                        <a:ext cx="28797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6" name="Rectangle 14"/>
          <p:cNvSpPr>
            <a:spLocks noChangeArrowheads="1"/>
          </p:cNvSpPr>
          <p:nvPr/>
        </p:nvSpPr>
        <p:spPr bwMode="auto">
          <a:xfrm>
            <a:off x="3157538" y="3733800"/>
            <a:ext cx="2270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 sz="1800"/>
          </a:p>
        </p:txBody>
      </p:sp>
      <p:sp>
        <p:nvSpPr>
          <p:cNvPr id="54287" name="Rectangle 15"/>
          <p:cNvSpPr>
            <a:spLocks noChangeArrowheads="1"/>
          </p:cNvSpPr>
          <p:nvPr/>
        </p:nvSpPr>
        <p:spPr bwMode="auto">
          <a:xfrm>
            <a:off x="7248525" y="4076700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cs typeface="Times New Roman" panose="02020603050405020304" pitchFamily="18" charset="0"/>
              </a:rPr>
              <a:t>.</a:t>
            </a:r>
            <a:r>
              <a:rPr lang="ru-RU" altLang="ru-RU" sz="600"/>
              <a:t> </a:t>
            </a:r>
            <a:endParaRPr lang="ru-RU" altLang="ru-RU" sz="1800"/>
          </a:p>
        </p:txBody>
      </p:sp>
      <p:pic>
        <p:nvPicPr>
          <p:cNvPr id="54288" name="Picture 16" descr="10_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749800"/>
            <a:ext cx="3816350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428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6010661"/>
              </p:ext>
            </p:extLst>
          </p:nvPr>
        </p:nvGraphicFramePr>
        <p:xfrm>
          <a:off x="4883149" y="5805487"/>
          <a:ext cx="7044994" cy="6778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Формула" r:id="rId11" imgW="2413000" imgH="228600" progId="Equation.3">
                  <p:embed/>
                </p:oleObj>
              </mc:Choice>
              <mc:Fallback>
                <p:oleObj name="Формула" r:id="rId11" imgW="2413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149" y="5805487"/>
                        <a:ext cx="7044994" cy="6778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0" name="Object 18"/>
          <p:cNvGraphicFramePr>
            <a:graphicFrameLocks noChangeAspect="1"/>
          </p:cNvGraphicFramePr>
          <p:nvPr/>
        </p:nvGraphicFramePr>
        <p:xfrm>
          <a:off x="1524000" y="3436939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5" name="Формула" r:id="rId13" imgW="114151" imgH="215619" progId="Equation.3">
                  <p:embed/>
                </p:oleObj>
              </mc:Choice>
              <mc:Fallback>
                <p:oleObj name="Формула" r:id="rId13" imgW="114151" imgH="2156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436939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1" name="Rectangle 19"/>
          <p:cNvSpPr>
            <a:spLocks noChangeArrowheads="1"/>
          </p:cNvSpPr>
          <p:nvPr/>
        </p:nvSpPr>
        <p:spPr bwMode="auto">
          <a:xfrm>
            <a:off x="4949981" y="5034290"/>
            <a:ext cx="52733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функция </a:t>
            </a:r>
            <a:r>
              <a:rPr lang="ru-RU" alt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Розенброка</a:t>
            </a:r>
            <a:r>
              <a:rPr lang="ru-RU" alt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cs typeface="Times New Roman" panose="02020603050405020304" pitchFamily="18" charset="0"/>
              </a:rPr>
              <a:t>:</a:t>
            </a:r>
            <a:r>
              <a:rPr lang="ru-RU" altLang="ru-RU" sz="1200" dirty="0">
                <a:cs typeface="Times New Roman" panose="02020603050405020304" pitchFamily="18" charset="0"/>
              </a:rPr>
              <a:t> </a:t>
            </a:r>
            <a:endParaRPr lang="ru-RU" altLang="ru-RU" sz="1800" dirty="0"/>
          </a:p>
        </p:txBody>
      </p:sp>
      <p:sp>
        <p:nvSpPr>
          <p:cNvPr id="54292" name="Rectangle 20"/>
          <p:cNvSpPr>
            <a:spLocks noChangeArrowheads="1"/>
          </p:cNvSpPr>
          <p:nvPr/>
        </p:nvSpPr>
        <p:spPr bwMode="auto">
          <a:xfrm>
            <a:off x="1524001" y="32522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54293" name="Rectangle 21"/>
          <p:cNvSpPr>
            <a:spLocks noChangeArrowheads="1"/>
          </p:cNvSpPr>
          <p:nvPr/>
        </p:nvSpPr>
        <p:spPr bwMode="auto">
          <a:xfrm>
            <a:off x="1524001" y="3649664"/>
            <a:ext cx="2270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.</a:t>
            </a:r>
            <a:endParaRPr lang="ru-RU" altLang="ru-RU" sz="1800"/>
          </a:p>
        </p:txBody>
      </p:sp>
    </p:spTree>
    <p:extLst>
      <p:ext uri="{BB962C8B-B14F-4D97-AF65-F5344CB8AC3E}">
        <p14:creationId xmlns:p14="http://schemas.microsoft.com/office/powerpoint/2010/main" val="3914488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ru-RU" sz="3600" b="1" i="1" u="sng" dirty="0">
                <a:latin typeface="+mn-lt"/>
              </a:rPr>
              <a:t>3</a:t>
            </a:r>
            <a:r>
              <a:rPr lang="ru-RU" altLang="ru-RU" sz="3600" b="1" i="1" u="sng" dirty="0">
                <a:latin typeface="+mn-lt"/>
              </a:rPr>
              <a:t>.2. Метод наискорейшего спуска </a:t>
            </a:r>
            <a:br>
              <a:rPr lang="ru-RU" altLang="ru-RU" sz="3600" b="1" i="1" u="sng" dirty="0">
                <a:latin typeface="+mn-lt"/>
              </a:rPr>
            </a:br>
            <a:r>
              <a:rPr lang="ru-RU" altLang="ru-RU" sz="3600" b="1" i="1" u="sng" dirty="0">
                <a:latin typeface="+mn-lt"/>
              </a:rPr>
              <a:t>(метод 1-го порядка).</a:t>
            </a:r>
            <a:r>
              <a:rPr lang="ru-RU" altLang="ru-RU" sz="3600" b="1" dirty="0">
                <a:latin typeface="+mn-lt"/>
              </a:rPr>
              <a:t>  </a:t>
            </a:r>
          </a:p>
        </p:txBody>
      </p:sp>
      <p:pic>
        <p:nvPicPr>
          <p:cNvPr id="55299" name="Picture 3" descr="10_5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92314" y="1844676"/>
            <a:ext cx="6624637" cy="28622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5300" name="Picture 4" descr="10_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0" y="4797426"/>
            <a:ext cx="3816350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4037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ru-RU" sz="3600" b="1" i="1" u="sng" dirty="0">
                <a:latin typeface="+mn-lt"/>
              </a:rPr>
              <a:t>3</a:t>
            </a:r>
            <a:r>
              <a:rPr lang="ru-RU" altLang="ru-RU" sz="3600" b="1" i="1" u="sng" dirty="0">
                <a:latin typeface="+mn-lt"/>
              </a:rPr>
              <a:t>.2. Метод наискорейшего спуска </a:t>
            </a:r>
            <a:br>
              <a:rPr lang="ru-RU" altLang="ru-RU" sz="3600" b="1" i="1" u="sng" dirty="0">
                <a:latin typeface="+mn-lt"/>
              </a:rPr>
            </a:br>
            <a:r>
              <a:rPr lang="ru-RU" altLang="ru-RU" sz="3600" b="1" i="1" u="sng" dirty="0">
                <a:latin typeface="+mn-lt"/>
              </a:rPr>
              <a:t>(метод 1-го порядка).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3388" y="1600200"/>
            <a:ext cx="8856662" cy="5068888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                          - класс 1 раз дифференцируемых функций.</a:t>
            </a:r>
          </a:p>
        </p:txBody>
      </p:sp>
      <p:graphicFrame>
        <p:nvGraphicFramePr>
          <p:cNvPr id="563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295719"/>
              </p:ext>
            </p:extLst>
          </p:nvPr>
        </p:nvGraphicFramePr>
        <p:xfrm>
          <a:off x="2928938" y="1574855"/>
          <a:ext cx="158273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9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1574855"/>
                        <a:ext cx="158273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6326" name="Object 6"/>
          <p:cNvGraphicFramePr>
            <a:graphicFrameLocks noChangeAspect="1"/>
          </p:cNvGraphicFramePr>
          <p:nvPr/>
        </p:nvGraphicFramePr>
        <p:xfrm>
          <a:off x="1847850" y="2060575"/>
          <a:ext cx="41036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0" name="Формула" r:id="rId5" imgW="2209800" imgH="203200" progId="Equation.3">
                  <p:embed/>
                </p:oleObj>
              </mc:Choice>
              <mc:Fallback>
                <p:oleObj name="Формула" r:id="rId5" imgW="22098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2060575"/>
                        <a:ext cx="410368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7" name="Rectangle 7"/>
          <p:cNvSpPr>
            <a:spLocks noChangeArrowheads="1"/>
          </p:cNvSpPr>
          <p:nvPr/>
        </p:nvSpPr>
        <p:spPr bwMode="auto">
          <a:xfrm>
            <a:off x="1847850" y="2491066"/>
            <a:ext cx="21897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Разложим функцию </a:t>
            </a:r>
          </a:p>
        </p:txBody>
      </p:sp>
      <p:sp>
        <p:nvSpPr>
          <p:cNvPr id="56328" name="Rectangle 8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6329" name="Object 9"/>
          <p:cNvGraphicFramePr>
            <a:graphicFrameLocks noChangeAspect="1"/>
          </p:cNvGraphicFramePr>
          <p:nvPr/>
        </p:nvGraphicFramePr>
        <p:xfrm>
          <a:off x="4151314" y="2492376"/>
          <a:ext cx="18002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Формула" r:id="rId7" imgW="1040948" imgH="228501" progId="Equation.3">
                  <p:embed/>
                </p:oleObj>
              </mc:Choice>
              <mc:Fallback>
                <p:oleObj name="Формула" r:id="rId7" imgW="1040948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2492376"/>
                        <a:ext cx="18002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0" name="Rectangle 10"/>
          <p:cNvSpPr>
            <a:spLocks noChangeArrowheads="1"/>
          </p:cNvSpPr>
          <p:nvPr/>
        </p:nvSpPr>
        <p:spPr bwMode="auto">
          <a:xfrm>
            <a:off x="6096001" y="2195404"/>
            <a:ext cx="4321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– в ряд Тейлора, тогда, если учитывать только 2 члена ряда, получим:</a:t>
            </a:r>
          </a:p>
        </p:txBody>
      </p:sp>
      <p:sp>
        <p:nvSpPr>
          <p:cNvPr id="56331" name="Rectangle 11"/>
          <p:cNvSpPr>
            <a:spLocks noChangeArrowheads="1"/>
          </p:cNvSpPr>
          <p:nvPr/>
        </p:nvSpPr>
        <p:spPr bwMode="auto">
          <a:xfrm>
            <a:off x="1524001" y="31078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6332" name="Object 12"/>
          <p:cNvGraphicFramePr>
            <a:graphicFrameLocks noChangeAspect="1"/>
          </p:cNvGraphicFramePr>
          <p:nvPr/>
        </p:nvGraphicFramePr>
        <p:xfrm>
          <a:off x="2351089" y="2997200"/>
          <a:ext cx="6192837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2" name="Формула" r:id="rId9" imgW="2908300" imgH="279400" progId="Equation.3">
                  <p:embed/>
                </p:oleObj>
              </mc:Choice>
              <mc:Fallback>
                <p:oleObj name="Формула" r:id="rId9" imgW="29083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2997200"/>
                        <a:ext cx="6192837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3" name="Rectangle 13"/>
          <p:cNvSpPr>
            <a:spLocks noChangeArrowheads="1"/>
          </p:cNvSpPr>
          <p:nvPr/>
        </p:nvSpPr>
        <p:spPr bwMode="auto">
          <a:xfrm>
            <a:off x="2135189" y="3643591"/>
            <a:ext cx="60732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Для того, чтобы функция уменьшалась, необходимо, чтобы </a:t>
            </a:r>
          </a:p>
        </p:txBody>
      </p:sp>
      <p:sp>
        <p:nvSpPr>
          <p:cNvPr id="56334" name="Rectangle 14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6335" name="Object 15"/>
          <p:cNvGraphicFramePr>
            <a:graphicFrameLocks noChangeAspect="1"/>
          </p:cNvGraphicFramePr>
          <p:nvPr/>
        </p:nvGraphicFramePr>
        <p:xfrm>
          <a:off x="8616950" y="3644900"/>
          <a:ext cx="172878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3" name="Формула" r:id="rId11" imgW="1066800" imgH="228600" progId="Equation.3">
                  <p:embed/>
                </p:oleObj>
              </mc:Choice>
              <mc:Fallback>
                <p:oleObj name="Формула" r:id="rId11" imgW="1066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6950" y="3644900"/>
                        <a:ext cx="1728788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6" name="Rectangle 16"/>
          <p:cNvSpPr>
            <a:spLocks noChangeArrowheads="1"/>
          </p:cNvSpPr>
          <p:nvPr/>
        </p:nvSpPr>
        <p:spPr bwMode="auto">
          <a:xfrm>
            <a:off x="1524001" y="29966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6337" name="Object 17"/>
          <p:cNvGraphicFramePr>
            <a:graphicFrameLocks noChangeAspect="1"/>
          </p:cNvGraphicFramePr>
          <p:nvPr/>
        </p:nvGraphicFramePr>
        <p:xfrm>
          <a:off x="2063751" y="3986213"/>
          <a:ext cx="187166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4" name="Формула" r:id="rId13" imgW="1193800" imgH="495300" progId="Equation.3">
                  <p:embed/>
                </p:oleObj>
              </mc:Choice>
              <mc:Fallback>
                <p:oleObj name="Формула" r:id="rId13" imgW="11938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3986213"/>
                        <a:ext cx="187166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8" name="Rectangle 18"/>
          <p:cNvSpPr>
            <a:spLocks noChangeArrowheads="1"/>
          </p:cNvSpPr>
          <p:nvPr/>
        </p:nvSpPr>
        <p:spPr bwMode="auto">
          <a:xfrm>
            <a:off x="4008439" y="4075391"/>
            <a:ext cx="10150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.  Тогда  </a:t>
            </a:r>
          </a:p>
        </p:txBody>
      </p:sp>
      <p:sp>
        <p:nvSpPr>
          <p:cNvPr id="56339" name="Rectangle 19"/>
          <p:cNvSpPr>
            <a:spLocks noChangeArrowheads="1"/>
          </p:cNvSpPr>
          <p:nvPr/>
        </p:nvSpPr>
        <p:spPr bwMode="auto">
          <a:xfrm>
            <a:off x="1524001" y="29966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6340" name="Object 20"/>
          <p:cNvGraphicFramePr>
            <a:graphicFrameLocks noChangeAspect="1"/>
          </p:cNvGraphicFramePr>
          <p:nvPr/>
        </p:nvGraphicFramePr>
        <p:xfrm>
          <a:off x="5087938" y="3933826"/>
          <a:ext cx="3097212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5" name="Формула" r:id="rId15" imgW="1803400" imgH="495300" progId="Equation.3">
                  <p:embed/>
                </p:oleObj>
              </mc:Choice>
              <mc:Fallback>
                <p:oleObj name="Формула" r:id="rId15" imgW="1803400" imgH="49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3933826"/>
                        <a:ext cx="3097212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1" name="Rectangle 21"/>
          <p:cNvSpPr>
            <a:spLocks noChangeArrowheads="1"/>
          </p:cNvSpPr>
          <p:nvPr/>
        </p:nvSpPr>
        <p:spPr bwMode="auto">
          <a:xfrm>
            <a:off x="1992314" y="4723091"/>
            <a:ext cx="12175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При этом  </a:t>
            </a:r>
          </a:p>
        </p:txBody>
      </p:sp>
      <p:sp>
        <p:nvSpPr>
          <p:cNvPr id="56342" name="Rectangle 22"/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6343" name="Object 23"/>
          <p:cNvGraphicFramePr>
            <a:graphicFrameLocks noChangeAspect="1"/>
          </p:cNvGraphicFramePr>
          <p:nvPr/>
        </p:nvGraphicFramePr>
        <p:xfrm>
          <a:off x="3143251" y="4724400"/>
          <a:ext cx="309721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6" name="Формула" r:id="rId17" imgW="2311400" imgH="254000" progId="Equation.3">
                  <p:embed/>
                </p:oleObj>
              </mc:Choice>
              <mc:Fallback>
                <p:oleObj name="Формула" r:id="rId17" imgW="2311400" imgH="254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4724400"/>
                        <a:ext cx="3097213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4" name="Rectangle 24"/>
          <p:cNvSpPr>
            <a:spLocks noChangeArrowheads="1"/>
          </p:cNvSpPr>
          <p:nvPr/>
        </p:nvSpPr>
        <p:spPr bwMode="auto">
          <a:xfrm>
            <a:off x="1992314" y="5083453"/>
            <a:ext cx="21687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 u="sng">
                <a:latin typeface="Times New Roman" panose="02020603050405020304" pitchFamily="18" charset="0"/>
              </a:rPr>
              <a:t>Особенность МНС:</a:t>
            </a:r>
            <a:r>
              <a:rPr lang="ru-RU" altLang="ru-RU" sz="1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6345" name="Rectangle 25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6346" name="Object 26"/>
          <p:cNvGraphicFramePr>
            <a:graphicFrameLocks noChangeAspect="1"/>
          </p:cNvGraphicFramePr>
          <p:nvPr/>
        </p:nvGraphicFramePr>
        <p:xfrm>
          <a:off x="4079875" y="5084763"/>
          <a:ext cx="23764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7" name="Формула" r:id="rId19" imgW="1536700" imgH="228600" progId="Equation.3">
                  <p:embed/>
                </p:oleObj>
              </mc:Choice>
              <mc:Fallback>
                <p:oleObj name="Формула" r:id="rId19" imgW="15367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5084763"/>
                        <a:ext cx="237648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7" name="Rectangle 27"/>
          <p:cNvSpPr>
            <a:spLocks noChangeArrowheads="1"/>
          </p:cNvSpPr>
          <p:nvPr/>
        </p:nvSpPr>
        <p:spPr bwMode="auto">
          <a:xfrm>
            <a:off x="6527801" y="5012016"/>
            <a:ext cx="9312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то есть </a:t>
            </a:r>
          </a:p>
        </p:txBody>
      </p:sp>
      <p:sp>
        <p:nvSpPr>
          <p:cNvPr id="56348" name="Rectangle 28"/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6349" name="Object 29"/>
          <p:cNvGraphicFramePr>
            <a:graphicFrameLocks noChangeAspect="1"/>
          </p:cNvGraphicFramePr>
          <p:nvPr/>
        </p:nvGraphicFramePr>
        <p:xfrm>
          <a:off x="7535863" y="5013326"/>
          <a:ext cx="165576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8" name="Формула" r:id="rId21" imgW="939392" imgH="203112" progId="Equation.3">
                  <p:embed/>
                </p:oleObj>
              </mc:Choice>
              <mc:Fallback>
                <p:oleObj name="Формула" r:id="rId21" imgW="939392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5863" y="5013326"/>
                        <a:ext cx="1655762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50" name="Rectangle 30"/>
          <p:cNvSpPr>
            <a:spLocks noChangeArrowheads="1"/>
          </p:cNvSpPr>
          <p:nvPr/>
        </p:nvSpPr>
        <p:spPr bwMode="auto">
          <a:xfrm>
            <a:off x="9191625" y="5013326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56351" name="Rectangle 31"/>
          <p:cNvSpPr>
            <a:spLocks noChangeArrowheads="1"/>
          </p:cNvSpPr>
          <p:nvPr/>
        </p:nvSpPr>
        <p:spPr bwMode="auto">
          <a:xfrm>
            <a:off x="1992314" y="5494923"/>
            <a:ext cx="83518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600" u="sng">
                <a:latin typeface="Times New Roman" panose="02020603050405020304" pitchFamily="18" charset="0"/>
              </a:rPr>
              <a:t>Достоинства.</a:t>
            </a:r>
            <a:r>
              <a:rPr lang="ru-RU" altLang="ru-RU" sz="1600">
                <a:latin typeface="Times New Roman" panose="02020603050405020304" pitchFamily="18" charset="0"/>
              </a:rPr>
              <a:t> Линейная скорость сходимости для функций </a:t>
            </a:r>
            <a:r>
              <a:rPr lang="ru-RU" altLang="ru-RU" sz="160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ru-RU" altLang="ru-RU" sz="1600">
                <a:latin typeface="Times New Roman" panose="02020603050405020304" pitchFamily="18" charset="0"/>
              </a:rPr>
              <a:t>(</a:t>
            </a:r>
            <a:r>
              <a:rPr lang="en-US" altLang="ru-RU" sz="160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600">
                <a:latin typeface="Times New Roman" panose="02020603050405020304" pitchFamily="18" charset="0"/>
                <a:sym typeface="Symbol" panose="05050102010706020507" pitchFamily="18" charset="2"/>
              </a:rPr>
              <a:t>) близких к квадратичным. </a:t>
            </a:r>
          </a:p>
        </p:txBody>
      </p:sp>
      <p:sp>
        <p:nvSpPr>
          <p:cNvPr id="56352" name="Rectangle 32"/>
          <p:cNvSpPr>
            <a:spLocks noChangeArrowheads="1"/>
          </p:cNvSpPr>
          <p:nvPr/>
        </p:nvSpPr>
        <p:spPr bwMode="auto">
          <a:xfrm>
            <a:off x="2030703" y="5963236"/>
            <a:ext cx="12598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600" u="sng">
                <a:latin typeface="Times New Roman" panose="02020603050405020304" pitchFamily="18" charset="0"/>
              </a:rPr>
              <a:t>Недостатки:</a:t>
            </a:r>
          </a:p>
        </p:txBody>
      </p:sp>
      <p:sp>
        <p:nvSpPr>
          <p:cNvPr id="56353" name="Rectangle 33"/>
          <p:cNvSpPr>
            <a:spLocks noChangeArrowheads="1"/>
          </p:cNvSpPr>
          <p:nvPr/>
        </p:nvSpPr>
        <p:spPr bwMode="auto">
          <a:xfrm>
            <a:off x="3432176" y="5846763"/>
            <a:ext cx="12366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1.Функция </a:t>
            </a: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6354" name="Object 34"/>
          <p:cNvGraphicFramePr>
            <a:graphicFrameLocks noChangeAspect="1"/>
          </p:cNvGraphicFramePr>
          <p:nvPr/>
        </p:nvGraphicFramePr>
        <p:xfrm>
          <a:off x="4511676" y="5876925"/>
          <a:ext cx="11525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9" name="Формула" r:id="rId23" imgW="876300" imgH="228600" progId="Equation.3">
                  <p:embed/>
                </p:oleObj>
              </mc:Choice>
              <mc:Fallback>
                <p:oleObj name="Формула" r:id="rId23" imgW="876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6" y="5876925"/>
                        <a:ext cx="1152525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55" name="Rectangle 35"/>
          <p:cNvSpPr>
            <a:spLocks noChangeArrowheads="1"/>
          </p:cNvSpPr>
          <p:nvPr/>
        </p:nvSpPr>
        <p:spPr bwMode="auto">
          <a:xfrm>
            <a:off x="5664201" y="5846763"/>
            <a:ext cx="32353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200">
                <a:cs typeface="Times New Roman" panose="02020603050405020304" pitchFamily="18" charset="0"/>
              </a:rPr>
              <a:t> </a:t>
            </a:r>
            <a:r>
              <a:rPr lang="ru-RU" altLang="ru-RU" sz="1600">
                <a:cs typeface="Times New Roman" panose="02020603050405020304" pitchFamily="18" charset="0"/>
              </a:rPr>
              <a:t>– 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должна быть дифференцируема</a:t>
            </a:r>
            <a:r>
              <a:rPr lang="ru-RU" altLang="ru-RU" sz="1600">
                <a:cs typeface="Times New Roman" panose="02020603050405020304" pitchFamily="18" charset="0"/>
              </a:rPr>
              <a:t>.</a:t>
            </a:r>
            <a:endParaRPr lang="ru-RU" altLang="ru-RU" sz="1600"/>
          </a:p>
        </p:txBody>
      </p:sp>
      <p:sp>
        <p:nvSpPr>
          <p:cNvPr id="56356" name="Rectangle 36"/>
          <p:cNvSpPr>
            <a:spLocks noChangeArrowheads="1"/>
          </p:cNvSpPr>
          <p:nvPr/>
        </p:nvSpPr>
        <p:spPr bwMode="auto">
          <a:xfrm>
            <a:off x="3741702" y="6164848"/>
            <a:ext cx="60547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ru-RU" altLang="ru-RU" sz="1600">
                <a:latin typeface="Times New Roman" panose="02020603050405020304" pitchFamily="18" charset="0"/>
              </a:rPr>
              <a:t>2.Возможность зацикливания при плохой обусловленности задачи.</a:t>
            </a:r>
          </a:p>
        </p:txBody>
      </p:sp>
    </p:spTree>
    <p:extLst>
      <p:ext uri="{BB962C8B-B14F-4D97-AF65-F5344CB8AC3E}">
        <p14:creationId xmlns:p14="http://schemas.microsoft.com/office/powerpoint/2010/main" val="1968856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ru-RU" sz="4000" b="1" i="1" u="sng" dirty="0">
                <a:latin typeface="+mn-lt"/>
              </a:rPr>
              <a:t>3</a:t>
            </a:r>
            <a:r>
              <a:rPr lang="ru-RU" altLang="ru-RU" sz="4000" b="1" i="1" u="sng" dirty="0">
                <a:latin typeface="+mn-lt"/>
              </a:rPr>
              <a:t>.3. Метод Ньютона </a:t>
            </a:r>
            <a:br>
              <a:rPr lang="ru-RU" altLang="ru-RU" sz="4000" b="1" i="1" u="sng" dirty="0">
                <a:latin typeface="+mn-lt"/>
              </a:rPr>
            </a:br>
            <a:r>
              <a:rPr lang="ru-RU" altLang="ru-RU" sz="4000" b="1" i="1" u="sng" dirty="0">
                <a:latin typeface="+mn-lt"/>
              </a:rPr>
              <a:t>(метод второго порядка).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600201"/>
            <a:ext cx="5554663" cy="4525963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Условием использования этого метода является</a:t>
            </a:r>
            <a:r>
              <a:rPr lang="ru-RU" altLang="ru-RU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73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8590458"/>
              </p:ext>
            </p:extLst>
          </p:nvPr>
        </p:nvGraphicFramePr>
        <p:xfrm>
          <a:off x="7047993" y="1635125"/>
          <a:ext cx="172878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0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7993" y="1635125"/>
                        <a:ext cx="172878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Rectangle 6"/>
          <p:cNvSpPr>
            <a:spLocks noChangeArrowheads="1"/>
          </p:cNvSpPr>
          <p:nvPr/>
        </p:nvSpPr>
        <p:spPr bwMode="auto">
          <a:xfrm>
            <a:off x="9767888" y="17732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, </a:t>
            </a:r>
          </a:p>
        </p:txBody>
      </p:sp>
      <p:sp>
        <p:nvSpPr>
          <p:cNvPr id="57351" name="Rectangle 7"/>
          <p:cNvSpPr>
            <a:spLocks noChangeArrowheads="1"/>
          </p:cNvSpPr>
          <p:nvPr/>
        </p:nvSpPr>
        <p:spPr bwMode="auto">
          <a:xfrm>
            <a:off x="1847851" y="2203728"/>
            <a:ext cx="64410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а также условие выпуклости </a:t>
            </a:r>
            <a:r>
              <a:rPr lang="ru-RU" altLang="ru-RU" sz="180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ru-RU" altLang="ru-RU" sz="1800">
                <a:latin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sym typeface="Symbol" panose="05050102010706020507" pitchFamily="18" charset="2"/>
              </a:rPr>
              <a:t>)  в окрестности точки поиска. </a:t>
            </a:r>
          </a:p>
        </p:txBody>
      </p:sp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1992313" y="2420938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Точка</a:t>
            </a:r>
            <a:r>
              <a:rPr lang="ru-RU" alt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57353" name="Object 9"/>
          <p:cNvGraphicFramePr>
            <a:graphicFrameLocks noChangeAspect="1"/>
          </p:cNvGraphicFramePr>
          <p:nvPr/>
        </p:nvGraphicFramePr>
        <p:xfrm>
          <a:off x="2855913" y="2492376"/>
          <a:ext cx="29051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1" name="Формула" r:id="rId5" imgW="164957" imgH="203024" progId="Equation.3">
                  <p:embed/>
                </p:oleObj>
              </mc:Choice>
              <mc:Fallback>
                <p:oleObj name="Формула" r:id="rId5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2492376"/>
                        <a:ext cx="29051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4" name="Rectangle 10"/>
          <p:cNvSpPr>
            <a:spLocks noChangeArrowheads="1"/>
          </p:cNvSpPr>
          <p:nvPr/>
        </p:nvSpPr>
        <p:spPr bwMode="auto">
          <a:xfrm>
            <a:off x="3216276" y="2492376"/>
            <a:ext cx="6151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– стационарная точка (точка локального экстремума </a:t>
            </a:r>
            <a:r>
              <a:rPr lang="ru-RU" altLang="ru-RU" sz="2000">
                <a:cs typeface="Times New Roman" panose="02020603050405020304" pitchFamily="18" charset="0"/>
              </a:rPr>
              <a:t>) </a:t>
            </a:r>
            <a:endParaRPr lang="ru-RU" altLang="ru-RU" sz="2000"/>
          </a:p>
        </p:txBody>
      </p:sp>
      <p:sp>
        <p:nvSpPr>
          <p:cNvPr id="57355" name="Rectangle 11"/>
          <p:cNvSpPr>
            <a:spLocks noChangeArrowheads="1"/>
          </p:cNvSpPr>
          <p:nvPr/>
        </p:nvSpPr>
        <p:spPr bwMode="auto">
          <a:xfrm>
            <a:off x="9191625" y="2492376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57356" name="Rectangle 12"/>
          <p:cNvSpPr>
            <a:spLocks noChangeArrowheads="1"/>
          </p:cNvSpPr>
          <p:nvPr/>
        </p:nvSpPr>
        <p:spPr bwMode="auto">
          <a:xfrm>
            <a:off x="1992314" y="2924176"/>
            <a:ext cx="8651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Пусть:</a:t>
            </a:r>
          </a:p>
        </p:txBody>
      </p:sp>
      <p:sp>
        <p:nvSpPr>
          <p:cNvPr id="57357" name="Rectangle 13"/>
          <p:cNvSpPr>
            <a:spLocks noChangeArrowheads="1"/>
          </p:cNvSpPr>
          <p:nvPr/>
        </p:nvSpPr>
        <p:spPr bwMode="auto">
          <a:xfrm>
            <a:off x="1524001" y="2893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7358" name="Object 14"/>
          <p:cNvGraphicFramePr>
            <a:graphicFrameLocks noChangeAspect="1"/>
          </p:cNvGraphicFramePr>
          <p:nvPr/>
        </p:nvGraphicFramePr>
        <p:xfrm>
          <a:off x="2855914" y="2852738"/>
          <a:ext cx="2160587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2" name="Формула" r:id="rId7" imgW="1168400" imgH="698500" progId="Equation.3">
                  <p:embed/>
                </p:oleObj>
              </mc:Choice>
              <mc:Fallback>
                <p:oleObj name="Формула" r:id="rId7" imgW="11684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2852738"/>
                        <a:ext cx="2160587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9" name="Rectangle 15"/>
          <p:cNvSpPr>
            <a:spLocks noChangeArrowheads="1"/>
          </p:cNvSpPr>
          <p:nvPr/>
        </p:nvSpPr>
        <p:spPr bwMode="auto">
          <a:xfrm>
            <a:off x="5159376" y="2922866"/>
            <a:ext cx="8483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Тогда :</a:t>
            </a:r>
          </a:p>
        </p:txBody>
      </p:sp>
      <p:sp>
        <p:nvSpPr>
          <p:cNvPr id="57360" name="Rectangle 16"/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57361" name="Rectangle 17"/>
          <p:cNvSpPr>
            <a:spLocks noChangeArrowheads="1"/>
          </p:cNvSpPr>
          <p:nvPr/>
        </p:nvSpPr>
        <p:spPr bwMode="auto">
          <a:xfrm>
            <a:off x="4440238" y="3932516"/>
            <a:ext cx="5450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где </a:t>
            </a:r>
          </a:p>
        </p:txBody>
      </p:sp>
      <p:sp>
        <p:nvSpPr>
          <p:cNvPr id="57362" name="Rectangle 18"/>
          <p:cNvSpPr>
            <a:spLocks noChangeArrowheads="1"/>
          </p:cNvSpPr>
          <p:nvPr/>
        </p:nvSpPr>
        <p:spPr bwMode="auto">
          <a:xfrm>
            <a:off x="1524001" y="2883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7363" name="Object 19"/>
          <p:cNvGraphicFramePr>
            <a:graphicFrameLocks noChangeAspect="1"/>
          </p:cNvGraphicFramePr>
          <p:nvPr/>
        </p:nvGraphicFramePr>
        <p:xfrm>
          <a:off x="5016501" y="3644900"/>
          <a:ext cx="3167063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3" name="Формула" r:id="rId9" imgW="1371600" imgH="571500" progId="Equation.3">
                  <p:embed/>
                </p:oleObj>
              </mc:Choice>
              <mc:Fallback>
                <p:oleObj name="Формула" r:id="rId9" imgW="13716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1" y="3644900"/>
                        <a:ext cx="3167063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4" name="Rectangle 20"/>
          <p:cNvSpPr>
            <a:spLocks noChangeArrowheads="1"/>
          </p:cNvSpPr>
          <p:nvPr/>
        </p:nvSpPr>
        <p:spPr bwMode="auto">
          <a:xfrm>
            <a:off x="1992313" y="4581525"/>
            <a:ext cx="84248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Разложение функции </a:t>
            </a:r>
            <a:r>
              <a:rPr lang="ru-RU" altLang="ru-RU" sz="180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ru-RU" altLang="ru-RU" sz="1800">
                <a:latin typeface="Times New Roman" panose="02020603050405020304" pitchFamily="18" charset="0"/>
              </a:rPr>
              <a:t>(х*) в окрестности х* в ряд Тейлора до 3-го члена дает квадратичную аппроксимацию этой функции в </a:t>
            </a:r>
            <a:r>
              <a:rPr lang="en-US" altLang="ru-RU" sz="1800">
                <a:latin typeface="Times New Roman" panose="02020603050405020304" pitchFamily="18" charset="0"/>
                <a:sym typeface="Symbol" panose="05050102010706020507" pitchFamily="18" charset="2"/>
              </a:rPr>
              <a:t>U</a:t>
            </a:r>
            <a:r>
              <a:rPr lang="ru-RU" altLang="ru-RU" sz="1800">
                <a:latin typeface="Times New Roman" panose="02020603050405020304" pitchFamily="18" charset="0"/>
              </a:rPr>
              <a:t>(</a:t>
            </a:r>
            <a:r>
              <a:rPr lang="en-US" altLang="ru-RU" sz="180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ru-RU" altLang="ru-RU" sz="1800">
                <a:latin typeface="Times New Roman" panose="02020603050405020304" pitchFamily="18" charset="0"/>
                <a:sym typeface="Symbol" panose="05050102010706020507" pitchFamily="18" charset="2"/>
              </a:rPr>
              <a:t>*):</a:t>
            </a:r>
          </a:p>
        </p:txBody>
      </p:sp>
      <p:sp>
        <p:nvSpPr>
          <p:cNvPr id="57365" name="Rectangle 21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7366" name="Object 22"/>
          <p:cNvGraphicFramePr>
            <a:graphicFrameLocks noChangeAspect="1"/>
          </p:cNvGraphicFramePr>
          <p:nvPr/>
        </p:nvGraphicFramePr>
        <p:xfrm>
          <a:off x="2063750" y="5300663"/>
          <a:ext cx="36004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4" name="Формула" r:id="rId11" imgW="1765300" imgH="228600" progId="Equation.3">
                  <p:embed/>
                </p:oleObj>
              </mc:Choice>
              <mc:Fallback>
                <p:oleObj name="Формула" r:id="rId11" imgW="17653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5300663"/>
                        <a:ext cx="36004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7" name="Rectangle 23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7368" name="Object 24"/>
          <p:cNvGraphicFramePr>
            <a:graphicFrameLocks noChangeAspect="1"/>
          </p:cNvGraphicFramePr>
          <p:nvPr/>
        </p:nvGraphicFramePr>
        <p:xfrm>
          <a:off x="6240464" y="5300664"/>
          <a:ext cx="410527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5" name="Формула" r:id="rId13" imgW="2070100" imgH="228600" progId="Equation.3">
                  <p:embed/>
                </p:oleObj>
              </mc:Choice>
              <mc:Fallback>
                <p:oleObj name="Формула" r:id="rId13" imgW="20701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4" y="5300664"/>
                        <a:ext cx="410527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9" name="Rectangle 25"/>
          <p:cNvSpPr>
            <a:spLocks noChangeArrowheads="1"/>
          </p:cNvSpPr>
          <p:nvPr/>
        </p:nvSpPr>
        <p:spPr bwMode="auto">
          <a:xfrm>
            <a:off x="5735638" y="5300663"/>
            <a:ext cx="241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57370" name="Rectangle 26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7371" name="Object 27"/>
          <p:cNvGraphicFramePr>
            <a:graphicFrameLocks noChangeAspect="1"/>
          </p:cNvGraphicFramePr>
          <p:nvPr/>
        </p:nvGraphicFramePr>
        <p:xfrm>
          <a:off x="1992313" y="5805488"/>
          <a:ext cx="27368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6" name="Формула" r:id="rId15" imgW="1676400" imgH="228600" progId="Equation.3">
                  <p:embed/>
                </p:oleObj>
              </mc:Choice>
              <mc:Fallback>
                <p:oleObj name="Формула" r:id="rId15" imgW="1676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5805488"/>
                        <a:ext cx="273685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72" name="Rectangle 28"/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7373" name="Object 29"/>
          <p:cNvGraphicFramePr>
            <a:graphicFrameLocks noChangeAspect="1"/>
          </p:cNvGraphicFramePr>
          <p:nvPr/>
        </p:nvGraphicFramePr>
        <p:xfrm>
          <a:off x="4872039" y="5805488"/>
          <a:ext cx="26638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7" name="Формула" r:id="rId17" imgW="1536700" imgH="241300" progId="Equation.3">
                  <p:embed/>
                </p:oleObj>
              </mc:Choice>
              <mc:Fallback>
                <p:oleObj name="Формула" r:id="rId17" imgW="15367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9" y="5805488"/>
                        <a:ext cx="266382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74" name="Rectangle 30"/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7375" name="Object 31"/>
          <p:cNvGraphicFramePr>
            <a:graphicFrameLocks noChangeAspect="1"/>
          </p:cNvGraphicFramePr>
          <p:nvPr/>
        </p:nvGraphicFramePr>
        <p:xfrm>
          <a:off x="7751764" y="5876925"/>
          <a:ext cx="237648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8" name="Формула" r:id="rId19" imgW="1371600" imgH="203200" progId="Equation.3">
                  <p:embed/>
                </p:oleObj>
              </mc:Choice>
              <mc:Fallback>
                <p:oleObj name="Формула" r:id="rId19" imgW="13716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4" y="5876925"/>
                        <a:ext cx="2376487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76" name="Rectangle 32"/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57377" name="Rectangle 33"/>
          <p:cNvSpPr>
            <a:spLocks noChangeArrowheads="1"/>
          </p:cNvSpPr>
          <p:nvPr/>
        </p:nvSpPr>
        <p:spPr bwMode="auto">
          <a:xfrm>
            <a:off x="4656138" y="5805488"/>
            <a:ext cx="304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; </a:t>
            </a:r>
          </a:p>
        </p:txBody>
      </p:sp>
      <p:sp>
        <p:nvSpPr>
          <p:cNvPr id="57378" name="Rectangle 34"/>
          <p:cNvSpPr>
            <a:spLocks noChangeArrowheads="1"/>
          </p:cNvSpPr>
          <p:nvPr/>
        </p:nvSpPr>
        <p:spPr bwMode="auto">
          <a:xfrm>
            <a:off x="7391400" y="58769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; </a:t>
            </a:r>
          </a:p>
        </p:txBody>
      </p:sp>
      <p:sp>
        <p:nvSpPr>
          <p:cNvPr id="57379" name="Rectangle 35"/>
          <p:cNvSpPr>
            <a:spLocks noChangeArrowheads="1"/>
          </p:cNvSpPr>
          <p:nvPr/>
        </p:nvSpPr>
        <p:spPr bwMode="auto">
          <a:xfrm>
            <a:off x="10056813" y="5876926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57380" name="Object 36"/>
          <p:cNvGraphicFramePr>
            <a:graphicFrameLocks noGrp="1" noChangeAspect="1"/>
          </p:cNvGraphicFramePr>
          <p:nvPr>
            <p:ph sz="half" idx="2"/>
          </p:nvPr>
        </p:nvGraphicFramePr>
        <p:xfrm>
          <a:off x="4440238" y="3284538"/>
          <a:ext cx="57594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" name="Формула" r:id="rId21" imgW="4051300" imgH="393700" progId="Equation.3">
                  <p:embed/>
                </p:oleObj>
              </mc:Choice>
              <mc:Fallback>
                <p:oleObj name="Формула" r:id="rId21" imgW="4051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3284538"/>
                        <a:ext cx="57594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8943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ru-RU" sz="4000" b="1" i="1" u="sng" dirty="0">
                <a:latin typeface="+mn-lt"/>
              </a:rPr>
              <a:t>3</a:t>
            </a:r>
            <a:r>
              <a:rPr lang="ru-RU" altLang="ru-RU" sz="4000" b="1" i="1" u="sng" dirty="0">
                <a:latin typeface="+mn-lt"/>
              </a:rPr>
              <a:t>.3. Метод Ньютона </a:t>
            </a:r>
            <a:br>
              <a:rPr lang="ru-RU" altLang="ru-RU" sz="4000" b="1" i="1" u="sng" dirty="0">
                <a:latin typeface="+mn-lt"/>
              </a:rPr>
            </a:br>
            <a:r>
              <a:rPr lang="ru-RU" altLang="ru-RU" sz="4000" b="1" i="1" u="sng" dirty="0">
                <a:latin typeface="+mn-lt"/>
              </a:rPr>
              <a:t>(метод второго порядка).</a:t>
            </a:r>
          </a:p>
        </p:txBody>
      </p:sp>
      <p:pic>
        <p:nvPicPr>
          <p:cNvPr id="58371" name="Picture 3" descr="1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1925638"/>
            <a:ext cx="5334000" cy="3663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8372" name="Picture 4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763" y="2492376"/>
            <a:ext cx="2400300" cy="244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5512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ru-RU" sz="4000" b="1" i="1" u="sng" dirty="0">
                <a:latin typeface="+mn-lt"/>
              </a:rPr>
              <a:t>3</a:t>
            </a:r>
            <a:r>
              <a:rPr lang="ru-RU" altLang="ru-RU" sz="4000" b="1" i="1" u="sng" dirty="0">
                <a:latin typeface="+mn-lt"/>
              </a:rPr>
              <a:t>.3. Метод Ньютона </a:t>
            </a:r>
            <a:br>
              <a:rPr lang="ru-RU" altLang="ru-RU" sz="4000" b="1" i="1" u="sng" dirty="0">
                <a:latin typeface="+mn-lt"/>
              </a:rPr>
            </a:br>
            <a:r>
              <a:rPr lang="ru-RU" altLang="ru-RU" sz="4000" b="1" i="1" u="sng" dirty="0">
                <a:latin typeface="+mn-lt"/>
              </a:rPr>
              <a:t>(метод второго порядка).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47813"/>
            <a:ext cx="8229600" cy="4525962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b="1" i="1" u="sng"/>
              <a:t>Сопряженность:</a:t>
            </a:r>
            <a:endParaRPr lang="ru-RU" altLang="ru-RU" b="1" i="1"/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9397" name="Object 5"/>
          <p:cNvGraphicFramePr>
            <a:graphicFrameLocks noChangeAspect="1"/>
          </p:cNvGraphicFramePr>
          <p:nvPr/>
        </p:nvGraphicFramePr>
        <p:xfrm>
          <a:off x="5618164" y="1668463"/>
          <a:ext cx="28082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Формула" r:id="rId3" imgW="1397000" imgH="228600" progId="Equation.3">
                  <p:embed/>
                </p:oleObj>
              </mc:Choice>
              <mc:Fallback>
                <p:oleObj name="Формула" r:id="rId3" imgW="1397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8164" y="1668463"/>
                        <a:ext cx="28082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8" name="Rectangle 6"/>
          <p:cNvSpPr>
            <a:spLocks noChangeArrowheads="1"/>
          </p:cNvSpPr>
          <p:nvPr/>
        </p:nvSpPr>
        <p:spPr bwMode="auto">
          <a:xfrm>
            <a:off x="1524001" y="3358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59399" name="Rectangle 7"/>
          <p:cNvSpPr>
            <a:spLocks noChangeArrowheads="1"/>
          </p:cNvSpPr>
          <p:nvPr/>
        </p:nvSpPr>
        <p:spPr bwMode="auto">
          <a:xfrm>
            <a:off x="1981200" y="2139951"/>
            <a:ext cx="8280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 u="sng">
                <a:latin typeface="Times New Roman" panose="02020603050405020304" pitchFamily="18" charset="0"/>
              </a:rPr>
              <a:t>Достоинства :</a:t>
            </a:r>
            <a:r>
              <a:rPr lang="ru-RU" altLang="ru-RU" sz="1800" b="1" u="sng">
                <a:latin typeface="Times New Roman" panose="02020603050405020304" pitchFamily="18" charset="0"/>
              </a:rPr>
              <a:t> </a:t>
            </a:r>
            <a:r>
              <a:rPr lang="ru-RU" altLang="ru-RU" sz="1800" b="1">
                <a:latin typeface="Times New Roman" panose="02020603050405020304" pitchFamily="18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Для функций, близких к квадратичным, скорость сходимости алгоритма суперлинейная.</a:t>
            </a:r>
          </a:p>
        </p:txBody>
      </p:sp>
      <p:sp>
        <p:nvSpPr>
          <p:cNvPr id="59400" name="Rectangle 8"/>
          <p:cNvSpPr>
            <a:spLocks noChangeArrowheads="1"/>
          </p:cNvSpPr>
          <p:nvPr/>
        </p:nvSpPr>
        <p:spPr bwMode="auto">
          <a:xfrm>
            <a:off x="2063750" y="2997200"/>
            <a:ext cx="1987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 b="1" u="sng">
                <a:latin typeface="Times New Roman" panose="02020603050405020304" pitchFamily="18" charset="0"/>
              </a:rPr>
              <a:t>Недостатки:</a:t>
            </a:r>
            <a:r>
              <a:rPr lang="ru-RU" altLang="ru-RU" sz="2400" b="1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9401" name="Rectangle 9"/>
          <p:cNvSpPr>
            <a:spLocks noChangeArrowheads="1"/>
          </p:cNvSpPr>
          <p:nvPr/>
        </p:nvSpPr>
        <p:spPr bwMode="auto">
          <a:xfrm>
            <a:off x="1774825" y="3370541"/>
            <a:ext cx="31750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1.Необходимость вычисления </a:t>
            </a:r>
          </a:p>
        </p:txBody>
      </p:sp>
      <p:sp>
        <p:nvSpPr>
          <p:cNvPr id="59402" name="Rectangle 10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9403" name="Object 11"/>
          <p:cNvGraphicFramePr>
            <a:graphicFrameLocks noChangeAspect="1"/>
          </p:cNvGraphicFramePr>
          <p:nvPr/>
        </p:nvGraphicFramePr>
        <p:xfrm>
          <a:off x="4800600" y="3330576"/>
          <a:ext cx="12954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name="Формула" r:id="rId5" imgW="622030" imgH="228501" progId="Equation.3">
                  <p:embed/>
                </p:oleObj>
              </mc:Choice>
              <mc:Fallback>
                <p:oleObj name="Формула" r:id="rId5" imgW="622030" imgH="2285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330576"/>
                        <a:ext cx="12954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4" name="Rectangle 12"/>
          <p:cNvSpPr>
            <a:spLocks noChangeArrowheads="1"/>
          </p:cNvSpPr>
          <p:nvPr/>
        </p:nvSpPr>
        <p:spPr bwMode="auto">
          <a:xfrm>
            <a:off x="6043613" y="3363913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</a:rPr>
              <a:t>.</a:t>
            </a:r>
            <a:r>
              <a:rPr lang="ru-RU" altLang="ru-RU" sz="1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9405" name="Rectangle 13"/>
          <p:cNvSpPr>
            <a:spLocks noChangeArrowheads="1"/>
          </p:cNvSpPr>
          <p:nvPr/>
        </p:nvSpPr>
        <p:spPr bwMode="auto">
          <a:xfrm>
            <a:off x="1703389" y="3740151"/>
            <a:ext cx="55451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2.Процесс решения сильно зависит от выбора </a:t>
            </a:r>
          </a:p>
        </p:txBody>
      </p:sp>
      <p:graphicFrame>
        <p:nvGraphicFramePr>
          <p:cNvPr id="59406" name="Object 14"/>
          <p:cNvGraphicFramePr>
            <a:graphicFrameLocks noChangeAspect="1"/>
          </p:cNvGraphicFramePr>
          <p:nvPr/>
        </p:nvGraphicFramePr>
        <p:xfrm>
          <a:off x="6350001" y="3652839"/>
          <a:ext cx="5762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Формула" r:id="rId7" imgW="253780" imgH="203024" progId="Equation.3">
                  <p:embed/>
                </p:oleObj>
              </mc:Choice>
              <mc:Fallback>
                <p:oleObj name="Формула" r:id="rId7" imgW="253780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1" y="3652839"/>
                        <a:ext cx="57626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7" name="Rectangle 15"/>
          <p:cNvSpPr>
            <a:spLocks noChangeArrowheads="1"/>
          </p:cNvSpPr>
          <p:nvPr/>
        </p:nvSpPr>
        <p:spPr bwMode="auto">
          <a:xfrm>
            <a:off x="7021514" y="3760788"/>
            <a:ext cx="26495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(т.е. от начальной точки)</a:t>
            </a:r>
          </a:p>
        </p:txBody>
      </p:sp>
      <p:sp>
        <p:nvSpPr>
          <p:cNvPr id="59408" name="Rectangle 16"/>
          <p:cNvSpPr>
            <a:spLocks noChangeArrowheads="1"/>
          </p:cNvSpPr>
          <p:nvPr/>
        </p:nvSpPr>
        <p:spPr bwMode="auto">
          <a:xfrm>
            <a:off x="9501188" y="3689350"/>
            <a:ext cx="284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</a:rPr>
              <a:t>.</a:t>
            </a:r>
            <a:r>
              <a:rPr lang="ru-RU" altLang="ru-RU" sz="1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9409" name="Rectangle 17"/>
          <p:cNvSpPr>
            <a:spLocks noChangeArrowheads="1"/>
          </p:cNvSpPr>
          <p:nvPr/>
        </p:nvSpPr>
        <p:spPr bwMode="auto">
          <a:xfrm>
            <a:off x="1703389" y="4148416"/>
            <a:ext cx="55938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</a:rPr>
              <a:t>3.Функция </a:t>
            </a:r>
            <a:r>
              <a:rPr lang="ru-RU" altLang="ru-RU" sz="1800">
                <a:latin typeface="Times New Roman" panose="02020603050405020304" pitchFamily="18" charset="0"/>
                <a:sym typeface="Symbol" panose="05050102010706020507" pitchFamily="18" charset="2"/>
              </a:rPr>
              <a:t></a:t>
            </a:r>
            <a:r>
              <a:rPr lang="ru-RU" altLang="ru-RU" sz="1800">
                <a:latin typeface="Times New Roman" panose="02020603050405020304" pitchFamily="18" charset="0"/>
              </a:rPr>
              <a:t>(х) должна быть выпуклой во всех точках </a:t>
            </a:r>
          </a:p>
        </p:txBody>
      </p:sp>
      <p:sp>
        <p:nvSpPr>
          <p:cNvPr id="59410" name="Rectangle 18"/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graphicFrame>
        <p:nvGraphicFramePr>
          <p:cNvPr id="59411" name="Object 19"/>
          <p:cNvGraphicFramePr>
            <a:graphicFrameLocks noChangeAspect="1"/>
          </p:cNvGraphicFramePr>
          <p:nvPr/>
        </p:nvGraphicFramePr>
        <p:xfrm>
          <a:off x="7272338" y="4087813"/>
          <a:ext cx="4318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Формула" r:id="rId9" imgW="253780" imgH="203024" progId="Equation.3">
                  <p:embed/>
                </p:oleObj>
              </mc:Choice>
              <mc:Fallback>
                <p:oleObj name="Формула" r:id="rId9" imgW="253780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2338" y="4087813"/>
                        <a:ext cx="43180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2" name="Rectangle 20"/>
          <p:cNvSpPr>
            <a:spLocks noChangeArrowheads="1"/>
          </p:cNvSpPr>
          <p:nvPr/>
        </p:nvSpPr>
        <p:spPr bwMode="auto">
          <a:xfrm>
            <a:off x="1524001" y="28712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59413" name="Rectangle 21"/>
          <p:cNvSpPr>
            <a:spLocks noChangeArrowheads="1"/>
          </p:cNvSpPr>
          <p:nvPr/>
        </p:nvSpPr>
        <p:spPr bwMode="auto">
          <a:xfrm>
            <a:off x="7643813" y="4149726"/>
            <a:ext cx="103981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>
                <a:cs typeface="Times New Roman" panose="02020603050405020304" pitchFamily="18" charset="0"/>
              </a:rPr>
              <a:t>,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 есть</a:t>
            </a:r>
            <a:r>
              <a:rPr lang="ru-RU" altLang="ru-RU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414" name="Rectangle 22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59415" name="Rectangle 24"/>
          <p:cNvSpPr>
            <a:spLocks noChangeArrowheads="1"/>
          </p:cNvSpPr>
          <p:nvPr/>
        </p:nvSpPr>
        <p:spPr bwMode="auto">
          <a:xfrm>
            <a:off x="9661525" y="4103688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2400">
                <a:latin typeface="Times New Roman" panose="02020603050405020304" pitchFamily="18" charset="0"/>
              </a:rPr>
              <a:t>.</a:t>
            </a:r>
            <a:r>
              <a:rPr lang="ru-RU" altLang="ru-RU" sz="1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" name="Прямоугольник 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531396" y="4132889"/>
            <a:ext cx="1313949" cy="404983"/>
          </a:xfrm>
          <a:prstGeom prst="rect">
            <a:avLst/>
          </a:prstGeom>
          <a:blipFill rotWithShape="0">
            <a:blip r:embed="rId1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359923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32E6BB-A450-4C97-BD16-10435ECBB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458F7A9-A291-46D6-83F0-37D0754E86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7612" y="1825625"/>
            <a:ext cx="5834742" cy="47406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197435-0614-42A9-B1F0-42413F7B989F}"/>
              </a:ext>
            </a:extLst>
          </p:cNvPr>
          <p:cNvSpPr txBox="1"/>
          <p:nvPr/>
        </p:nvSpPr>
        <p:spPr>
          <a:xfrm>
            <a:off x="6862354" y="1745122"/>
            <a:ext cx="409085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Утверждение.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 существует универсальных методов решения задач оптимизации, другими словами, невозможно определить наилучший метод решения задач Ρ. 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Возможно, определить класс методов для заданного класса задач. Класс задач – F, Р⊂ ℱ, где ℱ – выделенный класс задач.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B4AC90-2ED8-488A-8522-1AA4631239AC}"/>
              </a:ext>
            </a:extLst>
          </p:cNvPr>
          <p:cNvSpPr txBox="1"/>
          <p:nvPr/>
        </p:nvSpPr>
        <p:spPr>
          <a:xfrm>
            <a:off x="6940731" y="3512440"/>
            <a:ext cx="506839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Замечание.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Как правило используемые методы разбиваются для решения многих однотипных задач с близкими характеристиками. </a:t>
            </a:r>
          </a:p>
          <a:p>
            <a:pPr algn="just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Утверждение.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силу разбиения эффективности метода Μ на всем классе F можно считать естественной характеристикой его качества. </a:t>
            </a:r>
          </a:p>
          <a:p>
            <a:pPr algn="just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Утверждение.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Метод 𝜇 не имеет полной информации о решаемой задаче Р. </a:t>
            </a:r>
          </a:p>
          <a:p>
            <a:pPr algn="just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 о бесплатных завтраках.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(Девид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Волперт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Уильям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Макриди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NFL, 1997) Если алгоритм хорошо работает над определенном классом задач, то он обязательно платит за это снижением производительности на множестве всех оставшихся задач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4326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0D8F-9986-4052-9E0F-D55546F29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МОДЕЛИ, МЕТОДЫ И ЗАДАЧИ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64292BE-FB92-4271-BA6B-2669B3AEA5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Определение. </a:t>
                </a:r>
                <a14:m>
                  <m:oMath xmlns:m="http://schemas.openxmlformats.org/officeDocument/2006/math">
                    <m:r>
                      <a:rPr lang="ru-RU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𝚺</m:t>
                    </m:r>
                  </m:oMath>
                </a14:m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модель решений задачи – это заранее известная численному методу «часть» задачи Р. Как правило в Σ включается формулировка задачи, описание свойств компонент и так далее. Для того чтобы распознать задачу Р среди Р (других) задач класса F и соответственно решить её, метод должен накапливать информацию об этой задаче Р. </a:t>
                </a:r>
              </a:p>
              <a:p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Определение.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– оракул – это процесс наполнения информации о задаче Ρ, другими словами O-это устройство или алгоритм, которое отвечает на последовательные вопросы численного метода. Определим пару (Σ,𝑂), которые определяют эффективность 𝜇, как эффективность на наихудшем представителе Ρ из (Σ,𝑂). </a:t>
                </a:r>
              </a:p>
              <a:p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Замечание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Задачи Ρ может быть трудной только для Μ. Определение. Эффективность метода 𝜇 на задаче Ρ определяется через общие вычислительные затраты метода 𝜇, необходимые для того, чтобы решить задачу Ρ. </a:t>
                </a:r>
              </a:p>
              <a:p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Определение.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Решить задачу Ρ – означает найти её приближение с точностью 𝜀 &gt; 0, которая заведомо задана. </a:t>
                </a:r>
              </a:p>
              <a:p>
                <a:r>
                  <a:rPr lang="ru-RU" sz="1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Опрeделение</a:t>
                </a:r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обозначение некоторого критерия остановки способного оценить качество решения. </a:t>
                </a:r>
              </a:p>
              <a:p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Определение.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Введем класс решаемых задач: ℱ = (Σ,𝑂,𝐹). </a:t>
                </a:r>
              </a:p>
              <a:p>
                <a:r>
                  <a:rPr lang="ru-RU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Замечание. </a:t>
                </a:r>
                <a:r>
                  <a:rPr lang="ru-RU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решения конкретной задачи Ρ ∈ ℱ применяем итеративную процедуру, таким образом мы формализуем или записываем ∀µ, работающей с O.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64292BE-FB92-4271-BA6B-2669B3AEA5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2" t="-980" r="-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0615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9FEC5F-BB34-42C2-82CF-14BD8F92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итеративная схема.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3E737A-8278-4EC4-A334-8FCAD7B8D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Исходные данные: 𝑥( ), 𝜀 &gt; 0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Настройки: k=0, 𝐼( ) = ∅, k-шаг, 𝐼( ) – накапливаемая информационная модель решаемой задачи.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Цикл: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 1. Задаем вопрос оракулу O в 𝑥( )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 2. Пересчитываем информационную модель: ( ) = 𝐼( )⋃(𝑥( ),𝑂(𝑥( )))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 3. Применяем условия метода Μ для анализа 𝐼( ) и получаем 𝑥( )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 4. Проверяем критерий остановки 𝐽 , если ответ положительный, то генерируем ответ 𝑥, иначе k:=k+1 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Шаг 1. </a:t>
            </a:r>
          </a:p>
        </p:txBody>
      </p:sp>
    </p:spTree>
    <p:extLst>
      <p:ext uri="{BB962C8B-B14F-4D97-AF65-F5344CB8AC3E}">
        <p14:creationId xmlns:p14="http://schemas.microsoft.com/office/powerpoint/2010/main" val="2296306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C83716-48F7-4C57-BC27-ECF72DAB1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трудоемкие как правило Шаг 1 и Шаг 3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33640F2-4D7F-419C-9077-D956B0C52B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048" y="1825625"/>
            <a:ext cx="5791198" cy="4351338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29CDC8-8BDE-4D17-BE8A-5222ED6A5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246" y="1661272"/>
            <a:ext cx="61047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869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5E2445-3ACE-444F-BA51-DE3DA7003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ОРАКУЛЫ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A315188A-4BEF-4061-BC77-3639B4982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– 0-порядка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Хука-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Дживса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Розенброка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Нельдера-Мида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A032596-4900-442C-BFE1-4507CD893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250" y="1690688"/>
            <a:ext cx="3534055" cy="190369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84DA5F3-8797-41E5-AFF1-FB5D2E9D2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305" y="1690688"/>
            <a:ext cx="3872755" cy="249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7910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1471</Words>
  <Application>Microsoft Office PowerPoint</Application>
  <PresentationFormat>Широкоэкранный</PresentationFormat>
  <Paragraphs>197</Paragraphs>
  <Slides>23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Times New Roman</vt:lpstr>
      <vt:lpstr>Тема Office</vt:lpstr>
      <vt:lpstr>Формула</vt:lpstr>
      <vt:lpstr>Каганов Ю.Т. Методы оптимизации Лекция № 3</vt:lpstr>
      <vt:lpstr>1. Алгоритм и сходимость алгоритмов.</vt:lpstr>
      <vt:lpstr>1. Алгоритм и сходимость алгоритмов.</vt:lpstr>
      <vt:lpstr>1. Алгоритм и сходимость алгоритмов.</vt:lpstr>
      <vt:lpstr>1. Алгоритм и сходимость алгоритмов.</vt:lpstr>
      <vt:lpstr>2. Стратегия методов спуска. </vt:lpstr>
      <vt:lpstr>2. Стратегия методов спуска. </vt:lpstr>
      <vt:lpstr>2. Стратегия методов спуска. </vt:lpstr>
      <vt:lpstr>2. Стратегия методов спуска. </vt:lpstr>
      <vt:lpstr>3. Простейшие методы ММП для решения ЗВП. </vt:lpstr>
      <vt:lpstr>3.1. Метод покоординатного спуска  (метод 0-го порядка)</vt:lpstr>
      <vt:lpstr>Алгоритм:</vt:lpstr>
      <vt:lpstr>Обусловленность задачи </vt:lpstr>
      <vt:lpstr>3.2. Метод наискорейшего спуска  (метод 1-го порядка).  </vt:lpstr>
      <vt:lpstr>3.2. Метод наискорейшего спуска  (метод 1-го порядка).</vt:lpstr>
      <vt:lpstr>3.3. Метод Ньютона  (метод второго порядка).</vt:lpstr>
      <vt:lpstr>3.3. Метод Ньютона  (метод второго порядка).</vt:lpstr>
      <vt:lpstr>3.3. Метод Ньютона  (метод второго порядка).</vt:lpstr>
      <vt:lpstr>Эффективность численных методов</vt:lpstr>
      <vt:lpstr>МОДЕЛИ, МЕТОДЫ И ЗАДАЧИ</vt:lpstr>
      <vt:lpstr>Общая итеративная схема.</vt:lpstr>
      <vt:lpstr>Наиболее трудоемкие как правило Шаг 1 и Шаг 3</vt:lpstr>
      <vt:lpstr>ОРАКУЛЫ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Yuriy Kaganov</dc:creator>
  <cp:lastModifiedBy>Yuriy Kaganov</cp:lastModifiedBy>
  <cp:revision>18</cp:revision>
  <dcterms:created xsi:type="dcterms:W3CDTF">2020-02-16T18:50:25Z</dcterms:created>
  <dcterms:modified xsi:type="dcterms:W3CDTF">2026-03-03T13:30:52Z</dcterms:modified>
</cp:coreProperties>
</file>