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90" r:id="rId17"/>
    <p:sldId id="298" r:id="rId18"/>
    <p:sldId id="299" r:id="rId19"/>
    <p:sldId id="291" r:id="rId20"/>
    <p:sldId id="292" r:id="rId21"/>
    <p:sldId id="300" r:id="rId22"/>
    <p:sldId id="293" r:id="rId23"/>
    <p:sldId id="294" r:id="rId24"/>
    <p:sldId id="295" r:id="rId25"/>
    <p:sldId id="296" r:id="rId26"/>
    <p:sldId id="297" r:id="rId27"/>
    <p:sldId id="301" r:id="rId28"/>
    <p:sldId id="302" r:id="rId29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708" autoAdjust="0"/>
  </p:normalViewPr>
  <p:slideViewPr>
    <p:cSldViewPr>
      <p:cViewPr varScale="1">
        <p:scale>
          <a:sx n="73" d="100"/>
          <a:sy n="73" d="100"/>
        </p:scale>
        <p:origin x="58" y="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4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9.wmf"/><Relationship Id="rId7" Type="http://schemas.openxmlformats.org/officeDocument/2006/relationships/image" Target="../media/image13.wmf"/><Relationship Id="rId12" Type="http://schemas.openxmlformats.org/officeDocument/2006/relationships/image" Target="../media/image18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6" Type="http://schemas.openxmlformats.org/officeDocument/2006/relationships/image" Target="../media/image12.wmf"/><Relationship Id="rId11" Type="http://schemas.openxmlformats.org/officeDocument/2006/relationships/image" Target="../media/image17.wmf"/><Relationship Id="rId5" Type="http://schemas.openxmlformats.org/officeDocument/2006/relationships/image" Target="../media/image11.wmf"/><Relationship Id="rId10" Type="http://schemas.openxmlformats.org/officeDocument/2006/relationships/image" Target="../media/image16.wmf"/><Relationship Id="rId4" Type="http://schemas.openxmlformats.org/officeDocument/2006/relationships/image" Target="../media/image10.wmf"/><Relationship Id="rId9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image" Target="../media/image22.wmf"/><Relationship Id="rId7" Type="http://schemas.openxmlformats.org/officeDocument/2006/relationships/image" Target="../media/image26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Relationship Id="rId9" Type="http://schemas.openxmlformats.org/officeDocument/2006/relationships/image" Target="../media/image2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7" Type="http://schemas.openxmlformats.org/officeDocument/2006/relationships/image" Target="../media/image38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Relationship Id="rId5" Type="http://schemas.openxmlformats.org/officeDocument/2006/relationships/image" Target="../media/image7.wmf"/><Relationship Id="rId4" Type="http://schemas.openxmlformats.org/officeDocument/2006/relationships/image" Target="../media/image42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image" Target="../media/image48.wmf"/><Relationship Id="rId7" Type="http://schemas.openxmlformats.org/officeDocument/2006/relationships/image" Target="../media/image52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Relationship Id="rId6" Type="http://schemas.openxmlformats.org/officeDocument/2006/relationships/image" Target="../media/image51.wmf"/><Relationship Id="rId11" Type="http://schemas.openxmlformats.org/officeDocument/2006/relationships/image" Target="../media/image56.wmf"/><Relationship Id="rId5" Type="http://schemas.openxmlformats.org/officeDocument/2006/relationships/image" Target="../media/image50.wmf"/><Relationship Id="rId10" Type="http://schemas.openxmlformats.org/officeDocument/2006/relationships/image" Target="../media/image55.wmf"/><Relationship Id="rId4" Type="http://schemas.openxmlformats.org/officeDocument/2006/relationships/image" Target="../media/image49.wmf"/><Relationship Id="rId9" Type="http://schemas.openxmlformats.org/officeDocument/2006/relationships/image" Target="../media/image54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3" Type="http://schemas.openxmlformats.org/officeDocument/2006/relationships/image" Target="../media/image59.wmf"/><Relationship Id="rId7" Type="http://schemas.openxmlformats.org/officeDocument/2006/relationships/image" Target="../media/image63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Relationship Id="rId6" Type="http://schemas.openxmlformats.org/officeDocument/2006/relationships/image" Target="../media/image62.wmf"/><Relationship Id="rId5" Type="http://schemas.openxmlformats.org/officeDocument/2006/relationships/image" Target="../media/image61.wmf"/><Relationship Id="rId10" Type="http://schemas.openxmlformats.org/officeDocument/2006/relationships/image" Target="../media/image66.wmf"/><Relationship Id="rId4" Type="http://schemas.openxmlformats.org/officeDocument/2006/relationships/image" Target="../media/image60.wmf"/><Relationship Id="rId9" Type="http://schemas.openxmlformats.org/officeDocument/2006/relationships/image" Target="../media/image65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Relationship Id="rId5" Type="http://schemas.openxmlformats.org/officeDocument/2006/relationships/image" Target="../media/image73.wmf"/><Relationship Id="rId4" Type="http://schemas.openxmlformats.org/officeDocument/2006/relationships/image" Target="../media/image72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8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image" Target="../media/image80.wmf"/><Relationship Id="rId1" Type="http://schemas.openxmlformats.org/officeDocument/2006/relationships/image" Target="../media/image79.wmf"/><Relationship Id="rId4" Type="http://schemas.openxmlformats.org/officeDocument/2006/relationships/image" Target="../media/image82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3" Type="http://schemas.openxmlformats.org/officeDocument/2006/relationships/image" Target="../media/image85.wmf"/><Relationship Id="rId7" Type="http://schemas.openxmlformats.org/officeDocument/2006/relationships/image" Target="../media/image89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Relationship Id="rId6" Type="http://schemas.openxmlformats.org/officeDocument/2006/relationships/image" Target="../media/image88.wmf"/><Relationship Id="rId5" Type="http://schemas.openxmlformats.org/officeDocument/2006/relationships/image" Target="../media/image87.wmf"/><Relationship Id="rId10" Type="http://schemas.openxmlformats.org/officeDocument/2006/relationships/image" Target="../media/image92.wmf"/><Relationship Id="rId4" Type="http://schemas.openxmlformats.org/officeDocument/2006/relationships/image" Target="../media/image86.wmf"/><Relationship Id="rId9" Type="http://schemas.openxmlformats.org/officeDocument/2006/relationships/image" Target="../media/image91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95.wmf"/><Relationship Id="rId2" Type="http://schemas.openxmlformats.org/officeDocument/2006/relationships/image" Target="../media/image94.wmf"/><Relationship Id="rId1" Type="http://schemas.openxmlformats.org/officeDocument/2006/relationships/image" Target="../media/image93.wmf"/><Relationship Id="rId5" Type="http://schemas.openxmlformats.org/officeDocument/2006/relationships/image" Target="../media/image97.wmf"/><Relationship Id="rId4" Type="http://schemas.openxmlformats.org/officeDocument/2006/relationships/image" Target="../media/image96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3" Type="http://schemas.openxmlformats.org/officeDocument/2006/relationships/image" Target="../media/image100.wmf"/><Relationship Id="rId7" Type="http://schemas.openxmlformats.org/officeDocument/2006/relationships/image" Target="../media/image104.wmf"/><Relationship Id="rId2" Type="http://schemas.openxmlformats.org/officeDocument/2006/relationships/image" Target="../media/image99.wmf"/><Relationship Id="rId1" Type="http://schemas.openxmlformats.org/officeDocument/2006/relationships/image" Target="../media/image98.wmf"/><Relationship Id="rId6" Type="http://schemas.openxmlformats.org/officeDocument/2006/relationships/image" Target="../media/image103.wmf"/><Relationship Id="rId5" Type="http://schemas.openxmlformats.org/officeDocument/2006/relationships/image" Target="../media/image102.wmf"/><Relationship Id="rId4" Type="http://schemas.openxmlformats.org/officeDocument/2006/relationships/image" Target="../media/image101.wmf"/><Relationship Id="rId9" Type="http://schemas.openxmlformats.org/officeDocument/2006/relationships/image" Target="../media/image106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wmf"/><Relationship Id="rId3" Type="http://schemas.openxmlformats.org/officeDocument/2006/relationships/image" Target="../media/image109.wmf"/><Relationship Id="rId7" Type="http://schemas.openxmlformats.org/officeDocument/2006/relationships/image" Target="../media/image113.wmf"/><Relationship Id="rId12" Type="http://schemas.openxmlformats.org/officeDocument/2006/relationships/image" Target="../media/image118.wmf"/><Relationship Id="rId2" Type="http://schemas.openxmlformats.org/officeDocument/2006/relationships/image" Target="../media/image108.wmf"/><Relationship Id="rId1" Type="http://schemas.openxmlformats.org/officeDocument/2006/relationships/image" Target="../media/image107.wmf"/><Relationship Id="rId6" Type="http://schemas.openxmlformats.org/officeDocument/2006/relationships/image" Target="../media/image112.wmf"/><Relationship Id="rId11" Type="http://schemas.openxmlformats.org/officeDocument/2006/relationships/image" Target="../media/image117.wmf"/><Relationship Id="rId5" Type="http://schemas.openxmlformats.org/officeDocument/2006/relationships/image" Target="../media/image111.wmf"/><Relationship Id="rId10" Type="http://schemas.openxmlformats.org/officeDocument/2006/relationships/image" Target="../media/image116.wmf"/><Relationship Id="rId4" Type="http://schemas.openxmlformats.org/officeDocument/2006/relationships/image" Target="../media/image110.wmf"/><Relationship Id="rId9" Type="http://schemas.openxmlformats.org/officeDocument/2006/relationships/image" Target="../media/image115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9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wmf"/><Relationship Id="rId2" Type="http://schemas.openxmlformats.org/officeDocument/2006/relationships/image" Target="../media/image121.wmf"/><Relationship Id="rId1" Type="http://schemas.openxmlformats.org/officeDocument/2006/relationships/image" Target="../media/image120.wmf"/><Relationship Id="rId5" Type="http://schemas.openxmlformats.org/officeDocument/2006/relationships/image" Target="../media/image124.wmf"/><Relationship Id="rId4" Type="http://schemas.openxmlformats.org/officeDocument/2006/relationships/image" Target="../media/image123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7" Type="http://schemas.openxmlformats.org/officeDocument/2006/relationships/image" Target="../media/image131.wmf"/><Relationship Id="rId2" Type="http://schemas.openxmlformats.org/officeDocument/2006/relationships/image" Target="../media/image126.wmf"/><Relationship Id="rId1" Type="http://schemas.openxmlformats.org/officeDocument/2006/relationships/image" Target="../media/image125.wmf"/><Relationship Id="rId6" Type="http://schemas.openxmlformats.org/officeDocument/2006/relationships/image" Target="../media/image130.wmf"/><Relationship Id="rId5" Type="http://schemas.openxmlformats.org/officeDocument/2006/relationships/image" Target="../media/image129.wmf"/><Relationship Id="rId4" Type="http://schemas.openxmlformats.org/officeDocument/2006/relationships/image" Target="../media/image128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wmf"/><Relationship Id="rId2" Type="http://schemas.openxmlformats.org/officeDocument/2006/relationships/image" Target="../media/image133.wmf"/><Relationship Id="rId1" Type="http://schemas.openxmlformats.org/officeDocument/2006/relationships/image" Target="../media/image132.wmf"/><Relationship Id="rId5" Type="http://schemas.openxmlformats.org/officeDocument/2006/relationships/image" Target="../media/image136.wmf"/><Relationship Id="rId4" Type="http://schemas.openxmlformats.org/officeDocument/2006/relationships/image" Target="../media/image135.w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wmf"/><Relationship Id="rId1" Type="http://schemas.openxmlformats.org/officeDocument/2006/relationships/image" Target="../media/image137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8F4629-C09E-472C-A130-E6005CACA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845648B-6FF3-4718-9CE9-464A13DCDB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EA8D72-F789-4D32-919F-2D30E029B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18C876-A49C-4C7A-A470-FB8BD7D0E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E55E4F-1514-402D-A080-DD2F89B66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F7E520-4D1F-4E4E-BCDC-B555AD4E9278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664539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A24737-EA71-40FE-A6B2-9C86023B9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49D615-4407-4017-B6D6-E789B7793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DFD73E-8764-4F3C-BE2C-FE99A801A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5CBBC7-76F5-4B25-B8C9-EB5F50B9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0AA984-ADF4-4FF7-B608-BB452401D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73F05E-957F-4484-ABB5-E2C384334C33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682329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0A1483-08B8-4116-8C7D-7337B6EB0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4DFB727-D9AB-4F24-995D-DBBCE91B3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D3E92B-6053-47BF-9058-7B904581E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971CCD-761E-400C-AF47-2339CD85B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EA6AA2-DEC1-4C86-A59B-24E1B2B0A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5AB1B2-2EB7-48E0-905E-A7C36CBCD420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616110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95FE54-17A9-4CB2-8969-4B51CD391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B7F276-A415-4652-BE52-E86CC8B12B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3417BEB-1D7F-4E3C-9529-D7290EF3DA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B50E93B-7444-4C64-91F2-B43A74771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813A47E-78CD-472E-8CA6-E61D0E013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6C2F8B5-29CF-4D2A-87A0-3C1AC3582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614981-A2F4-4FDE-8D91-E2AC49DA5162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26079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437C61-D22C-4633-AB63-0C8B02659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6034FFF-1C4A-47CE-A512-9B5998E8F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FC5B488-7208-4571-A80E-FD2ED709A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20C7B4D-87C9-4E33-820A-650BC79941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FC1592C-DEF1-47BE-8813-D4C7AA5769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EC5D053-902E-4DB2-9BB5-333F5CEEF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3962A14-180C-4290-9FC9-460D54986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E7E7B9C-4CB3-4792-9E3F-F25C28F28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E4FD84-A94B-4C88-912C-EC66D22130A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62548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5929A7-95D8-446B-B317-9856BA75D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02A095-89FE-49B3-A48B-771F6D1D6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EEB0D31-5ACC-49E1-8C2C-82ACBE9E3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F38D6A2-0872-4AEB-9BFE-2FF42D6C5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E70AAF-8E59-4514-8DBF-288B4F26CAA3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05747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C4D0CBB-3953-40AE-987C-06F90C58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51932AD-454C-48A5-9B0E-226F74281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3D16A6F-62FC-4453-A8FA-E35C4099F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D61300-52EA-44B6-83A3-FFBDA901F4A5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054970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30E66B-6DF6-45AE-86B7-4FE15814F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F964F7-ED3C-47A8-B221-30772D842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7349EA5-78E9-4078-9E94-5BA6BA1F8A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277A7EE-44CB-42DF-A592-5060A6125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BB000D4-978F-4399-AFD1-77B137FE6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6EF25E-59A5-4BCB-9DB5-05394ED0D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92569D-4E01-4A46-BE7F-43614C53847F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179107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72D231-A607-4991-AFCF-4624E3459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9A32770-62E7-42A4-9851-BC1C8577DF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3E19286-AE60-4786-974A-B19DD0EC81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7619C91-ED09-4BEE-8AF4-813292491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EDD4E4E-5D03-4977-AE03-776DD4FA3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12B7168-7EF6-4414-BC1D-FFC3BB3EE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D9C0D7-7598-470D-B152-38BD2C8E47DF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877185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E96B3F-12EA-4442-8F9D-E7D1677F5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56E39F5-A71F-4BB6-A58A-041D918C93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D95EFF-3056-4A7A-837C-4756A031C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2A1098-3336-4DD8-8C78-36BEE8469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E36A9F-CDE9-4B4B-9E01-9FC635FF0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1A741E-6E80-4E82-B6F6-DE898BD0EB14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525567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493AEDF-17CC-4352-848E-4212245D6F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EC7A11A-A5F2-4890-A088-F5DB324C6E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FA45FE-D28C-4895-89B2-D1C231B89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BD903E-1176-4F6B-BFD9-3A6279D13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F7EA77-911E-41AE-9A5C-B8349D43E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113760-19CB-4F80-8436-AEC0181A3D64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3919617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Заголовок, текст и 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50E9EA-0996-4889-AE01-98CE48CBF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CC75FD3-2FF5-47A6-B91D-CBBC06DB68EB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5F06C5E-57C9-449C-BD6E-52F3589AD1D7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17B46699-035C-4B64-B9BA-59D4F77D6B38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392E2BB5-20B9-4261-8E38-A83BB9883A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B238B22C-B59F-48EF-A3EB-A44E71A21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367B5C34-23AD-4DFA-80D0-A6A7EBD58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9E663355-D6DE-4B5E-A0BC-02B86878E855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182752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C5851B-1710-409B-A3D4-0A3007E5F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ED53DC5-612C-4A47-8076-EC5EACE9DB9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805E672-3277-4CE8-87D8-58C6F66DE4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2B69E62-6D85-4354-A8A9-EF87480A99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6D80492-368E-4455-8868-E45A2CB5B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76C87CA-4244-4ECB-8A31-9666F4195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925C5229-72F3-4ADD-9C60-001F3454AB5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924891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524FD57-EBC1-48EA-98C8-A7F7E8D4DF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9B571A5-02A5-4795-AC10-21EDA32C13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6A3F8A3-A199-422D-AF8B-248CB793C84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endParaRPr lang="ru-RU" altLang="ru-RU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640DC07-3C59-4041-9973-1E11D3C677A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endParaRPr lang="ru-RU" altLang="ru-RU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3D9C684-6AB1-432B-9637-45707F2DB2A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fld id="{E6418B3F-833F-4964-BF3A-637AE573799A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6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12.bin"/><Relationship Id="rId18" Type="http://schemas.openxmlformats.org/officeDocument/2006/relationships/oleObject" Target="../embeddings/oleObject14.bin"/><Relationship Id="rId26" Type="http://schemas.openxmlformats.org/officeDocument/2006/relationships/oleObject" Target="../embeddings/oleObject18.bin"/><Relationship Id="rId3" Type="http://schemas.openxmlformats.org/officeDocument/2006/relationships/oleObject" Target="../embeddings/oleObject7.bin"/><Relationship Id="rId21" Type="http://schemas.openxmlformats.org/officeDocument/2006/relationships/image" Target="../media/image15.wmf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1.wmf"/><Relationship Id="rId17" Type="http://schemas.openxmlformats.org/officeDocument/2006/relationships/image" Target="../media/image19.jpeg"/><Relationship Id="rId25" Type="http://schemas.openxmlformats.org/officeDocument/2006/relationships/image" Target="../media/image17.w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3.wmf"/><Relationship Id="rId20" Type="http://schemas.openxmlformats.org/officeDocument/2006/relationships/oleObject" Target="../embeddings/oleObject15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11.bin"/><Relationship Id="rId24" Type="http://schemas.openxmlformats.org/officeDocument/2006/relationships/oleObject" Target="../embeddings/oleObject17.bin"/><Relationship Id="rId5" Type="http://schemas.openxmlformats.org/officeDocument/2006/relationships/oleObject" Target="../embeddings/oleObject8.bin"/><Relationship Id="rId15" Type="http://schemas.openxmlformats.org/officeDocument/2006/relationships/oleObject" Target="../embeddings/oleObject13.bin"/><Relationship Id="rId23" Type="http://schemas.openxmlformats.org/officeDocument/2006/relationships/image" Target="../media/image16.wmf"/><Relationship Id="rId10" Type="http://schemas.openxmlformats.org/officeDocument/2006/relationships/image" Target="../media/image10.wmf"/><Relationship Id="rId19" Type="http://schemas.openxmlformats.org/officeDocument/2006/relationships/image" Target="../media/image14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2.wmf"/><Relationship Id="rId22" Type="http://schemas.openxmlformats.org/officeDocument/2006/relationships/oleObject" Target="../embeddings/oleObject16.bin"/><Relationship Id="rId27" Type="http://schemas.openxmlformats.org/officeDocument/2006/relationships/image" Target="../media/image18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oleObject" Target="../embeddings/oleObject24.bin"/><Relationship Id="rId18" Type="http://schemas.openxmlformats.org/officeDocument/2006/relationships/image" Target="../media/image27.wmf"/><Relationship Id="rId3" Type="http://schemas.openxmlformats.org/officeDocument/2006/relationships/oleObject" Target="../embeddings/oleObject19.bin"/><Relationship Id="rId21" Type="http://schemas.openxmlformats.org/officeDocument/2006/relationships/image" Target="../media/image28.wmf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24.wmf"/><Relationship Id="rId17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6.wmf"/><Relationship Id="rId20" Type="http://schemas.openxmlformats.org/officeDocument/2006/relationships/oleObject" Target="../embeddings/oleObject28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20.bin"/><Relationship Id="rId15" Type="http://schemas.openxmlformats.org/officeDocument/2006/relationships/oleObject" Target="../embeddings/oleObject25.bin"/><Relationship Id="rId10" Type="http://schemas.openxmlformats.org/officeDocument/2006/relationships/image" Target="../media/image23.wmf"/><Relationship Id="rId19" Type="http://schemas.openxmlformats.org/officeDocument/2006/relationships/oleObject" Target="../embeddings/oleObject27.bin"/><Relationship Id="rId4" Type="http://schemas.openxmlformats.org/officeDocument/2006/relationships/image" Target="../media/image20.w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25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31.jpeg"/><Relationship Id="rId4" Type="http://schemas.openxmlformats.org/officeDocument/2006/relationships/image" Target="../media/image30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oleObject" Target="../embeddings/oleObject35.bin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12" Type="http://schemas.openxmlformats.org/officeDocument/2006/relationships/image" Target="../media/image36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8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34.bin"/><Relationship Id="rId5" Type="http://schemas.openxmlformats.org/officeDocument/2006/relationships/oleObject" Target="../embeddings/oleObject31.bin"/><Relationship Id="rId15" Type="http://schemas.openxmlformats.org/officeDocument/2006/relationships/oleObject" Target="../embeddings/oleObject36.bin"/><Relationship Id="rId10" Type="http://schemas.openxmlformats.org/officeDocument/2006/relationships/image" Target="../media/image35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33.bin"/><Relationship Id="rId14" Type="http://schemas.openxmlformats.org/officeDocument/2006/relationships/image" Target="../media/image37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13" Type="http://schemas.openxmlformats.org/officeDocument/2006/relationships/oleObject" Target="../embeddings/oleObject42.bin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12" Type="http://schemas.openxmlformats.org/officeDocument/2006/relationships/image" Target="../media/image42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0.wmf"/><Relationship Id="rId11" Type="http://schemas.openxmlformats.org/officeDocument/2006/relationships/oleObject" Target="../embeddings/oleObject41.bin"/><Relationship Id="rId5" Type="http://schemas.openxmlformats.org/officeDocument/2006/relationships/oleObject" Target="../embeddings/oleObject38.bin"/><Relationship Id="rId10" Type="http://schemas.openxmlformats.org/officeDocument/2006/relationships/image" Target="../media/image43.jpeg"/><Relationship Id="rId4" Type="http://schemas.openxmlformats.org/officeDocument/2006/relationships/image" Target="../media/image39.wmf"/><Relationship Id="rId9" Type="http://schemas.openxmlformats.org/officeDocument/2006/relationships/image" Target="../media/image41.wmf"/><Relationship Id="rId14" Type="http://schemas.openxmlformats.org/officeDocument/2006/relationships/image" Target="../media/image7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13" Type="http://schemas.openxmlformats.org/officeDocument/2006/relationships/oleObject" Target="../embeddings/oleObject48.bin"/><Relationship Id="rId18" Type="http://schemas.openxmlformats.org/officeDocument/2006/relationships/image" Target="../media/image53.wmf"/><Relationship Id="rId3" Type="http://schemas.openxmlformats.org/officeDocument/2006/relationships/oleObject" Target="../embeddings/oleObject43.bin"/><Relationship Id="rId21" Type="http://schemas.openxmlformats.org/officeDocument/2006/relationships/oleObject" Target="../embeddings/oleObject52.bin"/><Relationship Id="rId7" Type="http://schemas.openxmlformats.org/officeDocument/2006/relationships/oleObject" Target="../embeddings/oleObject45.bin"/><Relationship Id="rId12" Type="http://schemas.openxmlformats.org/officeDocument/2006/relationships/image" Target="../media/image50.wmf"/><Relationship Id="rId17" Type="http://schemas.openxmlformats.org/officeDocument/2006/relationships/oleObject" Target="../embeddings/oleObject5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2.wmf"/><Relationship Id="rId20" Type="http://schemas.openxmlformats.org/officeDocument/2006/relationships/image" Target="../media/image54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47.wmf"/><Relationship Id="rId11" Type="http://schemas.openxmlformats.org/officeDocument/2006/relationships/oleObject" Target="../embeddings/oleObject47.bin"/><Relationship Id="rId24" Type="http://schemas.openxmlformats.org/officeDocument/2006/relationships/image" Target="../media/image56.wmf"/><Relationship Id="rId5" Type="http://schemas.openxmlformats.org/officeDocument/2006/relationships/oleObject" Target="../embeddings/oleObject44.bin"/><Relationship Id="rId15" Type="http://schemas.openxmlformats.org/officeDocument/2006/relationships/oleObject" Target="../embeddings/oleObject49.bin"/><Relationship Id="rId23" Type="http://schemas.openxmlformats.org/officeDocument/2006/relationships/oleObject" Target="../embeddings/oleObject53.bin"/><Relationship Id="rId10" Type="http://schemas.openxmlformats.org/officeDocument/2006/relationships/image" Target="../media/image49.wmf"/><Relationship Id="rId19" Type="http://schemas.openxmlformats.org/officeDocument/2006/relationships/oleObject" Target="../embeddings/oleObject51.bin"/><Relationship Id="rId4" Type="http://schemas.openxmlformats.org/officeDocument/2006/relationships/image" Target="../media/image46.wmf"/><Relationship Id="rId9" Type="http://schemas.openxmlformats.org/officeDocument/2006/relationships/oleObject" Target="../embeddings/oleObject46.bin"/><Relationship Id="rId14" Type="http://schemas.openxmlformats.org/officeDocument/2006/relationships/image" Target="../media/image51.wmf"/><Relationship Id="rId22" Type="http://schemas.openxmlformats.org/officeDocument/2006/relationships/image" Target="../media/image55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13" Type="http://schemas.openxmlformats.org/officeDocument/2006/relationships/oleObject" Target="../embeddings/oleObject59.bin"/><Relationship Id="rId18" Type="http://schemas.openxmlformats.org/officeDocument/2006/relationships/image" Target="../media/image64.wmf"/><Relationship Id="rId3" Type="http://schemas.openxmlformats.org/officeDocument/2006/relationships/oleObject" Target="../embeddings/oleObject54.bin"/><Relationship Id="rId21" Type="http://schemas.openxmlformats.org/officeDocument/2006/relationships/oleObject" Target="../embeddings/oleObject63.bin"/><Relationship Id="rId7" Type="http://schemas.openxmlformats.org/officeDocument/2006/relationships/oleObject" Target="../embeddings/oleObject56.bin"/><Relationship Id="rId12" Type="http://schemas.openxmlformats.org/officeDocument/2006/relationships/image" Target="../media/image61.wmf"/><Relationship Id="rId17" Type="http://schemas.openxmlformats.org/officeDocument/2006/relationships/oleObject" Target="../embeddings/oleObject6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3.wmf"/><Relationship Id="rId20" Type="http://schemas.openxmlformats.org/officeDocument/2006/relationships/image" Target="../media/image65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58.wmf"/><Relationship Id="rId11" Type="http://schemas.openxmlformats.org/officeDocument/2006/relationships/oleObject" Target="../embeddings/oleObject58.bin"/><Relationship Id="rId5" Type="http://schemas.openxmlformats.org/officeDocument/2006/relationships/oleObject" Target="../embeddings/oleObject55.bin"/><Relationship Id="rId15" Type="http://schemas.openxmlformats.org/officeDocument/2006/relationships/oleObject" Target="../embeddings/oleObject60.bin"/><Relationship Id="rId10" Type="http://schemas.openxmlformats.org/officeDocument/2006/relationships/image" Target="../media/image60.wmf"/><Relationship Id="rId19" Type="http://schemas.openxmlformats.org/officeDocument/2006/relationships/oleObject" Target="../embeddings/oleObject62.bin"/><Relationship Id="rId4" Type="http://schemas.openxmlformats.org/officeDocument/2006/relationships/image" Target="../media/image57.wmf"/><Relationship Id="rId9" Type="http://schemas.openxmlformats.org/officeDocument/2006/relationships/oleObject" Target="../embeddings/oleObject57.bin"/><Relationship Id="rId14" Type="http://schemas.openxmlformats.org/officeDocument/2006/relationships/image" Target="../media/image62.wmf"/><Relationship Id="rId22" Type="http://schemas.openxmlformats.org/officeDocument/2006/relationships/image" Target="../media/image66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3" Type="http://schemas.openxmlformats.org/officeDocument/2006/relationships/oleObject" Target="../embeddings/oleObject64.bin"/><Relationship Id="rId7" Type="http://schemas.openxmlformats.org/officeDocument/2006/relationships/oleObject" Target="../embeddings/oleObject66.bin"/><Relationship Id="rId12" Type="http://schemas.openxmlformats.org/officeDocument/2006/relationships/image" Target="../media/image7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70.wmf"/><Relationship Id="rId11" Type="http://schemas.openxmlformats.org/officeDocument/2006/relationships/oleObject" Target="../embeddings/oleObject68.bin"/><Relationship Id="rId5" Type="http://schemas.openxmlformats.org/officeDocument/2006/relationships/oleObject" Target="../embeddings/oleObject65.bin"/><Relationship Id="rId10" Type="http://schemas.openxmlformats.org/officeDocument/2006/relationships/image" Target="../media/image72.wmf"/><Relationship Id="rId4" Type="http://schemas.openxmlformats.org/officeDocument/2006/relationships/image" Target="../media/image69.wmf"/><Relationship Id="rId9" Type="http://schemas.openxmlformats.org/officeDocument/2006/relationships/oleObject" Target="../embeddings/oleObject67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1.bin"/><Relationship Id="rId3" Type="http://schemas.openxmlformats.org/officeDocument/2006/relationships/image" Target="../media/image77.png"/><Relationship Id="rId7" Type="http://schemas.openxmlformats.org/officeDocument/2006/relationships/image" Target="../media/image7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70.bin"/><Relationship Id="rId5" Type="http://schemas.openxmlformats.org/officeDocument/2006/relationships/image" Target="../media/image74.wmf"/><Relationship Id="rId4" Type="http://schemas.openxmlformats.org/officeDocument/2006/relationships/oleObject" Target="../embeddings/oleObject69.bin"/><Relationship Id="rId9" Type="http://schemas.openxmlformats.org/officeDocument/2006/relationships/image" Target="../media/image76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78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3" Type="http://schemas.openxmlformats.org/officeDocument/2006/relationships/oleObject" Target="../embeddings/oleObject73.bin"/><Relationship Id="rId7" Type="http://schemas.openxmlformats.org/officeDocument/2006/relationships/oleObject" Target="../embeddings/oleObject7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80.wmf"/><Relationship Id="rId5" Type="http://schemas.openxmlformats.org/officeDocument/2006/relationships/oleObject" Target="../embeddings/oleObject74.bin"/><Relationship Id="rId10" Type="http://schemas.openxmlformats.org/officeDocument/2006/relationships/image" Target="../media/image82.wmf"/><Relationship Id="rId4" Type="http://schemas.openxmlformats.org/officeDocument/2006/relationships/image" Target="../media/image79.wmf"/><Relationship Id="rId9" Type="http://schemas.openxmlformats.org/officeDocument/2006/relationships/oleObject" Target="../embeddings/oleObject76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13" Type="http://schemas.openxmlformats.org/officeDocument/2006/relationships/oleObject" Target="../embeddings/oleObject82.bin"/><Relationship Id="rId18" Type="http://schemas.openxmlformats.org/officeDocument/2006/relationships/image" Target="../media/image90.wmf"/><Relationship Id="rId3" Type="http://schemas.openxmlformats.org/officeDocument/2006/relationships/oleObject" Target="../embeddings/oleObject77.bin"/><Relationship Id="rId21" Type="http://schemas.openxmlformats.org/officeDocument/2006/relationships/oleObject" Target="../embeddings/oleObject86.bin"/><Relationship Id="rId7" Type="http://schemas.openxmlformats.org/officeDocument/2006/relationships/oleObject" Target="../embeddings/oleObject79.bin"/><Relationship Id="rId12" Type="http://schemas.openxmlformats.org/officeDocument/2006/relationships/image" Target="../media/image87.wmf"/><Relationship Id="rId17" Type="http://schemas.openxmlformats.org/officeDocument/2006/relationships/oleObject" Target="../embeddings/oleObject8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9.wmf"/><Relationship Id="rId20" Type="http://schemas.openxmlformats.org/officeDocument/2006/relationships/image" Target="../media/image91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84.wmf"/><Relationship Id="rId11" Type="http://schemas.openxmlformats.org/officeDocument/2006/relationships/oleObject" Target="../embeddings/oleObject81.bin"/><Relationship Id="rId5" Type="http://schemas.openxmlformats.org/officeDocument/2006/relationships/oleObject" Target="../embeddings/oleObject78.bin"/><Relationship Id="rId15" Type="http://schemas.openxmlformats.org/officeDocument/2006/relationships/oleObject" Target="../embeddings/oleObject83.bin"/><Relationship Id="rId10" Type="http://schemas.openxmlformats.org/officeDocument/2006/relationships/image" Target="../media/image86.wmf"/><Relationship Id="rId19" Type="http://schemas.openxmlformats.org/officeDocument/2006/relationships/oleObject" Target="../embeddings/oleObject85.bin"/><Relationship Id="rId4" Type="http://schemas.openxmlformats.org/officeDocument/2006/relationships/image" Target="../media/image83.wmf"/><Relationship Id="rId9" Type="http://schemas.openxmlformats.org/officeDocument/2006/relationships/oleObject" Target="../embeddings/oleObject80.bin"/><Relationship Id="rId14" Type="http://schemas.openxmlformats.org/officeDocument/2006/relationships/image" Target="../media/image88.wmf"/><Relationship Id="rId22" Type="http://schemas.openxmlformats.org/officeDocument/2006/relationships/image" Target="../media/image92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wmf"/><Relationship Id="rId3" Type="http://schemas.openxmlformats.org/officeDocument/2006/relationships/oleObject" Target="../embeddings/oleObject87.bin"/><Relationship Id="rId7" Type="http://schemas.openxmlformats.org/officeDocument/2006/relationships/oleObject" Target="../embeddings/oleObject89.bin"/><Relationship Id="rId12" Type="http://schemas.openxmlformats.org/officeDocument/2006/relationships/image" Target="../media/image9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94.wmf"/><Relationship Id="rId11" Type="http://schemas.openxmlformats.org/officeDocument/2006/relationships/oleObject" Target="../embeddings/oleObject91.bin"/><Relationship Id="rId5" Type="http://schemas.openxmlformats.org/officeDocument/2006/relationships/oleObject" Target="../embeddings/oleObject88.bin"/><Relationship Id="rId10" Type="http://schemas.openxmlformats.org/officeDocument/2006/relationships/image" Target="../media/image96.wmf"/><Relationship Id="rId4" Type="http://schemas.openxmlformats.org/officeDocument/2006/relationships/image" Target="../media/image93.wmf"/><Relationship Id="rId9" Type="http://schemas.openxmlformats.org/officeDocument/2006/relationships/oleObject" Target="../embeddings/oleObject90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5.bin"/><Relationship Id="rId13" Type="http://schemas.openxmlformats.org/officeDocument/2006/relationships/image" Target="../media/image102.wmf"/><Relationship Id="rId18" Type="http://schemas.openxmlformats.org/officeDocument/2006/relationships/oleObject" Target="../embeddings/oleObject100.bin"/><Relationship Id="rId3" Type="http://schemas.openxmlformats.org/officeDocument/2006/relationships/oleObject" Target="../embeddings/oleObject92.bin"/><Relationship Id="rId21" Type="http://schemas.openxmlformats.org/officeDocument/2006/relationships/image" Target="../media/image106.wmf"/><Relationship Id="rId7" Type="http://schemas.openxmlformats.org/officeDocument/2006/relationships/image" Target="../media/image99.wmf"/><Relationship Id="rId12" Type="http://schemas.openxmlformats.org/officeDocument/2006/relationships/oleObject" Target="../embeddings/oleObject97.bin"/><Relationship Id="rId17" Type="http://schemas.openxmlformats.org/officeDocument/2006/relationships/image" Target="../media/image104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99.bin"/><Relationship Id="rId20" Type="http://schemas.openxmlformats.org/officeDocument/2006/relationships/oleObject" Target="../embeddings/oleObject101.bin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94.bin"/><Relationship Id="rId11" Type="http://schemas.openxmlformats.org/officeDocument/2006/relationships/image" Target="../media/image101.wmf"/><Relationship Id="rId5" Type="http://schemas.openxmlformats.org/officeDocument/2006/relationships/oleObject" Target="../embeddings/oleObject93.bin"/><Relationship Id="rId15" Type="http://schemas.openxmlformats.org/officeDocument/2006/relationships/image" Target="../media/image103.wmf"/><Relationship Id="rId10" Type="http://schemas.openxmlformats.org/officeDocument/2006/relationships/oleObject" Target="../embeddings/oleObject96.bin"/><Relationship Id="rId19" Type="http://schemas.openxmlformats.org/officeDocument/2006/relationships/image" Target="../media/image105.wmf"/><Relationship Id="rId4" Type="http://schemas.openxmlformats.org/officeDocument/2006/relationships/image" Target="../media/image98.wmf"/><Relationship Id="rId9" Type="http://schemas.openxmlformats.org/officeDocument/2006/relationships/image" Target="../media/image100.wmf"/><Relationship Id="rId14" Type="http://schemas.openxmlformats.org/officeDocument/2006/relationships/oleObject" Target="../embeddings/oleObject98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13" Type="http://schemas.openxmlformats.org/officeDocument/2006/relationships/oleObject" Target="../embeddings/oleObject107.bin"/><Relationship Id="rId18" Type="http://schemas.openxmlformats.org/officeDocument/2006/relationships/image" Target="../media/image114.wmf"/><Relationship Id="rId26" Type="http://schemas.openxmlformats.org/officeDocument/2006/relationships/image" Target="../media/image118.wmf"/><Relationship Id="rId3" Type="http://schemas.openxmlformats.org/officeDocument/2006/relationships/oleObject" Target="../embeddings/oleObject102.bin"/><Relationship Id="rId21" Type="http://schemas.openxmlformats.org/officeDocument/2006/relationships/oleObject" Target="../embeddings/oleObject111.bin"/><Relationship Id="rId7" Type="http://schemas.openxmlformats.org/officeDocument/2006/relationships/oleObject" Target="../embeddings/oleObject104.bin"/><Relationship Id="rId12" Type="http://schemas.openxmlformats.org/officeDocument/2006/relationships/image" Target="../media/image111.wmf"/><Relationship Id="rId17" Type="http://schemas.openxmlformats.org/officeDocument/2006/relationships/oleObject" Target="../embeddings/oleObject109.bin"/><Relationship Id="rId25" Type="http://schemas.openxmlformats.org/officeDocument/2006/relationships/oleObject" Target="../embeddings/oleObject11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13.wmf"/><Relationship Id="rId20" Type="http://schemas.openxmlformats.org/officeDocument/2006/relationships/image" Target="../media/image115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08.wmf"/><Relationship Id="rId11" Type="http://schemas.openxmlformats.org/officeDocument/2006/relationships/oleObject" Target="../embeddings/oleObject106.bin"/><Relationship Id="rId24" Type="http://schemas.openxmlformats.org/officeDocument/2006/relationships/image" Target="../media/image117.wmf"/><Relationship Id="rId5" Type="http://schemas.openxmlformats.org/officeDocument/2006/relationships/oleObject" Target="../embeddings/oleObject103.bin"/><Relationship Id="rId15" Type="http://schemas.openxmlformats.org/officeDocument/2006/relationships/oleObject" Target="../embeddings/oleObject108.bin"/><Relationship Id="rId23" Type="http://schemas.openxmlformats.org/officeDocument/2006/relationships/oleObject" Target="../embeddings/oleObject112.bin"/><Relationship Id="rId10" Type="http://schemas.openxmlformats.org/officeDocument/2006/relationships/image" Target="../media/image110.wmf"/><Relationship Id="rId19" Type="http://schemas.openxmlformats.org/officeDocument/2006/relationships/oleObject" Target="../embeddings/oleObject110.bin"/><Relationship Id="rId4" Type="http://schemas.openxmlformats.org/officeDocument/2006/relationships/image" Target="../media/image107.wmf"/><Relationship Id="rId9" Type="http://schemas.openxmlformats.org/officeDocument/2006/relationships/oleObject" Target="../embeddings/oleObject105.bin"/><Relationship Id="rId14" Type="http://schemas.openxmlformats.org/officeDocument/2006/relationships/image" Target="../media/image112.wmf"/><Relationship Id="rId22" Type="http://schemas.openxmlformats.org/officeDocument/2006/relationships/image" Target="../media/image116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119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wmf"/><Relationship Id="rId3" Type="http://schemas.openxmlformats.org/officeDocument/2006/relationships/oleObject" Target="../embeddings/oleObject115.bin"/><Relationship Id="rId7" Type="http://schemas.openxmlformats.org/officeDocument/2006/relationships/oleObject" Target="../embeddings/oleObject117.bin"/><Relationship Id="rId12" Type="http://schemas.openxmlformats.org/officeDocument/2006/relationships/image" Target="../media/image12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21.wmf"/><Relationship Id="rId11" Type="http://schemas.openxmlformats.org/officeDocument/2006/relationships/oleObject" Target="../embeddings/oleObject119.bin"/><Relationship Id="rId5" Type="http://schemas.openxmlformats.org/officeDocument/2006/relationships/oleObject" Target="../embeddings/oleObject116.bin"/><Relationship Id="rId10" Type="http://schemas.openxmlformats.org/officeDocument/2006/relationships/image" Target="../media/image123.wmf"/><Relationship Id="rId4" Type="http://schemas.openxmlformats.org/officeDocument/2006/relationships/image" Target="../media/image120.wmf"/><Relationship Id="rId9" Type="http://schemas.openxmlformats.org/officeDocument/2006/relationships/oleObject" Target="../embeddings/oleObject118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13" Type="http://schemas.openxmlformats.org/officeDocument/2006/relationships/oleObject" Target="../embeddings/oleObject125.bin"/><Relationship Id="rId3" Type="http://schemas.openxmlformats.org/officeDocument/2006/relationships/oleObject" Target="../embeddings/oleObject120.bin"/><Relationship Id="rId7" Type="http://schemas.openxmlformats.org/officeDocument/2006/relationships/oleObject" Target="../embeddings/oleObject122.bin"/><Relationship Id="rId12" Type="http://schemas.openxmlformats.org/officeDocument/2006/relationships/image" Target="../media/image129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1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26.wmf"/><Relationship Id="rId11" Type="http://schemas.openxmlformats.org/officeDocument/2006/relationships/oleObject" Target="../embeddings/oleObject124.bin"/><Relationship Id="rId5" Type="http://schemas.openxmlformats.org/officeDocument/2006/relationships/oleObject" Target="../embeddings/oleObject121.bin"/><Relationship Id="rId15" Type="http://schemas.openxmlformats.org/officeDocument/2006/relationships/oleObject" Target="../embeddings/oleObject126.bin"/><Relationship Id="rId10" Type="http://schemas.openxmlformats.org/officeDocument/2006/relationships/image" Target="../media/image128.wmf"/><Relationship Id="rId4" Type="http://schemas.openxmlformats.org/officeDocument/2006/relationships/image" Target="../media/image125.wmf"/><Relationship Id="rId9" Type="http://schemas.openxmlformats.org/officeDocument/2006/relationships/oleObject" Target="../embeddings/oleObject123.bin"/><Relationship Id="rId14" Type="http://schemas.openxmlformats.org/officeDocument/2006/relationships/image" Target="../media/image130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wmf"/><Relationship Id="rId3" Type="http://schemas.openxmlformats.org/officeDocument/2006/relationships/oleObject" Target="../embeddings/oleObject127.bin"/><Relationship Id="rId7" Type="http://schemas.openxmlformats.org/officeDocument/2006/relationships/oleObject" Target="../embeddings/oleObject129.bin"/><Relationship Id="rId12" Type="http://schemas.openxmlformats.org/officeDocument/2006/relationships/image" Target="../media/image13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33.wmf"/><Relationship Id="rId11" Type="http://schemas.openxmlformats.org/officeDocument/2006/relationships/oleObject" Target="../embeddings/oleObject131.bin"/><Relationship Id="rId5" Type="http://schemas.openxmlformats.org/officeDocument/2006/relationships/oleObject" Target="../embeddings/oleObject128.bin"/><Relationship Id="rId10" Type="http://schemas.openxmlformats.org/officeDocument/2006/relationships/image" Target="../media/image135.wmf"/><Relationship Id="rId4" Type="http://schemas.openxmlformats.org/officeDocument/2006/relationships/image" Target="../media/image132.wmf"/><Relationship Id="rId9" Type="http://schemas.openxmlformats.org/officeDocument/2006/relationships/oleObject" Target="../embeddings/oleObject130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38.wmf"/><Relationship Id="rId5" Type="http://schemas.openxmlformats.org/officeDocument/2006/relationships/oleObject" Target="../embeddings/oleObject133.bin"/><Relationship Id="rId4" Type="http://schemas.openxmlformats.org/officeDocument/2006/relationships/image" Target="../media/image13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37F505B-E871-4246-9B4D-D971E78C095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052737"/>
            <a:ext cx="7772400" cy="2808312"/>
          </a:xfrm>
        </p:spPr>
        <p:txBody>
          <a:bodyPr anchor="ctr"/>
          <a:lstStyle/>
          <a:p>
            <a:r>
              <a:rPr lang="ru-RU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Современные методы оптимизации</a:t>
            </a:r>
            <a:br>
              <a:rPr lang="ru-RU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Каганов Ю.Т.</a:t>
            </a:r>
            <a:b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к.т.н., доцент каф. ИУ-</a:t>
            </a: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b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ИУ-8</a:t>
            </a:r>
            <a:endParaRPr lang="ru-RU" alt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0A2FBCCC-0C08-45E8-B439-FD175ACCABC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51520" y="4221088"/>
            <a:ext cx="8640960" cy="252028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u-RU" alt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Введение.</a:t>
            </a:r>
          </a:p>
          <a:p>
            <a:pPr>
              <a:lnSpc>
                <a:spcPct val="90000"/>
              </a:lnSpc>
            </a:pPr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понятия</a:t>
            </a:r>
          </a:p>
          <a:p>
            <a:pPr>
              <a:lnSpc>
                <a:spcPct val="90000"/>
              </a:lnSpc>
            </a:pPr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методов математического программирования.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A8C2E7A5-77DE-4C9D-B371-E6F6AE372C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528785"/>
          </a:xfrm>
        </p:spPr>
        <p:txBody>
          <a:bodyPr/>
          <a:lstStyle/>
          <a:p>
            <a:pPr marL="838200" indent="-838200"/>
            <a:r>
              <a:rPr lang="ru-RU" altLang="ru-RU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Классификация ММП.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5CA75194-CA82-43D0-9239-08295B67BA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4106" name="Object 10">
            <a:extLst>
              <a:ext uri="{FF2B5EF4-FFF2-40B4-BE49-F238E27FC236}">
                <a16:creationId xmlns:a16="http://schemas.microsoft.com/office/drawing/2014/main" id="{95C64476-8E1B-4851-9A1F-656586355D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114300" y="2957513"/>
          <a:ext cx="114300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8" name="Формула" r:id="rId3" imgW="114151" imgH="215619" progId="Equation.3">
                  <p:embed/>
                </p:oleObj>
              </mc:Choice>
              <mc:Fallback>
                <p:oleObj name="Формула" r:id="rId3" imgW="114151" imgH="215619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14300" y="2957513"/>
                        <a:ext cx="114300" cy="212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0" name="Rectangle 24">
            <a:extLst>
              <a:ext uri="{FF2B5EF4-FFF2-40B4-BE49-F238E27FC236}">
                <a16:creationId xmlns:a16="http://schemas.microsoft.com/office/drawing/2014/main" id="{CEF956F2-800F-4BDF-A46A-6AAEFFBAE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2" name="Rectangle 26">
            <a:extLst>
              <a:ext uri="{FF2B5EF4-FFF2-40B4-BE49-F238E27FC236}">
                <a16:creationId xmlns:a16="http://schemas.microsoft.com/office/drawing/2014/main" id="{3112DBE1-B034-44E2-8FC4-F4360FD41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1844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4" name="Rectangle 38">
            <a:extLst>
              <a:ext uri="{FF2B5EF4-FFF2-40B4-BE49-F238E27FC236}">
                <a16:creationId xmlns:a16="http://schemas.microsoft.com/office/drawing/2014/main" id="{B26B10E1-DAB0-458C-B1AE-4564563B1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5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6" name="Rectangle 40">
            <a:extLst>
              <a:ext uri="{FF2B5EF4-FFF2-40B4-BE49-F238E27FC236}">
                <a16:creationId xmlns:a16="http://schemas.microsoft.com/office/drawing/2014/main" id="{0B3F875B-AC89-4B51-988F-38E91FE6C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5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59" name="Rectangle 63">
            <a:extLst>
              <a:ext uri="{FF2B5EF4-FFF2-40B4-BE49-F238E27FC236}">
                <a16:creationId xmlns:a16="http://schemas.microsoft.com/office/drawing/2014/main" id="{A3BAA391-A705-406A-9A49-A7581E27C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1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63" name="Rectangle 67">
            <a:extLst>
              <a:ext uri="{FF2B5EF4-FFF2-40B4-BE49-F238E27FC236}">
                <a16:creationId xmlns:a16="http://schemas.microsoft.com/office/drawing/2014/main" id="{B73ACE62-863C-4277-BE4B-49A887CDA0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57238" y="3357563"/>
            <a:ext cx="91440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64" name="Rectangle 68">
            <a:extLst>
              <a:ext uri="{FF2B5EF4-FFF2-40B4-BE49-F238E27FC236}">
                <a16:creationId xmlns:a16="http://schemas.microsoft.com/office/drawing/2014/main" id="{F162505F-F9AE-4CC9-B613-51869578E9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68" name="Rectangle 72">
            <a:extLst>
              <a:ext uri="{FF2B5EF4-FFF2-40B4-BE49-F238E27FC236}">
                <a16:creationId xmlns:a16="http://schemas.microsoft.com/office/drawing/2014/main" id="{D6E22EE8-26C7-475A-B241-3303E5FCC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1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71" name="Rectangle 75">
            <a:extLst>
              <a:ext uri="{FF2B5EF4-FFF2-40B4-BE49-F238E27FC236}">
                <a16:creationId xmlns:a16="http://schemas.microsoft.com/office/drawing/2014/main" id="{B57B5D04-EEFA-4F28-A884-914CDAA17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85" name="Rectangle 89">
            <a:extLst>
              <a:ext uri="{FF2B5EF4-FFF2-40B4-BE49-F238E27FC236}">
                <a16:creationId xmlns:a16="http://schemas.microsoft.com/office/drawing/2014/main" id="{5AF6FDB4-3CFF-4DA2-8E05-ED1E1FCE0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88" name="Rectangle 92">
            <a:extLst>
              <a:ext uri="{FF2B5EF4-FFF2-40B4-BE49-F238E27FC236}">
                <a16:creationId xmlns:a16="http://schemas.microsoft.com/office/drawing/2014/main" id="{C92B63EB-42CB-4E0A-AE15-69C8C68FA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24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90" name="Rectangle 94">
            <a:extLst>
              <a:ext uri="{FF2B5EF4-FFF2-40B4-BE49-F238E27FC236}">
                <a16:creationId xmlns:a16="http://schemas.microsoft.com/office/drawing/2014/main" id="{62A9E4EF-AC48-4A29-B1AD-7EE584E96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76650"/>
            <a:ext cx="2270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4195" name="Rectangle 99">
            <a:extLst>
              <a:ext uri="{FF2B5EF4-FFF2-40B4-BE49-F238E27FC236}">
                <a16:creationId xmlns:a16="http://schemas.microsoft.com/office/drawing/2014/main" id="{8D8D061C-3899-4660-82F9-65A75922EC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24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200" name="Rectangle 104">
            <a:extLst>
              <a:ext uri="{FF2B5EF4-FFF2-40B4-BE49-F238E27FC236}">
                <a16:creationId xmlns:a16="http://schemas.microsoft.com/office/drawing/2014/main" id="{2C01A513-6940-4DE5-9DB4-46C4DCE53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215" name="Rectangle 119">
            <a:extLst>
              <a:ext uri="{FF2B5EF4-FFF2-40B4-BE49-F238E27FC236}">
                <a16:creationId xmlns:a16="http://schemas.microsoft.com/office/drawing/2014/main" id="{3061B53B-E798-48E2-AB59-4F3340A23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218" name="Rectangle 122">
            <a:extLst>
              <a:ext uri="{FF2B5EF4-FFF2-40B4-BE49-F238E27FC236}">
                <a16:creationId xmlns:a16="http://schemas.microsoft.com/office/drawing/2014/main" id="{E0F8B24F-2D33-4EE7-BB21-4DD8B733C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221" name="Rectangle 125">
            <a:extLst>
              <a:ext uri="{FF2B5EF4-FFF2-40B4-BE49-F238E27FC236}">
                <a16:creationId xmlns:a16="http://schemas.microsoft.com/office/drawing/2014/main" id="{8F308DA2-261B-4DDF-96A5-EED931986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222" name="Rectangle 126">
            <a:extLst>
              <a:ext uri="{FF2B5EF4-FFF2-40B4-BE49-F238E27FC236}">
                <a16:creationId xmlns:a16="http://schemas.microsoft.com/office/drawing/2014/main" id="{9562166C-A7B9-48B8-843C-52C6B80EC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73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224" name="Rectangle 128">
            <a:extLst>
              <a:ext uri="{FF2B5EF4-FFF2-40B4-BE49-F238E27FC236}">
                <a16:creationId xmlns:a16="http://schemas.microsoft.com/office/drawing/2014/main" id="{18F347F8-9227-4EE8-A0EA-D8C256022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228" name="Rectangle 132">
            <a:extLst>
              <a:ext uri="{FF2B5EF4-FFF2-40B4-BE49-F238E27FC236}">
                <a16:creationId xmlns:a16="http://schemas.microsoft.com/office/drawing/2014/main" id="{28168D53-BDFD-4AD7-8798-36AD7D39A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229" name="Rectangle 133">
            <a:extLst>
              <a:ext uri="{FF2B5EF4-FFF2-40B4-BE49-F238E27FC236}">
                <a16:creationId xmlns:a16="http://schemas.microsoft.com/office/drawing/2014/main" id="{7F150907-AC42-479A-8F04-4408F7604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235" name="Rectangle 139">
            <a:extLst>
              <a:ext uri="{FF2B5EF4-FFF2-40B4-BE49-F238E27FC236}">
                <a16:creationId xmlns:a16="http://schemas.microsoft.com/office/drawing/2014/main" id="{03FC40BB-27FD-4568-842B-062884D21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237" name="Rectangle 141">
            <a:extLst>
              <a:ext uri="{FF2B5EF4-FFF2-40B4-BE49-F238E27FC236}">
                <a16:creationId xmlns:a16="http://schemas.microsoft.com/office/drawing/2014/main" id="{A9DCC08C-182B-4501-894A-D0BCD92CC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41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240" name="Rectangle 144">
            <a:extLst>
              <a:ext uri="{FF2B5EF4-FFF2-40B4-BE49-F238E27FC236}">
                <a16:creationId xmlns:a16="http://schemas.microsoft.com/office/drawing/2014/main" id="{5DA5AB43-AD36-43D6-923C-DBF1DDA6F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29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4247" name="Object 151">
            <a:extLst>
              <a:ext uri="{FF2B5EF4-FFF2-40B4-BE49-F238E27FC236}">
                <a16:creationId xmlns:a16="http://schemas.microsoft.com/office/drawing/2014/main" id="{069B47A2-2CB1-45EE-9957-B19282BF2C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5875" y="1700213"/>
          <a:ext cx="130175" cy="136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9" name="Формула" r:id="rId5" imgW="126835" imgH="139518" progId="Equation.3">
                  <p:embed/>
                </p:oleObj>
              </mc:Choice>
              <mc:Fallback>
                <p:oleObj name="Формула" r:id="rId5" imgW="126835" imgH="139518" progId="Equation.3">
                  <p:embed/>
                  <p:pic>
                    <p:nvPicPr>
                      <p:cNvPr id="0" name="Object 1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1700213"/>
                        <a:ext cx="130175" cy="136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49" name="Rectangle 153">
            <a:extLst>
              <a:ext uri="{FF2B5EF4-FFF2-40B4-BE49-F238E27FC236}">
                <a16:creationId xmlns:a16="http://schemas.microsoft.com/office/drawing/2014/main" id="{48E1D89C-F382-45DD-B3C9-A3940C84F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" y="757385"/>
            <a:ext cx="8918798" cy="6229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marL="342900" indent="-342900"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ru-RU" b="1" i="1" dirty="0">
                <a:latin typeface="Times New Roman" panose="02020603050405020304" pitchFamily="18" charset="0"/>
              </a:rPr>
              <a:t>       </a:t>
            </a:r>
            <a:r>
              <a:rPr lang="ru-RU" altLang="ru-RU" b="1" i="1" dirty="0">
                <a:latin typeface="Times New Roman" panose="02020603050405020304" pitchFamily="18" charset="0"/>
              </a:rPr>
              <a:t>1.    Сеточные методы.</a:t>
            </a:r>
            <a:endParaRPr lang="ru-RU" altLang="ru-RU" dirty="0">
              <a:latin typeface="Times New Roman" panose="02020603050405020304" pitchFamily="18" charset="0"/>
            </a:endParaRPr>
          </a:p>
          <a:p>
            <a:pPr lvl="1">
              <a:buFontTx/>
              <a:buChar char="•"/>
            </a:pPr>
            <a:r>
              <a:rPr lang="ru-RU" altLang="ru-RU" b="1" i="1" dirty="0">
                <a:latin typeface="Times New Roman" panose="02020603050405020304" pitchFamily="18" charset="0"/>
              </a:rPr>
              <a:t>	Равномерная сетка.</a:t>
            </a:r>
            <a:endParaRPr lang="ru-RU" altLang="ru-RU" dirty="0">
              <a:latin typeface="Times New Roman" panose="02020603050405020304" pitchFamily="18" charset="0"/>
            </a:endParaRPr>
          </a:p>
          <a:p>
            <a:pPr lvl="1">
              <a:buFontTx/>
              <a:buChar char="•"/>
            </a:pPr>
            <a:r>
              <a:rPr lang="ru-RU" altLang="ru-RU" b="1" i="1" dirty="0">
                <a:latin typeface="Times New Roman" panose="02020603050405020304" pitchFamily="18" charset="0"/>
              </a:rPr>
              <a:t>	ЛП- </a:t>
            </a:r>
            <a:r>
              <a:rPr lang="ru-RU" alt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последовательности.</a:t>
            </a:r>
            <a:endParaRPr lang="ru-RU" altLang="ru-RU" dirty="0">
              <a:latin typeface="Times New Roman" panose="02020603050405020304" pitchFamily="18" charset="0"/>
            </a:endParaRPr>
          </a:p>
          <a:p>
            <a:pPr eaLnBrk="0" hangingPunct="0"/>
            <a:r>
              <a:rPr lang="en-US" altLang="ru-RU" b="1" i="1" dirty="0">
                <a:cs typeface="Times New Roman" panose="02020603050405020304" pitchFamily="18" charset="0"/>
              </a:rPr>
              <a:t>       2</a:t>
            </a:r>
            <a:r>
              <a:rPr lang="en-US" alt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alt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спуска.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hangingPunct="0">
              <a:buFontTx/>
              <a:buChar char="•"/>
            </a:pPr>
            <a:r>
              <a:rPr lang="ru-RU" alt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одномерной оптимизации.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hangingPunct="0">
              <a:buFontTx/>
              <a:buChar char="•"/>
            </a:pPr>
            <a:r>
              <a:rPr lang="ru-RU" alt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безусловной оптимизации.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hangingPunct="0">
              <a:buFontTx/>
              <a:buChar char="•"/>
            </a:pPr>
            <a:r>
              <a:rPr lang="ru-RU" alt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условной оптимизации.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hangingPunct="0"/>
            <a:r>
              <a:rPr lang="en-US" alt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alt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многоэкстремальной оптимизации.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0" hangingPunct="0">
              <a:buFontTx/>
              <a:buChar char="•"/>
            </a:pPr>
            <a:r>
              <a:rPr lang="ru-RU" alt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«</a:t>
            </a:r>
            <a:r>
              <a:rPr lang="ru-RU" altLang="ru-RU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мультистарта</a:t>
            </a:r>
            <a:r>
              <a:rPr lang="ru-RU" alt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».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0" hangingPunct="0">
              <a:buFontTx/>
              <a:buChar char="•"/>
            </a:pPr>
            <a:r>
              <a:rPr lang="ru-RU" alt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«тяжелого шарика».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0" hangingPunct="0">
              <a:buFontTx/>
              <a:buChar char="•"/>
            </a:pPr>
            <a:r>
              <a:rPr lang="ru-RU" alt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Комбинации методов глобального случайного поиска и локального поиска.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hangingPunct="0"/>
            <a:r>
              <a:rPr lang="en-US" alt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ru-RU" alt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многокритериальной оптимизации.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0" hangingPunct="0">
              <a:buFontTx/>
              <a:buChar char="•"/>
            </a:pPr>
            <a:r>
              <a:rPr lang="ru-RU" alt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«идеальной точки»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0" hangingPunct="0">
              <a:buFontTx/>
              <a:buChar char="•"/>
            </a:pPr>
            <a:r>
              <a:rPr lang="ru-RU" alt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последовательной оптимизации по критериям.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0" hangingPunct="0">
              <a:buFontTx/>
              <a:buChar char="•"/>
            </a:pPr>
            <a:r>
              <a:rPr lang="ru-RU" alt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многоуровневой оптимизации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hangingPunct="0"/>
            <a:r>
              <a:rPr lang="en-US" alt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ru-RU" alt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оптимизации в условиях неопределенности.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0" hangingPunct="0">
              <a:buFontTx/>
              <a:buChar char="•"/>
            </a:pPr>
            <a:r>
              <a:rPr lang="ru-RU" alt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Нечеткие вычисления. Неточные вычисления. Стохастические модели.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0" hangingPunct="0">
              <a:buFontTx/>
              <a:buChar char="•"/>
            </a:pPr>
            <a:r>
              <a:rPr lang="ru-RU" alt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Генетические алгоритмы.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0" hangingPunct="0">
              <a:buFontTx/>
              <a:buChar char="•"/>
            </a:pPr>
            <a:r>
              <a:rPr lang="ru-RU" altLang="ru-RU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Нейросетевые</a:t>
            </a:r>
            <a:r>
              <a:rPr lang="ru-RU" alt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алгоритмы.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0" hangingPunct="0">
              <a:buFontTx/>
              <a:buChar char="•"/>
            </a:pPr>
            <a:r>
              <a:rPr lang="ru-RU" alt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Гибридные алгоритмы.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/>
            <a:endParaRPr lang="ru-RU" altLang="ru-RU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77FA6747-EBDD-4920-9D14-C41661FCF3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/>
            <a:r>
              <a:rPr lang="ru-RU" altLang="ru-RU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Стратегия методов спуска.</a:t>
            </a:r>
            <a:br>
              <a:rPr lang="ru-RU" alt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alt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40E3948D-B845-4442-89A5-46CA8731D3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ru-RU" altLang="ru-RU" sz="2800" dirty="0"/>
              <a:t>Методы математического программирования основаны на использовании итерационных алгоритмов поиска значений переменных проектирования    , отвечающих экстремуму целевой функции при заданных ограничениях. При этом строится алгоритмическое отображение над функцией спуска     , включающей как целевую функцию      	,   так и функции ограничений     .</a:t>
            </a:r>
          </a:p>
        </p:txBody>
      </p:sp>
      <p:sp>
        <p:nvSpPr>
          <p:cNvPr id="43013" name="Rectangle 5">
            <a:extLst>
              <a:ext uri="{FF2B5EF4-FFF2-40B4-BE49-F238E27FC236}">
                <a16:creationId xmlns:a16="http://schemas.microsoft.com/office/drawing/2014/main" id="{0182F330-2578-49DA-A1A8-16E489DED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43012" name="Object 4">
            <a:extLst>
              <a:ext uri="{FF2B5EF4-FFF2-40B4-BE49-F238E27FC236}">
                <a16:creationId xmlns:a16="http://schemas.microsoft.com/office/drawing/2014/main" id="{04700C55-5335-4B35-9A15-B222B705D4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35375" y="2924175"/>
          <a:ext cx="280988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76" name="Формула" r:id="rId3" imgW="126780" imgH="215526" progId="Equation.3">
                  <p:embed/>
                </p:oleObj>
              </mc:Choice>
              <mc:Fallback>
                <p:oleObj name="Формула" r:id="rId3" imgW="126780" imgH="21552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2924175"/>
                        <a:ext cx="280988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5" name="Rectangle 7">
            <a:extLst>
              <a:ext uri="{FF2B5EF4-FFF2-40B4-BE49-F238E27FC236}">
                <a16:creationId xmlns:a16="http://schemas.microsoft.com/office/drawing/2014/main" id="{6A05851D-8432-44F5-B0BF-1203B692D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43014" name="Object 6">
            <a:extLst>
              <a:ext uri="{FF2B5EF4-FFF2-40B4-BE49-F238E27FC236}">
                <a16:creationId xmlns:a16="http://schemas.microsoft.com/office/drawing/2014/main" id="{7320ACF1-64BE-4F41-A72B-9933B8E97C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4652963"/>
          <a:ext cx="57626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77" name="Формула" r:id="rId5" imgW="317087" imgH="215619" progId="Equation.3">
                  <p:embed/>
                </p:oleObj>
              </mc:Choice>
              <mc:Fallback>
                <p:oleObj name="Формула" r:id="rId5" imgW="317087" imgH="21561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4652963"/>
                        <a:ext cx="576262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7" name="Rectangle 9">
            <a:extLst>
              <a:ext uri="{FF2B5EF4-FFF2-40B4-BE49-F238E27FC236}">
                <a16:creationId xmlns:a16="http://schemas.microsoft.com/office/drawing/2014/main" id="{8B05731F-4FDF-4EA3-8FD3-1BEB3CD3A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43016" name="Object 8">
            <a:extLst>
              <a:ext uri="{FF2B5EF4-FFF2-40B4-BE49-F238E27FC236}">
                <a16:creationId xmlns:a16="http://schemas.microsoft.com/office/drawing/2014/main" id="{DA2D0BDD-847E-45D8-AD58-9C4C780960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5110163"/>
          <a:ext cx="576262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78" name="Формула" r:id="rId7" imgW="330057" imgH="215806" progId="Equation.3">
                  <p:embed/>
                </p:oleObj>
              </mc:Choice>
              <mc:Fallback>
                <p:oleObj name="Формула" r:id="rId7" imgW="330057" imgH="215806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5110163"/>
                        <a:ext cx="576262" cy="379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9" name="Rectangle 11">
            <a:extLst>
              <a:ext uri="{FF2B5EF4-FFF2-40B4-BE49-F238E27FC236}">
                <a16:creationId xmlns:a16="http://schemas.microsoft.com/office/drawing/2014/main" id="{D3B68B3B-C0BB-4141-BE66-85288952C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43018" name="Object 10">
            <a:extLst>
              <a:ext uri="{FF2B5EF4-FFF2-40B4-BE49-F238E27FC236}">
                <a16:creationId xmlns:a16="http://schemas.microsoft.com/office/drawing/2014/main" id="{E856C4B4-AA34-4233-A884-46A556DC20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3663" y="5094288"/>
          <a:ext cx="50482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79" name="Формула" r:id="rId9" imgW="317087" imgH="215619" progId="Equation.3">
                  <p:embed/>
                </p:oleObj>
              </mc:Choice>
              <mc:Fallback>
                <p:oleObj name="Формула" r:id="rId9" imgW="317087" imgH="215619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5094288"/>
                        <a:ext cx="504825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307E6013-8562-468A-95AD-83CD4EF579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Стратегия методов спуска.</a:t>
            </a:r>
            <a:br>
              <a:rPr lang="ru-RU" alt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alt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C3E32F4C-3F89-4031-8555-AFC05028E0F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507413" cy="4525963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sz="2800"/>
              <a:t>ЗВП		  								</a:t>
            </a:r>
          </a:p>
        </p:txBody>
      </p:sp>
      <p:graphicFrame>
        <p:nvGraphicFramePr>
          <p:cNvPr id="44040" name="Object 8">
            <a:extLst>
              <a:ext uri="{FF2B5EF4-FFF2-40B4-BE49-F238E27FC236}">
                <a16:creationId xmlns:a16="http://schemas.microsoft.com/office/drawing/2014/main" id="{720A5311-2EC1-4C06-998B-BEB1914691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36" name="Формула" r:id="rId3" imgW="114151" imgH="215619" progId="Equation.3">
                  <p:embed/>
                </p:oleObj>
              </mc:Choice>
              <mc:Fallback>
                <p:oleObj name="Формула" r:id="rId3" imgW="114151" imgH="21561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212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9" name="Object 7">
            <a:extLst>
              <a:ext uri="{FF2B5EF4-FFF2-40B4-BE49-F238E27FC236}">
                <a16:creationId xmlns:a16="http://schemas.microsoft.com/office/drawing/2014/main" id="{1E6A74FB-D506-439E-8FE2-D2BCD7BAB4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1628775"/>
          <a:ext cx="3455987" cy="158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37" name="Формула" r:id="rId5" imgW="1803400" imgH="762000" progId="Equation.3">
                  <p:embed/>
                </p:oleObj>
              </mc:Choice>
              <mc:Fallback>
                <p:oleObj name="Формула" r:id="rId5" imgW="1803400" imgH="762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1628775"/>
                        <a:ext cx="3455987" cy="158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1" name="Rectangle 9">
            <a:extLst>
              <a:ext uri="{FF2B5EF4-FFF2-40B4-BE49-F238E27FC236}">
                <a16:creationId xmlns:a16="http://schemas.microsoft.com/office/drawing/2014/main" id="{1F2722EC-B1D5-4BA6-8C27-FFCD3C950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4042" name="Rectangle 10">
            <a:extLst>
              <a:ext uri="{FF2B5EF4-FFF2-40B4-BE49-F238E27FC236}">
                <a16:creationId xmlns:a16="http://schemas.microsoft.com/office/drawing/2014/main" id="{AD98AF3E-1D67-4A96-9042-AF99102A6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27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4043" name="Rectangle 11">
            <a:extLst>
              <a:ext uri="{FF2B5EF4-FFF2-40B4-BE49-F238E27FC236}">
                <a16:creationId xmlns:a16="http://schemas.microsoft.com/office/drawing/2014/main" id="{542A757D-ED9E-412F-B6DA-044E13C86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747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44044" name="Rectangle 12">
            <a:extLst>
              <a:ext uri="{FF2B5EF4-FFF2-40B4-BE49-F238E27FC236}">
                <a16:creationId xmlns:a16="http://schemas.microsoft.com/office/drawing/2014/main" id="{5069FCA4-455E-439E-A52D-AD10A2B62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1700213"/>
            <a:ext cx="2254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just"/>
            <a:r>
              <a:rPr lang="ru-RU" altLang="ru-RU"/>
              <a:t>Выпуклая функция:</a:t>
            </a:r>
          </a:p>
        </p:txBody>
      </p:sp>
      <p:sp>
        <p:nvSpPr>
          <p:cNvPr id="44046" name="Rectangle 14">
            <a:extLst>
              <a:ext uri="{FF2B5EF4-FFF2-40B4-BE49-F238E27FC236}">
                <a16:creationId xmlns:a16="http://schemas.microsoft.com/office/drawing/2014/main" id="{B4CAADF7-F0DC-416C-847E-DF44CF4F2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44045" name="Object 13">
            <a:extLst>
              <a:ext uri="{FF2B5EF4-FFF2-40B4-BE49-F238E27FC236}">
                <a16:creationId xmlns:a16="http://schemas.microsoft.com/office/drawing/2014/main" id="{2E3BCF99-73AB-48A1-A9A4-CECB048544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1500" y="2205038"/>
          <a:ext cx="2376488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38" name="Формула" r:id="rId7" imgW="1256755" imgH="215806" progId="Equation.3">
                  <p:embed/>
                </p:oleObj>
              </mc:Choice>
              <mc:Fallback>
                <p:oleObj name="Формула" r:id="rId7" imgW="1256755" imgH="215806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2205038"/>
                        <a:ext cx="2376488" cy="417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8" name="Rectangle 16">
            <a:extLst>
              <a:ext uri="{FF2B5EF4-FFF2-40B4-BE49-F238E27FC236}">
                <a16:creationId xmlns:a16="http://schemas.microsoft.com/office/drawing/2014/main" id="{7D0C039B-CF6F-4CE6-A20B-73EABCBD0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05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44047" name="Object 15">
            <a:extLst>
              <a:ext uri="{FF2B5EF4-FFF2-40B4-BE49-F238E27FC236}">
                <a16:creationId xmlns:a16="http://schemas.microsoft.com/office/drawing/2014/main" id="{06717F50-867B-43CC-9B55-DD7D085438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1500" y="2708275"/>
          <a:ext cx="1439863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39" name="Формула" r:id="rId9" imgW="698197" imgH="203112" progId="Equation.3">
                  <p:embed/>
                </p:oleObj>
              </mc:Choice>
              <mc:Fallback>
                <p:oleObj name="Формула" r:id="rId9" imgW="698197" imgH="203112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2708275"/>
                        <a:ext cx="1439863" cy="41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50" name="Rectangle 18">
            <a:extLst>
              <a:ext uri="{FF2B5EF4-FFF2-40B4-BE49-F238E27FC236}">
                <a16:creationId xmlns:a16="http://schemas.microsoft.com/office/drawing/2014/main" id="{442C908A-C137-4AF5-BE19-E520E2726F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44049" name="Object 17">
            <a:extLst>
              <a:ext uri="{FF2B5EF4-FFF2-40B4-BE49-F238E27FC236}">
                <a16:creationId xmlns:a16="http://schemas.microsoft.com/office/drawing/2014/main" id="{6E33CC45-E6EA-4206-8A4B-B9F914DB8D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24525" y="3141663"/>
          <a:ext cx="115252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40" name="Формула" r:id="rId11" imgW="508000" imgH="190500" progId="Equation.3">
                  <p:embed/>
                </p:oleObj>
              </mc:Choice>
              <mc:Fallback>
                <p:oleObj name="Формула" r:id="rId11" imgW="508000" imgH="1905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3141663"/>
                        <a:ext cx="1152525" cy="434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52" name="Rectangle 20">
            <a:extLst>
              <a:ext uri="{FF2B5EF4-FFF2-40B4-BE49-F238E27FC236}">
                <a16:creationId xmlns:a16="http://schemas.microsoft.com/office/drawing/2014/main" id="{8E4B6424-FBAE-4ECE-B392-AA3563AAA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15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44051" name="Object 19">
            <a:extLst>
              <a:ext uri="{FF2B5EF4-FFF2-40B4-BE49-F238E27FC236}">
                <a16:creationId xmlns:a16="http://schemas.microsoft.com/office/drawing/2014/main" id="{042ADCA4-743F-461F-A3DE-9246A5F1BA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24525" y="3644900"/>
          <a:ext cx="1944688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41" name="Формула" r:id="rId13" imgW="1104900" imgH="241300" progId="Equation.3">
                  <p:embed/>
                </p:oleObj>
              </mc:Choice>
              <mc:Fallback>
                <p:oleObj name="Формула" r:id="rId13" imgW="1104900" imgH="2413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3644900"/>
                        <a:ext cx="1944688" cy="41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54" name="Rectangle 22">
            <a:extLst>
              <a:ext uri="{FF2B5EF4-FFF2-40B4-BE49-F238E27FC236}">
                <a16:creationId xmlns:a16="http://schemas.microsoft.com/office/drawing/2014/main" id="{3BAE123D-8B7E-4E9A-9CAD-229723343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44053" name="Object 21">
            <a:extLst>
              <a:ext uri="{FF2B5EF4-FFF2-40B4-BE49-F238E27FC236}">
                <a16:creationId xmlns:a16="http://schemas.microsoft.com/office/drawing/2014/main" id="{42C14897-EF47-409A-B486-86D6CFC4F0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3357563"/>
          <a:ext cx="2736850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42" name="Формула" r:id="rId15" imgW="1524000" imgH="254000" progId="Equation.3">
                  <p:embed/>
                </p:oleObj>
              </mc:Choice>
              <mc:Fallback>
                <p:oleObj name="Формула" r:id="rId15" imgW="1524000" imgH="2540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357563"/>
                        <a:ext cx="2736850" cy="465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4055" name="Picture 23">
            <a:extLst>
              <a:ext uri="{FF2B5EF4-FFF2-40B4-BE49-F238E27FC236}">
                <a16:creationId xmlns:a16="http://schemas.microsoft.com/office/drawing/2014/main" id="{E59E8F4A-8233-4E04-A20B-917A724D22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75" y="4076700"/>
            <a:ext cx="4752975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56" name="Rectangle 24">
            <a:extLst>
              <a:ext uri="{FF2B5EF4-FFF2-40B4-BE49-F238E27FC236}">
                <a16:creationId xmlns:a16="http://schemas.microsoft.com/office/drawing/2014/main" id="{A9F7422A-A0B5-4993-B87C-6850C6118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860800"/>
            <a:ext cx="360045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/>
              <a:t>Алгоритмическое отображение состоит в том, что требуется на каждой итерации производить поиск  </a:t>
            </a:r>
          </a:p>
        </p:txBody>
      </p:sp>
      <p:sp>
        <p:nvSpPr>
          <p:cNvPr id="44058" name="Rectangle 26">
            <a:extLst>
              <a:ext uri="{FF2B5EF4-FFF2-40B4-BE49-F238E27FC236}">
                <a16:creationId xmlns:a16="http://schemas.microsoft.com/office/drawing/2014/main" id="{491C2786-11E7-4A5A-9999-54345D7AE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44057" name="Object 25">
            <a:extLst>
              <a:ext uri="{FF2B5EF4-FFF2-40B4-BE49-F238E27FC236}">
                <a16:creationId xmlns:a16="http://schemas.microsoft.com/office/drawing/2014/main" id="{9A23618C-52D0-4411-BE9F-41FE6057B5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4652963"/>
          <a:ext cx="302418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43" name="Формула" r:id="rId18" imgW="1778000" imgH="228600" progId="Equation.3">
                  <p:embed/>
                </p:oleObj>
              </mc:Choice>
              <mc:Fallback>
                <p:oleObj name="Формула" r:id="rId18" imgW="1778000" imgH="22860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652963"/>
                        <a:ext cx="3024187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59" name="Rectangle 27">
            <a:extLst>
              <a:ext uri="{FF2B5EF4-FFF2-40B4-BE49-F238E27FC236}">
                <a16:creationId xmlns:a16="http://schemas.microsoft.com/office/drawing/2014/main" id="{58BDBA94-697D-44C4-ADE3-683960CB4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941888"/>
            <a:ext cx="13335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так, чтобы </a:t>
            </a:r>
          </a:p>
        </p:txBody>
      </p:sp>
      <p:sp>
        <p:nvSpPr>
          <p:cNvPr id="44061" name="Rectangle 29">
            <a:extLst>
              <a:ext uri="{FF2B5EF4-FFF2-40B4-BE49-F238E27FC236}">
                <a16:creationId xmlns:a16="http://schemas.microsoft.com/office/drawing/2014/main" id="{CC6704BE-5B27-4C71-A01D-5144D612E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44060" name="Object 28">
            <a:extLst>
              <a:ext uri="{FF2B5EF4-FFF2-40B4-BE49-F238E27FC236}">
                <a16:creationId xmlns:a16="http://schemas.microsoft.com/office/drawing/2014/main" id="{BF7FB11F-C2AF-4ED4-A9D8-BA6CC83A5C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5300663"/>
          <a:ext cx="19431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44" name="Формула" r:id="rId20" imgW="1130300" imgH="228600" progId="Equation.3">
                  <p:embed/>
                </p:oleObj>
              </mc:Choice>
              <mc:Fallback>
                <p:oleObj name="Формула" r:id="rId20" imgW="1130300" imgH="2286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5300663"/>
                        <a:ext cx="1943100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63" name="Rectangle 31">
            <a:extLst>
              <a:ext uri="{FF2B5EF4-FFF2-40B4-BE49-F238E27FC236}">
                <a16:creationId xmlns:a16="http://schemas.microsoft.com/office/drawing/2014/main" id="{BD816683-8F28-4ACC-94DC-1D1CA0BF4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924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44062" name="Object 30">
            <a:extLst>
              <a:ext uri="{FF2B5EF4-FFF2-40B4-BE49-F238E27FC236}">
                <a16:creationId xmlns:a16="http://schemas.microsoft.com/office/drawing/2014/main" id="{E1562027-D79E-4836-B8A3-915A1D3F9C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5661025"/>
          <a:ext cx="115093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45" name="Формула" r:id="rId22" imgW="736600" imgH="279400" progId="Equation.3">
                  <p:embed/>
                </p:oleObj>
              </mc:Choice>
              <mc:Fallback>
                <p:oleObj name="Формула" r:id="rId22" imgW="736600" imgH="2794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5661025"/>
                        <a:ext cx="1150937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65" name="Rectangle 33">
            <a:extLst>
              <a:ext uri="{FF2B5EF4-FFF2-40B4-BE49-F238E27FC236}">
                <a16:creationId xmlns:a16="http://schemas.microsoft.com/office/drawing/2014/main" id="{6B6262B9-EC32-455B-8290-7B33346DD5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924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44064" name="Object 32">
            <a:extLst>
              <a:ext uri="{FF2B5EF4-FFF2-40B4-BE49-F238E27FC236}">
                <a16:creationId xmlns:a16="http://schemas.microsoft.com/office/drawing/2014/main" id="{544233D5-51F1-4907-ABED-5B184E2C74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6040438"/>
          <a:ext cx="194468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46" name="Формула" r:id="rId24" imgW="1104900" imgH="279400" progId="Equation.3">
                  <p:embed/>
                </p:oleObj>
              </mc:Choice>
              <mc:Fallback>
                <p:oleObj name="Формула" r:id="rId24" imgW="1104900" imgH="27940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6040438"/>
                        <a:ext cx="1944687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67" name="Rectangle 35">
            <a:extLst>
              <a:ext uri="{FF2B5EF4-FFF2-40B4-BE49-F238E27FC236}">
                <a16:creationId xmlns:a16="http://schemas.microsoft.com/office/drawing/2014/main" id="{47A65DA5-39D3-4AEE-8765-CCD6BCFB1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15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44066" name="Object 34">
            <a:extLst>
              <a:ext uri="{FF2B5EF4-FFF2-40B4-BE49-F238E27FC236}">
                <a16:creationId xmlns:a16="http://schemas.microsoft.com/office/drawing/2014/main" id="{B0BFB128-EF5A-4006-AF23-7CCAC0EC0D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5661025"/>
          <a:ext cx="1223963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47" name="Формула" r:id="rId26" imgW="634725" imgH="241195" progId="Equation.3">
                  <p:embed/>
                </p:oleObj>
              </mc:Choice>
              <mc:Fallback>
                <p:oleObj name="Формула" r:id="rId26" imgW="634725" imgH="241195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5661025"/>
                        <a:ext cx="1223963" cy="452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AD58928B-D9D9-4D5C-8D43-534266C0FF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76250"/>
            <a:ext cx="8229600" cy="990600"/>
          </a:xfrm>
        </p:spPr>
        <p:txBody>
          <a:bodyPr/>
          <a:lstStyle/>
          <a:p>
            <a:r>
              <a:rPr lang="ru-RU" altLang="ru-RU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Стратегия методов спуска.</a:t>
            </a:r>
            <a:br>
              <a:rPr lang="ru-RU" alt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alt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004E208F-CDB3-4646-B6BF-29732FC959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ru-RU" altLang="ru-RU" sz="2000" b="1"/>
              <a:t>Стратегия ММП</a:t>
            </a:r>
            <a:r>
              <a:rPr lang="ru-RU" altLang="ru-RU" sz="2000"/>
              <a:t> для ЗВП состоит в выборе </a:t>
            </a:r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9055E0B8-01EE-4CB9-B44A-0A9F0DC6C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46084" name="Object 4">
            <a:extLst>
              <a:ext uri="{FF2B5EF4-FFF2-40B4-BE49-F238E27FC236}">
                <a16:creationId xmlns:a16="http://schemas.microsoft.com/office/drawing/2014/main" id="{272AA384-DC22-4F31-84FC-EE539B291D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5963" y="1628775"/>
          <a:ext cx="2665412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60" name="Формула" r:id="rId3" imgW="1167893" imgH="203112" progId="Equation.3">
                  <p:embed/>
                </p:oleObj>
              </mc:Choice>
              <mc:Fallback>
                <p:oleObj name="Формула" r:id="rId3" imgW="1167893" imgH="20311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1628775"/>
                        <a:ext cx="2665412" cy="360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7" name="Object 7">
            <a:extLst>
              <a:ext uri="{FF2B5EF4-FFF2-40B4-BE49-F238E27FC236}">
                <a16:creationId xmlns:a16="http://schemas.microsoft.com/office/drawing/2014/main" id="{7071C970-0C53-4064-90AD-F8E83F80B7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3575" y="2030413"/>
          <a:ext cx="2160588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61" name="Формула" r:id="rId5" imgW="1485900" imgH="228600" progId="Equation.3">
                  <p:embed/>
                </p:oleObj>
              </mc:Choice>
              <mc:Fallback>
                <p:oleObj name="Формула" r:id="rId5" imgW="14859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2030413"/>
                        <a:ext cx="2160588" cy="331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6" name="Object 6">
            <a:extLst>
              <a:ext uri="{FF2B5EF4-FFF2-40B4-BE49-F238E27FC236}">
                <a16:creationId xmlns:a16="http://schemas.microsoft.com/office/drawing/2014/main" id="{28097646-D8D0-44CA-A397-70140CC40A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84888" y="2060575"/>
          <a:ext cx="10795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62" name="Формула" r:id="rId7" imgW="672808" imgH="203112" progId="Equation.3">
                  <p:embed/>
                </p:oleObj>
              </mc:Choice>
              <mc:Fallback>
                <p:oleObj name="Формула" r:id="rId7" imgW="672808" imgH="203112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2060575"/>
                        <a:ext cx="1079500" cy="315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8" name="Rectangle 8">
            <a:extLst>
              <a:ext uri="{FF2B5EF4-FFF2-40B4-BE49-F238E27FC236}">
                <a16:creationId xmlns:a16="http://schemas.microsoft.com/office/drawing/2014/main" id="{9521D53F-BC4B-4419-99E1-847CDC6C7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000250"/>
            <a:ext cx="28082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r>
              <a:rPr lang="ru-RU" altLang="ru-RU" sz="2000">
                <a:latin typeface="Arial" panose="020B0604020202020204" pitchFamily="34" charset="0"/>
                <a:cs typeface="Times New Roman" panose="02020603050405020304" pitchFamily="18" charset="0"/>
              </a:rPr>
              <a:t>таким  образом, чтобы </a:t>
            </a:r>
            <a:endParaRPr lang="ru-RU" altLang="ru-RU" sz="2000">
              <a:latin typeface="Arial" panose="020B0604020202020204" pitchFamily="34" charset="0"/>
            </a:endParaRPr>
          </a:p>
        </p:txBody>
      </p:sp>
      <p:sp>
        <p:nvSpPr>
          <p:cNvPr id="46089" name="Rectangle 9">
            <a:extLst>
              <a:ext uri="{FF2B5EF4-FFF2-40B4-BE49-F238E27FC236}">
                <a16:creationId xmlns:a16="http://schemas.microsoft.com/office/drawing/2014/main" id="{82A2327E-3DE3-4139-8F93-64B300132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2000250"/>
            <a:ext cx="6429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just"/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ru-RU" altLang="ru-RU" sz="2000">
                <a:latin typeface="Arial" panose="020B0604020202020204" pitchFamily="34" charset="0"/>
                <a:cs typeface="Times New Roman" panose="02020603050405020304" pitchFamily="18" charset="0"/>
              </a:rPr>
              <a:t>для</a:t>
            </a:r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46090" name="Rectangle 10">
            <a:extLst>
              <a:ext uri="{FF2B5EF4-FFF2-40B4-BE49-F238E27FC236}">
                <a16:creationId xmlns:a16="http://schemas.microsoft.com/office/drawing/2014/main" id="{2C87EA6B-5FEC-491E-9E6C-A781CAF0D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3163" y="3779838"/>
            <a:ext cx="22701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/>
            <a:r>
              <a:rPr lang="ru-RU" altLang="ru-RU" sz="1200">
                <a:cs typeface="Times New Roman" panose="02020603050405020304" pitchFamily="18" charset="0"/>
              </a:rPr>
              <a:t>.</a:t>
            </a:r>
            <a:endParaRPr lang="ru-RU" altLang="ru-RU"/>
          </a:p>
        </p:txBody>
      </p:sp>
      <p:sp>
        <p:nvSpPr>
          <p:cNvPr id="46091" name="Rectangle 11">
            <a:extLst>
              <a:ext uri="{FF2B5EF4-FFF2-40B4-BE49-F238E27FC236}">
                <a16:creationId xmlns:a16="http://schemas.microsoft.com/office/drawing/2014/main" id="{8496D7E8-72DE-465A-BD4B-9726FE8B3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492375"/>
            <a:ext cx="46259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dirty="0"/>
              <a:t>При этом для большинства методов МП   </a:t>
            </a:r>
          </a:p>
        </p:txBody>
      </p:sp>
      <p:sp>
        <p:nvSpPr>
          <p:cNvPr id="46093" name="Rectangle 13">
            <a:extLst>
              <a:ext uri="{FF2B5EF4-FFF2-40B4-BE49-F238E27FC236}">
                <a16:creationId xmlns:a16="http://schemas.microsoft.com/office/drawing/2014/main" id="{41C6252F-AD50-4928-9C71-E09466E47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05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46092" name="Object 12">
            <a:extLst>
              <a:ext uri="{FF2B5EF4-FFF2-40B4-BE49-F238E27FC236}">
                <a16:creationId xmlns:a16="http://schemas.microsoft.com/office/drawing/2014/main" id="{A6372F71-CBC2-4DE6-B098-EEF66A7B1D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32363" y="2420938"/>
          <a:ext cx="2016125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63" name="Формула" r:id="rId9" imgW="952087" imgH="203112" progId="Equation.3">
                  <p:embed/>
                </p:oleObj>
              </mc:Choice>
              <mc:Fallback>
                <p:oleObj name="Формула" r:id="rId9" imgW="952087" imgH="203112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2420938"/>
                        <a:ext cx="2016125" cy="420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4" name="Rectangle 14">
            <a:extLst>
              <a:ext uri="{FF2B5EF4-FFF2-40B4-BE49-F238E27FC236}">
                <a16:creationId xmlns:a16="http://schemas.microsoft.com/office/drawing/2014/main" id="{B6F28C40-D660-4728-879E-A297561A0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924175"/>
            <a:ext cx="5857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где </a:t>
            </a:r>
          </a:p>
        </p:txBody>
      </p:sp>
      <p:sp>
        <p:nvSpPr>
          <p:cNvPr id="46095" name="Rectangle 15">
            <a:extLst>
              <a:ext uri="{FF2B5EF4-FFF2-40B4-BE49-F238E27FC236}">
                <a16:creationId xmlns:a16="http://schemas.microsoft.com/office/drawing/2014/main" id="{3AE1439D-2074-48B3-81D7-4D32F29E81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24923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, </a:t>
            </a:r>
          </a:p>
        </p:txBody>
      </p:sp>
      <p:sp>
        <p:nvSpPr>
          <p:cNvPr id="46097" name="Rectangle 17">
            <a:extLst>
              <a:ext uri="{FF2B5EF4-FFF2-40B4-BE49-F238E27FC236}">
                <a16:creationId xmlns:a16="http://schemas.microsoft.com/office/drawing/2014/main" id="{4A74AD0C-619C-4DBB-AAE9-3C9DA3339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05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46096" name="Object 16">
            <a:extLst>
              <a:ext uri="{FF2B5EF4-FFF2-40B4-BE49-F238E27FC236}">
                <a16:creationId xmlns:a16="http://schemas.microsoft.com/office/drawing/2014/main" id="{DBBE4BA2-9BA6-4AF1-8FB8-062CDF8DF7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2924175"/>
          <a:ext cx="935037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64" name="Формула" r:id="rId11" imgW="583947" imgH="203112" progId="Equation.3">
                  <p:embed/>
                </p:oleObj>
              </mc:Choice>
              <mc:Fallback>
                <p:oleObj name="Формула" r:id="rId11" imgW="583947" imgH="203112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924175"/>
                        <a:ext cx="935037" cy="320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9" name="Rectangle 19">
            <a:extLst>
              <a:ext uri="{FF2B5EF4-FFF2-40B4-BE49-F238E27FC236}">
                <a16:creationId xmlns:a16="http://schemas.microsoft.com/office/drawing/2014/main" id="{8755A72C-C9D8-43E0-9B58-512646473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92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6100" name="Rectangle 20">
            <a:extLst>
              <a:ext uri="{FF2B5EF4-FFF2-40B4-BE49-F238E27FC236}">
                <a16:creationId xmlns:a16="http://schemas.microsoft.com/office/drawing/2014/main" id="{70D6BD7C-BDB0-4A6A-991D-B44AB1FC0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863850"/>
            <a:ext cx="26558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/>
            <a:r>
              <a:rPr lang="ru-RU" altLang="ru-RU" sz="2000">
                <a:cs typeface="Times New Roman" panose="02020603050405020304" pitchFamily="18" charset="0"/>
              </a:rPr>
              <a:t>– направление поиска,</a:t>
            </a:r>
            <a:endParaRPr lang="ru-RU" altLang="ru-RU" sz="2000"/>
          </a:p>
        </p:txBody>
      </p:sp>
      <p:sp>
        <p:nvSpPr>
          <p:cNvPr id="46102" name="Rectangle 22">
            <a:extLst>
              <a:ext uri="{FF2B5EF4-FFF2-40B4-BE49-F238E27FC236}">
                <a16:creationId xmlns:a16="http://schemas.microsoft.com/office/drawing/2014/main" id="{56D60068-BAF8-450B-AD79-7E93F657A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000" y="3055938"/>
            <a:ext cx="227013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just"/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graphicFrame>
        <p:nvGraphicFramePr>
          <p:cNvPr id="46101" name="Object 21">
            <a:extLst>
              <a:ext uri="{FF2B5EF4-FFF2-40B4-BE49-F238E27FC236}">
                <a16:creationId xmlns:a16="http://schemas.microsoft.com/office/drawing/2014/main" id="{39DB7D08-B5B4-47CD-B40F-A62CC98E0E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1556465"/>
              </p:ext>
            </p:extLst>
          </p:nvPr>
        </p:nvGraphicFramePr>
        <p:xfrm>
          <a:off x="4676776" y="2830116"/>
          <a:ext cx="1081088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65" name="Формула" r:id="rId13" imgW="571252" imgH="203112" progId="Equation.3">
                  <p:embed/>
                </p:oleObj>
              </mc:Choice>
              <mc:Fallback>
                <p:oleObj name="Формула" r:id="rId13" imgW="571252" imgH="203112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6776" y="2830116"/>
                        <a:ext cx="1081088" cy="374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03" name="Rectangle 23">
            <a:extLst>
              <a:ext uri="{FF2B5EF4-FFF2-40B4-BE49-F238E27FC236}">
                <a16:creationId xmlns:a16="http://schemas.microsoft.com/office/drawing/2014/main" id="{EF7956D2-B83A-4EEF-95E5-78C86D048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2852738"/>
            <a:ext cx="3352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tabLst>
                <a:tab pos="457200" algn="l"/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457200" algn="l"/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457200" algn="l"/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457200" algn="l"/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457200" algn="l"/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/>
            <a:r>
              <a:rPr lang="ru-RU" altLang="ru-RU" sz="2000">
                <a:cs typeface="Times New Roman" panose="02020603050405020304" pitchFamily="18" charset="0"/>
              </a:rPr>
              <a:t>– шаг в направлении поиска.</a:t>
            </a:r>
            <a:endParaRPr lang="ru-RU" altLang="ru-RU" sz="2000"/>
          </a:p>
        </p:txBody>
      </p:sp>
      <p:sp>
        <p:nvSpPr>
          <p:cNvPr id="46104" name="Rectangle 24">
            <a:extLst>
              <a:ext uri="{FF2B5EF4-FFF2-40B4-BE49-F238E27FC236}">
                <a16:creationId xmlns:a16="http://schemas.microsoft.com/office/drawing/2014/main" id="{E571714B-0FE7-49DD-AE45-32449D037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3284538"/>
            <a:ext cx="6602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/>
            <a:r>
              <a:rPr lang="ru-RU" altLang="ru-RU" sz="2400">
                <a:latin typeface="Times New Roman" panose="02020603050405020304" pitchFamily="18" charset="0"/>
              </a:rPr>
              <a:t>Решение задачи ММП состоит в следующем:</a:t>
            </a:r>
          </a:p>
        </p:txBody>
      </p:sp>
      <p:sp>
        <p:nvSpPr>
          <p:cNvPr id="46106" name="Rectangle 26">
            <a:extLst>
              <a:ext uri="{FF2B5EF4-FFF2-40B4-BE49-F238E27FC236}">
                <a16:creationId xmlns:a16="http://schemas.microsoft.com/office/drawing/2014/main" id="{C270A6C4-27FD-43A4-AD0E-1482FA4DB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3789363"/>
            <a:ext cx="63373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buFontTx/>
              <a:buAutoNum type="arabicPeriod"/>
            </a:pPr>
            <a:r>
              <a:rPr lang="ru-RU" altLang="ru-RU" sz="2000">
                <a:cs typeface="Times New Roman" panose="02020603050405020304" pitchFamily="18" charset="0"/>
              </a:rPr>
              <a:t>Выбор направления поиска на каждой итерации </a:t>
            </a:r>
            <a:endParaRPr lang="ru-RU" altLang="ru-RU" sz="2000"/>
          </a:p>
          <a:p>
            <a:pPr algn="just" eaLnBrk="0" hangingPunct="0"/>
            <a:r>
              <a:rPr lang="ru-RU" altLang="ru-RU" sz="2000">
                <a:cs typeface="Times New Roman" panose="02020603050405020304" pitchFamily="18" charset="0"/>
              </a:rPr>
              <a:t>оптимизации </a:t>
            </a:r>
            <a:endParaRPr lang="ru-RU" altLang="ru-RU" sz="2000"/>
          </a:p>
        </p:txBody>
      </p:sp>
      <p:graphicFrame>
        <p:nvGraphicFramePr>
          <p:cNvPr id="46105" name="Object 25">
            <a:extLst>
              <a:ext uri="{FF2B5EF4-FFF2-40B4-BE49-F238E27FC236}">
                <a16:creationId xmlns:a16="http://schemas.microsoft.com/office/drawing/2014/main" id="{569E5BDF-5C22-4C2F-AF1F-646FD728C1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0338" y="4144963"/>
          <a:ext cx="1584325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66" name="Формула" r:id="rId15" imgW="901309" imgH="203112" progId="Equation.3">
                  <p:embed/>
                </p:oleObj>
              </mc:Choice>
              <mc:Fallback>
                <p:oleObj name="Формула" r:id="rId15" imgW="901309" imgH="203112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4144963"/>
                        <a:ext cx="1584325" cy="346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07" name="Rectangle 27">
            <a:extLst>
              <a:ext uri="{FF2B5EF4-FFF2-40B4-BE49-F238E27FC236}">
                <a16:creationId xmlns:a16="http://schemas.microsoft.com/office/drawing/2014/main" id="{3439ABD8-75E8-4FD0-9626-6B8A85B7B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7813" y="3619500"/>
            <a:ext cx="227012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just"/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46109" name="Rectangle 29">
            <a:extLst>
              <a:ext uri="{FF2B5EF4-FFF2-40B4-BE49-F238E27FC236}">
                <a16:creationId xmlns:a16="http://schemas.microsoft.com/office/drawing/2014/main" id="{2C803543-5F4F-4DE1-B20B-87363D773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46112" name="Object 32">
            <a:extLst>
              <a:ext uri="{FF2B5EF4-FFF2-40B4-BE49-F238E27FC236}">
                <a16:creationId xmlns:a16="http://schemas.microsoft.com/office/drawing/2014/main" id="{A129BF17-142D-453D-B674-6726329828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989799"/>
              </p:ext>
            </p:extLst>
          </p:nvPr>
        </p:nvGraphicFramePr>
        <p:xfrm>
          <a:off x="4019550" y="4426744"/>
          <a:ext cx="1008063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67" name="Формула" r:id="rId17" imgW="609336" imgH="203112" progId="Equation.3">
                  <p:embed/>
                </p:oleObj>
              </mc:Choice>
              <mc:Fallback>
                <p:oleObj name="Формула" r:id="rId17" imgW="609336" imgH="203112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9550" y="4426744"/>
                        <a:ext cx="1008063" cy="417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10" name="Object 30">
            <a:extLst>
              <a:ext uri="{FF2B5EF4-FFF2-40B4-BE49-F238E27FC236}">
                <a16:creationId xmlns:a16="http://schemas.microsoft.com/office/drawing/2014/main" id="{EE006D8B-3735-44C9-AC80-D00DBA3DF5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92950" y="4894263"/>
          <a:ext cx="1582738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68" name="Формула" r:id="rId19" imgW="901309" imgH="203112" progId="Equation.3">
                  <p:embed/>
                </p:oleObj>
              </mc:Choice>
              <mc:Fallback>
                <p:oleObj name="Формула" r:id="rId19" imgW="901309" imgH="203112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4894263"/>
                        <a:ext cx="1582738" cy="346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13" name="Rectangle 33">
            <a:extLst>
              <a:ext uri="{FF2B5EF4-FFF2-40B4-BE49-F238E27FC236}">
                <a16:creationId xmlns:a16="http://schemas.microsoft.com/office/drawing/2014/main" id="{F42EB784-33E4-4386-9158-CEA16E1D7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4508500"/>
            <a:ext cx="54006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r>
              <a:rPr lang="ru-RU" altLang="ru-RU" sz="2000">
                <a:latin typeface="Arial" panose="020B0604020202020204" pitchFamily="34" charset="0"/>
              </a:rPr>
              <a:t>2. </a:t>
            </a:r>
            <a:r>
              <a:rPr lang="ru-RU" altLang="ru-RU" sz="2000">
                <a:latin typeface="Arial" panose="020B0604020202020204" pitchFamily="34" charset="0"/>
                <a:cs typeface="Times New Roman" panose="02020603050405020304" pitchFamily="18" charset="0"/>
              </a:rPr>
              <a:t>Выбор величины шага </a:t>
            </a:r>
            <a:endParaRPr lang="ru-RU" altLang="ru-RU" sz="2000">
              <a:latin typeface="Arial" panose="020B0604020202020204" pitchFamily="34" charset="0"/>
            </a:endParaRPr>
          </a:p>
        </p:txBody>
      </p:sp>
      <p:sp>
        <p:nvSpPr>
          <p:cNvPr id="46114" name="Rectangle 34">
            <a:extLst>
              <a:ext uri="{FF2B5EF4-FFF2-40B4-BE49-F238E27FC236}">
                <a16:creationId xmlns:a16="http://schemas.microsoft.com/office/drawing/2014/main" id="{D79AC9AF-AE01-4198-8F79-E5B30E7EB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5149" y="4475164"/>
            <a:ext cx="26987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ru-RU" altLang="ru-RU" sz="1200" dirty="0">
                <a:cs typeface="Times New Roman" panose="02020603050405020304" pitchFamily="18" charset="0"/>
              </a:rPr>
              <a:t> </a:t>
            </a:r>
            <a:r>
              <a:rPr lang="ru-RU" altLang="ru-RU" sz="2000" dirty="0">
                <a:cs typeface="Times New Roman" panose="02020603050405020304" pitchFamily="18" charset="0"/>
              </a:rPr>
              <a:t>таким образом, чтобы </a:t>
            </a:r>
            <a:endParaRPr lang="ru-RU" altLang="ru-RU" sz="2000" dirty="0"/>
          </a:p>
          <a:p>
            <a:pPr eaLnBrk="0" hangingPunct="0"/>
            <a:endParaRPr lang="ru-RU" altLang="ru-RU" sz="2000" dirty="0"/>
          </a:p>
        </p:txBody>
      </p:sp>
      <p:sp>
        <p:nvSpPr>
          <p:cNvPr id="46115" name="Rectangle 35">
            <a:extLst>
              <a:ext uri="{FF2B5EF4-FFF2-40B4-BE49-F238E27FC236}">
                <a16:creationId xmlns:a16="http://schemas.microsoft.com/office/drawing/2014/main" id="{11609E8A-E71D-428A-AF87-98EB79876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5820" y="4902994"/>
            <a:ext cx="27733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just"/>
            <a:r>
              <a:rPr lang="ru-RU" altLang="ru-RU" sz="1200" baseline="-30000" dirty="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>
                <a:latin typeface="Arial" panose="020B0604020202020204" pitchFamily="34" charset="0"/>
                <a:cs typeface="Times New Roman" panose="02020603050405020304" pitchFamily="18" charset="0"/>
              </a:rPr>
              <a:t>в направлении вектора </a:t>
            </a:r>
            <a:endParaRPr lang="ru-RU" altLang="ru-RU" sz="2000" dirty="0">
              <a:latin typeface="Arial" panose="020B0604020202020204" pitchFamily="34" charset="0"/>
            </a:endParaRPr>
          </a:p>
        </p:txBody>
      </p:sp>
      <p:sp>
        <p:nvSpPr>
          <p:cNvPr id="46116" name="Rectangle 36">
            <a:extLst>
              <a:ext uri="{FF2B5EF4-FFF2-40B4-BE49-F238E27FC236}">
                <a16:creationId xmlns:a16="http://schemas.microsoft.com/office/drawing/2014/main" id="{B14A9522-DBEB-47B0-ABC0-F0F7CA88A9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0263" y="4154488"/>
            <a:ext cx="22701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just"/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46118" name="Rectangle 38">
            <a:extLst>
              <a:ext uri="{FF2B5EF4-FFF2-40B4-BE49-F238E27FC236}">
                <a16:creationId xmlns:a16="http://schemas.microsoft.com/office/drawing/2014/main" id="{CBCEF27A-3653-4FF8-9186-70305242D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46117" name="Object 37">
            <a:extLst>
              <a:ext uri="{FF2B5EF4-FFF2-40B4-BE49-F238E27FC236}">
                <a16:creationId xmlns:a16="http://schemas.microsoft.com/office/drawing/2014/main" id="{02C7DB92-4D76-41D8-BB13-24A95989B6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4875213"/>
          <a:ext cx="3240087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69" name="Формула" r:id="rId20" imgW="2019300" imgH="228600" progId="Equation.3">
                  <p:embed/>
                </p:oleObj>
              </mc:Choice>
              <mc:Fallback>
                <p:oleObj name="Формула" r:id="rId20" imgW="2019300" imgH="22860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875213"/>
                        <a:ext cx="3240087" cy="366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00770839-E099-47A2-B872-2B5C546867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Стратегия методов спуска.</a:t>
            </a:r>
            <a:br>
              <a:rPr lang="ru-RU" alt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alt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7108" name="Picture 4">
            <a:extLst>
              <a:ext uri="{FF2B5EF4-FFF2-40B4-BE49-F238E27FC236}">
                <a16:creationId xmlns:a16="http://schemas.microsoft.com/office/drawing/2014/main" id="{991489A5-4CE4-4D83-B128-A1DE2B1DD956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484313"/>
            <a:ext cx="82296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B769BB77-926C-46EB-ABCF-60F3AFF0FB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Простейшие методы ММП для решения ЗВП.</a:t>
            </a:r>
            <a:r>
              <a:rPr lang="ru-RU" alt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160BFC98-26D3-4088-8D57-59F4342E82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Их можно разбить на 3 основных класса:</a:t>
            </a:r>
          </a:p>
          <a:p>
            <a:pPr>
              <a:buFontTx/>
              <a:buNone/>
            </a:pP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1.Методы 0-го порядка (не использующие производные).</a:t>
            </a:r>
          </a:p>
          <a:p>
            <a:pPr>
              <a:buFontTx/>
              <a:buNone/>
            </a:pP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2.Методы 1-го порядка (использующие 1-е производные).</a:t>
            </a:r>
          </a:p>
          <a:p>
            <a:pPr>
              <a:buFontTx/>
              <a:buNone/>
            </a:pP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3.Методы 2-го порядка (использующие 2-е производные).</a:t>
            </a:r>
          </a:p>
        </p:txBody>
      </p:sp>
      <p:sp>
        <p:nvSpPr>
          <p:cNvPr id="48132" name="Rectangle 4">
            <a:extLst>
              <a:ext uri="{FF2B5EF4-FFF2-40B4-BE49-F238E27FC236}">
                <a16:creationId xmlns:a16="http://schemas.microsoft.com/office/drawing/2014/main" id="{70021371-DC4C-4307-970D-22ECBF390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5229225"/>
            <a:ext cx="80645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r>
              <a:rPr lang="ru-RU" altLang="ru-RU" sz="2400"/>
              <a:t>Рассмотрим простейшие представители каждого из этих классов.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A063A347-AFAA-46BC-AFD2-3CF2D759D8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4000" b="1" u="sng" dirty="0"/>
              <a:t> </a:t>
            </a:r>
            <a:r>
              <a:rPr lang="ru-RU" altLang="ru-RU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покоординатного спуска (метод 0-го порядка)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666A296D-770E-4057-BDC9-078B4DFBA6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 			–  непрерывная функция.</a:t>
            </a:r>
          </a:p>
        </p:txBody>
      </p:sp>
      <p:sp>
        <p:nvSpPr>
          <p:cNvPr id="49157" name="Rectangle 5">
            <a:extLst>
              <a:ext uri="{FF2B5EF4-FFF2-40B4-BE49-F238E27FC236}">
                <a16:creationId xmlns:a16="http://schemas.microsoft.com/office/drawing/2014/main" id="{7941F5F2-F2B9-40FB-A6A7-8000EF565D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49156" name="Object 4">
            <a:extLst>
              <a:ext uri="{FF2B5EF4-FFF2-40B4-BE49-F238E27FC236}">
                <a16:creationId xmlns:a16="http://schemas.microsoft.com/office/drawing/2014/main" id="{23691B09-09E8-4086-8EE6-700422A485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5513" y="1644650"/>
          <a:ext cx="1944687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73" name="Формула" r:id="rId3" imgW="889000" imgH="228600" progId="Equation.3">
                  <p:embed/>
                </p:oleObj>
              </mc:Choice>
              <mc:Fallback>
                <p:oleObj name="Формула" r:id="rId3" imgW="8890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1644650"/>
                        <a:ext cx="1944687" cy="503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9158" name="Picture 6">
            <a:extLst>
              <a:ext uri="{FF2B5EF4-FFF2-40B4-BE49-F238E27FC236}">
                <a16:creationId xmlns:a16="http://schemas.microsoft.com/office/drawing/2014/main" id="{C9DB77F2-D666-417F-B425-9DAB68E2A3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2600325"/>
            <a:ext cx="7345363" cy="370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D04DF29E-93D3-4A12-8D81-AF0ADA5B31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Алгоритм: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914C5200-7278-4758-A4FB-B45EABCEB0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557338"/>
            <a:ext cx="8229600" cy="4525962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sz="2000" dirty="0"/>
              <a:t>Ш1.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Направление     - выбирается вдоль координаты       от точки       , т.е.   </a:t>
            </a:r>
          </a:p>
        </p:txBody>
      </p:sp>
      <p:sp>
        <p:nvSpPr>
          <p:cNvPr id="50181" name="Rectangle 5">
            <a:extLst>
              <a:ext uri="{FF2B5EF4-FFF2-40B4-BE49-F238E27FC236}">
                <a16:creationId xmlns:a16="http://schemas.microsoft.com/office/drawing/2014/main" id="{56F66E61-3F07-41B5-904F-B7C1B574B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0180" name="Object 4">
            <a:extLst>
              <a:ext uri="{FF2B5EF4-FFF2-40B4-BE49-F238E27FC236}">
                <a16:creationId xmlns:a16="http://schemas.microsoft.com/office/drawing/2014/main" id="{4CA91E36-001F-4A32-9F92-80148F7245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7313" y="1484313"/>
          <a:ext cx="415925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01" name="Формула" r:id="rId3" imgW="190417" imgH="203112" progId="Equation.3">
                  <p:embed/>
                </p:oleObj>
              </mc:Choice>
              <mc:Fallback>
                <p:oleObj name="Формула" r:id="rId3" imgW="190417" imgH="20311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1484313"/>
                        <a:ext cx="415925" cy="433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3" name="Rectangle 7">
            <a:extLst>
              <a:ext uri="{FF2B5EF4-FFF2-40B4-BE49-F238E27FC236}">
                <a16:creationId xmlns:a16="http://schemas.microsoft.com/office/drawing/2014/main" id="{CAD8524A-AEC2-4A76-8027-F51DE04E8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0182" name="Object 6">
            <a:extLst>
              <a:ext uri="{FF2B5EF4-FFF2-40B4-BE49-F238E27FC236}">
                <a16:creationId xmlns:a16="http://schemas.microsoft.com/office/drawing/2014/main" id="{60DCC800-075F-400E-BCA8-1598E4DF4E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1650109"/>
              </p:ext>
            </p:extLst>
          </p:nvPr>
        </p:nvGraphicFramePr>
        <p:xfrm>
          <a:off x="7645591" y="1487193"/>
          <a:ext cx="64770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02" name="Формула" r:id="rId5" imgW="253780" imgH="203024" progId="Equation.3">
                  <p:embed/>
                </p:oleObj>
              </mc:Choice>
              <mc:Fallback>
                <p:oleObj name="Формула" r:id="rId5" imgW="253780" imgH="20302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5591" y="1487193"/>
                        <a:ext cx="647700" cy="496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5" name="Rectangle 9">
            <a:extLst>
              <a:ext uri="{FF2B5EF4-FFF2-40B4-BE49-F238E27FC236}">
                <a16:creationId xmlns:a16="http://schemas.microsoft.com/office/drawing/2014/main" id="{B3AC9345-999F-4AAE-ABA0-CEE870507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0184" name="Object 8">
            <a:extLst>
              <a:ext uri="{FF2B5EF4-FFF2-40B4-BE49-F238E27FC236}">
                <a16:creationId xmlns:a16="http://schemas.microsoft.com/office/drawing/2014/main" id="{8B0BF7CF-16D8-48C8-A86D-56DD9C3913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1402800"/>
              </p:ext>
            </p:extLst>
          </p:nvPr>
        </p:nvGraphicFramePr>
        <p:xfrm>
          <a:off x="6258657" y="1455238"/>
          <a:ext cx="44132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03" name="Формула" r:id="rId7" imgW="177646" imgH="228402" progId="Equation.3">
                  <p:embed/>
                </p:oleObj>
              </mc:Choice>
              <mc:Fallback>
                <p:oleObj name="Формула" r:id="rId7" imgW="177646" imgH="228402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8657" y="1455238"/>
                        <a:ext cx="441325" cy="576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7" name="Rectangle 11">
            <a:extLst>
              <a:ext uri="{FF2B5EF4-FFF2-40B4-BE49-F238E27FC236}">
                <a16:creationId xmlns:a16="http://schemas.microsoft.com/office/drawing/2014/main" id="{7F1E0728-E019-400C-B89E-92B4D3DDA1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0186" name="Object 10">
            <a:extLst>
              <a:ext uri="{FF2B5EF4-FFF2-40B4-BE49-F238E27FC236}">
                <a16:creationId xmlns:a16="http://schemas.microsoft.com/office/drawing/2014/main" id="{2C067A2A-8331-4296-BCEB-B1A307D8CB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1773238"/>
          <a:ext cx="1439863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04" name="Формула" r:id="rId9" imgW="952087" imgH="444307" progId="Equation.3">
                  <p:embed/>
                </p:oleObj>
              </mc:Choice>
              <mc:Fallback>
                <p:oleObj name="Формула" r:id="rId9" imgW="952087" imgH="444307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1773238"/>
                        <a:ext cx="1439863" cy="777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8" name="Rectangle 12">
            <a:extLst>
              <a:ext uri="{FF2B5EF4-FFF2-40B4-BE49-F238E27FC236}">
                <a16:creationId xmlns:a16="http://schemas.microsoft.com/office/drawing/2014/main" id="{A28EC423-8E70-47C7-9317-09DAE9C56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349500"/>
            <a:ext cx="4591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2000"/>
              <a:t>Ш2. Определяется величина шага</a:t>
            </a:r>
            <a:r>
              <a:rPr lang="ru-RU" altLang="ru-RU" sz="2400"/>
              <a:t>     </a:t>
            </a:r>
          </a:p>
        </p:txBody>
      </p:sp>
      <p:sp>
        <p:nvSpPr>
          <p:cNvPr id="50190" name="Rectangle 14">
            <a:extLst>
              <a:ext uri="{FF2B5EF4-FFF2-40B4-BE49-F238E27FC236}">
                <a16:creationId xmlns:a16="http://schemas.microsoft.com/office/drawing/2014/main" id="{C8308D2B-FF87-4CE0-891A-12F1A7EA0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0189" name="Object 13">
            <a:extLst>
              <a:ext uri="{FF2B5EF4-FFF2-40B4-BE49-F238E27FC236}">
                <a16:creationId xmlns:a16="http://schemas.microsoft.com/office/drawing/2014/main" id="{4AE012C4-91A2-497B-AE8A-D840D6BFF6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2349500"/>
          <a:ext cx="3455988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05" name="Формула" r:id="rId11" imgW="2336800" imgH="254000" progId="Equation.3">
                  <p:embed/>
                </p:oleObj>
              </mc:Choice>
              <mc:Fallback>
                <p:oleObj name="Формула" r:id="rId11" imgW="2336800" imgH="2540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349500"/>
                        <a:ext cx="3455988" cy="446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1" name="Rectangle 15">
            <a:extLst>
              <a:ext uri="{FF2B5EF4-FFF2-40B4-BE49-F238E27FC236}">
                <a16:creationId xmlns:a16="http://schemas.microsoft.com/office/drawing/2014/main" id="{2249C25B-8B22-485C-BC2A-541C389E3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852738"/>
            <a:ext cx="44259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2000"/>
              <a:t>Ш3. Формируется новое значение    </a:t>
            </a:r>
          </a:p>
        </p:txBody>
      </p:sp>
      <p:sp>
        <p:nvSpPr>
          <p:cNvPr id="50193" name="Rectangle 17">
            <a:extLst>
              <a:ext uri="{FF2B5EF4-FFF2-40B4-BE49-F238E27FC236}">
                <a16:creationId xmlns:a16="http://schemas.microsoft.com/office/drawing/2014/main" id="{A8C73A4A-020A-415C-9879-1A90F87A7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05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0192" name="Object 16">
            <a:extLst>
              <a:ext uri="{FF2B5EF4-FFF2-40B4-BE49-F238E27FC236}">
                <a16:creationId xmlns:a16="http://schemas.microsoft.com/office/drawing/2014/main" id="{F4BBA504-36B6-4943-B701-CFEC997FD0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2852738"/>
          <a:ext cx="31686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06" name="Формула" r:id="rId13" imgW="1371600" imgH="203200" progId="Equation.3">
                  <p:embed/>
                </p:oleObj>
              </mc:Choice>
              <mc:Fallback>
                <p:oleObj name="Формула" r:id="rId13" imgW="1371600" imgH="2032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852738"/>
                        <a:ext cx="316865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4" name="Rectangle 18">
            <a:extLst>
              <a:ext uri="{FF2B5EF4-FFF2-40B4-BE49-F238E27FC236}">
                <a16:creationId xmlns:a16="http://schemas.microsoft.com/office/drawing/2014/main" id="{79823906-E29C-4D67-870B-6BCB9F02A6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387725"/>
            <a:ext cx="3381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just"/>
            <a:r>
              <a:rPr lang="ru-RU" altLang="ru-RU" sz="2000"/>
              <a:t>Ш4. Проверка сходимости:</a:t>
            </a:r>
            <a:r>
              <a:rPr lang="ru-RU" altLang="ru-RU"/>
              <a:t> </a:t>
            </a:r>
          </a:p>
        </p:txBody>
      </p:sp>
      <p:sp>
        <p:nvSpPr>
          <p:cNvPr id="50195" name="Rectangle 19">
            <a:extLst>
              <a:ext uri="{FF2B5EF4-FFF2-40B4-BE49-F238E27FC236}">
                <a16:creationId xmlns:a16="http://schemas.microsoft.com/office/drawing/2014/main" id="{30F04307-E9C6-482F-B98B-8B6FA2E32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3860800"/>
            <a:ext cx="768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Если </a:t>
            </a:r>
          </a:p>
        </p:txBody>
      </p:sp>
      <p:sp>
        <p:nvSpPr>
          <p:cNvPr id="50197" name="Rectangle 21">
            <a:extLst>
              <a:ext uri="{FF2B5EF4-FFF2-40B4-BE49-F238E27FC236}">
                <a16:creationId xmlns:a16="http://schemas.microsoft.com/office/drawing/2014/main" id="{E8D7688D-3773-469D-8644-71822ADF83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924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0196" name="Object 20">
            <a:extLst>
              <a:ext uri="{FF2B5EF4-FFF2-40B4-BE49-F238E27FC236}">
                <a16:creationId xmlns:a16="http://schemas.microsoft.com/office/drawing/2014/main" id="{6B52481F-BA3F-4259-BEB2-4688A16329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3789363"/>
          <a:ext cx="4248150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07" name="Формула" r:id="rId15" imgW="2552700" imgH="279400" progId="Equation.3">
                  <p:embed/>
                </p:oleObj>
              </mc:Choice>
              <mc:Fallback>
                <p:oleObj name="Формула" r:id="rId15" imgW="2552700" imgH="2794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3789363"/>
                        <a:ext cx="4248150" cy="455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8" name="Rectangle 22">
            <a:extLst>
              <a:ext uri="{FF2B5EF4-FFF2-40B4-BE49-F238E27FC236}">
                <a16:creationId xmlns:a16="http://schemas.microsoft.com/office/drawing/2014/main" id="{2600B6E0-DF82-4A04-B4D5-56AE50B417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3789363"/>
            <a:ext cx="1441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, то </a:t>
            </a:r>
            <a:r>
              <a:rPr lang="ru-RU" altLang="ru-RU" i="1"/>
              <a:t>КОНЕЦ</a:t>
            </a:r>
            <a:r>
              <a:rPr lang="ru-RU" altLang="ru-RU"/>
              <a:t> </a:t>
            </a:r>
          </a:p>
        </p:txBody>
      </p:sp>
      <p:sp>
        <p:nvSpPr>
          <p:cNvPr id="50199" name="Rectangle 23">
            <a:extLst>
              <a:ext uri="{FF2B5EF4-FFF2-40B4-BE49-F238E27FC236}">
                <a16:creationId xmlns:a16="http://schemas.microsoft.com/office/drawing/2014/main" id="{BE249ECE-EBB2-45C6-B9CA-69170F6BE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4221163"/>
            <a:ext cx="34623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just"/>
            <a:r>
              <a:rPr lang="ru-RU" altLang="ru-RU"/>
              <a:t>Иначе  к=к+1 и переход на Ш 1.</a:t>
            </a:r>
          </a:p>
        </p:txBody>
      </p:sp>
      <p:sp>
        <p:nvSpPr>
          <p:cNvPr id="50200" name="Rectangle 24">
            <a:extLst>
              <a:ext uri="{FF2B5EF4-FFF2-40B4-BE49-F238E27FC236}">
                <a16:creationId xmlns:a16="http://schemas.microsoft.com/office/drawing/2014/main" id="{D252F018-5B5A-4E7C-8663-4BEB2AF19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508500"/>
            <a:ext cx="6121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 u="sng"/>
              <a:t>Достоинства:</a:t>
            </a:r>
            <a:r>
              <a:rPr lang="ru-RU" altLang="ru-RU"/>
              <a:t> возможность оптимизации для задач с недифференцируемыми функциями.</a:t>
            </a:r>
          </a:p>
        </p:txBody>
      </p:sp>
      <p:sp>
        <p:nvSpPr>
          <p:cNvPr id="50201" name="Rectangle 25">
            <a:extLst>
              <a:ext uri="{FF2B5EF4-FFF2-40B4-BE49-F238E27FC236}">
                <a16:creationId xmlns:a16="http://schemas.microsoft.com/office/drawing/2014/main" id="{518448A5-4DB7-4FF8-B4A9-A5824B7D3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5021263"/>
            <a:ext cx="58959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just"/>
            <a:r>
              <a:rPr lang="ru-RU" altLang="ru-RU" u="sng"/>
              <a:t>Недостатки:</a:t>
            </a:r>
            <a:r>
              <a:rPr lang="ru-RU" altLang="ru-RU"/>
              <a:t> </a:t>
            </a:r>
          </a:p>
          <a:p>
            <a:pPr algn="just"/>
            <a:r>
              <a:rPr lang="ru-RU" altLang="ru-RU"/>
              <a:t>1. Низкая скорость сходимости (сублинейная, т.е. </a:t>
            </a:r>
            <a:r>
              <a:rPr lang="ru-RU" altLang="ru-RU">
                <a:sym typeface="Symbol" panose="05050102010706020507" pitchFamily="18" charset="2"/>
              </a:rPr>
              <a:t></a:t>
            </a:r>
            <a:r>
              <a:rPr lang="ru-RU" altLang="ru-RU"/>
              <a:t>&lt;1)</a:t>
            </a:r>
          </a:p>
        </p:txBody>
      </p:sp>
      <p:sp>
        <p:nvSpPr>
          <p:cNvPr id="50202" name="Rectangle 26">
            <a:extLst>
              <a:ext uri="{FF2B5EF4-FFF2-40B4-BE49-F238E27FC236}">
                <a16:creationId xmlns:a16="http://schemas.microsoft.com/office/drawing/2014/main" id="{ADFAB723-BB8F-4F0A-BBF5-458B471E51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5734050"/>
            <a:ext cx="7848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r>
              <a:rPr lang="ru-RU" altLang="ru-RU"/>
              <a:t>2.Возможность зацикливания при плохой обусловленности задачи, т.е. когда функция </a:t>
            </a:r>
            <a:r>
              <a:rPr lang="ru-RU" altLang="ru-RU">
                <a:sym typeface="Symbol" panose="05050102010706020507" pitchFamily="18" charset="2"/>
              </a:rPr>
              <a:t></a:t>
            </a:r>
            <a:r>
              <a:rPr lang="ru-RU" altLang="ru-RU"/>
              <a:t>(</a:t>
            </a:r>
            <a:r>
              <a:rPr lang="en-US" altLang="ru-RU">
                <a:sym typeface="Symbol" panose="05050102010706020507" pitchFamily="18" charset="2"/>
              </a:rPr>
              <a:t>x</a:t>
            </a:r>
            <a:r>
              <a:rPr lang="ru-RU" altLang="ru-RU">
                <a:sym typeface="Symbol" panose="05050102010706020507" pitchFamily="18" charset="2"/>
              </a:rPr>
              <a:t>) имеет овражный характер.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86BD5FDF-AEE2-404E-82CB-AD3546A927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Обусловленность задачи</a:t>
            </a:r>
            <a:r>
              <a:rPr lang="ru-RU" alt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C4DF8392-831A-466B-BE00-64A31DE5A5A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91513" cy="4525963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Определяется числом обусловленности матрицы Гессе (если она существует), т.е. отношением</a:t>
            </a:r>
            <a:r>
              <a:rPr lang="ru-RU" altLang="ru-RU" sz="2800" dirty="0"/>
              <a:t> </a:t>
            </a:r>
          </a:p>
        </p:txBody>
      </p:sp>
      <p:sp>
        <p:nvSpPr>
          <p:cNvPr id="51205" name="Rectangle 5">
            <a:extLst>
              <a:ext uri="{FF2B5EF4-FFF2-40B4-BE49-F238E27FC236}">
                <a16:creationId xmlns:a16="http://schemas.microsoft.com/office/drawing/2014/main" id="{3C1A6B63-ECD0-497B-93DF-1A6B78A44E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1204" name="Object 4">
            <a:extLst>
              <a:ext uri="{FF2B5EF4-FFF2-40B4-BE49-F238E27FC236}">
                <a16:creationId xmlns:a16="http://schemas.microsoft.com/office/drawing/2014/main" id="{BAE140A8-AA2F-49A2-8459-B5CCBE6BDD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8032465"/>
              </p:ext>
            </p:extLst>
          </p:nvPr>
        </p:nvGraphicFramePr>
        <p:xfrm>
          <a:off x="4210680" y="1833828"/>
          <a:ext cx="863600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7" name="Формула" r:id="rId3" imgW="431613" imgH="393529" progId="Equation.3">
                  <p:embed/>
                </p:oleObj>
              </mc:Choice>
              <mc:Fallback>
                <p:oleObj name="Формула" r:id="rId3" imgW="431613" imgH="39352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0680" y="1833828"/>
                        <a:ext cx="863600" cy="785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6" name="Rectangle 6">
            <a:extLst>
              <a:ext uri="{FF2B5EF4-FFF2-40B4-BE49-F238E27FC236}">
                <a16:creationId xmlns:a16="http://schemas.microsoft.com/office/drawing/2014/main" id="{57C2FD1E-AC85-4009-A93A-7CD5DD8A5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742" y="2476471"/>
            <a:ext cx="547810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just"/>
            <a:r>
              <a:rPr lang="ru-RU" altLang="ru-RU" sz="2000" dirty="0"/>
              <a:t>Где </a:t>
            </a:r>
            <a:r>
              <a:rPr lang="en-US" altLang="ru-RU" sz="2000" i="1" dirty="0"/>
              <a:t>L</a:t>
            </a:r>
            <a:r>
              <a:rPr lang="ru-RU" altLang="ru-RU" sz="2000" dirty="0"/>
              <a:t> - максимальное собственное число            ,</a:t>
            </a:r>
          </a:p>
        </p:txBody>
      </p:sp>
      <p:sp>
        <p:nvSpPr>
          <p:cNvPr id="51208" name="Rectangle 8">
            <a:extLst>
              <a:ext uri="{FF2B5EF4-FFF2-40B4-BE49-F238E27FC236}">
                <a16:creationId xmlns:a16="http://schemas.microsoft.com/office/drawing/2014/main" id="{B3DACBF2-6480-4863-9CF4-BF1ADDCAE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833688"/>
            <a:ext cx="4176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ru-RU" sz="2000" i="1" dirty="0">
                <a:latin typeface="Arial" panose="020B0604020202020204" pitchFamily="34" charset="0"/>
                <a:cs typeface="Times New Roman" panose="02020603050405020304" pitchFamily="18" charset="0"/>
              </a:rPr>
              <a:t>l</a:t>
            </a:r>
            <a:r>
              <a:rPr lang="ru-RU" altLang="ru-RU" sz="2000" dirty="0">
                <a:latin typeface="Arial" panose="020B0604020202020204" pitchFamily="34" charset="0"/>
                <a:cs typeface="Times New Roman" panose="02020603050405020304" pitchFamily="18" charset="0"/>
              </a:rPr>
              <a:t> – </a:t>
            </a:r>
            <a:r>
              <a:rPr lang="ru-RU" altLang="ru-RU" sz="2000" dirty="0">
                <a:cs typeface="Times New Roman" panose="02020603050405020304" pitchFamily="18" charset="0"/>
              </a:rPr>
              <a:t>минимальное собственное число</a:t>
            </a:r>
            <a:r>
              <a:rPr lang="ru-RU" altLang="ru-RU" sz="2400" dirty="0"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51207" name="Object 7">
            <a:extLst>
              <a:ext uri="{FF2B5EF4-FFF2-40B4-BE49-F238E27FC236}">
                <a16:creationId xmlns:a16="http://schemas.microsoft.com/office/drawing/2014/main" id="{23CC89FF-1FE6-4C96-8D0D-D785E6E832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59338" y="2924175"/>
          <a:ext cx="792162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8" name="Формула" r:id="rId5" imgW="508000" imgH="228600" progId="Equation.3">
                  <p:embed/>
                </p:oleObj>
              </mc:Choice>
              <mc:Fallback>
                <p:oleObj name="Формула" r:id="rId5" imgW="5080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2924175"/>
                        <a:ext cx="792162" cy="360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9" name="Rectangle 9">
            <a:extLst>
              <a:ext uri="{FF2B5EF4-FFF2-40B4-BE49-F238E27FC236}">
                <a16:creationId xmlns:a16="http://schemas.microsoft.com/office/drawing/2014/main" id="{1CF21267-F9DE-48C9-BB12-EEDD0E9E7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1989138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 sz="240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r>
              <a:rPr lang="ru-RU" altLang="ru-RU" sz="600">
                <a:latin typeface="Arial" panose="020B0604020202020204" pitchFamily="34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graphicFrame>
        <p:nvGraphicFramePr>
          <p:cNvPr id="51210" name="Object 10">
            <a:extLst>
              <a:ext uri="{FF2B5EF4-FFF2-40B4-BE49-F238E27FC236}">
                <a16:creationId xmlns:a16="http://schemas.microsoft.com/office/drawing/2014/main" id="{660A52FD-8BA7-4042-84EA-163822D1AA32}"/>
              </a:ext>
            </a:extLst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2193976"/>
              </p:ext>
            </p:extLst>
          </p:nvPr>
        </p:nvGraphicFramePr>
        <p:xfrm>
          <a:off x="5312143" y="2501203"/>
          <a:ext cx="792162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9" name="Формула" r:id="rId7" imgW="508000" imgH="228600" progId="Equation.3">
                  <p:embed/>
                </p:oleObj>
              </mc:Choice>
              <mc:Fallback>
                <p:oleObj name="Формула" r:id="rId7" imgW="50800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2143" y="2501203"/>
                        <a:ext cx="792162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2" name="Rectangle 12">
            <a:extLst>
              <a:ext uri="{FF2B5EF4-FFF2-40B4-BE49-F238E27FC236}">
                <a16:creationId xmlns:a16="http://schemas.microsoft.com/office/drawing/2014/main" id="{9794F17C-DC9F-43DD-B6BD-E7D4FC26F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2852738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 sz="240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r>
              <a:rPr lang="ru-RU" altLang="ru-RU" sz="600">
                <a:latin typeface="Arial" panose="020B0604020202020204" pitchFamily="34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51214" name="Rectangle 14">
            <a:extLst>
              <a:ext uri="{FF2B5EF4-FFF2-40B4-BE49-F238E27FC236}">
                <a16:creationId xmlns:a16="http://schemas.microsoft.com/office/drawing/2014/main" id="{DAC04DCB-3E5C-4D06-B722-5EEAAD224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573463"/>
            <a:ext cx="79914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r>
              <a:rPr lang="ru-RU" altLang="ru-RU" sz="2000" dirty="0">
                <a:cs typeface="Times New Roman" panose="02020603050405020304" pitchFamily="18" charset="0"/>
              </a:rPr>
              <a:t>В случае отсутствия матрицы Гессе числом обусловленности может быть отношение: </a:t>
            </a:r>
          </a:p>
        </p:txBody>
      </p:sp>
      <p:graphicFrame>
        <p:nvGraphicFramePr>
          <p:cNvPr id="51213" name="Object 13">
            <a:extLst>
              <a:ext uri="{FF2B5EF4-FFF2-40B4-BE49-F238E27FC236}">
                <a16:creationId xmlns:a16="http://schemas.microsoft.com/office/drawing/2014/main" id="{5D843F6C-26C0-4A8F-B073-D4773A1DF0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9801853"/>
              </p:ext>
            </p:extLst>
          </p:nvPr>
        </p:nvGraphicFramePr>
        <p:xfrm>
          <a:off x="2711450" y="3959227"/>
          <a:ext cx="287972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0" name="Формула" r:id="rId8" imgW="1651000" imgH="609600" progId="Equation.3">
                  <p:embed/>
                </p:oleObj>
              </mc:Choice>
              <mc:Fallback>
                <p:oleObj name="Формула" r:id="rId8" imgW="1651000" imgH="609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3959227"/>
                        <a:ext cx="2879725" cy="106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5" name="Rectangle 15">
            <a:extLst>
              <a:ext uri="{FF2B5EF4-FFF2-40B4-BE49-F238E27FC236}">
                <a16:creationId xmlns:a16="http://schemas.microsoft.com/office/drawing/2014/main" id="{A70165CF-F5BB-40E8-8D63-B35D64296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3538" y="3733800"/>
            <a:ext cx="227012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just"/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51216" name="Rectangle 16">
            <a:extLst>
              <a:ext uri="{FF2B5EF4-FFF2-40B4-BE49-F238E27FC236}">
                <a16:creationId xmlns:a16="http://schemas.microsoft.com/office/drawing/2014/main" id="{9EBB7BCD-FF09-4851-A02D-9AF2733C1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4076700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 sz="240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r>
              <a:rPr lang="ru-RU" altLang="ru-RU" sz="600">
                <a:latin typeface="Arial" panose="020B0604020202020204" pitchFamily="34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pic>
        <p:nvPicPr>
          <p:cNvPr id="51217" name="Picture 17">
            <a:extLst>
              <a:ext uri="{FF2B5EF4-FFF2-40B4-BE49-F238E27FC236}">
                <a16:creationId xmlns:a16="http://schemas.microsoft.com/office/drawing/2014/main" id="{4D92BDF1-1363-4C83-B8C6-8B99755F5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75" y="4621910"/>
            <a:ext cx="3816350" cy="210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1219" name="Object 19">
            <a:extLst>
              <a:ext uri="{FF2B5EF4-FFF2-40B4-BE49-F238E27FC236}">
                <a16:creationId xmlns:a16="http://schemas.microsoft.com/office/drawing/2014/main" id="{B2090190-4B84-4419-9B9D-277F9CECF8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3938" y="5805488"/>
          <a:ext cx="518477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1" name="Формула" r:id="rId11" imgW="2235200" imgH="228600" progId="Equation.3">
                  <p:embed/>
                </p:oleObj>
              </mc:Choice>
              <mc:Fallback>
                <p:oleObj name="Формула" r:id="rId11" imgW="2235200" imgH="2286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5805488"/>
                        <a:ext cx="5184775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8" name="Object 18">
            <a:extLst>
              <a:ext uri="{FF2B5EF4-FFF2-40B4-BE49-F238E27FC236}">
                <a16:creationId xmlns:a16="http://schemas.microsoft.com/office/drawing/2014/main" id="{E9E336B2-0042-44B9-ABF4-C05EC4EB9F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3436938"/>
          <a:ext cx="114300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2" name="Формула" r:id="rId13" imgW="114151" imgH="215619" progId="Equation.3">
                  <p:embed/>
                </p:oleObj>
              </mc:Choice>
              <mc:Fallback>
                <p:oleObj name="Формула" r:id="rId13" imgW="114151" imgH="215619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436938"/>
                        <a:ext cx="114300" cy="212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20" name="Rectangle 20">
            <a:extLst>
              <a:ext uri="{FF2B5EF4-FFF2-40B4-BE49-F238E27FC236}">
                <a16:creationId xmlns:a16="http://schemas.microsoft.com/office/drawing/2014/main" id="{D61F34D6-3A78-4A19-9792-B464AD78F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048" y="5278317"/>
            <a:ext cx="427309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just"/>
            <a:r>
              <a:rPr lang="ru-RU" altLang="ru-RU" sz="2400" u="sng" dirty="0">
                <a:cs typeface="Times New Roman" panose="02020603050405020304" pitchFamily="18" charset="0"/>
              </a:rPr>
              <a:t>Пример:</a:t>
            </a:r>
            <a:r>
              <a:rPr lang="ru-RU" altLang="ru-RU" sz="2400" dirty="0">
                <a:cs typeface="Times New Roman" panose="02020603050405020304" pitchFamily="18" charset="0"/>
              </a:rPr>
              <a:t> функция </a:t>
            </a:r>
            <a:r>
              <a:rPr lang="ru-RU" altLang="ru-RU" sz="2400" dirty="0" err="1">
                <a:cs typeface="Times New Roman" panose="02020603050405020304" pitchFamily="18" charset="0"/>
              </a:rPr>
              <a:t>Розенброка</a:t>
            </a:r>
            <a:r>
              <a:rPr lang="ru-RU" altLang="ru-RU" sz="2400" dirty="0">
                <a:cs typeface="Times New Roman" panose="02020603050405020304" pitchFamily="18" charset="0"/>
              </a:rPr>
              <a:t> </a:t>
            </a:r>
            <a:r>
              <a:rPr lang="ru-RU" altLang="ru-RU" sz="2400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ru-RU" altLang="ru-RU" sz="1200" dirty="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ru-RU" altLang="ru-RU" dirty="0">
              <a:latin typeface="Arial" panose="020B0604020202020204" pitchFamily="34" charset="0"/>
            </a:endParaRPr>
          </a:p>
        </p:txBody>
      </p:sp>
      <p:sp>
        <p:nvSpPr>
          <p:cNvPr id="51221" name="Rectangle 21">
            <a:extLst>
              <a:ext uri="{FF2B5EF4-FFF2-40B4-BE49-F238E27FC236}">
                <a16:creationId xmlns:a16="http://schemas.microsoft.com/office/drawing/2014/main" id="{B2E1E43C-313F-48B3-B9BC-633053AE40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36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222" name="Rectangle 22">
            <a:extLst>
              <a:ext uri="{FF2B5EF4-FFF2-40B4-BE49-F238E27FC236}">
                <a16:creationId xmlns:a16="http://schemas.microsoft.com/office/drawing/2014/main" id="{69FCADE6-C4A7-4EEA-B461-3D3B1C28D8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49663"/>
            <a:ext cx="227013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just"/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ru-RU" altLang="ru-RU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10946B1E-E507-4940-B1C0-5ED3C7CDFF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наискорейшего спуска (метод 1-го порядка).</a:t>
            </a:r>
            <a:r>
              <a:rPr lang="ru-RU" alt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pic>
        <p:nvPicPr>
          <p:cNvPr id="53252" name="Picture 4">
            <a:extLst>
              <a:ext uri="{FF2B5EF4-FFF2-40B4-BE49-F238E27FC236}">
                <a16:creationId xmlns:a16="http://schemas.microsoft.com/office/drawing/2014/main" id="{6965C365-5391-4015-B943-3A6A49328A29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844675"/>
            <a:ext cx="6624637" cy="28622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3253" name="Picture 5">
            <a:extLst>
              <a:ext uri="{FF2B5EF4-FFF2-40B4-BE49-F238E27FC236}">
                <a16:creationId xmlns:a16="http://schemas.microsoft.com/office/drawing/2014/main" id="{C378205B-7C8C-4DFA-B3D4-235ECF0573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4797425"/>
            <a:ext cx="3816350" cy="187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38BE088B-CEA5-48CF-9CA2-9E61A4E93F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наискорейшего спуска </a:t>
            </a:r>
            <a:br>
              <a:rPr lang="ru-RU" altLang="ru-RU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(метод 1-го порядка)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D37CD494-18F0-44C1-979D-B269883114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600200"/>
            <a:ext cx="8856662" cy="5068888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sz="2000" b="1" i="1"/>
              <a:t>Функция                        - класс 1 раз дифференцируемых функций.</a:t>
            </a:r>
          </a:p>
        </p:txBody>
      </p:sp>
      <p:graphicFrame>
        <p:nvGraphicFramePr>
          <p:cNvPr id="54276" name="Object 4">
            <a:extLst>
              <a:ext uri="{FF2B5EF4-FFF2-40B4-BE49-F238E27FC236}">
                <a16:creationId xmlns:a16="http://schemas.microsoft.com/office/drawing/2014/main" id="{12B66850-D4BB-47BC-B9C7-BC94945759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1592263"/>
          <a:ext cx="1582738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66" name="Формула" r:id="rId3" imgW="889000" imgH="228600" progId="Equation.3">
                  <p:embed/>
                </p:oleObj>
              </mc:Choice>
              <mc:Fallback>
                <p:oleObj name="Формула" r:id="rId3" imgW="8890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1592263"/>
                        <a:ext cx="1582738" cy="407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0" name="Rectangle 8">
            <a:extLst>
              <a:ext uri="{FF2B5EF4-FFF2-40B4-BE49-F238E27FC236}">
                <a16:creationId xmlns:a16="http://schemas.microsoft.com/office/drawing/2014/main" id="{49214474-D8E3-4CEA-A704-52D7E68BC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05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4279" name="Object 7">
            <a:extLst>
              <a:ext uri="{FF2B5EF4-FFF2-40B4-BE49-F238E27FC236}">
                <a16:creationId xmlns:a16="http://schemas.microsoft.com/office/drawing/2014/main" id="{BB934949-4C58-4D2C-BA74-5E0FFDCDE3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2060575"/>
          <a:ext cx="4103688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67" name="Формула" r:id="rId5" imgW="2209800" imgH="203200" progId="Equation.3">
                  <p:embed/>
                </p:oleObj>
              </mc:Choice>
              <mc:Fallback>
                <p:oleObj name="Формула" r:id="rId5" imgW="2209800" imgH="203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2060575"/>
                        <a:ext cx="4103688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1" name="Rectangle 9">
            <a:extLst>
              <a:ext uri="{FF2B5EF4-FFF2-40B4-BE49-F238E27FC236}">
                <a16:creationId xmlns:a16="http://schemas.microsoft.com/office/drawing/2014/main" id="{93A63E57-98AD-49B9-B610-5C9B2B321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492375"/>
            <a:ext cx="2336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Разложим функцию </a:t>
            </a:r>
          </a:p>
        </p:txBody>
      </p:sp>
      <p:sp>
        <p:nvSpPr>
          <p:cNvPr id="54283" name="Rectangle 11">
            <a:extLst>
              <a:ext uri="{FF2B5EF4-FFF2-40B4-BE49-F238E27FC236}">
                <a16:creationId xmlns:a16="http://schemas.microsoft.com/office/drawing/2014/main" id="{D526EF86-BC38-4170-B825-667D46E4F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4282" name="Object 10">
            <a:extLst>
              <a:ext uri="{FF2B5EF4-FFF2-40B4-BE49-F238E27FC236}">
                <a16:creationId xmlns:a16="http://schemas.microsoft.com/office/drawing/2014/main" id="{B803DDC6-8C17-401B-BAE0-35D6179779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7313" y="2492375"/>
          <a:ext cx="18002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68" name="Формула" r:id="rId7" imgW="1040948" imgH="228501" progId="Equation.3">
                  <p:embed/>
                </p:oleObj>
              </mc:Choice>
              <mc:Fallback>
                <p:oleObj name="Формула" r:id="rId7" imgW="1040948" imgH="228501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2492375"/>
                        <a:ext cx="1800225" cy="39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4" name="Rectangle 12">
            <a:extLst>
              <a:ext uri="{FF2B5EF4-FFF2-40B4-BE49-F238E27FC236}">
                <a16:creationId xmlns:a16="http://schemas.microsoft.com/office/drawing/2014/main" id="{8FA3EBFD-402E-4700-93C7-D40B7A3F8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060575"/>
            <a:ext cx="4321175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r>
              <a:rPr lang="ru-RU" altLang="ru-RU"/>
              <a:t>– в ряд Тейлора, тогда, если учитывать только 2 члена ряда, получим:</a:t>
            </a:r>
          </a:p>
        </p:txBody>
      </p:sp>
      <p:sp>
        <p:nvSpPr>
          <p:cNvPr id="54286" name="Rectangle 14">
            <a:extLst>
              <a:ext uri="{FF2B5EF4-FFF2-40B4-BE49-F238E27FC236}">
                <a16:creationId xmlns:a16="http://schemas.microsoft.com/office/drawing/2014/main" id="{4B5F647E-3371-4826-A235-293C49F3D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924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4285" name="Object 13">
            <a:extLst>
              <a:ext uri="{FF2B5EF4-FFF2-40B4-BE49-F238E27FC236}">
                <a16:creationId xmlns:a16="http://schemas.microsoft.com/office/drawing/2014/main" id="{A64E3AD1-7FE6-45FF-8887-03ED1C0CE0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2997200"/>
          <a:ext cx="6192837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69" name="Формула" r:id="rId9" imgW="2908300" imgH="279400" progId="Equation.3">
                  <p:embed/>
                </p:oleObj>
              </mc:Choice>
              <mc:Fallback>
                <p:oleObj name="Формула" r:id="rId9" imgW="2908300" imgH="2794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997200"/>
                        <a:ext cx="6192837" cy="585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7" name="Rectangle 15">
            <a:extLst>
              <a:ext uri="{FF2B5EF4-FFF2-40B4-BE49-F238E27FC236}">
                <a16:creationId xmlns:a16="http://schemas.microsoft.com/office/drawing/2014/main" id="{DC63FAAA-E125-40E0-801A-534A6DC52C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644900"/>
            <a:ext cx="6559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Для того, чтобы функция уменьшалась, необходимо, чтобы </a:t>
            </a:r>
          </a:p>
        </p:txBody>
      </p:sp>
      <p:sp>
        <p:nvSpPr>
          <p:cNvPr id="54289" name="Rectangle 17">
            <a:extLst>
              <a:ext uri="{FF2B5EF4-FFF2-40B4-BE49-F238E27FC236}">
                <a16:creationId xmlns:a16="http://schemas.microsoft.com/office/drawing/2014/main" id="{A2E4A4B5-848B-42CD-8A0F-E40885B23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4288" name="Object 16">
            <a:extLst>
              <a:ext uri="{FF2B5EF4-FFF2-40B4-BE49-F238E27FC236}">
                <a16:creationId xmlns:a16="http://schemas.microsoft.com/office/drawing/2014/main" id="{A87D8423-986C-49C3-9869-D970F65F24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92950" y="3644900"/>
          <a:ext cx="1728788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70" name="Формула" r:id="rId11" imgW="1066800" imgH="228600" progId="Equation.3">
                  <p:embed/>
                </p:oleObj>
              </mc:Choice>
              <mc:Fallback>
                <p:oleObj name="Формула" r:id="rId11" imgW="1066800" imgH="2286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3644900"/>
                        <a:ext cx="1728788" cy="369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91" name="Rectangle 19">
            <a:extLst>
              <a:ext uri="{FF2B5EF4-FFF2-40B4-BE49-F238E27FC236}">
                <a16:creationId xmlns:a16="http://schemas.microsoft.com/office/drawing/2014/main" id="{42C7189E-7976-4F31-8AB3-1E60ABFE9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813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4290" name="Object 18">
            <a:extLst>
              <a:ext uri="{FF2B5EF4-FFF2-40B4-BE49-F238E27FC236}">
                <a16:creationId xmlns:a16="http://schemas.microsoft.com/office/drawing/2014/main" id="{01DB1A8A-7298-44E7-ABC5-FE722EEF65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3986213"/>
          <a:ext cx="1871663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71" name="Формула" r:id="rId13" imgW="1193800" imgH="495300" progId="Equation.3">
                  <p:embed/>
                </p:oleObj>
              </mc:Choice>
              <mc:Fallback>
                <p:oleObj name="Формула" r:id="rId13" imgW="1193800" imgH="4953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3986213"/>
                        <a:ext cx="1871663" cy="781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92" name="Rectangle 20">
            <a:extLst>
              <a:ext uri="{FF2B5EF4-FFF2-40B4-BE49-F238E27FC236}">
                <a16:creationId xmlns:a16="http://schemas.microsoft.com/office/drawing/2014/main" id="{DF970FDE-7757-4056-9004-6DECFEAAF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4076700"/>
            <a:ext cx="10810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.  Тогда  </a:t>
            </a:r>
          </a:p>
        </p:txBody>
      </p:sp>
      <p:sp>
        <p:nvSpPr>
          <p:cNvPr id="54294" name="Rectangle 22">
            <a:extLst>
              <a:ext uri="{FF2B5EF4-FFF2-40B4-BE49-F238E27FC236}">
                <a16:creationId xmlns:a16="http://schemas.microsoft.com/office/drawing/2014/main" id="{04964C94-5529-4469-ACE5-A6402C3C36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813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4293" name="Object 21">
            <a:extLst>
              <a:ext uri="{FF2B5EF4-FFF2-40B4-BE49-F238E27FC236}">
                <a16:creationId xmlns:a16="http://schemas.microsoft.com/office/drawing/2014/main" id="{0742EE78-0A77-4D92-87AD-B289FA4ED0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3938" y="3933825"/>
          <a:ext cx="3097212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72" name="Формула" r:id="rId15" imgW="1803400" imgH="495300" progId="Equation.3">
                  <p:embed/>
                </p:oleObj>
              </mc:Choice>
              <mc:Fallback>
                <p:oleObj name="Формула" r:id="rId15" imgW="1803400" imgH="4953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3933825"/>
                        <a:ext cx="3097212" cy="854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95" name="Rectangle 23">
            <a:extLst>
              <a:ext uri="{FF2B5EF4-FFF2-40B4-BE49-F238E27FC236}">
                <a16:creationId xmlns:a16="http://schemas.microsoft.com/office/drawing/2014/main" id="{5B7D00E2-4ADF-47F3-924F-3589FD81B7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724400"/>
            <a:ext cx="12795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При этом  </a:t>
            </a:r>
          </a:p>
        </p:txBody>
      </p:sp>
      <p:sp>
        <p:nvSpPr>
          <p:cNvPr id="54297" name="Rectangle 25">
            <a:extLst>
              <a:ext uri="{FF2B5EF4-FFF2-40B4-BE49-F238E27FC236}">
                <a16:creationId xmlns:a16="http://schemas.microsoft.com/office/drawing/2014/main" id="{55033F83-A6DE-428A-900D-7CB144EB7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4296" name="Object 24">
            <a:extLst>
              <a:ext uri="{FF2B5EF4-FFF2-40B4-BE49-F238E27FC236}">
                <a16:creationId xmlns:a16="http://schemas.microsoft.com/office/drawing/2014/main" id="{F6FF52B3-03F3-449F-9B57-65078DF2AB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4724400"/>
          <a:ext cx="3097213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73" name="Формула" r:id="rId17" imgW="2311400" imgH="254000" progId="Equation.3">
                  <p:embed/>
                </p:oleObj>
              </mc:Choice>
              <mc:Fallback>
                <p:oleObj name="Формула" r:id="rId17" imgW="2311400" imgH="2540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4724400"/>
                        <a:ext cx="3097213" cy="407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98" name="Rectangle 26">
            <a:extLst>
              <a:ext uri="{FF2B5EF4-FFF2-40B4-BE49-F238E27FC236}">
                <a16:creationId xmlns:a16="http://schemas.microsoft.com/office/drawing/2014/main" id="{4D5D171B-F88A-48BB-BCF0-1F29BA749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5084763"/>
            <a:ext cx="22780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u="sng"/>
              <a:t>Особенность МНС:</a:t>
            </a:r>
            <a:r>
              <a:rPr lang="ru-RU" altLang="ru-RU"/>
              <a:t> </a:t>
            </a:r>
          </a:p>
        </p:txBody>
      </p:sp>
      <p:sp>
        <p:nvSpPr>
          <p:cNvPr id="54300" name="Rectangle 28">
            <a:extLst>
              <a:ext uri="{FF2B5EF4-FFF2-40B4-BE49-F238E27FC236}">
                <a16:creationId xmlns:a16="http://schemas.microsoft.com/office/drawing/2014/main" id="{0169E2FD-D3D8-4330-A1F6-A5AE03A4F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4299" name="Object 27">
            <a:extLst>
              <a:ext uri="{FF2B5EF4-FFF2-40B4-BE49-F238E27FC236}">
                <a16:creationId xmlns:a16="http://schemas.microsoft.com/office/drawing/2014/main" id="{20879D41-A2B7-4445-A9EE-C43D6D1F2C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5875" y="5084763"/>
          <a:ext cx="2376488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74" name="Формула" r:id="rId19" imgW="1536700" imgH="228600" progId="Equation.3">
                  <p:embed/>
                </p:oleObj>
              </mc:Choice>
              <mc:Fallback>
                <p:oleObj name="Формула" r:id="rId19" imgW="1536700" imgH="22860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5084763"/>
                        <a:ext cx="2376488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301" name="Rectangle 29">
            <a:extLst>
              <a:ext uri="{FF2B5EF4-FFF2-40B4-BE49-F238E27FC236}">
                <a16:creationId xmlns:a16="http://schemas.microsoft.com/office/drawing/2014/main" id="{68AD788E-40D4-4E90-B379-2473324A24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5013325"/>
            <a:ext cx="9953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то есть </a:t>
            </a:r>
          </a:p>
        </p:txBody>
      </p:sp>
      <p:sp>
        <p:nvSpPr>
          <p:cNvPr id="54303" name="Rectangle 31">
            <a:extLst>
              <a:ext uri="{FF2B5EF4-FFF2-40B4-BE49-F238E27FC236}">
                <a16:creationId xmlns:a16="http://schemas.microsoft.com/office/drawing/2014/main" id="{A4792662-5BC3-4325-B493-FBEB30D2E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05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4302" name="Object 30">
            <a:extLst>
              <a:ext uri="{FF2B5EF4-FFF2-40B4-BE49-F238E27FC236}">
                <a16:creationId xmlns:a16="http://schemas.microsoft.com/office/drawing/2014/main" id="{F5FA2F39-7017-480B-AC13-BDE15E1AB3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1863" y="5013325"/>
          <a:ext cx="1655762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75" name="Формула" r:id="rId21" imgW="939392" imgH="203112" progId="Equation.3">
                  <p:embed/>
                </p:oleObj>
              </mc:Choice>
              <mc:Fallback>
                <p:oleObj name="Формула" r:id="rId21" imgW="939392" imgH="203112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5013325"/>
                        <a:ext cx="1655762" cy="347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304" name="Rectangle 32">
            <a:extLst>
              <a:ext uri="{FF2B5EF4-FFF2-40B4-BE49-F238E27FC236}">
                <a16:creationId xmlns:a16="http://schemas.microsoft.com/office/drawing/2014/main" id="{5DC2D61B-72A5-4837-BD3F-BE37797EC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625" y="501332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2000"/>
              <a:t>. </a:t>
            </a:r>
          </a:p>
        </p:txBody>
      </p:sp>
      <p:sp>
        <p:nvSpPr>
          <p:cNvPr id="54305" name="Rectangle 33">
            <a:extLst>
              <a:ext uri="{FF2B5EF4-FFF2-40B4-BE49-F238E27FC236}">
                <a16:creationId xmlns:a16="http://schemas.microsoft.com/office/drawing/2014/main" id="{3576F878-C47E-469C-905F-7038EBCE8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5373688"/>
            <a:ext cx="8351837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 sz="1600" u="sng"/>
              <a:t>Достоинства.</a:t>
            </a:r>
            <a:r>
              <a:rPr lang="ru-RU" altLang="ru-RU" sz="1600"/>
              <a:t> Линейная скорость сходимости для функций </a:t>
            </a:r>
            <a:r>
              <a:rPr lang="ru-RU" altLang="ru-RU" sz="1600">
                <a:sym typeface="Symbol" panose="05050102010706020507" pitchFamily="18" charset="2"/>
              </a:rPr>
              <a:t></a:t>
            </a:r>
            <a:r>
              <a:rPr lang="ru-RU" altLang="ru-RU" sz="1600"/>
              <a:t>(</a:t>
            </a:r>
            <a:r>
              <a:rPr lang="en-US" altLang="ru-RU" sz="1600">
                <a:sym typeface="Symbol" panose="05050102010706020507" pitchFamily="18" charset="2"/>
              </a:rPr>
              <a:t>x</a:t>
            </a:r>
            <a:r>
              <a:rPr lang="ru-RU" altLang="ru-RU" sz="1600">
                <a:sym typeface="Symbol" panose="05050102010706020507" pitchFamily="18" charset="2"/>
              </a:rPr>
              <a:t>) близких к квадратичным. </a:t>
            </a:r>
          </a:p>
        </p:txBody>
      </p:sp>
      <p:sp>
        <p:nvSpPr>
          <p:cNvPr id="54306" name="Rectangle 34">
            <a:extLst>
              <a:ext uri="{FF2B5EF4-FFF2-40B4-BE49-F238E27FC236}">
                <a16:creationId xmlns:a16="http://schemas.microsoft.com/office/drawing/2014/main" id="{91B6D78B-CB14-46C3-99A7-5923CA3C8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5964238"/>
            <a:ext cx="13366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just"/>
            <a:r>
              <a:rPr lang="ru-RU" altLang="ru-RU" sz="1600" u="sng"/>
              <a:t>Недостатки:</a:t>
            </a:r>
          </a:p>
        </p:txBody>
      </p:sp>
      <p:sp>
        <p:nvSpPr>
          <p:cNvPr id="54309" name="Rectangle 37">
            <a:extLst>
              <a:ext uri="{FF2B5EF4-FFF2-40B4-BE49-F238E27FC236}">
                <a16:creationId xmlns:a16="http://schemas.microsoft.com/office/drawing/2014/main" id="{785B994E-04CF-4CB0-9B39-5FA4D9859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5846763"/>
            <a:ext cx="12366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just"/>
            <a:r>
              <a:rPr lang="ru-RU" altLang="ru-RU" sz="1600">
                <a:latin typeface="Arial" panose="020B0604020202020204" pitchFamily="34" charset="0"/>
                <a:cs typeface="Times New Roman" panose="02020603050405020304" pitchFamily="18" charset="0"/>
              </a:rPr>
              <a:t>1.Функция </a:t>
            </a:r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graphicFrame>
        <p:nvGraphicFramePr>
          <p:cNvPr id="54308" name="Object 36">
            <a:extLst>
              <a:ext uri="{FF2B5EF4-FFF2-40B4-BE49-F238E27FC236}">
                <a16:creationId xmlns:a16="http://schemas.microsoft.com/office/drawing/2014/main" id="{D712AA01-E85C-4D21-B039-E20A6A1CDC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7675" y="5876925"/>
          <a:ext cx="1152525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76" name="Формула" r:id="rId23" imgW="876300" imgH="228600" progId="Equation.3">
                  <p:embed/>
                </p:oleObj>
              </mc:Choice>
              <mc:Fallback>
                <p:oleObj name="Формула" r:id="rId23" imgW="876300" imgH="22860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5876925"/>
                        <a:ext cx="1152525" cy="300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310" name="Rectangle 38">
            <a:extLst>
              <a:ext uri="{FF2B5EF4-FFF2-40B4-BE49-F238E27FC236}">
                <a16:creationId xmlns:a16="http://schemas.microsoft.com/office/drawing/2014/main" id="{E592D014-733A-4C23-946B-ADC9305C1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5846763"/>
            <a:ext cx="32353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just"/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ru-RU" altLang="ru-RU" sz="1600">
                <a:latin typeface="Arial" panose="020B0604020202020204" pitchFamily="34" charset="0"/>
                <a:cs typeface="Times New Roman" panose="02020603050405020304" pitchFamily="18" charset="0"/>
              </a:rPr>
              <a:t>– должна быть дифференцируема.</a:t>
            </a:r>
            <a:endParaRPr lang="ru-RU" altLang="ru-RU" sz="1600">
              <a:latin typeface="Arial" panose="020B0604020202020204" pitchFamily="34" charset="0"/>
            </a:endParaRPr>
          </a:p>
        </p:txBody>
      </p:sp>
      <p:sp>
        <p:nvSpPr>
          <p:cNvPr id="54311" name="Rectangle 39">
            <a:extLst>
              <a:ext uri="{FF2B5EF4-FFF2-40B4-BE49-F238E27FC236}">
                <a16:creationId xmlns:a16="http://schemas.microsoft.com/office/drawing/2014/main" id="{66BEC8C8-8D07-4CBF-8170-2690CBC72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6165850"/>
            <a:ext cx="6530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just"/>
            <a:r>
              <a:rPr lang="ru-RU" altLang="ru-RU" sz="1600"/>
              <a:t>2.Возможность зацикливания при плохой обусловленности задачи.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9004754E-5E28-4255-A7CC-A4A5C22F94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Ньютона </a:t>
            </a:r>
            <a:br>
              <a:rPr lang="ru-RU" altLang="ru-RU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(метод второго порядка)</a:t>
            </a:r>
            <a:endParaRPr lang="ru-RU" altLang="ru-RU" sz="4000" b="1" u="sng" dirty="0"/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95D11FEB-A953-4651-B1A8-8D842B96DE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628775"/>
            <a:ext cx="8713788" cy="5040313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sz="2000"/>
              <a:t>Условием использования этого метода является</a:t>
            </a:r>
            <a:r>
              <a:rPr lang="ru-RU" altLang="ru-RU"/>
              <a:t>: </a:t>
            </a:r>
          </a:p>
        </p:txBody>
      </p:sp>
      <p:sp>
        <p:nvSpPr>
          <p:cNvPr id="55301" name="Rectangle 5">
            <a:extLst>
              <a:ext uri="{FF2B5EF4-FFF2-40B4-BE49-F238E27FC236}">
                <a16:creationId xmlns:a16="http://schemas.microsoft.com/office/drawing/2014/main" id="{CF9C4B44-FDD9-4A92-A975-0200B0B9D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5300" name="Object 4">
            <a:extLst>
              <a:ext uri="{FF2B5EF4-FFF2-40B4-BE49-F238E27FC236}">
                <a16:creationId xmlns:a16="http://schemas.microsoft.com/office/drawing/2014/main" id="{722A7F61-EF5E-4C42-845B-EFCF0B536F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88125" y="1700213"/>
          <a:ext cx="1728788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74" name="Формула" r:id="rId3" imgW="889000" imgH="228600" progId="Equation.3">
                  <p:embed/>
                </p:oleObj>
              </mc:Choice>
              <mc:Fallback>
                <p:oleObj name="Формула" r:id="rId3" imgW="8890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1700213"/>
                        <a:ext cx="1728788" cy="447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2" name="Rectangle 6">
            <a:extLst>
              <a:ext uri="{FF2B5EF4-FFF2-40B4-BE49-F238E27FC236}">
                <a16:creationId xmlns:a16="http://schemas.microsoft.com/office/drawing/2014/main" id="{46DD2193-B423-41B6-ACD8-CD60C9E84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3888" y="17732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, </a:t>
            </a:r>
          </a:p>
        </p:txBody>
      </p:sp>
      <p:sp>
        <p:nvSpPr>
          <p:cNvPr id="55303" name="Rectangle 7">
            <a:extLst>
              <a:ext uri="{FF2B5EF4-FFF2-40B4-BE49-F238E27FC236}">
                <a16:creationId xmlns:a16="http://schemas.microsoft.com/office/drawing/2014/main" id="{F60AEBDC-70CA-4A32-9CC2-16F347B840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205038"/>
            <a:ext cx="67722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а также условие выпуклости </a:t>
            </a:r>
            <a:r>
              <a:rPr lang="ru-RU" altLang="ru-RU">
                <a:sym typeface="Symbol" panose="05050102010706020507" pitchFamily="18" charset="2"/>
              </a:rPr>
              <a:t></a:t>
            </a:r>
            <a:r>
              <a:rPr lang="ru-RU" altLang="ru-RU"/>
              <a:t>(</a:t>
            </a:r>
            <a:r>
              <a:rPr lang="en-US" altLang="ru-RU">
                <a:sym typeface="Symbol" panose="05050102010706020507" pitchFamily="18" charset="2"/>
              </a:rPr>
              <a:t>x</a:t>
            </a:r>
            <a:r>
              <a:rPr lang="ru-RU" altLang="ru-RU">
                <a:sym typeface="Symbol" panose="05050102010706020507" pitchFamily="18" charset="2"/>
              </a:rPr>
              <a:t>)  в окрестности точки поиска. </a:t>
            </a:r>
          </a:p>
        </p:txBody>
      </p:sp>
      <p:sp>
        <p:nvSpPr>
          <p:cNvPr id="55305" name="Rectangle 9">
            <a:extLst>
              <a:ext uri="{FF2B5EF4-FFF2-40B4-BE49-F238E27FC236}">
                <a16:creationId xmlns:a16="http://schemas.microsoft.com/office/drawing/2014/main" id="{58240B10-59C5-4300-9B06-EFF8938646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420938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2000">
                <a:latin typeface="Arial" panose="020B0604020202020204" pitchFamily="34" charset="0"/>
                <a:cs typeface="Times New Roman" panose="02020603050405020304" pitchFamily="18" charset="0"/>
              </a:rPr>
              <a:t>Точка</a:t>
            </a:r>
            <a:r>
              <a:rPr lang="ru-RU" altLang="ru-RU" sz="24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ru-RU" altLang="ru-RU" sz="2400">
              <a:latin typeface="Arial" panose="020B0604020202020204" pitchFamily="34" charset="0"/>
            </a:endParaRPr>
          </a:p>
        </p:txBody>
      </p:sp>
      <p:graphicFrame>
        <p:nvGraphicFramePr>
          <p:cNvPr id="55304" name="Object 8">
            <a:extLst>
              <a:ext uri="{FF2B5EF4-FFF2-40B4-BE49-F238E27FC236}">
                <a16:creationId xmlns:a16="http://schemas.microsoft.com/office/drawing/2014/main" id="{2BD1B1E0-27AD-4344-992F-925C4A42C4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2492375"/>
          <a:ext cx="290512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75" name="Формула" r:id="rId5" imgW="164957" imgH="203024" progId="Equation.3">
                  <p:embed/>
                </p:oleObj>
              </mc:Choice>
              <mc:Fallback>
                <p:oleObj name="Формула" r:id="rId5" imgW="164957" imgH="203024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492375"/>
                        <a:ext cx="290512" cy="358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6" name="Rectangle 10">
            <a:extLst>
              <a:ext uri="{FF2B5EF4-FFF2-40B4-BE49-F238E27FC236}">
                <a16:creationId xmlns:a16="http://schemas.microsoft.com/office/drawing/2014/main" id="{175E30DC-D258-4866-B1EB-49E46872B7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2492375"/>
            <a:ext cx="61515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2000">
                <a:latin typeface="Arial" panose="020B0604020202020204" pitchFamily="34" charset="0"/>
                <a:cs typeface="Times New Roman" panose="02020603050405020304" pitchFamily="18" charset="0"/>
              </a:rPr>
              <a:t>– стационарная точка (точка локального экстремума ) </a:t>
            </a:r>
            <a:endParaRPr lang="ru-RU" altLang="ru-RU" sz="2000">
              <a:latin typeface="Arial" panose="020B0604020202020204" pitchFamily="34" charset="0"/>
            </a:endParaRPr>
          </a:p>
        </p:txBody>
      </p:sp>
      <p:sp>
        <p:nvSpPr>
          <p:cNvPr id="55307" name="Rectangle 11">
            <a:extLst>
              <a:ext uri="{FF2B5EF4-FFF2-40B4-BE49-F238E27FC236}">
                <a16:creationId xmlns:a16="http://schemas.microsoft.com/office/drawing/2014/main" id="{17B68E0C-EA1C-4B33-817B-634561599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625" y="2492375"/>
            <a:ext cx="241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>
                <a:sym typeface="Symbol" panose="05050102010706020507" pitchFamily="18" charset="2"/>
              </a:rPr>
              <a:t>.</a:t>
            </a:r>
          </a:p>
        </p:txBody>
      </p:sp>
      <p:sp>
        <p:nvSpPr>
          <p:cNvPr id="55308" name="Rectangle 12">
            <a:extLst>
              <a:ext uri="{FF2B5EF4-FFF2-40B4-BE49-F238E27FC236}">
                <a16:creationId xmlns:a16="http://schemas.microsoft.com/office/drawing/2014/main" id="{45620964-0284-4219-A8D3-072E83B00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924175"/>
            <a:ext cx="8651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Пусть:</a:t>
            </a:r>
          </a:p>
        </p:txBody>
      </p:sp>
      <p:sp>
        <p:nvSpPr>
          <p:cNvPr id="55310" name="Rectangle 14">
            <a:extLst>
              <a:ext uri="{FF2B5EF4-FFF2-40B4-BE49-F238E27FC236}">
                <a16:creationId xmlns:a16="http://schemas.microsoft.com/office/drawing/2014/main" id="{E1AA173C-660C-45D9-8237-23ACECA78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78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5309" name="Object 13">
            <a:extLst>
              <a:ext uri="{FF2B5EF4-FFF2-40B4-BE49-F238E27FC236}">
                <a16:creationId xmlns:a16="http://schemas.microsoft.com/office/drawing/2014/main" id="{6629F8D3-B021-4C75-8037-FFA2DBD0B4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2852738"/>
          <a:ext cx="2160588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76" name="Формула" r:id="rId7" imgW="1168400" imgH="698500" progId="Equation.3">
                  <p:embed/>
                </p:oleObj>
              </mc:Choice>
              <mc:Fallback>
                <p:oleObj name="Формула" r:id="rId7" imgW="1168400" imgH="6985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852738"/>
                        <a:ext cx="2160588" cy="1301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11" name="Rectangle 15">
            <a:extLst>
              <a:ext uri="{FF2B5EF4-FFF2-40B4-BE49-F238E27FC236}">
                <a16:creationId xmlns:a16="http://schemas.microsoft.com/office/drawing/2014/main" id="{3C8A5A6A-D311-49DD-9852-EA88CC975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75" y="2997200"/>
            <a:ext cx="9159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Тогда :</a:t>
            </a:r>
          </a:p>
        </p:txBody>
      </p:sp>
      <p:sp>
        <p:nvSpPr>
          <p:cNvPr id="55313" name="Rectangle 17">
            <a:extLst>
              <a:ext uri="{FF2B5EF4-FFF2-40B4-BE49-F238E27FC236}">
                <a16:creationId xmlns:a16="http://schemas.microsoft.com/office/drawing/2014/main" id="{06A135CD-95ED-4867-A520-88DBFE7F4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53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5312" name="Object 16">
            <a:extLst>
              <a:ext uri="{FF2B5EF4-FFF2-40B4-BE49-F238E27FC236}">
                <a16:creationId xmlns:a16="http://schemas.microsoft.com/office/drawing/2014/main" id="{36606434-FC4F-4935-999F-8235EB0948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6238" y="3357563"/>
          <a:ext cx="6227762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77" name="Формула" r:id="rId9" imgW="4051300" imgH="393700" progId="Equation.3">
                  <p:embed/>
                </p:oleObj>
              </mc:Choice>
              <mc:Fallback>
                <p:oleObj name="Формула" r:id="rId9" imgW="4051300" imgH="3937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3357563"/>
                        <a:ext cx="6227762" cy="550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14" name="Rectangle 18">
            <a:extLst>
              <a:ext uri="{FF2B5EF4-FFF2-40B4-BE49-F238E27FC236}">
                <a16:creationId xmlns:a16="http://schemas.microsoft.com/office/drawing/2014/main" id="{420C4521-2D56-49EF-855F-77EE181D7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3933825"/>
            <a:ext cx="5857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где </a:t>
            </a:r>
          </a:p>
        </p:txBody>
      </p:sp>
      <p:sp>
        <p:nvSpPr>
          <p:cNvPr id="55316" name="Rectangle 20">
            <a:extLst>
              <a:ext uri="{FF2B5EF4-FFF2-40B4-BE49-F238E27FC236}">
                <a16:creationId xmlns:a16="http://schemas.microsoft.com/office/drawing/2014/main" id="{29AEE95B-123D-4F91-831A-EC5261A33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686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5315" name="Object 19">
            <a:extLst>
              <a:ext uri="{FF2B5EF4-FFF2-40B4-BE49-F238E27FC236}">
                <a16:creationId xmlns:a16="http://schemas.microsoft.com/office/drawing/2014/main" id="{D475ABF6-1A55-4726-9C40-55BC20744A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00" y="3660775"/>
          <a:ext cx="3167063" cy="110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78" name="Формула" r:id="rId11" imgW="1371600" imgH="571500" progId="Equation.3">
                  <p:embed/>
                </p:oleObj>
              </mc:Choice>
              <mc:Fallback>
                <p:oleObj name="Формула" r:id="rId11" imgW="1371600" imgH="5715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3660775"/>
                        <a:ext cx="3167063" cy="1100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17" name="Rectangle 21">
            <a:extLst>
              <a:ext uri="{FF2B5EF4-FFF2-40B4-BE49-F238E27FC236}">
                <a16:creationId xmlns:a16="http://schemas.microsoft.com/office/drawing/2014/main" id="{14245474-C9D6-4760-825A-31A635C02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581525"/>
            <a:ext cx="84248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/>
              <a:t>Разложение функции </a:t>
            </a:r>
            <a:r>
              <a:rPr lang="ru-RU" altLang="ru-RU">
                <a:sym typeface="Symbol" panose="05050102010706020507" pitchFamily="18" charset="2"/>
              </a:rPr>
              <a:t></a:t>
            </a:r>
            <a:r>
              <a:rPr lang="ru-RU" altLang="ru-RU"/>
              <a:t>(х*) в окрестности х* в ряд Тейлора до 3-го члена дает квадратичную аппроксимацию этой функции в </a:t>
            </a:r>
            <a:r>
              <a:rPr lang="en-US" altLang="ru-RU">
                <a:sym typeface="Symbol" panose="05050102010706020507" pitchFamily="18" charset="2"/>
              </a:rPr>
              <a:t>U</a:t>
            </a:r>
            <a:r>
              <a:rPr lang="ru-RU" altLang="ru-RU"/>
              <a:t>(</a:t>
            </a:r>
            <a:r>
              <a:rPr lang="en-US" altLang="ru-RU">
                <a:sym typeface="Symbol" panose="05050102010706020507" pitchFamily="18" charset="2"/>
              </a:rPr>
              <a:t>x</a:t>
            </a:r>
            <a:r>
              <a:rPr lang="ru-RU" altLang="ru-RU">
                <a:sym typeface="Symbol" panose="05050102010706020507" pitchFamily="18" charset="2"/>
              </a:rPr>
              <a:t>*):</a:t>
            </a:r>
          </a:p>
        </p:txBody>
      </p:sp>
      <p:sp>
        <p:nvSpPr>
          <p:cNvPr id="55319" name="Rectangle 23">
            <a:extLst>
              <a:ext uri="{FF2B5EF4-FFF2-40B4-BE49-F238E27FC236}">
                <a16:creationId xmlns:a16="http://schemas.microsoft.com/office/drawing/2014/main" id="{01AFBCD7-9A91-4962-82D2-803BD1635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5318" name="Object 22">
            <a:extLst>
              <a:ext uri="{FF2B5EF4-FFF2-40B4-BE49-F238E27FC236}">
                <a16:creationId xmlns:a16="http://schemas.microsoft.com/office/drawing/2014/main" id="{B3C51351-AF92-440F-B944-2ED42595E0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5300663"/>
          <a:ext cx="36004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79" name="Формула" r:id="rId13" imgW="1765300" imgH="228600" progId="Equation.3">
                  <p:embed/>
                </p:oleObj>
              </mc:Choice>
              <mc:Fallback>
                <p:oleObj name="Формула" r:id="rId13" imgW="1765300" imgH="2286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5300663"/>
                        <a:ext cx="3600450" cy="463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21" name="Rectangle 25">
            <a:extLst>
              <a:ext uri="{FF2B5EF4-FFF2-40B4-BE49-F238E27FC236}">
                <a16:creationId xmlns:a16="http://schemas.microsoft.com/office/drawing/2014/main" id="{56D4852A-D47E-46E7-A14E-582FC2867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5320" name="Object 24">
            <a:extLst>
              <a:ext uri="{FF2B5EF4-FFF2-40B4-BE49-F238E27FC236}">
                <a16:creationId xmlns:a16="http://schemas.microsoft.com/office/drawing/2014/main" id="{AB0C3458-9ADA-4FE7-8017-7DF6D67A34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7538" y="5300663"/>
          <a:ext cx="4105275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80" name="Формула" r:id="rId15" imgW="2070100" imgH="228600" progId="Equation.3">
                  <p:embed/>
                </p:oleObj>
              </mc:Choice>
              <mc:Fallback>
                <p:oleObj name="Формула" r:id="rId15" imgW="2070100" imgH="2286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5300663"/>
                        <a:ext cx="4105275" cy="452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22" name="Rectangle 26">
            <a:extLst>
              <a:ext uri="{FF2B5EF4-FFF2-40B4-BE49-F238E27FC236}">
                <a16:creationId xmlns:a16="http://schemas.microsoft.com/office/drawing/2014/main" id="{36A8B57B-A519-486A-BC7D-D02644CC1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5300663"/>
            <a:ext cx="2413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>
                <a:sym typeface="Symbol" panose="05050102010706020507" pitchFamily="18" charset="2"/>
              </a:rPr>
              <a:t>.</a:t>
            </a:r>
          </a:p>
        </p:txBody>
      </p:sp>
      <p:sp>
        <p:nvSpPr>
          <p:cNvPr id="55324" name="Rectangle 28">
            <a:extLst>
              <a:ext uri="{FF2B5EF4-FFF2-40B4-BE49-F238E27FC236}">
                <a16:creationId xmlns:a16="http://schemas.microsoft.com/office/drawing/2014/main" id="{BDA8BEA4-4991-4D3B-B7CA-D9619B4E8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5323" name="Object 27">
            <a:extLst>
              <a:ext uri="{FF2B5EF4-FFF2-40B4-BE49-F238E27FC236}">
                <a16:creationId xmlns:a16="http://schemas.microsoft.com/office/drawing/2014/main" id="{097709CE-F3EB-451F-976F-C5C3DF3DB5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5805488"/>
          <a:ext cx="2736850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81" name="Формула" r:id="rId17" imgW="1676400" imgH="228600" progId="Equation.3">
                  <p:embed/>
                </p:oleObj>
              </mc:Choice>
              <mc:Fallback>
                <p:oleObj name="Формула" r:id="rId17" imgW="1676400" imgH="22860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5805488"/>
                        <a:ext cx="2736850" cy="373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26" name="Rectangle 30">
            <a:extLst>
              <a:ext uri="{FF2B5EF4-FFF2-40B4-BE49-F238E27FC236}">
                <a16:creationId xmlns:a16="http://schemas.microsoft.com/office/drawing/2014/main" id="{81D1291C-CCFB-4FBE-99FF-31E4CE967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15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5325" name="Object 29">
            <a:extLst>
              <a:ext uri="{FF2B5EF4-FFF2-40B4-BE49-F238E27FC236}">
                <a16:creationId xmlns:a16="http://schemas.microsoft.com/office/drawing/2014/main" id="{E8B25DB8-2523-46A1-ACD0-68913FAB3A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038" y="5805488"/>
          <a:ext cx="2663825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82" name="Формула" r:id="rId19" imgW="1536700" imgH="241300" progId="Equation.3">
                  <p:embed/>
                </p:oleObj>
              </mc:Choice>
              <mc:Fallback>
                <p:oleObj name="Формула" r:id="rId19" imgW="1536700" imgH="24130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5805488"/>
                        <a:ext cx="2663825" cy="411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28" name="Rectangle 32">
            <a:extLst>
              <a:ext uri="{FF2B5EF4-FFF2-40B4-BE49-F238E27FC236}">
                <a16:creationId xmlns:a16="http://schemas.microsoft.com/office/drawing/2014/main" id="{88F905C7-E2C1-4C52-94C7-160BA0ACE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05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5327" name="Object 31">
            <a:extLst>
              <a:ext uri="{FF2B5EF4-FFF2-40B4-BE49-F238E27FC236}">
                <a16:creationId xmlns:a16="http://schemas.microsoft.com/office/drawing/2014/main" id="{612D284A-D2CC-4439-82DB-20911FB930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27763" y="5876925"/>
          <a:ext cx="2376487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83" name="Формула" r:id="rId21" imgW="1371600" imgH="203200" progId="Equation.3">
                  <p:embed/>
                </p:oleObj>
              </mc:Choice>
              <mc:Fallback>
                <p:oleObj name="Формула" r:id="rId21" imgW="1371600" imgH="20320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5876925"/>
                        <a:ext cx="2376487" cy="344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30" name="Rectangle 34">
            <a:extLst>
              <a:ext uri="{FF2B5EF4-FFF2-40B4-BE49-F238E27FC236}">
                <a16:creationId xmlns:a16="http://schemas.microsoft.com/office/drawing/2014/main" id="{4892D036-5F99-4CB1-B62A-7950D5181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05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5331" name="Rectangle 35">
            <a:extLst>
              <a:ext uri="{FF2B5EF4-FFF2-40B4-BE49-F238E27FC236}">
                <a16:creationId xmlns:a16="http://schemas.microsoft.com/office/drawing/2014/main" id="{F783EE96-8049-4933-B98F-95D933C7CE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5805488"/>
            <a:ext cx="304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; </a:t>
            </a:r>
          </a:p>
        </p:txBody>
      </p:sp>
      <p:sp>
        <p:nvSpPr>
          <p:cNvPr id="55332" name="Rectangle 36">
            <a:extLst>
              <a:ext uri="{FF2B5EF4-FFF2-40B4-BE49-F238E27FC236}">
                <a16:creationId xmlns:a16="http://schemas.microsoft.com/office/drawing/2014/main" id="{6CDB02A6-4DEA-48E1-9B0E-E1634A599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5876925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; </a:t>
            </a:r>
          </a:p>
        </p:txBody>
      </p:sp>
      <p:sp>
        <p:nvSpPr>
          <p:cNvPr id="55333" name="Rectangle 37">
            <a:extLst>
              <a:ext uri="{FF2B5EF4-FFF2-40B4-BE49-F238E27FC236}">
                <a16:creationId xmlns:a16="http://schemas.microsoft.com/office/drawing/2014/main" id="{4C553F60-0C93-4900-BB9B-74A2064BA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5876925"/>
            <a:ext cx="241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7BB968D2-2A47-4D28-9928-A792767813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Ньютона </a:t>
            </a:r>
            <a:br>
              <a:rPr lang="ru-RU" altLang="ru-RU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(метод второго порядка)</a:t>
            </a:r>
          </a:p>
        </p:txBody>
      </p:sp>
      <p:pic>
        <p:nvPicPr>
          <p:cNvPr id="56324" name="Picture 4">
            <a:extLst>
              <a:ext uri="{FF2B5EF4-FFF2-40B4-BE49-F238E27FC236}">
                <a16:creationId xmlns:a16="http://schemas.microsoft.com/office/drawing/2014/main" id="{909CF548-005A-467E-A386-08E75B59B2F9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1925638"/>
            <a:ext cx="5334000" cy="3663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6325" name="Picture 5">
            <a:extLst>
              <a:ext uri="{FF2B5EF4-FFF2-40B4-BE49-F238E27FC236}">
                <a16:creationId xmlns:a16="http://schemas.microsoft.com/office/drawing/2014/main" id="{592019FC-E05B-47FC-BD4E-0FC0EFCAC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763" y="2492375"/>
            <a:ext cx="2400300" cy="244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6388A0C0-4F25-468E-8DBC-5EB04225A8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Ньютона </a:t>
            </a:r>
            <a:br>
              <a:rPr lang="ru-RU" altLang="ru-RU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(метод второго порядка)</a:t>
            </a:r>
            <a:endParaRPr lang="ru-RU" altLang="ru-RU" sz="4000" b="1" u="sng" dirty="0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43050C5B-EC6D-432A-9346-6C855198D0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31375"/>
            <a:ext cx="8229600" cy="4525963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Сопряженность: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7349" name="Rectangle 5">
            <a:extLst>
              <a:ext uri="{FF2B5EF4-FFF2-40B4-BE49-F238E27FC236}">
                <a16:creationId xmlns:a16="http://schemas.microsoft.com/office/drawing/2014/main" id="{C3D32914-D8CE-439C-B075-CE21048CC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7348" name="Object 4">
            <a:extLst>
              <a:ext uri="{FF2B5EF4-FFF2-40B4-BE49-F238E27FC236}">
                <a16:creationId xmlns:a16="http://schemas.microsoft.com/office/drawing/2014/main" id="{4747137B-002E-48DC-9596-A3F51ADDDD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9838" y="1700213"/>
          <a:ext cx="28082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41" name="Формула" r:id="rId3" imgW="1397000" imgH="228600" progId="Equation.3">
                  <p:embed/>
                </p:oleObj>
              </mc:Choice>
              <mc:Fallback>
                <p:oleObj name="Формула" r:id="rId3" imgW="13970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1700213"/>
                        <a:ext cx="2808287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0" name="Rectangle 6">
            <a:extLst>
              <a:ext uri="{FF2B5EF4-FFF2-40B4-BE49-F238E27FC236}">
                <a16:creationId xmlns:a16="http://schemas.microsoft.com/office/drawing/2014/main" id="{DAF558F4-7F04-4C10-B5E0-BAFF1660B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43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7351" name="Rectangle 7">
            <a:extLst>
              <a:ext uri="{FF2B5EF4-FFF2-40B4-BE49-F238E27FC236}">
                <a16:creationId xmlns:a16="http://schemas.microsoft.com/office/drawing/2014/main" id="{6C1EDFE5-6942-408D-AC1F-4934428E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095500"/>
            <a:ext cx="82804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 sz="2400" u="sng"/>
              <a:t>Достоинства :</a:t>
            </a:r>
            <a:r>
              <a:rPr lang="ru-RU" altLang="ru-RU" u="sng"/>
              <a:t> </a:t>
            </a:r>
            <a:r>
              <a:rPr lang="ru-RU" altLang="ru-RU"/>
              <a:t>  </a:t>
            </a:r>
          </a:p>
          <a:p>
            <a:r>
              <a:rPr lang="ru-RU" altLang="ru-RU"/>
              <a:t>Для функций, близких к квадратичным, скорость сходимости алгоритма суперлинейная.</a:t>
            </a:r>
          </a:p>
        </p:txBody>
      </p:sp>
      <p:sp>
        <p:nvSpPr>
          <p:cNvPr id="57352" name="Rectangle 8">
            <a:extLst>
              <a:ext uri="{FF2B5EF4-FFF2-40B4-BE49-F238E27FC236}">
                <a16:creationId xmlns:a16="http://schemas.microsoft.com/office/drawing/2014/main" id="{77056E39-BE17-4ED9-8A56-F9A6A76EE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997200"/>
            <a:ext cx="1987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2400" u="sng"/>
              <a:t>Недостатки:</a:t>
            </a:r>
            <a:r>
              <a:rPr lang="ru-RU" altLang="ru-RU" sz="2400"/>
              <a:t> </a:t>
            </a:r>
          </a:p>
        </p:txBody>
      </p:sp>
      <p:sp>
        <p:nvSpPr>
          <p:cNvPr id="57353" name="Rectangle 9">
            <a:extLst>
              <a:ext uri="{FF2B5EF4-FFF2-40B4-BE49-F238E27FC236}">
                <a16:creationId xmlns:a16="http://schemas.microsoft.com/office/drawing/2014/main" id="{AEE68E56-70C4-4D08-8FD3-458146322E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371850"/>
            <a:ext cx="3429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1.Необходимость вычисления </a:t>
            </a:r>
          </a:p>
        </p:txBody>
      </p:sp>
      <p:sp>
        <p:nvSpPr>
          <p:cNvPr id="57355" name="Rectangle 11">
            <a:extLst>
              <a:ext uri="{FF2B5EF4-FFF2-40B4-BE49-F238E27FC236}">
                <a16:creationId xmlns:a16="http://schemas.microsoft.com/office/drawing/2014/main" id="{254B43C5-6F7B-4702-9442-EB3AEFB84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7354" name="Object 10">
            <a:extLst>
              <a:ext uri="{FF2B5EF4-FFF2-40B4-BE49-F238E27FC236}">
                <a16:creationId xmlns:a16="http://schemas.microsoft.com/office/drawing/2014/main" id="{8D2BF908-C133-4D43-9C32-92EE6D5589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5589389"/>
              </p:ext>
            </p:extLst>
          </p:nvPr>
        </p:nvGraphicFramePr>
        <p:xfrm>
          <a:off x="3526524" y="3338513"/>
          <a:ext cx="12954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42" name="Формула" r:id="rId5" imgW="622030" imgH="228501" progId="Equation.3">
                  <p:embed/>
                </p:oleObj>
              </mc:Choice>
              <mc:Fallback>
                <p:oleObj name="Формула" r:id="rId5" imgW="622030" imgH="228501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6524" y="3338513"/>
                        <a:ext cx="1295400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6" name="Rectangle 12">
            <a:extLst>
              <a:ext uri="{FF2B5EF4-FFF2-40B4-BE49-F238E27FC236}">
                <a16:creationId xmlns:a16="http://schemas.microsoft.com/office/drawing/2014/main" id="{3EBDE7AC-CA7E-48E1-B748-DC1C52596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7633" y="3392324"/>
            <a:ext cx="317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2400" dirty="0"/>
              <a:t>.</a:t>
            </a:r>
            <a:r>
              <a:rPr lang="ru-RU" altLang="ru-RU" dirty="0"/>
              <a:t> </a:t>
            </a:r>
          </a:p>
        </p:txBody>
      </p:sp>
      <p:sp>
        <p:nvSpPr>
          <p:cNvPr id="57358" name="Rectangle 14">
            <a:extLst>
              <a:ext uri="{FF2B5EF4-FFF2-40B4-BE49-F238E27FC236}">
                <a16:creationId xmlns:a16="http://schemas.microsoft.com/office/drawing/2014/main" id="{DA324E96-0379-4A69-BC1B-436A08663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632" y="3763018"/>
            <a:ext cx="55451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 dirty="0">
                <a:latin typeface="Arial" panose="020B0604020202020204" pitchFamily="34" charset="0"/>
                <a:cs typeface="Times New Roman" panose="02020603050405020304" pitchFamily="18" charset="0"/>
              </a:rPr>
              <a:t>2.</a:t>
            </a:r>
            <a:r>
              <a:rPr lang="ru-RU" altLang="ru-RU" dirty="0">
                <a:cs typeface="Times New Roman" panose="02020603050405020304" pitchFamily="18" charset="0"/>
              </a:rPr>
              <a:t>Процесс решения сильно зависит от выбора </a:t>
            </a:r>
          </a:p>
        </p:txBody>
      </p:sp>
      <p:graphicFrame>
        <p:nvGraphicFramePr>
          <p:cNvPr id="57357" name="Object 13">
            <a:extLst>
              <a:ext uri="{FF2B5EF4-FFF2-40B4-BE49-F238E27FC236}">
                <a16:creationId xmlns:a16="http://schemas.microsoft.com/office/drawing/2014/main" id="{3FDD436C-4926-4277-9A74-F01CFE5C80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2152411"/>
              </p:ext>
            </p:extLst>
          </p:nvPr>
        </p:nvGraphicFramePr>
        <p:xfrm>
          <a:off x="4787327" y="3673695"/>
          <a:ext cx="576262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43" name="Формула" r:id="rId7" imgW="253780" imgH="203024" progId="Equation.3">
                  <p:embed/>
                </p:oleObj>
              </mc:Choice>
              <mc:Fallback>
                <p:oleObj name="Формула" r:id="rId7" imgW="253780" imgH="203024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327" y="3673695"/>
                        <a:ext cx="576262" cy="441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9" name="Rectangle 15">
            <a:extLst>
              <a:ext uri="{FF2B5EF4-FFF2-40B4-BE49-F238E27FC236}">
                <a16:creationId xmlns:a16="http://schemas.microsoft.com/office/drawing/2014/main" id="{21D4BC91-8C4D-4310-82EE-532D62EAC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7147" y="3793331"/>
            <a:ext cx="26495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dirty="0">
                <a:cs typeface="Times New Roman" panose="02020603050405020304" pitchFamily="18" charset="0"/>
              </a:rPr>
              <a:t>(т.е. от начальной точки</a:t>
            </a:r>
            <a:r>
              <a:rPr lang="ru-RU" altLang="ru-RU" dirty="0">
                <a:latin typeface="Arial" panose="020B0604020202020204" pitchFamily="34" charset="0"/>
                <a:cs typeface="Times New Roman" panose="02020603050405020304" pitchFamily="18" charset="0"/>
              </a:rPr>
              <a:t>)</a:t>
            </a:r>
            <a:endParaRPr lang="ru-RU" altLang="ru-RU" dirty="0">
              <a:latin typeface="Arial" panose="020B0604020202020204" pitchFamily="34" charset="0"/>
            </a:endParaRPr>
          </a:p>
        </p:txBody>
      </p:sp>
      <p:sp>
        <p:nvSpPr>
          <p:cNvPr id="57360" name="Rectangle 16">
            <a:extLst>
              <a:ext uri="{FF2B5EF4-FFF2-40B4-BE49-F238E27FC236}">
                <a16:creationId xmlns:a16="http://schemas.microsoft.com/office/drawing/2014/main" id="{90BEAE38-9EB6-427F-B318-19284B1EE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8350" y="3716338"/>
            <a:ext cx="317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2400"/>
              <a:t>.</a:t>
            </a:r>
            <a:r>
              <a:rPr lang="ru-RU" altLang="ru-RU"/>
              <a:t> </a:t>
            </a:r>
          </a:p>
        </p:txBody>
      </p:sp>
      <p:sp>
        <p:nvSpPr>
          <p:cNvPr id="57361" name="Rectangle 17">
            <a:extLst>
              <a:ext uri="{FF2B5EF4-FFF2-40B4-BE49-F238E27FC236}">
                <a16:creationId xmlns:a16="http://schemas.microsoft.com/office/drawing/2014/main" id="{5764BAA6-7661-4280-836F-BCB4738F7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060" y="4181323"/>
            <a:ext cx="58642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dirty="0"/>
              <a:t>3.Функция </a:t>
            </a:r>
            <a:r>
              <a:rPr lang="ru-RU" altLang="ru-RU" dirty="0">
                <a:sym typeface="Symbol" panose="05050102010706020507" pitchFamily="18" charset="2"/>
              </a:rPr>
              <a:t></a:t>
            </a:r>
            <a:r>
              <a:rPr lang="ru-RU" altLang="ru-RU" dirty="0"/>
              <a:t>(х) должна быть выпуклой во всех точках </a:t>
            </a:r>
          </a:p>
        </p:txBody>
      </p:sp>
      <p:sp>
        <p:nvSpPr>
          <p:cNvPr id="57363" name="Rectangle 19">
            <a:extLst>
              <a:ext uri="{FF2B5EF4-FFF2-40B4-BE49-F238E27FC236}">
                <a16:creationId xmlns:a16="http://schemas.microsoft.com/office/drawing/2014/main" id="{22994BD7-93D3-421B-9800-C4438343F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05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7362" name="Object 18">
            <a:extLst>
              <a:ext uri="{FF2B5EF4-FFF2-40B4-BE49-F238E27FC236}">
                <a16:creationId xmlns:a16="http://schemas.microsoft.com/office/drawing/2014/main" id="{6A5CAF21-2A84-41D3-A1D3-7D4AE8B167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4927768"/>
              </p:ext>
            </p:extLst>
          </p:nvPr>
        </p:nvGraphicFramePr>
        <p:xfrm>
          <a:off x="5624513" y="4182009"/>
          <a:ext cx="431800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44" name="Формула" r:id="rId9" imgW="253780" imgH="203024" progId="Equation.3">
                  <p:embed/>
                </p:oleObj>
              </mc:Choice>
              <mc:Fallback>
                <p:oleObj name="Формула" r:id="rId9" imgW="253780" imgH="203024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4513" y="4182009"/>
                        <a:ext cx="431800" cy="331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66" name="Rectangle 22">
            <a:extLst>
              <a:ext uri="{FF2B5EF4-FFF2-40B4-BE49-F238E27FC236}">
                <a16:creationId xmlns:a16="http://schemas.microsoft.com/office/drawing/2014/main" id="{B2DB853A-2547-4CE1-B044-7ECE6C9F0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55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7367" name="Rectangle 23">
            <a:extLst>
              <a:ext uri="{FF2B5EF4-FFF2-40B4-BE49-F238E27FC236}">
                <a16:creationId xmlns:a16="http://schemas.microsoft.com/office/drawing/2014/main" id="{991B0C95-9569-47EF-AABD-7340C928C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5601" y="4171677"/>
            <a:ext cx="10398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dirty="0">
                <a:latin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ru-RU" altLang="ru-RU" dirty="0">
                <a:cs typeface="Times New Roman" panose="02020603050405020304" pitchFamily="18" charset="0"/>
              </a:rPr>
              <a:t>то есть</a:t>
            </a:r>
            <a:r>
              <a:rPr lang="ru-RU" altLang="ru-RU" sz="1200" dirty="0">
                <a:cs typeface="Times New Roman" panose="02020603050405020304" pitchFamily="18" charset="0"/>
              </a:rPr>
              <a:t> </a:t>
            </a:r>
            <a:endParaRPr lang="ru-RU" altLang="ru-RU" dirty="0">
              <a:cs typeface="Times New Roman" panose="02020603050405020304" pitchFamily="18" charset="0"/>
            </a:endParaRPr>
          </a:p>
        </p:txBody>
      </p:sp>
      <p:sp>
        <p:nvSpPr>
          <p:cNvPr id="57369" name="Rectangle 25">
            <a:extLst>
              <a:ext uri="{FF2B5EF4-FFF2-40B4-BE49-F238E27FC236}">
                <a16:creationId xmlns:a16="http://schemas.microsoft.com/office/drawing/2014/main" id="{0B752ED1-4241-49B3-8FA0-A756954E75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7368" name="Object 24">
            <a:extLst>
              <a:ext uri="{FF2B5EF4-FFF2-40B4-BE49-F238E27FC236}">
                <a16:creationId xmlns:a16="http://schemas.microsoft.com/office/drawing/2014/main" id="{3467611D-7CD5-49F0-A02F-71E9EB0D26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0954616"/>
              </p:ext>
            </p:extLst>
          </p:nvPr>
        </p:nvGraphicFramePr>
        <p:xfrm>
          <a:off x="6910826" y="4170089"/>
          <a:ext cx="1441450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45" name="Формула" r:id="rId11" imgW="889000" imgH="228600" progId="Equation.3">
                  <p:embed/>
                </p:oleObj>
              </mc:Choice>
              <mc:Fallback>
                <p:oleObj name="Формула" r:id="rId11" imgW="889000" imgH="2286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0826" y="4170089"/>
                        <a:ext cx="1441450" cy="369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70" name="Rectangle 26">
            <a:extLst>
              <a:ext uri="{FF2B5EF4-FFF2-40B4-BE49-F238E27FC236}">
                <a16:creationId xmlns:a16="http://schemas.microsoft.com/office/drawing/2014/main" id="{41181478-52FF-4033-92DF-6767F7329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0" y="4076700"/>
            <a:ext cx="317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2400"/>
              <a:t>.</a:t>
            </a:r>
            <a:r>
              <a:rPr lang="ru-RU" altLang="ru-RU"/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AE863A83-1926-4A64-B4DE-EB9F0D6848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4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Методы, использующие производные</a:t>
            </a:r>
            <a:endParaRPr lang="ru-RU" altLang="ru-RU" sz="4000" u="sng" dirty="0"/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2B0A5672-F5E4-4990-892C-9917D5AA6E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dirty="0"/>
              <a:t>     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мы уже видели, простейшие методы </a:t>
            </a:r>
            <a:r>
              <a:rPr lang="en-US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порядка (метод наискорейшего спуска) и </a:t>
            </a:r>
            <a:r>
              <a:rPr lang="en-US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порядка (метод Ньютона) в чистом виде не очень удобны для вычислений. В связи с этим были разработаны методы, которые позволяют преодолеть их недостатки. Наиболее распространенными в настоящее время методами являются метод сопряженных градиентов (метод Флетчера-Ривза), который является усовершенствованием метода наискорейшего спуска и </a:t>
            </a:r>
            <a:r>
              <a:rPr lang="ru-RU" alt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квазиньютоновские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методы, которые представляют собой развитие метода Ньютона.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BB210927-2C1C-4298-AFB0-445D335D44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сопряженных градиентов</a:t>
            </a:r>
          </a:p>
        </p:txBody>
      </p:sp>
      <p:pic>
        <p:nvPicPr>
          <p:cNvPr id="79875" name="Picture 3">
            <a:extLst>
              <a:ext uri="{FF2B5EF4-FFF2-40B4-BE49-F238E27FC236}">
                <a16:creationId xmlns:a16="http://schemas.microsoft.com/office/drawing/2014/main" id="{BD64F5EF-A2E1-499C-B294-426BCF824D34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600200"/>
            <a:ext cx="7283450" cy="3700463"/>
          </a:xfrm>
        </p:spPr>
      </p:pic>
      <p:sp>
        <p:nvSpPr>
          <p:cNvPr id="79877" name="Rectangle 5">
            <a:extLst>
              <a:ext uri="{FF2B5EF4-FFF2-40B4-BE49-F238E27FC236}">
                <a16:creationId xmlns:a16="http://schemas.microsoft.com/office/drawing/2014/main" id="{1B88B88B-5C49-4D58-A277-072B89DA4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6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9876" name="Object 4">
            <a:extLst>
              <a:ext uri="{FF2B5EF4-FFF2-40B4-BE49-F238E27FC236}">
                <a16:creationId xmlns:a16="http://schemas.microsoft.com/office/drawing/2014/main" id="{EF864D90-174B-4998-B28D-1591482F04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5229225"/>
          <a:ext cx="2016125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94" name="Формула" r:id="rId4" imgW="812447" imgH="241195" progId="Equation.3">
                  <p:embed/>
                </p:oleObj>
              </mc:Choice>
              <mc:Fallback>
                <p:oleObj name="Формула" r:id="rId4" imgW="812447" imgH="241195" progId="Equation.3">
                  <p:embed/>
                  <p:pic>
                    <p:nvPicPr>
                      <p:cNvPr id="79876" name="Object 4">
                        <a:extLst>
                          <a:ext uri="{FF2B5EF4-FFF2-40B4-BE49-F238E27FC236}">
                            <a16:creationId xmlns:a16="http://schemas.microsoft.com/office/drawing/2014/main" id="{EF864D90-174B-4998-B28D-1591482F04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5229225"/>
                        <a:ext cx="2016125" cy="604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9" name="Rectangle 7">
            <a:extLst>
              <a:ext uri="{FF2B5EF4-FFF2-40B4-BE49-F238E27FC236}">
                <a16:creationId xmlns:a16="http://schemas.microsoft.com/office/drawing/2014/main" id="{B8649CD5-F3EF-4078-847B-E3C476E68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86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9878" name="Object 6">
            <a:extLst>
              <a:ext uri="{FF2B5EF4-FFF2-40B4-BE49-F238E27FC236}">
                <a16:creationId xmlns:a16="http://schemas.microsoft.com/office/drawing/2014/main" id="{24B01CB5-66DA-48D9-B855-F596B2FB58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00" y="5013325"/>
          <a:ext cx="4321175" cy="165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95" name="Формула" r:id="rId6" imgW="1828800" imgH="685800" progId="Equation.3">
                  <p:embed/>
                </p:oleObj>
              </mc:Choice>
              <mc:Fallback>
                <p:oleObj name="Формула" r:id="rId6" imgW="1828800" imgH="685800" progId="Equation.3">
                  <p:embed/>
                  <p:pic>
                    <p:nvPicPr>
                      <p:cNvPr id="79878" name="Object 6">
                        <a:extLst>
                          <a:ext uri="{FF2B5EF4-FFF2-40B4-BE49-F238E27FC236}">
                            <a16:creationId xmlns:a16="http://schemas.microsoft.com/office/drawing/2014/main" id="{24B01CB5-66DA-48D9-B855-F596B2FB58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5013325"/>
                        <a:ext cx="4321175" cy="1655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81" name="Rectangle 9">
            <a:extLst>
              <a:ext uri="{FF2B5EF4-FFF2-40B4-BE49-F238E27FC236}">
                <a16:creationId xmlns:a16="http://schemas.microsoft.com/office/drawing/2014/main" id="{CE854A8E-4DA3-4883-8AAE-C95F27E6F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6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9880" name="Object 8">
            <a:extLst>
              <a:ext uri="{FF2B5EF4-FFF2-40B4-BE49-F238E27FC236}">
                <a16:creationId xmlns:a16="http://schemas.microsoft.com/office/drawing/2014/main" id="{625BEC65-9BB2-4410-8D92-8D8F88D818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5870575"/>
          <a:ext cx="2592387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96" name="Формула" r:id="rId8" imgW="1104900" imgH="241300" progId="Equation.3">
                  <p:embed/>
                </p:oleObj>
              </mc:Choice>
              <mc:Fallback>
                <p:oleObj name="Формула" r:id="rId8" imgW="1104900" imgH="241300" progId="Equation.3">
                  <p:embed/>
                  <p:pic>
                    <p:nvPicPr>
                      <p:cNvPr id="79880" name="Object 8">
                        <a:extLst>
                          <a:ext uri="{FF2B5EF4-FFF2-40B4-BE49-F238E27FC236}">
                            <a16:creationId xmlns:a16="http://schemas.microsoft.com/office/drawing/2014/main" id="{625BEC65-9BB2-4410-8D92-8D8F88D818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5870575"/>
                        <a:ext cx="2592387" cy="654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1C66FDCA-4313-4291-BEB0-9BBB78CCA7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сопряженных градиентов</a:t>
            </a:r>
          </a:p>
        </p:txBody>
      </p:sp>
      <p:sp>
        <p:nvSpPr>
          <p:cNvPr id="80901" name="Rectangle 5">
            <a:extLst>
              <a:ext uri="{FF2B5EF4-FFF2-40B4-BE49-F238E27FC236}">
                <a16:creationId xmlns:a16="http://schemas.microsoft.com/office/drawing/2014/main" id="{EF119EEC-A2A0-49FD-96DA-1A99983138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80902" name="Object 6">
            <a:extLst>
              <a:ext uri="{FF2B5EF4-FFF2-40B4-BE49-F238E27FC236}">
                <a16:creationId xmlns:a16="http://schemas.microsoft.com/office/drawing/2014/main" id="{BE273434-ABEA-44DF-834C-93C37C28E1AA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042988" y="1557338"/>
          <a:ext cx="7777162" cy="4967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02" name="Формула" r:id="rId3" imgW="3606480" imgH="2311200" progId="Equation.3">
                  <p:embed/>
                </p:oleObj>
              </mc:Choice>
              <mc:Fallback>
                <p:oleObj name="Формула" r:id="rId3" imgW="3606480" imgH="2311200" progId="Equation.3">
                  <p:embed/>
                  <p:pic>
                    <p:nvPicPr>
                      <p:cNvPr id="80902" name="Object 6">
                        <a:extLst>
                          <a:ext uri="{FF2B5EF4-FFF2-40B4-BE49-F238E27FC236}">
                            <a16:creationId xmlns:a16="http://schemas.microsoft.com/office/drawing/2014/main" id="{BE273434-ABEA-44DF-834C-93C37C28E1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557338"/>
                        <a:ext cx="7777162" cy="4967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C7E331E2-CCA1-46EA-84B9-304760771E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4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Флетчера-Ривза</a:t>
            </a:r>
            <a:r>
              <a:rPr lang="ru-RU" alt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019520BF-D3D2-4E3D-8E1F-43666D5B68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ru-RU" altLang="ru-RU" sz="2000"/>
              <a:t>Метод сопряженных градиентов состоит в построении матрицы сопряжения </a:t>
            </a:r>
            <a:r>
              <a:rPr lang="en-US" altLang="ru-RU" sz="2000"/>
              <a:t>Q</a:t>
            </a:r>
            <a:r>
              <a:rPr lang="ru-RU" altLang="ru-RU" sz="2000"/>
              <a:t>(</a:t>
            </a:r>
            <a:r>
              <a:rPr lang="en-US" altLang="ru-RU" sz="2000"/>
              <a:t>k</a:t>
            </a:r>
            <a:r>
              <a:rPr lang="ru-RU" altLang="ru-RU" sz="2000"/>
              <a:t>)  такой, что                                  . Флетчером-Ривзом была предложена процедура , состоящая в следующем:</a:t>
            </a:r>
            <a:r>
              <a:rPr lang="ru-RU" altLang="ru-RU"/>
              <a:t> </a:t>
            </a:r>
          </a:p>
        </p:txBody>
      </p:sp>
      <p:sp>
        <p:nvSpPr>
          <p:cNvPr id="70661" name="Rectangle 5">
            <a:extLst>
              <a:ext uri="{FF2B5EF4-FFF2-40B4-BE49-F238E27FC236}">
                <a16:creationId xmlns:a16="http://schemas.microsoft.com/office/drawing/2014/main" id="{4B38FDEB-5BAE-4F72-852D-EC3F5BB62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0660" name="Object 4">
            <a:extLst>
              <a:ext uri="{FF2B5EF4-FFF2-40B4-BE49-F238E27FC236}">
                <a16:creationId xmlns:a16="http://schemas.microsoft.com/office/drawing/2014/main" id="{4E205D63-98BC-45B8-AD65-EFC3245248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6100" y="1989138"/>
          <a:ext cx="216058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50" name="Формула" r:id="rId3" imgW="1130300" imgH="228600" progId="Equation.3">
                  <p:embed/>
                </p:oleObj>
              </mc:Choice>
              <mc:Fallback>
                <p:oleObj name="Формула" r:id="rId3" imgW="1130300" imgH="228600" progId="Equation.3">
                  <p:embed/>
                  <p:pic>
                    <p:nvPicPr>
                      <p:cNvPr id="70660" name="Object 4">
                        <a:extLst>
                          <a:ext uri="{FF2B5EF4-FFF2-40B4-BE49-F238E27FC236}">
                            <a16:creationId xmlns:a16="http://schemas.microsoft.com/office/drawing/2014/main" id="{4E205D63-98BC-45B8-AD65-EFC3245248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1989138"/>
                        <a:ext cx="2160588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2" name="Rectangle 6">
            <a:extLst>
              <a:ext uri="{FF2B5EF4-FFF2-40B4-BE49-F238E27FC236}">
                <a16:creationId xmlns:a16="http://schemas.microsoft.com/office/drawing/2014/main" id="{4346E959-E02A-4C26-9F1F-A6A4F5ADF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781300"/>
            <a:ext cx="42592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 Строится последовательность точек: </a:t>
            </a:r>
          </a:p>
        </p:txBody>
      </p:sp>
      <p:sp>
        <p:nvSpPr>
          <p:cNvPr id="70664" name="Rectangle 8">
            <a:extLst>
              <a:ext uri="{FF2B5EF4-FFF2-40B4-BE49-F238E27FC236}">
                <a16:creationId xmlns:a16="http://schemas.microsoft.com/office/drawing/2014/main" id="{C1C48C7D-2EFF-4526-97D2-39D1EC2A0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5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0663" name="Object 7">
            <a:extLst>
              <a:ext uri="{FF2B5EF4-FFF2-40B4-BE49-F238E27FC236}">
                <a16:creationId xmlns:a16="http://schemas.microsoft.com/office/drawing/2014/main" id="{4A292C61-5605-47B2-B930-68BF117A19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8263" y="2827338"/>
          <a:ext cx="2016125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51" name="Формула" r:id="rId5" imgW="1371600" imgH="203200" progId="Equation.3">
                  <p:embed/>
                </p:oleObj>
              </mc:Choice>
              <mc:Fallback>
                <p:oleObj name="Формула" r:id="rId5" imgW="1371600" imgH="203200" progId="Equation.3">
                  <p:embed/>
                  <p:pic>
                    <p:nvPicPr>
                      <p:cNvPr id="70663" name="Object 7">
                        <a:extLst>
                          <a:ext uri="{FF2B5EF4-FFF2-40B4-BE49-F238E27FC236}">
                            <a16:creationId xmlns:a16="http://schemas.microsoft.com/office/drawing/2014/main" id="{4A292C61-5605-47B2-B930-68BF117A19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2827338"/>
                        <a:ext cx="2016125" cy="303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6" name="Rectangle 10">
            <a:extLst>
              <a:ext uri="{FF2B5EF4-FFF2-40B4-BE49-F238E27FC236}">
                <a16:creationId xmlns:a16="http://schemas.microsoft.com/office/drawing/2014/main" id="{B0AB97D0-AC12-4A1C-A8F2-11D67B4DE4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0665" name="Object 9">
            <a:extLst>
              <a:ext uri="{FF2B5EF4-FFF2-40B4-BE49-F238E27FC236}">
                <a16:creationId xmlns:a16="http://schemas.microsoft.com/office/drawing/2014/main" id="{B8FB3D23-CAA5-47C2-AAAF-8E949097A1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3213100"/>
          <a:ext cx="3313113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52" name="Формула" r:id="rId7" imgW="1752600" imgH="228600" progId="Equation.3">
                  <p:embed/>
                </p:oleObj>
              </mc:Choice>
              <mc:Fallback>
                <p:oleObj name="Формула" r:id="rId7" imgW="1752600" imgH="228600" progId="Equation.3">
                  <p:embed/>
                  <p:pic>
                    <p:nvPicPr>
                      <p:cNvPr id="70665" name="Object 9">
                        <a:extLst>
                          <a:ext uri="{FF2B5EF4-FFF2-40B4-BE49-F238E27FC236}">
                            <a16:creationId xmlns:a16="http://schemas.microsoft.com/office/drawing/2014/main" id="{B8FB3D23-CAA5-47C2-AAAF-8E949097A1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213100"/>
                        <a:ext cx="3313113" cy="433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8" name="Rectangle 12">
            <a:extLst>
              <a:ext uri="{FF2B5EF4-FFF2-40B4-BE49-F238E27FC236}">
                <a16:creationId xmlns:a16="http://schemas.microsoft.com/office/drawing/2014/main" id="{8912F3A2-4291-40AB-B976-0599AF40D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24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0667" name="Object 11">
            <a:extLst>
              <a:ext uri="{FF2B5EF4-FFF2-40B4-BE49-F238E27FC236}">
                <a16:creationId xmlns:a16="http://schemas.microsoft.com/office/drawing/2014/main" id="{C6F17995-B240-456E-866F-4DAC60401F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3500438"/>
          <a:ext cx="5616575" cy="1027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53" name="Формула" r:id="rId9" imgW="2971800" imgH="609600" progId="Equation.3">
                  <p:embed/>
                </p:oleObj>
              </mc:Choice>
              <mc:Fallback>
                <p:oleObj name="Формула" r:id="rId9" imgW="2971800" imgH="609600" progId="Equation.3">
                  <p:embed/>
                  <p:pic>
                    <p:nvPicPr>
                      <p:cNvPr id="70667" name="Object 11">
                        <a:extLst>
                          <a:ext uri="{FF2B5EF4-FFF2-40B4-BE49-F238E27FC236}">
                            <a16:creationId xmlns:a16="http://schemas.microsoft.com/office/drawing/2014/main" id="{C6F17995-B240-456E-866F-4DAC60401F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500438"/>
                        <a:ext cx="5616575" cy="1027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9" name="Rectangle 13">
            <a:extLst>
              <a:ext uri="{FF2B5EF4-FFF2-40B4-BE49-F238E27FC236}">
                <a16:creationId xmlns:a16="http://schemas.microsoft.com/office/drawing/2014/main" id="{0B7DF3A5-7B0D-47B0-8F34-8AF9758D86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4508500"/>
            <a:ext cx="31146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– поправка, формирование </a:t>
            </a:r>
          </a:p>
        </p:txBody>
      </p:sp>
      <p:sp>
        <p:nvSpPr>
          <p:cNvPr id="70670" name="Rectangle 14">
            <a:extLst>
              <a:ext uri="{FF2B5EF4-FFF2-40B4-BE49-F238E27FC236}">
                <a16:creationId xmlns:a16="http://schemas.microsoft.com/office/drawing/2014/main" id="{2EB6F709-12C8-4ECB-8E38-0BEF5CEB5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4508500"/>
            <a:ext cx="29987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матрицы сопряжения </a:t>
            </a:r>
            <a:r>
              <a:rPr lang="en-US" altLang="ru-RU"/>
              <a:t>Q</a:t>
            </a:r>
            <a:r>
              <a:rPr lang="ru-RU" altLang="ru-RU"/>
              <a:t>(</a:t>
            </a:r>
            <a:r>
              <a:rPr lang="en-US" altLang="ru-RU"/>
              <a:t>k</a:t>
            </a:r>
            <a:r>
              <a:rPr lang="ru-RU" altLang="ru-RU"/>
              <a:t>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1322BE9D-0A00-4A6B-BA31-CA3F98C22F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4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метода Флетчера-Ривза</a:t>
            </a:r>
            <a:endParaRPr lang="ru-RU" altLang="ru-RU" sz="4000" b="1" i="1" u="sng" dirty="0"/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B8131D79-DFAC-4F58-B4A5-F692A300B1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ru-RU" altLang="ru-RU" sz="1800" b="1" i="1" u="sng"/>
              <a:t>Ш0.</a:t>
            </a:r>
            <a:r>
              <a:rPr lang="ru-RU" altLang="ru-RU" sz="1800"/>
              <a:t> Выбор параметров точности</a:t>
            </a:r>
            <a:r>
              <a:rPr lang="ru-RU" altLang="ru-RU"/>
              <a:t> </a:t>
            </a:r>
          </a:p>
        </p:txBody>
      </p:sp>
      <p:sp>
        <p:nvSpPr>
          <p:cNvPr id="71685" name="Rectangle 5">
            <a:extLst>
              <a:ext uri="{FF2B5EF4-FFF2-40B4-BE49-F238E27FC236}">
                <a16:creationId xmlns:a16="http://schemas.microsoft.com/office/drawing/2014/main" id="{87CE33B5-0DD7-4317-A84B-FEFA5B4E0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5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1684" name="Object 4">
            <a:extLst>
              <a:ext uri="{FF2B5EF4-FFF2-40B4-BE49-F238E27FC236}">
                <a16:creationId xmlns:a16="http://schemas.microsoft.com/office/drawing/2014/main" id="{76A85934-A201-4C70-BDE1-7FAF82C476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0200" y="1844675"/>
          <a:ext cx="1081088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2" name="Формула" r:id="rId3" imgW="672808" imgH="203112" progId="Equation.3">
                  <p:embed/>
                </p:oleObj>
              </mc:Choice>
              <mc:Fallback>
                <p:oleObj name="Формула" r:id="rId3" imgW="672808" imgH="203112" progId="Equation.3">
                  <p:embed/>
                  <p:pic>
                    <p:nvPicPr>
                      <p:cNvPr id="71684" name="Object 4">
                        <a:extLst>
                          <a:ext uri="{FF2B5EF4-FFF2-40B4-BE49-F238E27FC236}">
                            <a16:creationId xmlns:a16="http://schemas.microsoft.com/office/drawing/2014/main" id="{76A85934-A201-4C70-BDE1-7FAF82C476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1844675"/>
                        <a:ext cx="1081088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6" name="Rectangle 6">
            <a:extLst>
              <a:ext uri="{FF2B5EF4-FFF2-40B4-BE49-F238E27FC236}">
                <a16:creationId xmlns:a16="http://schemas.microsoft.com/office/drawing/2014/main" id="{02D21EFD-506F-42B7-B2E8-BAFE98116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205038"/>
            <a:ext cx="31638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b="1" i="1" u="sng"/>
              <a:t>Ш1.</a:t>
            </a:r>
            <a:r>
              <a:rPr lang="ru-RU" altLang="ru-RU"/>
              <a:t>Выбор начальной точки </a:t>
            </a:r>
          </a:p>
        </p:txBody>
      </p:sp>
      <p:sp>
        <p:nvSpPr>
          <p:cNvPr id="71688" name="Rectangle 8">
            <a:extLst>
              <a:ext uri="{FF2B5EF4-FFF2-40B4-BE49-F238E27FC236}">
                <a16:creationId xmlns:a16="http://schemas.microsoft.com/office/drawing/2014/main" id="{0A51AF9D-3C98-4FCC-8AFA-F3B2EEE4E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1687" name="Object 7">
            <a:extLst>
              <a:ext uri="{FF2B5EF4-FFF2-40B4-BE49-F238E27FC236}">
                <a16:creationId xmlns:a16="http://schemas.microsoft.com/office/drawing/2014/main" id="{24F1930B-A288-4CDC-BD34-085B47FAF3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3938" y="2205038"/>
          <a:ext cx="395287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3" name="Формула" r:id="rId5" imgW="253780" imgH="203024" progId="Equation.3">
                  <p:embed/>
                </p:oleObj>
              </mc:Choice>
              <mc:Fallback>
                <p:oleObj name="Формула" r:id="rId5" imgW="253780" imgH="203024" progId="Equation.3">
                  <p:embed/>
                  <p:pic>
                    <p:nvPicPr>
                      <p:cNvPr id="71687" name="Object 7">
                        <a:extLst>
                          <a:ext uri="{FF2B5EF4-FFF2-40B4-BE49-F238E27FC236}">
                            <a16:creationId xmlns:a16="http://schemas.microsoft.com/office/drawing/2014/main" id="{24F1930B-A288-4CDC-BD34-085B47FAF3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2205038"/>
                        <a:ext cx="395287" cy="325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9" name="Object 9">
            <a:extLst>
              <a:ext uri="{FF2B5EF4-FFF2-40B4-BE49-F238E27FC236}">
                <a16:creationId xmlns:a16="http://schemas.microsoft.com/office/drawing/2014/main" id="{0B255A70-F88C-451B-8A14-19291914C2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35600" y="2276475"/>
          <a:ext cx="3097213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4" name="Формула" r:id="rId7" imgW="2120900" imgH="228600" progId="Equation.3">
                  <p:embed/>
                </p:oleObj>
              </mc:Choice>
              <mc:Fallback>
                <p:oleObj name="Формула" r:id="rId7" imgW="2120900" imgH="228600" progId="Equation.3">
                  <p:embed/>
                  <p:pic>
                    <p:nvPicPr>
                      <p:cNvPr id="71689" name="Object 9">
                        <a:extLst>
                          <a:ext uri="{FF2B5EF4-FFF2-40B4-BE49-F238E27FC236}">
                            <a16:creationId xmlns:a16="http://schemas.microsoft.com/office/drawing/2014/main" id="{0B255A70-F88C-451B-8A14-19291914C2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2276475"/>
                        <a:ext cx="3097213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91" name="Rectangle 11">
            <a:extLst>
              <a:ext uri="{FF2B5EF4-FFF2-40B4-BE49-F238E27FC236}">
                <a16:creationId xmlns:a16="http://schemas.microsoft.com/office/drawing/2014/main" id="{FFAFBC41-8808-4324-A71F-D4B2FEA55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74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692" name="Rectangle 12">
            <a:extLst>
              <a:ext uri="{FF2B5EF4-FFF2-40B4-BE49-F238E27FC236}">
                <a16:creationId xmlns:a16="http://schemas.microsoft.com/office/drawing/2014/main" id="{C268C752-F72E-413B-BA6D-729254BA5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2230438"/>
            <a:ext cx="14398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. Вычислить</a:t>
            </a:r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71693" name="Rectangle 13">
            <a:extLst>
              <a:ext uri="{FF2B5EF4-FFF2-40B4-BE49-F238E27FC236}">
                <a16:creationId xmlns:a16="http://schemas.microsoft.com/office/drawing/2014/main" id="{319722BB-99B8-4C3C-A309-7B0120EA7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636838"/>
            <a:ext cx="18557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b="1" i="1" u="sng"/>
              <a:t>Ш2.</a:t>
            </a:r>
            <a:r>
              <a:rPr lang="ru-RU" altLang="ru-RU"/>
              <a:t> Вычислить </a:t>
            </a:r>
          </a:p>
        </p:txBody>
      </p:sp>
      <p:sp>
        <p:nvSpPr>
          <p:cNvPr id="71695" name="Rectangle 15">
            <a:extLst>
              <a:ext uri="{FF2B5EF4-FFF2-40B4-BE49-F238E27FC236}">
                <a16:creationId xmlns:a16="http://schemas.microsoft.com/office/drawing/2014/main" id="{72AEEBA7-D999-45DC-A85D-FC3C3AFFD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1694" name="Object 14">
            <a:extLst>
              <a:ext uri="{FF2B5EF4-FFF2-40B4-BE49-F238E27FC236}">
                <a16:creationId xmlns:a16="http://schemas.microsoft.com/office/drawing/2014/main" id="{16099355-2F98-4D91-B6DF-C02AD23A57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8538" y="2678113"/>
          <a:ext cx="4967287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5" name="Формула" r:id="rId9" imgW="3429000" imgH="228600" progId="Equation.3">
                  <p:embed/>
                </p:oleObj>
              </mc:Choice>
              <mc:Fallback>
                <p:oleObj name="Формула" r:id="rId9" imgW="3429000" imgH="228600" progId="Equation.3">
                  <p:embed/>
                  <p:pic>
                    <p:nvPicPr>
                      <p:cNvPr id="71694" name="Object 14">
                        <a:extLst>
                          <a:ext uri="{FF2B5EF4-FFF2-40B4-BE49-F238E27FC236}">
                            <a16:creationId xmlns:a16="http://schemas.microsoft.com/office/drawing/2014/main" id="{16099355-2F98-4D91-B6DF-C02AD23A57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678113"/>
                        <a:ext cx="4967287" cy="331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97" name="Rectangle 17">
            <a:extLst>
              <a:ext uri="{FF2B5EF4-FFF2-40B4-BE49-F238E27FC236}">
                <a16:creationId xmlns:a16="http://schemas.microsoft.com/office/drawing/2014/main" id="{40BD877D-E87A-41AD-9228-232D77E6B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141663"/>
            <a:ext cx="18240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b="1" i="1" u="sng">
                <a:latin typeface="Arial" panose="020B0604020202020204" pitchFamily="34" charset="0"/>
                <a:cs typeface="Times New Roman" panose="02020603050405020304" pitchFamily="18" charset="0"/>
              </a:rPr>
              <a:t>Ш3</a:t>
            </a:r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. Вычислить</a:t>
            </a:r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graphicFrame>
        <p:nvGraphicFramePr>
          <p:cNvPr id="71696" name="Object 16">
            <a:extLst>
              <a:ext uri="{FF2B5EF4-FFF2-40B4-BE49-F238E27FC236}">
                <a16:creationId xmlns:a16="http://schemas.microsoft.com/office/drawing/2014/main" id="{66F43616-72A3-427C-B7AD-762E57AFF6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4438" y="2852738"/>
          <a:ext cx="5688012" cy="108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6" name="Формула" r:id="rId11" imgW="3429000" imgH="609600" progId="Equation.3">
                  <p:embed/>
                </p:oleObj>
              </mc:Choice>
              <mc:Fallback>
                <p:oleObj name="Формула" r:id="rId11" imgW="3429000" imgH="609600" progId="Equation.3">
                  <p:embed/>
                  <p:pic>
                    <p:nvPicPr>
                      <p:cNvPr id="71696" name="Object 16">
                        <a:extLst>
                          <a:ext uri="{FF2B5EF4-FFF2-40B4-BE49-F238E27FC236}">
                            <a16:creationId xmlns:a16="http://schemas.microsoft.com/office/drawing/2014/main" id="{66F43616-72A3-427C-B7AD-762E57AFF6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2852738"/>
                        <a:ext cx="5688012" cy="1081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98" name="Rectangle 18">
            <a:extLst>
              <a:ext uri="{FF2B5EF4-FFF2-40B4-BE49-F238E27FC236}">
                <a16:creationId xmlns:a16="http://schemas.microsoft.com/office/drawing/2014/main" id="{E6FD3B48-C047-4AB9-90B8-7F52A5253E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933825"/>
            <a:ext cx="30257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b="1" i="1" u="sng"/>
              <a:t>Ш4.</a:t>
            </a:r>
            <a:r>
              <a:rPr lang="ru-RU" altLang="ru-RU"/>
              <a:t> Проверка сходимости:</a:t>
            </a:r>
          </a:p>
        </p:txBody>
      </p:sp>
      <p:sp>
        <p:nvSpPr>
          <p:cNvPr id="71699" name="Rectangle 19">
            <a:extLst>
              <a:ext uri="{FF2B5EF4-FFF2-40B4-BE49-F238E27FC236}">
                <a16:creationId xmlns:a16="http://schemas.microsoft.com/office/drawing/2014/main" id="{715F5D8C-325E-4BF2-A50E-58636CDD0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4437063"/>
            <a:ext cx="768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Если </a:t>
            </a:r>
          </a:p>
        </p:txBody>
      </p:sp>
      <p:sp>
        <p:nvSpPr>
          <p:cNvPr id="71701" name="Rectangle 21">
            <a:extLst>
              <a:ext uri="{FF2B5EF4-FFF2-40B4-BE49-F238E27FC236}">
                <a16:creationId xmlns:a16="http://schemas.microsoft.com/office/drawing/2014/main" id="{22204088-A4F6-4D90-A0EA-516A9F06A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77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1700" name="Object 20">
            <a:extLst>
              <a:ext uri="{FF2B5EF4-FFF2-40B4-BE49-F238E27FC236}">
                <a16:creationId xmlns:a16="http://schemas.microsoft.com/office/drawing/2014/main" id="{FC8B3546-22B7-40CF-BF3A-CA4AAEB091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4365625"/>
          <a:ext cx="4176712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7" name="Формула" r:id="rId13" imgW="2298700" imgH="279400" progId="Equation.3">
                  <p:embed/>
                </p:oleObj>
              </mc:Choice>
              <mc:Fallback>
                <p:oleObj name="Формула" r:id="rId13" imgW="2298700" imgH="279400" progId="Equation.3">
                  <p:embed/>
                  <p:pic>
                    <p:nvPicPr>
                      <p:cNvPr id="71700" name="Object 20">
                        <a:extLst>
                          <a:ext uri="{FF2B5EF4-FFF2-40B4-BE49-F238E27FC236}">
                            <a16:creationId xmlns:a16="http://schemas.microsoft.com/office/drawing/2014/main" id="{FC8B3546-22B7-40CF-BF3A-CA4AAEB091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4365625"/>
                        <a:ext cx="4176712" cy="512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02" name="Rectangle 22">
            <a:extLst>
              <a:ext uri="{FF2B5EF4-FFF2-40B4-BE49-F238E27FC236}">
                <a16:creationId xmlns:a16="http://schemas.microsoft.com/office/drawing/2014/main" id="{5D80AFDF-CABD-428E-ADBC-D6F262527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4437063"/>
            <a:ext cx="5873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, то </a:t>
            </a:r>
          </a:p>
        </p:txBody>
      </p:sp>
      <p:sp>
        <p:nvSpPr>
          <p:cNvPr id="71704" name="Rectangle 24">
            <a:extLst>
              <a:ext uri="{FF2B5EF4-FFF2-40B4-BE49-F238E27FC236}">
                <a16:creationId xmlns:a16="http://schemas.microsoft.com/office/drawing/2014/main" id="{5E96F1BC-439D-4F52-BC09-F1E1D2D80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1703" name="Object 23">
            <a:extLst>
              <a:ext uri="{FF2B5EF4-FFF2-40B4-BE49-F238E27FC236}">
                <a16:creationId xmlns:a16="http://schemas.microsoft.com/office/drawing/2014/main" id="{DFA785D2-45CF-457D-A375-8F91C95273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72225" y="4384675"/>
          <a:ext cx="2232025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8" name="Формула" r:id="rId15" imgW="1168400" imgH="228600" progId="Equation.3">
                  <p:embed/>
                </p:oleObj>
              </mc:Choice>
              <mc:Fallback>
                <p:oleObj name="Формула" r:id="rId15" imgW="1168400" imgH="228600" progId="Equation.3">
                  <p:embed/>
                  <p:pic>
                    <p:nvPicPr>
                      <p:cNvPr id="71703" name="Object 23">
                        <a:extLst>
                          <a:ext uri="{FF2B5EF4-FFF2-40B4-BE49-F238E27FC236}">
                            <a16:creationId xmlns:a16="http://schemas.microsoft.com/office/drawing/2014/main" id="{DFA785D2-45CF-457D-A375-8F91C95273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4384675"/>
                        <a:ext cx="2232025" cy="436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05" name="Rectangle 25">
            <a:extLst>
              <a:ext uri="{FF2B5EF4-FFF2-40B4-BE49-F238E27FC236}">
                <a16:creationId xmlns:a16="http://schemas.microsoft.com/office/drawing/2014/main" id="{2C6978DE-DA9A-4F33-B925-2F569AD43E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5084763"/>
            <a:ext cx="9064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Иначе </a:t>
            </a:r>
          </a:p>
        </p:txBody>
      </p:sp>
      <p:sp>
        <p:nvSpPr>
          <p:cNvPr id="71707" name="Rectangle 27">
            <a:extLst>
              <a:ext uri="{FF2B5EF4-FFF2-40B4-BE49-F238E27FC236}">
                <a16:creationId xmlns:a16="http://schemas.microsoft.com/office/drawing/2014/main" id="{19174118-726C-4362-AA36-BACCC6DE0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111750"/>
            <a:ext cx="8286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{если</a:t>
            </a:r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  </a:t>
            </a:r>
            <a:endParaRPr lang="ru-RU" altLang="ru-RU">
              <a:latin typeface="Arial" panose="020B0604020202020204" pitchFamily="34" charset="0"/>
            </a:endParaRPr>
          </a:p>
        </p:txBody>
      </p:sp>
      <p:graphicFrame>
        <p:nvGraphicFramePr>
          <p:cNvPr id="71706" name="Object 26">
            <a:extLst>
              <a:ext uri="{FF2B5EF4-FFF2-40B4-BE49-F238E27FC236}">
                <a16:creationId xmlns:a16="http://schemas.microsoft.com/office/drawing/2014/main" id="{66936409-C947-454E-9775-67F9FB76A4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4438" y="5121275"/>
          <a:ext cx="1150937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9" name="Формула" r:id="rId17" imgW="622030" imgH="215806" progId="Equation.3">
                  <p:embed/>
                </p:oleObj>
              </mc:Choice>
              <mc:Fallback>
                <p:oleObj name="Формула" r:id="rId17" imgW="622030" imgH="215806" progId="Equation.3">
                  <p:embed/>
                  <p:pic>
                    <p:nvPicPr>
                      <p:cNvPr id="71706" name="Object 26">
                        <a:extLst>
                          <a:ext uri="{FF2B5EF4-FFF2-40B4-BE49-F238E27FC236}">
                            <a16:creationId xmlns:a16="http://schemas.microsoft.com/office/drawing/2014/main" id="{66936409-C947-454E-9775-67F9FB76A4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5121275"/>
                        <a:ext cx="1150937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08" name="Rectangle 28">
            <a:extLst>
              <a:ext uri="{FF2B5EF4-FFF2-40B4-BE49-F238E27FC236}">
                <a16:creationId xmlns:a16="http://schemas.microsoft.com/office/drawing/2014/main" id="{F89B8DFD-CC7B-4E9F-BD85-5F8909F7C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5111750"/>
            <a:ext cx="6318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, то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71710" name="Rectangle 30">
            <a:extLst>
              <a:ext uri="{FF2B5EF4-FFF2-40B4-BE49-F238E27FC236}">
                <a16:creationId xmlns:a16="http://schemas.microsoft.com/office/drawing/2014/main" id="{CBC1DD0A-7F55-427E-BE97-6A7FCCC1A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1709" name="Object 29">
            <a:extLst>
              <a:ext uri="{FF2B5EF4-FFF2-40B4-BE49-F238E27FC236}">
                <a16:creationId xmlns:a16="http://schemas.microsoft.com/office/drawing/2014/main" id="{D2F01134-D1B0-460F-84BA-2DDD01F725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84663" y="5157788"/>
          <a:ext cx="4391025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0" name="Формула" r:id="rId19" imgW="2400300" imgH="228600" progId="Equation.3">
                  <p:embed/>
                </p:oleObj>
              </mc:Choice>
              <mc:Fallback>
                <p:oleObj name="Формула" r:id="rId19" imgW="2400300" imgH="228600" progId="Equation.3">
                  <p:embed/>
                  <p:pic>
                    <p:nvPicPr>
                      <p:cNvPr id="71709" name="Object 29">
                        <a:extLst>
                          <a:ext uri="{FF2B5EF4-FFF2-40B4-BE49-F238E27FC236}">
                            <a16:creationId xmlns:a16="http://schemas.microsoft.com/office/drawing/2014/main" id="{D2F01134-D1B0-460F-84BA-2DDD01F725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5157788"/>
                        <a:ext cx="4391025" cy="41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11" name="Rectangle 31">
            <a:extLst>
              <a:ext uri="{FF2B5EF4-FFF2-40B4-BE49-F238E27FC236}">
                <a16:creationId xmlns:a16="http://schemas.microsoft.com/office/drawing/2014/main" id="{D3AA9A8A-D0E7-48AA-816B-0A16A66FE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5734050"/>
            <a:ext cx="27416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                   если [</a:t>
            </a:r>
            <a:r>
              <a:rPr lang="en-US" altLang="ru-RU"/>
              <a:t>k</a:t>
            </a:r>
            <a:r>
              <a:rPr lang="ru-RU" altLang="ru-RU"/>
              <a:t>=</a:t>
            </a:r>
            <a:r>
              <a:rPr lang="en-US" altLang="ru-RU"/>
              <a:t>n</a:t>
            </a:r>
            <a:r>
              <a:rPr lang="ru-RU" altLang="ru-RU"/>
              <a:t>], то </a:t>
            </a:r>
          </a:p>
        </p:txBody>
      </p:sp>
      <p:sp>
        <p:nvSpPr>
          <p:cNvPr id="71713" name="Rectangle 33">
            <a:extLst>
              <a:ext uri="{FF2B5EF4-FFF2-40B4-BE49-F238E27FC236}">
                <a16:creationId xmlns:a16="http://schemas.microsoft.com/office/drawing/2014/main" id="{0447AB52-5608-41AE-AA7E-9B42B079A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1712" name="Object 32">
            <a:extLst>
              <a:ext uri="{FF2B5EF4-FFF2-40B4-BE49-F238E27FC236}">
                <a16:creationId xmlns:a16="http://schemas.microsoft.com/office/drawing/2014/main" id="{D8ADEF01-81BD-4FBF-9B1A-3B94576E32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00" y="5718175"/>
          <a:ext cx="42481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1" name="Формула" r:id="rId21" imgW="2184400" imgH="228600" progId="Equation.3">
                  <p:embed/>
                </p:oleObj>
              </mc:Choice>
              <mc:Fallback>
                <p:oleObj name="Формула" r:id="rId21" imgW="2184400" imgH="228600" progId="Equation.3">
                  <p:embed/>
                  <p:pic>
                    <p:nvPicPr>
                      <p:cNvPr id="71712" name="Object 32">
                        <a:extLst>
                          <a:ext uri="{FF2B5EF4-FFF2-40B4-BE49-F238E27FC236}">
                            <a16:creationId xmlns:a16="http://schemas.microsoft.com/office/drawing/2014/main" id="{D8ADEF01-81BD-4FBF-9B1A-3B94576E32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5718175"/>
                        <a:ext cx="424815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C3DA35BA-1CF3-41E5-9CBC-8F1C155971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6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Квазиньютоновские</a:t>
            </a:r>
            <a:r>
              <a:rPr lang="ru-RU" altLang="ru-RU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методы </a:t>
            </a:r>
            <a:br>
              <a:rPr lang="ru-RU" altLang="ru-RU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Методы переменной метрики)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1DB0D661-81DE-4B28-854F-D34AD86643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628775"/>
            <a:ext cx="8229600" cy="4525963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Идея метода для одномерного случая:</a:t>
            </a:r>
          </a:p>
          <a:p>
            <a:pPr>
              <a:buFontTx/>
              <a:buNone/>
            </a:pPr>
            <a:endParaRPr lang="ru-RU" altLang="ru-RU" dirty="0"/>
          </a:p>
        </p:txBody>
      </p:sp>
      <p:sp>
        <p:nvSpPr>
          <p:cNvPr id="82949" name="Rectangle 5">
            <a:extLst>
              <a:ext uri="{FF2B5EF4-FFF2-40B4-BE49-F238E27FC236}">
                <a16:creationId xmlns:a16="http://schemas.microsoft.com/office/drawing/2014/main" id="{44DDC0EB-E5A1-4A6B-82EB-E7ECDBC3C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82948" name="Object 4">
            <a:extLst>
              <a:ext uri="{FF2B5EF4-FFF2-40B4-BE49-F238E27FC236}">
                <a16:creationId xmlns:a16="http://schemas.microsoft.com/office/drawing/2014/main" id="{5531F067-D77D-4BA2-BCDB-F2E8759875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2205038"/>
          <a:ext cx="3455987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6" name="Формула" r:id="rId3" imgW="1562100" imgH="457200" progId="Equation.3">
                  <p:embed/>
                </p:oleObj>
              </mc:Choice>
              <mc:Fallback>
                <p:oleObj name="Формула" r:id="rId3" imgW="1562100" imgH="457200" progId="Equation.3">
                  <p:embed/>
                  <p:pic>
                    <p:nvPicPr>
                      <p:cNvPr id="82948" name="Object 4">
                        <a:extLst>
                          <a:ext uri="{FF2B5EF4-FFF2-40B4-BE49-F238E27FC236}">
                            <a16:creationId xmlns:a16="http://schemas.microsoft.com/office/drawing/2014/main" id="{5531F067-D77D-4BA2-BCDB-F2E8759875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205038"/>
                        <a:ext cx="3455987" cy="979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1" name="Rectangle 7">
            <a:extLst>
              <a:ext uri="{FF2B5EF4-FFF2-40B4-BE49-F238E27FC236}">
                <a16:creationId xmlns:a16="http://schemas.microsoft.com/office/drawing/2014/main" id="{EC3AA045-CD19-4367-ADF6-51C3D0E96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2474913"/>
            <a:ext cx="1811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2400" dirty="0">
                <a:cs typeface="Times New Roman" panose="02020603050405020304" pitchFamily="18" charset="0"/>
              </a:rPr>
              <a:t>Обозначим</a:t>
            </a:r>
            <a:r>
              <a:rPr lang="ru-RU" altLang="ru-RU" sz="2400" dirty="0">
                <a:latin typeface="Arial" panose="020B0604020202020204" pitchFamily="34" charset="0"/>
                <a:cs typeface="Times New Roman" panose="02020603050405020304" pitchFamily="18" charset="0"/>
              </a:rPr>
              <a:t>  </a:t>
            </a:r>
            <a:endParaRPr lang="ru-RU" altLang="ru-RU" sz="2400" dirty="0">
              <a:latin typeface="Arial" panose="020B0604020202020204" pitchFamily="34" charset="0"/>
            </a:endParaRPr>
          </a:p>
        </p:txBody>
      </p:sp>
      <p:graphicFrame>
        <p:nvGraphicFramePr>
          <p:cNvPr id="82950" name="Object 6">
            <a:extLst>
              <a:ext uri="{FF2B5EF4-FFF2-40B4-BE49-F238E27FC236}">
                <a16:creationId xmlns:a16="http://schemas.microsoft.com/office/drawing/2014/main" id="{FDA8FB8B-214B-4070-8F4B-B9B214F17C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5963" y="2276475"/>
          <a:ext cx="2305050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7" name="Формула" r:id="rId5" imgW="990170" imgH="431613" progId="Equation.3">
                  <p:embed/>
                </p:oleObj>
              </mc:Choice>
              <mc:Fallback>
                <p:oleObj name="Формула" r:id="rId5" imgW="990170" imgH="431613" progId="Equation.3">
                  <p:embed/>
                  <p:pic>
                    <p:nvPicPr>
                      <p:cNvPr id="82950" name="Object 6">
                        <a:extLst>
                          <a:ext uri="{FF2B5EF4-FFF2-40B4-BE49-F238E27FC236}">
                            <a16:creationId xmlns:a16="http://schemas.microsoft.com/office/drawing/2014/main" id="{FDA8FB8B-214B-4070-8F4B-B9B214F17C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2276475"/>
                        <a:ext cx="2305050" cy="1008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3" name="Rectangle 9">
            <a:extLst>
              <a:ext uri="{FF2B5EF4-FFF2-40B4-BE49-F238E27FC236}">
                <a16:creationId xmlns:a16="http://schemas.microsoft.com/office/drawing/2014/main" id="{618842D4-9475-4549-8A9B-0185F7838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3267075"/>
            <a:ext cx="976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2400" dirty="0">
                <a:cs typeface="Times New Roman" panose="02020603050405020304" pitchFamily="18" charset="0"/>
              </a:rPr>
              <a:t>тогда</a:t>
            </a:r>
            <a:r>
              <a:rPr lang="ru-RU" altLang="ru-RU" sz="2400" dirty="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ru-RU" altLang="ru-RU" sz="2400" dirty="0">
              <a:latin typeface="Arial" panose="020B0604020202020204" pitchFamily="34" charset="0"/>
            </a:endParaRPr>
          </a:p>
        </p:txBody>
      </p:sp>
      <p:graphicFrame>
        <p:nvGraphicFramePr>
          <p:cNvPr id="82952" name="Object 8">
            <a:extLst>
              <a:ext uri="{FF2B5EF4-FFF2-40B4-BE49-F238E27FC236}">
                <a16:creationId xmlns:a16="http://schemas.microsoft.com/office/drawing/2014/main" id="{CC4B7F3F-C6B4-44F5-9DB1-289A78BDCA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150" y="3213100"/>
          <a:ext cx="237648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8" name="Формула" r:id="rId7" imgW="1117600" imgH="241300" progId="Equation.3">
                  <p:embed/>
                </p:oleObj>
              </mc:Choice>
              <mc:Fallback>
                <p:oleObj name="Формула" r:id="rId7" imgW="1117600" imgH="241300" progId="Equation.3">
                  <p:embed/>
                  <p:pic>
                    <p:nvPicPr>
                      <p:cNvPr id="82952" name="Object 8">
                        <a:extLst>
                          <a:ext uri="{FF2B5EF4-FFF2-40B4-BE49-F238E27FC236}">
                            <a16:creationId xmlns:a16="http://schemas.microsoft.com/office/drawing/2014/main" id="{CC4B7F3F-C6B4-44F5-9DB1-289A78BDCA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3213100"/>
                        <a:ext cx="2376488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4" name="Rectangle 10">
            <a:extLst>
              <a:ext uri="{FF2B5EF4-FFF2-40B4-BE49-F238E27FC236}">
                <a16:creationId xmlns:a16="http://schemas.microsoft.com/office/drawing/2014/main" id="{E3D2E244-34ED-45F0-81F2-673003DA3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1613" y="3551238"/>
            <a:ext cx="22701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82955" name="Rectangle 11">
            <a:extLst>
              <a:ext uri="{FF2B5EF4-FFF2-40B4-BE49-F238E27FC236}">
                <a16:creationId xmlns:a16="http://schemas.microsoft.com/office/drawing/2014/main" id="{2DD512F8-0348-4646-957B-433132C80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3284538"/>
            <a:ext cx="304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2000"/>
              <a:t>.</a:t>
            </a:r>
            <a:r>
              <a:rPr lang="ru-RU" altLang="ru-RU"/>
              <a:t> </a:t>
            </a:r>
          </a:p>
        </p:txBody>
      </p:sp>
      <p:sp>
        <p:nvSpPr>
          <p:cNvPr id="82957" name="Rectangle 13">
            <a:extLst>
              <a:ext uri="{FF2B5EF4-FFF2-40B4-BE49-F238E27FC236}">
                <a16:creationId xmlns:a16="http://schemas.microsoft.com/office/drawing/2014/main" id="{45450825-9D36-4F90-9E5B-235B6AA45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732639"/>
            <a:ext cx="762830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2400" dirty="0">
                <a:cs typeface="Times New Roman" panose="02020603050405020304" pitchFamily="18" charset="0"/>
              </a:rPr>
              <a:t>Этот метод называется «методом секущих».</a:t>
            </a:r>
          </a:p>
          <a:p>
            <a:pPr eaLnBrk="0" hangingPunct="0"/>
            <a:r>
              <a:rPr lang="ru-RU" altLang="ru-RU" sz="2400" dirty="0">
                <a:cs typeface="Times New Roman" panose="02020603050405020304" pitchFamily="18" charset="0"/>
              </a:rPr>
              <a:t>Соответственно метод Ньютона для одномерного случая</a:t>
            </a:r>
          </a:p>
        </p:txBody>
      </p:sp>
      <p:graphicFrame>
        <p:nvGraphicFramePr>
          <p:cNvPr id="82956" name="Object 12">
            <a:extLst>
              <a:ext uri="{FF2B5EF4-FFF2-40B4-BE49-F238E27FC236}">
                <a16:creationId xmlns:a16="http://schemas.microsoft.com/office/drawing/2014/main" id="{52BB9E45-D899-4968-AB66-155EA3AF10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35375" y="4437063"/>
          <a:ext cx="3527425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9" name="Формула" r:id="rId9" imgW="1282700" imgH="254000" progId="Equation.3">
                  <p:embed/>
                </p:oleObj>
              </mc:Choice>
              <mc:Fallback>
                <p:oleObj name="Формула" r:id="rId9" imgW="1282700" imgH="254000" progId="Equation.3">
                  <p:embed/>
                  <p:pic>
                    <p:nvPicPr>
                      <p:cNvPr id="82956" name="Object 12">
                        <a:extLst>
                          <a:ext uri="{FF2B5EF4-FFF2-40B4-BE49-F238E27FC236}">
                            <a16:creationId xmlns:a16="http://schemas.microsoft.com/office/drawing/2014/main" id="{52BB9E45-D899-4968-AB66-155EA3AF10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4437063"/>
                        <a:ext cx="3527425" cy="690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9" name="Rectangle 15">
            <a:extLst>
              <a:ext uri="{FF2B5EF4-FFF2-40B4-BE49-F238E27FC236}">
                <a16:creationId xmlns:a16="http://schemas.microsoft.com/office/drawing/2014/main" id="{E86AFB8C-BB6E-4982-97FD-94140F24C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5199063"/>
            <a:ext cx="21986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2400" dirty="0">
                <a:cs typeface="Times New Roman" panose="02020603050405020304" pitchFamily="18" charset="0"/>
              </a:rPr>
              <a:t>Таким образом</a:t>
            </a:r>
            <a:r>
              <a:rPr lang="ru-RU" altLang="ru-RU" sz="1200" dirty="0">
                <a:cs typeface="Times New Roman" panose="02020603050405020304" pitchFamily="18" charset="0"/>
              </a:rPr>
              <a:t> </a:t>
            </a:r>
            <a:endParaRPr lang="ru-RU" altLang="ru-RU" dirty="0">
              <a:cs typeface="Times New Roman" panose="02020603050405020304" pitchFamily="18" charset="0"/>
            </a:endParaRPr>
          </a:p>
        </p:txBody>
      </p:sp>
      <p:graphicFrame>
        <p:nvGraphicFramePr>
          <p:cNvPr id="82958" name="Object 14">
            <a:extLst>
              <a:ext uri="{FF2B5EF4-FFF2-40B4-BE49-F238E27FC236}">
                <a16:creationId xmlns:a16="http://schemas.microsoft.com/office/drawing/2014/main" id="{F7F24594-F689-4861-A660-1B01153E03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1775" y="5084763"/>
          <a:ext cx="2449513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10" name="Формула" r:id="rId11" imgW="761669" imgH="241195" progId="Equation.3">
                  <p:embed/>
                </p:oleObj>
              </mc:Choice>
              <mc:Fallback>
                <p:oleObj name="Формула" r:id="rId11" imgW="761669" imgH="241195" progId="Equation.3">
                  <p:embed/>
                  <p:pic>
                    <p:nvPicPr>
                      <p:cNvPr id="82958" name="Object 14">
                        <a:extLst>
                          <a:ext uri="{FF2B5EF4-FFF2-40B4-BE49-F238E27FC236}">
                            <a16:creationId xmlns:a16="http://schemas.microsoft.com/office/drawing/2014/main" id="{F7F24594-F689-4861-A660-1B01153E03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5084763"/>
                        <a:ext cx="2449513" cy="608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60" name="Rectangle 16">
            <a:extLst>
              <a:ext uri="{FF2B5EF4-FFF2-40B4-BE49-F238E27FC236}">
                <a16:creationId xmlns:a16="http://schemas.microsoft.com/office/drawing/2014/main" id="{A5EBB9B7-79A8-4281-9CBE-4C6EE06A4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5084763"/>
            <a:ext cx="3402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2000" dirty="0">
                <a:latin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ru-RU" altLang="ru-RU" sz="2400" dirty="0">
                <a:cs typeface="Times New Roman" panose="02020603050405020304" pitchFamily="18" charset="0"/>
              </a:rPr>
              <a:t>т.е. представляет собой</a:t>
            </a:r>
          </a:p>
        </p:txBody>
      </p:sp>
      <p:sp>
        <p:nvSpPr>
          <p:cNvPr id="82961" name="Rectangle 17">
            <a:extLst>
              <a:ext uri="{FF2B5EF4-FFF2-40B4-BE49-F238E27FC236}">
                <a16:creationId xmlns:a16="http://schemas.microsoft.com/office/drawing/2014/main" id="{3F086744-D25E-423C-B896-B82DEA82B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5734050"/>
            <a:ext cx="54467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2400"/>
              <a:t>второй производной функции спуска.</a:t>
            </a:r>
          </a:p>
        </p:txBody>
      </p:sp>
      <p:sp>
        <p:nvSpPr>
          <p:cNvPr id="82962" name="Rectangle 18">
            <a:extLst>
              <a:ext uri="{FF2B5EF4-FFF2-40B4-BE49-F238E27FC236}">
                <a16:creationId xmlns:a16="http://schemas.microsoft.com/office/drawing/2014/main" id="{BEABAAF6-563C-4C65-8111-258C60029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4581525"/>
            <a:ext cx="25098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ru-RU" altLang="ru-RU" sz="2400"/>
              <a:t>можно записать</a:t>
            </a:r>
            <a:r>
              <a:rPr lang="ru-RU" altLang="ru-RU"/>
              <a:t>:</a:t>
            </a:r>
          </a:p>
        </p:txBody>
      </p:sp>
      <p:sp>
        <p:nvSpPr>
          <p:cNvPr id="82963" name="Rectangle 19">
            <a:extLst>
              <a:ext uri="{FF2B5EF4-FFF2-40B4-BE49-F238E27FC236}">
                <a16:creationId xmlns:a16="http://schemas.microsoft.com/office/drawing/2014/main" id="{6D184B35-1006-462C-A3FF-CF7F8B788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5734050"/>
            <a:ext cx="2432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2400"/>
              <a:t>аппроксимацию</a:t>
            </a:r>
          </a:p>
        </p:txBody>
      </p:sp>
      <p:sp>
        <p:nvSpPr>
          <p:cNvPr id="82964" name="Rectangle 20">
            <a:extLst>
              <a:ext uri="{FF2B5EF4-FFF2-40B4-BE49-F238E27FC236}">
                <a16:creationId xmlns:a16="http://schemas.microsoft.com/office/drawing/2014/main" id="{AD16CE81-19CA-4855-A1D4-D3AA655F3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4562475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3200"/>
              <a:t>. </a:t>
            </a:r>
          </a:p>
        </p:txBody>
      </p:sp>
      <p:sp>
        <p:nvSpPr>
          <p:cNvPr id="82965" name="Rectangle 21">
            <a:extLst>
              <a:ext uri="{FF2B5EF4-FFF2-40B4-BE49-F238E27FC236}">
                <a16:creationId xmlns:a16="http://schemas.microsoft.com/office/drawing/2014/main" id="{B45649C9-0259-464F-A773-379CE6D11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2420938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3200" dirty="0"/>
              <a:t>.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CF1755A8-20D5-41A9-A41B-790C845F64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6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Квазиньютоновские</a:t>
            </a:r>
            <a:r>
              <a:rPr lang="ru-RU" altLang="ru-RU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методы </a:t>
            </a:r>
            <a:br>
              <a:rPr lang="ru-RU" altLang="ru-RU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Методы переменной метрики).</a:t>
            </a:r>
            <a:r>
              <a:rPr lang="ru-RU" alt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A15E232E-4CBF-4FF6-8556-6DB232B9DA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916113"/>
            <a:ext cx="8229600" cy="4525962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Идея метода: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Tx/>
              <a:buNone/>
            </a:pPr>
            <a:r>
              <a:rPr lang="ru-RU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Продифферинцируем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разложение в ряд Тейлора функцию  </a:t>
            </a:r>
            <a:r>
              <a:rPr lang="ru-RU" altLang="ru-RU" sz="1800" dirty="0">
                <a:sym typeface="Symbol" panose="05050102010706020507" pitchFamily="18" charset="2"/>
              </a:rPr>
              <a:t></a:t>
            </a:r>
            <a:r>
              <a:rPr lang="ru-RU" altLang="ru-RU" sz="1800" dirty="0"/>
              <a:t>(</a:t>
            </a:r>
            <a:r>
              <a:rPr lang="en-US" altLang="ru-RU" sz="1800" dirty="0"/>
              <a:t>x</a:t>
            </a:r>
            <a:r>
              <a:rPr lang="ru-RU" altLang="ru-RU" sz="1800" dirty="0"/>
              <a:t>)</a:t>
            </a:r>
            <a:r>
              <a:rPr lang="en-US" altLang="ru-RU" sz="1800" dirty="0"/>
              <a:t> </a:t>
            </a:r>
            <a:endParaRPr lang="ru-RU" altLang="ru-RU" sz="1800" dirty="0"/>
          </a:p>
          <a:p>
            <a:pPr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окрестности т.      т.е</a:t>
            </a:r>
            <a:r>
              <a:rPr lang="ru-RU" altLang="ru-RU" sz="1800" dirty="0"/>
              <a:t>.              .</a:t>
            </a:r>
          </a:p>
        </p:txBody>
      </p:sp>
      <p:sp>
        <p:nvSpPr>
          <p:cNvPr id="72709" name="Rectangle 5">
            <a:extLst>
              <a:ext uri="{FF2B5EF4-FFF2-40B4-BE49-F238E27FC236}">
                <a16:creationId xmlns:a16="http://schemas.microsoft.com/office/drawing/2014/main" id="{683065EB-AC10-415A-91B5-BA1DDE200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2708" name="Object 4">
            <a:extLst>
              <a:ext uri="{FF2B5EF4-FFF2-40B4-BE49-F238E27FC236}">
                <a16:creationId xmlns:a16="http://schemas.microsoft.com/office/drawing/2014/main" id="{C9B640FA-B824-4C43-9729-B51AAEF612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36525" cy="16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70" name="Формула" r:id="rId3" imgW="139579" imgH="164957" progId="Equation.3">
                  <p:embed/>
                </p:oleObj>
              </mc:Choice>
              <mc:Fallback>
                <p:oleObj name="Формула" r:id="rId3" imgW="139579" imgH="164957" progId="Equation.3">
                  <p:embed/>
                  <p:pic>
                    <p:nvPicPr>
                      <p:cNvPr id="72708" name="Object 4">
                        <a:extLst>
                          <a:ext uri="{FF2B5EF4-FFF2-40B4-BE49-F238E27FC236}">
                            <a16:creationId xmlns:a16="http://schemas.microsoft.com/office/drawing/2014/main" id="{C9B640FA-B824-4C43-9729-B51AAEF612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36525" cy="168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1" name="Rectangle 7">
            <a:extLst>
              <a:ext uri="{FF2B5EF4-FFF2-40B4-BE49-F238E27FC236}">
                <a16:creationId xmlns:a16="http://schemas.microsoft.com/office/drawing/2014/main" id="{E0960745-62DC-465F-9474-394086830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2710" name="Object 6">
            <a:extLst>
              <a:ext uri="{FF2B5EF4-FFF2-40B4-BE49-F238E27FC236}">
                <a16:creationId xmlns:a16="http://schemas.microsoft.com/office/drawing/2014/main" id="{2A99BCB4-4D87-4BC2-8E46-565404A211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856345"/>
              </p:ext>
            </p:extLst>
          </p:nvPr>
        </p:nvGraphicFramePr>
        <p:xfrm>
          <a:off x="2135188" y="2617788"/>
          <a:ext cx="312737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71" name="Формула" r:id="rId5" imgW="139579" imgH="164957" progId="Equation.3">
                  <p:embed/>
                </p:oleObj>
              </mc:Choice>
              <mc:Fallback>
                <p:oleObj name="Формула" r:id="rId5" imgW="139579" imgH="164957" progId="Equation.3">
                  <p:embed/>
                  <p:pic>
                    <p:nvPicPr>
                      <p:cNvPr id="72710" name="Object 6">
                        <a:extLst>
                          <a:ext uri="{FF2B5EF4-FFF2-40B4-BE49-F238E27FC236}">
                            <a16:creationId xmlns:a16="http://schemas.microsoft.com/office/drawing/2014/main" id="{2A99BCB4-4D87-4BC2-8E46-565404A211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2617788"/>
                        <a:ext cx="312737" cy="385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3" name="Rectangle 9">
            <a:extLst>
              <a:ext uri="{FF2B5EF4-FFF2-40B4-BE49-F238E27FC236}">
                <a16:creationId xmlns:a16="http://schemas.microsoft.com/office/drawing/2014/main" id="{8B6B3D3D-10F1-4F79-B50B-6D72463BC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2712" name="Object 8">
            <a:extLst>
              <a:ext uri="{FF2B5EF4-FFF2-40B4-BE49-F238E27FC236}">
                <a16:creationId xmlns:a16="http://schemas.microsoft.com/office/drawing/2014/main" id="{A8E86684-B019-499E-B50A-1A860E0F83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2323936"/>
              </p:ext>
            </p:extLst>
          </p:nvPr>
        </p:nvGraphicFramePr>
        <p:xfrm>
          <a:off x="2878376" y="2670175"/>
          <a:ext cx="79216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72" name="Формула" r:id="rId6" imgW="419100" imgH="228600" progId="Equation.3">
                  <p:embed/>
                </p:oleObj>
              </mc:Choice>
              <mc:Fallback>
                <p:oleObj name="Формула" r:id="rId6" imgW="419100" imgH="228600" progId="Equation.3">
                  <p:embed/>
                  <p:pic>
                    <p:nvPicPr>
                      <p:cNvPr id="72712" name="Object 8">
                        <a:extLst>
                          <a:ext uri="{FF2B5EF4-FFF2-40B4-BE49-F238E27FC236}">
                            <a16:creationId xmlns:a16="http://schemas.microsoft.com/office/drawing/2014/main" id="{A8E86684-B019-499E-B50A-1A860E0F83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8376" y="2670175"/>
                        <a:ext cx="792162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4" name="Rectangle 10">
            <a:extLst>
              <a:ext uri="{FF2B5EF4-FFF2-40B4-BE49-F238E27FC236}">
                <a16:creationId xmlns:a16="http://schemas.microsoft.com/office/drawing/2014/main" id="{0DCF4A99-72E6-41D6-9468-D29966962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213100"/>
            <a:ext cx="15589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Обозначим:  </a:t>
            </a:r>
          </a:p>
        </p:txBody>
      </p:sp>
      <p:sp>
        <p:nvSpPr>
          <p:cNvPr id="72716" name="Rectangle 12">
            <a:extLst>
              <a:ext uri="{FF2B5EF4-FFF2-40B4-BE49-F238E27FC236}">
                <a16:creationId xmlns:a16="http://schemas.microsoft.com/office/drawing/2014/main" id="{4C1EBA48-2DDA-4A83-AD54-FCCA61F19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44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2715" name="Object 11">
            <a:extLst>
              <a:ext uri="{FF2B5EF4-FFF2-40B4-BE49-F238E27FC236}">
                <a16:creationId xmlns:a16="http://schemas.microsoft.com/office/drawing/2014/main" id="{036692EB-148C-4820-8A6B-74167743E3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9357472"/>
              </p:ext>
            </p:extLst>
          </p:nvPr>
        </p:nvGraphicFramePr>
        <p:xfrm>
          <a:off x="1893094" y="2944813"/>
          <a:ext cx="3529012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73" name="Формула" r:id="rId8" imgW="1917700" imgH="965200" progId="Equation.3">
                  <p:embed/>
                </p:oleObj>
              </mc:Choice>
              <mc:Fallback>
                <p:oleObj name="Формула" r:id="rId8" imgW="1917700" imgH="965200" progId="Equation.3">
                  <p:embed/>
                  <p:pic>
                    <p:nvPicPr>
                      <p:cNvPr id="72715" name="Object 11">
                        <a:extLst>
                          <a:ext uri="{FF2B5EF4-FFF2-40B4-BE49-F238E27FC236}">
                            <a16:creationId xmlns:a16="http://schemas.microsoft.com/office/drawing/2014/main" id="{036692EB-148C-4820-8A6B-74167743E3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3094" y="2944813"/>
                        <a:ext cx="3529012" cy="1512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8" name="Rectangle 14">
            <a:extLst>
              <a:ext uri="{FF2B5EF4-FFF2-40B4-BE49-F238E27FC236}">
                <a16:creationId xmlns:a16="http://schemas.microsoft.com/office/drawing/2014/main" id="{8AF25AA2-A063-4808-B5E3-4D7A022907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1563" y="2808288"/>
            <a:ext cx="312737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: 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72720" name="Rectangle 16">
            <a:extLst>
              <a:ext uri="{FF2B5EF4-FFF2-40B4-BE49-F238E27FC236}">
                <a16:creationId xmlns:a16="http://schemas.microsoft.com/office/drawing/2014/main" id="{0F28FE41-2C03-4E72-8CCA-014ACA454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77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2719" name="Object 15">
            <a:extLst>
              <a:ext uri="{FF2B5EF4-FFF2-40B4-BE49-F238E27FC236}">
                <a16:creationId xmlns:a16="http://schemas.microsoft.com/office/drawing/2014/main" id="{8641BF78-2FF8-4F4D-B78F-454B45E591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1638" y="2708275"/>
          <a:ext cx="424815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74" name="Формула" r:id="rId10" imgW="2527300" imgH="279400" progId="Equation.3">
                  <p:embed/>
                </p:oleObj>
              </mc:Choice>
              <mc:Fallback>
                <p:oleObj name="Формула" r:id="rId10" imgW="2527300" imgH="279400" progId="Equation.3">
                  <p:embed/>
                  <p:pic>
                    <p:nvPicPr>
                      <p:cNvPr id="72719" name="Object 15">
                        <a:extLst>
                          <a:ext uri="{FF2B5EF4-FFF2-40B4-BE49-F238E27FC236}">
                            <a16:creationId xmlns:a16="http://schemas.microsoft.com/office/drawing/2014/main" id="{8641BF78-2FF8-4F4D-B78F-454B45E591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2708275"/>
                        <a:ext cx="4248150" cy="474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22" name="Rectangle 18">
            <a:extLst>
              <a:ext uri="{FF2B5EF4-FFF2-40B4-BE49-F238E27FC236}">
                <a16:creationId xmlns:a16="http://schemas.microsoft.com/office/drawing/2014/main" id="{D2E8CADF-5F8C-444B-89AA-3C7E81FDE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2721" name="Object 17">
            <a:extLst>
              <a:ext uri="{FF2B5EF4-FFF2-40B4-BE49-F238E27FC236}">
                <a16:creationId xmlns:a16="http://schemas.microsoft.com/office/drawing/2014/main" id="{9F4ECF3E-02DF-4BD8-98BC-BA2B181713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84663" y="3141663"/>
          <a:ext cx="44640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75" name="Формула" r:id="rId12" imgW="2298600" imgH="228600" progId="Equation.3">
                  <p:embed/>
                </p:oleObj>
              </mc:Choice>
              <mc:Fallback>
                <p:oleObj name="Формула" r:id="rId12" imgW="2298600" imgH="228600" progId="Equation.3">
                  <p:embed/>
                  <p:pic>
                    <p:nvPicPr>
                      <p:cNvPr id="72721" name="Object 17">
                        <a:extLst>
                          <a:ext uri="{FF2B5EF4-FFF2-40B4-BE49-F238E27FC236}">
                            <a16:creationId xmlns:a16="http://schemas.microsoft.com/office/drawing/2014/main" id="{9F4ECF3E-02DF-4BD8-98BC-BA2B181713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3141663"/>
                        <a:ext cx="446405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23" name="Rectangle 19">
            <a:extLst>
              <a:ext uri="{FF2B5EF4-FFF2-40B4-BE49-F238E27FC236}">
                <a16:creationId xmlns:a16="http://schemas.microsoft.com/office/drawing/2014/main" id="{EB475CCC-4210-453F-AB29-C78913C293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4076700"/>
            <a:ext cx="8524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Тогда </a:t>
            </a:r>
          </a:p>
        </p:txBody>
      </p:sp>
      <p:sp>
        <p:nvSpPr>
          <p:cNvPr id="72725" name="Rectangle 21">
            <a:extLst>
              <a:ext uri="{FF2B5EF4-FFF2-40B4-BE49-F238E27FC236}">
                <a16:creationId xmlns:a16="http://schemas.microsoft.com/office/drawing/2014/main" id="{AD5CBFFE-8BF7-46EB-9D71-7CA296EE7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686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2724" name="Object 20">
            <a:extLst>
              <a:ext uri="{FF2B5EF4-FFF2-40B4-BE49-F238E27FC236}">
                <a16:creationId xmlns:a16="http://schemas.microsoft.com/office/drawing/2014/main" id="{2AD0C372-B163-47E5-A8B8-C7C7A12C11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1863" y="3573463"/>
          <a:ext cx="2952750" cy="1439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76" name="Формула" r:id="rId14" imgW="1828800" imgH="736600" progId="Equation.3">
                  <p:embed/>
                </p:oleObj>
              </mc:Choice>
              <mc:Fallback>
                <p:oleObj name="Формула" r:id="rId14" imgW="1828800" imgH="736600" progId="Equation.3">
                  <p:embed/>
                  <p:pic>
                    <p:nvPicPr>
                      <p:cNvPr id="72724" name="Object 20">
                        <a:extLst>
                          <a:ext uri="{FF2B5EF4-FFF2-40B4-BE49-F238E27FC236}">
                            <a16:creationId xmlns:a16="http://schemas.microsoft.com/office/drawing/2014/main" id="{2AD0C372-B163-47E5-A8B8-C7C7A12C11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3573463"/>
                        <a:ext cx="2952750" cy="1439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26" name="Rectangle 22">
            <a:extLst>
              <a:ext uri="{FF2B5EF4-FFF2-40B4-BE49-F238E27FC236}">
                <a16:creationId xmlns:a16="http://schemas.microsoft.com/office/drawing/2014/main" id="{B6CC7BC6-3B81-4996-8D35-AF7C71A14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365625"/>
            <a:ext cx="10048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откуда  </a:t>
            </a:r>
          </a:p>
        </p:txBody>
      </p:sp>
      <p:sp>
        <p:nvSpPr>
          <p:cNvPr id="72728" name="Rectangle 24">
            <a:extLst>
              <a:ext uri="{FF2B5EF4-FFF2-40B4-BE49-F238E27FC236}">
                <a16:creationId xmlns:a16="http://schemas.microsoft.com/office/drawing/2014/main" id="{E5CBDBC8-3BB4-49FF-88D6-B2307228C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2727" name="Object 23">
            <a:extLst>
              <a:ext uri="{FF2B5EF4-FFF2-40B4-BE49-F238E27FC236}">
                <a16:creationId xmlns:a16="http://schemas.microsoft.com/office/drawing/2014/main" id="{75E8539F-AC9D-4C0B-9379-2CE0B21BF9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4365625"/>
          <a:ext cx="2087563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77" name="Формула" r:id="rId16" imgW="1054100" imgH="228600" progId="Equation.3">
                  <p:embed/>
                </p:oleObj>
              </mc:Choice>
              <mc:Fallback>
                <p:oleObj name="Формула" r:id="rId16" imgW="1054100" imgH="228600" progId="Equation.3">
                  <p:embed/>
                  <p:pic>
                    <p:nvPicPr>
                      <p:cNvPr id="72727" name="Object 23">
                        <a:extLst>
                          <a:ext uri="{FF2B5EF4-FFF2-40B4-BE49-F238E27FC236}">
                            <a16:creationId xmlns:a16="http://schemas.microsoft.com/office/drawing/2014/main" id="{75E8539F-AC9D-4C0B-9379-2CE0B21BF9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4365625"/>
                        <a:ext cx="2087563" cy="454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31" name="Rectangle 27">
            <a:extLst>
              <a:ext uri="{FF2B5EF4-FFF2-40B4-BE49-F238E27FC236}">
                <a16:creationId xmlns:a16="http://schemas.microsoft.com/office/drawing/2014/main" id="{723F22EF-3D20-4B49-A61A-1471E48F2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4365625"/>
            <a:ext cx="241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/>
              <a:t>,</a:t>
            </a:r>
          </a:p>
        </p:txBody>
      </p:sp>
      <p:sp>
        <p:nvSpPr>
          <p:cNvPr id="72733" name="Rectangle 29">
            <a:extLst>
              <a:ext uri="{FF2B5EF4-FFF2-40B4-BE49-F238E27FC236}">
                <a16:creationId xmlns:a16="http://schemas.microsoft.com/office/drawing/2014/main" id="{F9B44E2C-7A21-4D1F-BBC4-CA4942B0A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2732" name="Object 28">
            <a:extLst>
              <a:ext uri="{FF2B5EF4-FFF2-40B4-BE49-F238E27FC236}">
                <a16:creationId xmlns:a16="http://schemas.microsoft.com/office/drawing/2014/main" id="{58AECF8F-7C76-4BF2-9B02-52E25F9A45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2109450"/>
              </p:ext>
            </p:extLst>
          </p:nvPr>
        </p:nvGraphicFramePr>
        <p:xfrm>
          <a:off x="708951" y="4860353"/>
          <a:ext cx="792162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78" name="Формула" r:id="rId18" imgW="406080" imgH="190440" progId="Equation.3">
                  <p:embed/>
                </p:oleObj>
              </mc:Choice>
              <mc:Fallback>
                <p:oleObj name="Формула" r:id="rId18" imgW="406080" imgH="190440" progId="Equation.3">
                  <p:embed/>
                  <p:pic>
                    <p:nvPicPr>
                      <p:cNvPr id="72732" name="Object 28">
                        <a:extLst>
                          <a:ext uri="{FF2B5EF4-FFF2-40B4-BE49-F238E27FC236}">
                            <a16:creationId xmlns:a16="http://schemas.microsoft.com/office/drawing/2014/main" id="{58AECF8F-7C76-4BF2-9B02-52E25F9A45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951" y="4860353"/>
                        <a:ext cx="792162" cy="374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34" name="Rectangle 30">
            <a:extLst>
              <a:ext uri="{FF2B5EF4-FFF2-40B4-BE49-F238E27FC236}">
                <a16:creationId xmlns:a16="http://schemas.microsoft.com/office/drawing/2014/main" id="{9F038386-60EF-491C-8116-876C3A5AB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4940578"/>
            <a:ext cx="269452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dirty="0"/>
              <a:t>– обратная матрица Гессе</a:t>
            </a:r>
          </a:p>
        </p:txBody>
      </p:sp>
      <p:sp>
        <p:nvSpPr>
          <p:cNvPr id="72735" name="Rectangle 31">
            <a:extLst>
              <a:ext uri="{FF2B5EF4-FFF2-40B4-BE49-F238E27FC236}">
                <a16:creationId xmlns:a16="http://schemas.microsoft.com/office/drawing/2014/main" id="{774F96E9-09A0-4466-ABC5-2DDDF8292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807" y="4932363"/>
            <a:ext cx="460851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 dirty="0"/>
              <a:t>, требующая вычисления 2-х частных производных. </a:t>
            </a:r>
          </a:p>
        </p:txBody>
      </p:sp>
      <p:sp>
        <p:nvSpPr>
          <p:cNvPr id="72736" name="Rectangle 32">
            <a:extLst>
              <a:ext uri="{FF2B5EF4-FFF2-40B4-BE49-F238E27FC236}">
                <a16:creationId xmlns:a16="http://schemas.microsoft.com/office/drawing/2014/main" id="{DEDADA9B-8FB0-4F93-8632-06D715FAE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589588"/>
            <a:ext cx="8280400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/>
              <a:t>Идея квазиньютоновских методов состоит в аппроксимации матрицы Гессе матрицами, корректирующими на каждой итерации исходную матрицу так, чтобы через </a:t>
            </a:r>
            <a:r>
              <a:rPr lang="en-US" altLang="ru-RU"/>
              <a:t>n</a:t>
            </a:r>
            <a:r>
              <a:rPr lang="ru-RU" altLang="ru-RU"/>
              <a:t>-итераций получить матрицу близкую к матрице Гессе.</a:t>
            </a:r>
          </a:p>
        </p:txBody>
      </p:sp>
      <p:sp>
        <p:nvSpPr>
          <p:cNvPr id="72738" name="Rectangle 34">
            <a:extLst>
              <a:ext uri="{FF2B5EF4-FFF2-40B4-BE49-F238E27FC236}">
                <a16:creationId xmlns:a16="http://schemas.microsoft.com/office/drawing/2014/main" id="{23A9CEFA-B84D-4102-9176-AA62199418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5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2737" name="Object 33">
            <a:extLst>
              <a:ext uri="{FF2B5EF4-FFF2-40B4-BE49-F238E27FC236}">
                <a16:creationId xmlns:a16="http://schemas.microsoft.com/office/drawing/2014/main" id="{22C1AE8C-3FD8-4D33-991D-DC382C107B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4282338"/>
              </p:ext>
            </p:extLst>
          </p:nvPr>
        </p:nvGraphicFramePr>
        <p:xfrm>
          <a:off x="6804248" y="2305993"/>
          <a:ext cx="865188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79" name="Формула" r:id="rId20" imgW="444307" imgH="203112" progId="Equation.3">
                  <p:embed/>
                </p:oleObj>
              </mc:Choice>
              <mc:Fallback>
                <p:oleObj name="Формула" r:id="rId20" imgW="444307" imgH="203112" progId="Equation.3">
                  <p:embed/>
                  <p:pic>
                    <p:nvPicPr>
                      <p:cNvPr id="72737" name="Object 33">
                        <a:extLst>
                          <a:ext uri="{FF2B5EF4-FFF2-40B4-BE49-F238E27FC236}">
                            <a16:creationId xmlns:a16="http://schemas.microsoft.com/office/drawing/2014/main" id="{22C1AE8C-3FD8-4D33-991D-DC382C107B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248" y="2305993"/>
                        <a:ext cx="865188" cy="404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510B9AAA-B2EC-4DFE-8650-823C0EB154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6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Квазиньютоновские</a:t>
            </a:r>
            <a:r>
              <a:rPr lang="ru-RU" altLang="ru-RU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методы</a:t>
            </a:r>
            <a:r>
              <a:rPr lang="ru-RU" altLang="ru-RU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ru-RU" altLang="ru-RU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Методы переменной метрики)</a:t>
            </a:r>
            <a:r>
              <a:rPr lang="ru-RU" altLang="ru-RU" sz="3600" b="1" u="sng" dirty="0"/>
              <a:t>.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8059A8BA-88B8-42AC-9161-0724858DA0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628775"/>
            <a:ext cx="8229600" cy="4525963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sz="1800" dirty="0"/>
              <a:t>Обозначим</a:t>
            </a:r>
          </a:p>
        </p:txBody>
      </p:sp>
      <p:sp>
        <p:nvSpPr>
          <p:cNvPr id="75781" name="Rectangle 5">
            <a:extLst>
              <a:ext uri="{FF2B5EF4-FFF2-40B4-BE49-F238E27FC236}">
                <a16:creationId xmlns:a16="http://schemas.microsoft.com/office/drawing/2014/main" id="{49B23BFA-F9D7-4BDB-93C2-93CE58F72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6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5780" name="Object 4">
            <a:extLst>
              <a:ext uri="{FF2B5EF4-FFF2-40B4-BE49-F238E27FC236}">
                <a16:creationId xmlns:a16="http://schemas.microsoft.com/office/drawing/2014/main" id="{2B182AF3-4F39-4846-BF5B-A0C31E1247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1566863"/>
          <a:ext cx="1944687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10" name="Формула" r:id="rId3" imgW="1168400" imgH="241300" progId="Equation.3">
                  <p:embed/>
                </p:oleObj>
              </mc:Choice>
              <mc:Fallback>
                <p:oleObj name="Формула" r:id="rId3" imgW="1168400" imgH="241300" progId="Equation.3">
                  <p:embed/>
                  <p:pic>
                    <p:nvPicPr>
                      <p:cNvPr id="75780" name="Object 4">
                        <a:extLst>
                          <a:ext uri="{FF2B5EF4-FFF2-40B4-BE49-F238E27FC236}">
                            <a16:creationId xmlns:a16="http://schemas.microsoft.com/office/drawing/2014/main" id="{2B182AF3-4F39-4846-BF5B-A0C31E1247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1566863"/>
                        <a:ext cx="1944687" cy="407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2" name="Rectangle 6">
            <a:extLst>
              <a:ext uri="{FF2B5EF4-FFF2-40B4-BE49-F238E27FC236}">
                <a16:creationId xmlns:a16="http://schemas.microsoft.com/office/drawing/2014/main" id="{0807B48F-B040-4024-86F6-5A0F835EF3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1628775"/>
            <a:ext cx="7000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, где </a:t>
            </a:r>
          </a:p>
        </p:txBody>
      </p:sp>
      <p:sp>
        <p:nvSpPr>
          <p:cNvPr id="75784" name="Rectangle 8">
            <a:extLst>
              <a:ext uri="{FF2B5EF4-FFF2-40B4-BE49-F238E27FC236}">
                <a16:creationId xmlns:a16="http://schemas.microsoft.com/office/drawing/2014/main" id="{D33ED20F-DB11-407B-A112-CC78430E36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5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5783" name="Object 7">
            <a:extLst>
              <a:ext uri="{FF2B5EF4-FFF2-40B4-BE49-F238E27FC236}">
                <a16:creationId xmlns:a16="http://schemas.microsoft.com/office/drawing/2014/main" id="{EFB3B296-EE4E-4B22-9C77-34BBD2A12D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7538" y="1557338"/>
          <a:ext cx="720725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11" name="Формула" r:id="rId5" imgW="393529" imgH="203112" progId="Equation.3">
                  <p:embed/>
                </p:oleObj>
              </mc:Choice>
              <mc:Fallback>
                <p:oleObj name="Формула" r:id="rId5" imgW="393529" imgH="203112" progId="Equation.3">
                  <p:embed/>
                  <p:pic>
                    <p:nvPicPr>
                      <p:cNvPr id="75783" name="Object 7">
                        <a:extLst>
                          <a:ext uri="{FF2B5EF4-FFF2-40B4-BE49-F238E27FC236}">
                            <a16:creationId xmlns:a16="http://schemas.microsoft.com/office/drawing/2014/main" id="{EFB3B296-EE4E-4B22-9C77-34BBD2A12D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1557338"/>
                        <a:ext cx="720725" cy="374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5" name="Rectangle 9">
            <a:extLst>
              <a:ext uri="{FF2B5EF4-FFF2-40B4-BE49-F238E27FC236}">
                <a16:creationId xmlns:a16="http://schemas.microsoft.com/office/drawing/2014/main" id="{167394B5-B356-4592-A64E-EBCE99FB6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1557338"/>
            <a:ext cx="3816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/>
              <a:t>- аппроксимация обратной матрицы Гессе. </a:t>
            </a:r>
          </a:p>
        </p:txBody>
      </p:sp>
      <p:sp>
        <p:nvSpPr>
          <p:cNvPr id="75787" name="Rectangle 11">
            <a:extLst>
              <a:ext uri="{FF2B5EF4-FFF2-40B4-BE49-F238E27FC236}">
                <a16:creationId xmlns:a16="http://schemas.microsoft.com/office/drawing/2014/main" id="{7A0360F4-EE9A-4640-BC25-48F5EDAA4E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230438"/>
            <a:ext cx="8334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Пусть </a:t>
            </a:r>
            <a:endParaRPr lang="ru-RU" altLang="ru-RU">
              <a:latin typeface="Arial" panose="020B0604020202020204" pitchFamily="34" charset="0"/>
            </a:endParaRPr>
          </a:p>
        </p:txBody>
      </p:sp>
      <p:graphicFrame>
        <p:nvGraphicFramePr>
          <p:cNvPr id="75786" name="Object 10">
            <a:extLst>
              <a:ext uri="{FF2B5EF4-FFF2-40B4-BE49-F238E27FC236}">
                <a16:creationId xmlns:a16="http://schemas.microsoft.com/office/drawing/2014/main" id="{AD06F927-F000-4EB4-8821-819C9E51DA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2133600"/>
          <a:ext cx="2233612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12" name="Формула" r:id="rId7" imgW="1333500" imgH="203200" progId="Equation.3">
                  <p:embed/>
                </p:oleObj>
              </mc:Choice>
              <mc:Fallback>
                <p:oleObj name="Формула" r:id="rId7" imgW="1333500" imgH="203200" progId="Equation.3">
                  <p:embed/>
                  <p:pic>
                    <p:nvPicPr>
                      <p:cNvPr id="75786" name="Object 10">
                        <a:extLst>
                          <a:ext uri="{FF2B5EF4-FFF2-40B4-BE49-F238E27FC236}">
                            <a16:creationId xmlns:a16="http://schemas.microsoft.com/office/drawing/2014/main" id="{AD06F927-F000-4EB4-8821-819C9E51DA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133600"/>
                        <a:ext cx="2233612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8" name="Rectangle 12">
            <a:extLst>
              <a:ext uri="{FF2B5EF4-FFF2-40B4-BE49-F238E27FC236}">
                <a16:creationId xmlns:a16="http://schemas.microsoft.com/office/drawing/2014/main" id="{1816940B-3F5F-4464-B3F4-59608226EB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2205038"/>
            <a:ext cx="965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, тогда</a:t>
            </a:r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75790" name="Rectangle 14">
            <a:extLst>
              <a:ext uri="{FF2B5EF4-FFF2-40B4-BE49-F238E27FC236}">
                <a16:creationId xmlns:a16="http://schemas.microsoft.com/office/drawing/2014/main" id="{8C28123D-DABC-444E-A6F7-EDE3A3112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6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5789" name="Object 13">
            <a:extLst>
              <a:ext uri="{FF2B5EF4-FFF2-40B4-BE49-F238E27FC236}">
                <a16:creationId xmlns:a16="http://schemas.microsoft.com/office/drawing/2014/main" id="{380BC325-55B9-4730-92DC-6E33E38CDE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6100" y="2133600"/>
          <a:ext cx="3313113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13" name="Формула" r:id="rId9" imgW="1714500" imgH="241300" progId="Equation.3">
                  <p:embed/>
                </p:oleObj>
              </mc:Choice>
              <mc:Fallback>
                <p:oleObj name="Формула" r:id="rId9" imgW="1714500" imgH="241300" progId="Equation.3">
                  <p:embed/>
                  <p:pic>
                    <p:nvPicPr>
                      <p:cNvPr id="75789" name="Object 13">
                        <a:extLst>
                          <a:ext uri="{FF2B5EF4-FFF2-40B4-BE49-F238E27FC236}">
                            <a16:creationId xmlns:a16="http://schemas.microsoft.com/office/drawing/2014/main" id="{380BC325-55B9-4730-92DC-6E33E38CDE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2133600"/>
                        <a:ext cx="3313113" cy="407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92" name="Rectangle 16">
            <a:extLst>
              <a:ext uri="{FF2B5EF4-FFF2-40B4-BE49-F238E27FC236}">
                <a16:creationId xmlns:a16="http://schemas.microsoft.com/office/drawing/2014/main" id="{28797DA3-7E8F-4107-A54B-1B3FE2692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735263"/>
            <a:ext cx="6699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или  </a:t>
            </a:r>
            <a:endParaRPr lang="ru-RU" altLang="ru-RU">
              <a:latin typeface="Arial" panose="020B0604020202020204" pitchFamily="34" charset="0"/>
            </a:endParaRPr>
          </a:p>
        </p:txBody>
      </p:sp>
      <p:graphicFrame>
        <p:nvGraphicFramePr>
          <p:cNvPr id="75791" name="Object 15">
            <a:extLst>
              <a:ext uri="{FF2B5EF4-FFF2-40B4-BE49-F238E27FC236}">
                <a16:creationId xmlns:a16="http://schemas.microsoft.com/office/drawing/2014/main" id="{1741E033-AB81-4092-8FEA-C95837B915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2746375"/>
          <a:ext cx="2736850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14" name="Формула" r:id="rId11" imgW="1905000" imgH="241300" progId="Equation.3">
                  <p:embed/>
                </p:oleObj>
              </mc:Choice>
              <mc:Fallback>
                <p:oleObj name="Формула" r:id="rId11" imgW="1905000" imgH="241300" progId="Equation.3">
                  <p:embed/>
                  <p:pic>
                    <p:nvPicPr>
                      <p:cNvPr id="75791" name="Object 15">
                        <a:extLst>
                          <a:ext uri="{FF2B5EF4-FFF2-40B4-BE49-F238E27FC236}">
                            <a16:creationId xmlns:a16="http://schemas.microsoft.com/office/drawing/2014/main" id="{1741E033-AB81-4092-8FEA-C95837B915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746375"/>
                        <a:ext cx="2736850" cy="350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93" name="Rectangle 17">
            <a:extLst>
              <a:ext uri="{FF2B5EF4-FFF2-40B4-BE49-F238E27FC236}">
                <a16:creationId xmlns:a16="http://schemas.microsoft.com/office/drawing/2014/main" id="{0F260CC2-F391-4FA9-8FC8-1B57E6E16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3551238"/>
            <a:ext cx="31273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. 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75794" name="Rectangle 18">
            <a:extLst>
              <a:ext uri="{FF2B5EF4-FFF2-40B4-BE49-F238E27FC236}">
                <a16:creationId xmlns:a16="http://schemas.microsoft.com/office/drawing/2014/main" id="{6EAED886-7763-49C6-83D6-172D6435A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2708275"/>
            <a:ext cx="13731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.  Выразим </a:t>
            </a:r>
          </a:p>
        </p:txBody>
      </p:sp>
      <p:sp>
        <p:nvSpPr>
          <p:cNvPr id="75796" name="Rectangle 20">
            <a:extLst>
              <a:ext uri="{FF2B5EF4-FFF2-40B4-BE49-F238E27FC236}">
                <a16:creationId xmlns:a16="http://schemas.microsoft.com/office/drawing/2014/main" id="{1EABA446-8587-4463-A3B4-20FC8234C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5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5795" name="Object 19">
            <a:extLst>
              <a:ext uri="{FF2B5EF4-FFF2-40B4-BE49-F238E27FC236}">
                <a16:creationId xmlns:a16="http://schemas.microsoft.com/office/drawing/2014/main" id="{41AD1BFF-BB38-4E26-893E-78D03E3494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9700" y="2708275"/>
          <a:ext cx="6477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15" name="Формула" r:id="rId13" imgW="393529" imgH="203112" progId="Equation.3">
                  <p:embed/>
                </p:oleObj>
              </mc:Choice>
              <mc:Fallback>
                <p:oleObj name="Формула" r:id="rId13" imgW="393529" imgH="203112" progId="Equation.3">
                  <p:embed/>
                  <p:pic>
                    <p:nvPicPr>
                      <p:cNvPr id="75795" name="Object 19">
                        <a:extLst>
                          <a:ext uri="{FF2B5EF4-FFF2-40B4-BE49-F238E27FC236}">
                            <a16:creationId xmlns:a16="http://schemas.microsoft.com/office/drawing/2014/main" id="{41AD1BFF-BB38-4E26-893E-78D03E3494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2708275"/>
                        <a:ext cx="647700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98" name="Rectangle 22">
            <a:extLst>
              <a:ext uri="{FF2B5EF4-FFF2-40B4-BE49-F238E27FC236}">
                <a16:creationId xmlns:a16="http://schemas.microsoft.com/office/drawing/2014/main" id="{0E2E87EE-8529-42D9-B679-D5ADB2073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6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5797" name="Object 21">
            <a:extLst>
              <a:ext uri="{FF2B5EF4-FFF2-40B4-BE49-F238E27FC236}">
                <a16:creationId xmlns:a16="http://schemas.microsoft.com/office/drawing/2014/main" id="{64103BD7-D0FB-4C69-899B-D20D469D29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59563" y="2738438"/>
          <a:ext cx="1008062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16" name="Формула" r:id="rId15" imgW="685800" imgH="241300" progId="Equation.3">
                  <p:embed/>
                </p:oleObj>
              </mc:Choice>
              <mc:Fallback>
                <p:oleObj name="Формула" r:id="rId15" imgW="685800" imgH="241300" progId="Equation.3">
                  <p:embed/>
                  <p:pic>
                    <p:nvPicPr>
                      <p:cNvPr id="75797" name="Object 21">
                        <a:extLst>
                          <a:ext uri="{FF2B5EF4-FFF2-40B4-BE49-F238E27FC236}">
                            <a16:creationId xmlns:a16="http://schemas.microsoft.com/office/drawing/2014/main" id="{64103BD7-D0FB-4C69-899B-D20D469D29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2738438"/>
                        <a:ext cx="1008062" cy="358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99" name="Rectangle 23">
            <a:extLst>
              <a:ext uri="{FF2B5EF4-FFF2-40B4-BE49-F238E27FC236}">
                <a16:creationId xmlns:a16="http://schemas.microsoft.com/office/drawing/2014/main" id="{010BA227-60E8-42DD-9925-C7EB0A0C8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781300"/>
            <a:ext cx="8461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через </a:t>
            </a:r>
          </a:p>
        </p:txBody>
      </p:sp>
      <p:sp>
        <p:nvSpPr>
          <p:cNvPr id="75800" name="Rectangle 24">
            <a:extLst>
              <a:ext uri="{FF2B5EF4-FFF2-40B4-BE49-F238E27FC236}">
                <a16:creationId xmlns:a16="http://schemas.microsoft.com/office/drawing/2014/main" id="{76DD8061-2C40-4E4F-BA9A-EE9AAC135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213100"/>
            <a:ext cx="42449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и вспомогательные векторы   </a:t>
            </a:r>
            <a:r>
              <a:rPr lang="en-US" altLang="ru-RU" i="1"/>
              <a:t>y</a:t>
            </a:r>
            <a:r>
              <a:rPr lang="ru-RU" altLang="ru-RU"/>
              <a:t>    и   </a:t>
            </a:r>
            <a:r>
              <a:rPr lang="ru-RU" altLang="ru-RU" i="1"/>
              <a:t>z</a:t>
            </a:r>
            <a:r>
              <a:rPr lang="ru-RU" altLang="ru-RU"/>
              <a:t>   </a:t>
            </a:r>
          </a:p>
        </p:txBody>
      </p:sp>
      <p:sp>
        <p:nvSpPr>
          <p:cNvPr id="75801" name="Rectangle 25">
            <a:extLst>
              <a:ext uri="{FF2B5EF4-FFF2-40B4-BE49-F238E27FC236}">
                <a16:creationId xmlns:a16="http://schemas.microsoft.com/office/drawing/2014/main" id="{3D6467D8-5DCE-495C-BE56-2830245FB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213100"/>
            <a:ext cx="10874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. Тогда:  </a:t>
            </a:r>
          </a:p>
        </p:txBody>
      </p:sp>
      <p:sp>
        <p:nvSpPr>
          <p:cNvPr id="75803" name="Rectangle 27">
            <a:extLst>
              <a:ext uri="{FF2B5EF4-FFF2-40B4-BE49-F238E27FC236}">
                <a16:creationId xmlns:a16="http://schemas.microsoft.com/office/drawing/2014/main" id="{0873226E-A000-4059-82EA-FB4B05562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8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5802" name="Object 26">
            <a:extLst>
              <a:ext uri="{FF2B5EF4-FFF2-40B4-BE49-F238E27FC236}">
                <a16:creationId xmlns:a16="http://schemas.microsoft.com/office/drawing/2014/main" id="{C6E98E36-C0CA-4604-9D86-E95B1A3A75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8625" y="3078163"/>
          <a:ext cx="3095625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17" name="Формула" r:id="rId17" imgW="1981200" imgH="444500" progId="Equation.3">
                  <p:embed/>
                </p:oleObj>
              </mc:Choice>
              <mc:Fallback>
                <p:oleObj name="Формула" r:id="rId17" imgW="1981200" imgH="444500" progId="Equation.3">
                  <p:embed/>
                  <p:pic>
                    <p:nvPicPr>
                      <p:cNvPr id="75802" name="Object 26">
                        <a:extLst>
                          <a:ext uri="{FF2B5EF4-FFF2-40B4-BE49-F238E27FC236}">
                            <a16:creationId xmlns:a16="http://schemas.microsoft.com/office/drawing/2014/main" id="{C6E98E36-C0CA-4604-9D86-E95B1A3A75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3078163"/>
                        <a:ext cx="3095625" cy="688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804" name="Rectangle 28">
            <a:extLst>
              <a:ext uri="{FF2B5EF4-FFF2-40B4-BE49-F238E27FC236}">
                <a16:creationId xmlns:a16="http://schemas.microsoft.com/office/drawing/2014/main" id="{E516FAB2-2A10-4E8F-A96A-A21DAC4F4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3860800"/>
            <a:ext cx="9953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то есть </a:t>
            </a:r>
          </a:p>
        </p:txBody>
      </p:sp>
      <p:sp>
        <p:nvSpPr>
          <p:cNvPr id="75805" name="Rectangle 29">
            <a:extLst>
              <a:ext uri="{FF2B5EF4-FFF2-40B4-BE49-F238E27FC236}">
                <a16:creationId xmlns:a16="http://schemas.microsoft.com/office/drawing/2014/main" id="{A9E2B339-460E-491D-B9EA-FC407FD802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0" y="3141663"/>
            <a:ext cx="2413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/>
              <a:t>,</a:t>
            </a:r>
          </a:p>
        </p:txBody>
      </p:sp>
      <p:sp>
        <p:nvSpPr>
          <p:cNvPr id="75807" name="Rectangle 31">
            <a:extLst>
              <a:ext uri="{FF2B5EF4-FFF2-40B4-BE49-F238E27FC236}">
                <a16:creationId xmlns:a16="http://schemas.microsoft.com/office/drawing/2014/main" id="{FEBBB3A0-BE23-48C5-9A68-D0E915729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5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5806" name="Object 30">
            <a:extLst>
              <a:ext uri="{FF2B5EF4-FFF2-40B4-BE49-F238E27FC236}">
                <a16:creationId xmlns:a16="http://schemas.microsoft.com/office/drawing/2014/main" id="{72E430CF-05DA-42FE-AB43-8ABBBCC537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3871913"/>
          <a:ext cx="1944687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18" name="Формула" r:id="rId19" imgW="1180588" imgH="203112" progId="Equation.3">
                  <p:embed/>
                </p:oleObj>
              </mc:Choice>
              <mc:Fallback>
                <p:oleObj name="Формула" r:id="rId19" imgW="1180588" imgH="203112" progId="Equation.3">
                  <p:embed/>
                  <p:pic>
                    <p:nvPicPr>
                      <p:cNvPr id="75806" name="Object 30">
                        <a:extLst>
                          <a:ext uri="{FF2B5EF4-FFF2-40B4-BE49-F238E27FC236}">
                            <a16:creationId xmlns:a16="http://schemas.microsoft.com/office/drawing/2014/main" id="{72E430CF-05DA-42FE-AB43-8ABBBCC537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3871913"/>
                        <a:ext cx="1944687" cy="339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808" name="Rectangle 32">
            <a:extLst>
              <a:ext uri="{FF2B5EF4-FFF2-40B4-BE49-F238E27FC236}">
                <a16:creationId xmlns:a16="http://schemas.microsoft.com/office/drawing/2014/main" id="{71DD41DE-0645-46F8-BDFC-AD00239D78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3860800"/>
            <a:ext cx="34956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. Необходимо, чтобы векторы   </a:t>
            </a:r>
          </a:p>
        </p:txBody>
      </p:sp>
      <p:sp>
        <p:nvSpPr>
          <p:cNvPr id="75809" name="Rectangle 33">
            <a:extLst>
              <a:ext uri="{FF2B5EF4-FFF2-40B4-BE49-F238E27FC236}">
                <a16:creationId xmlns:a16="http://schemas.microsoft.com/office/drawing/2014/main" id="{0736DD58-CD93-4A5A-A25C-2432FE4D6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3860800"/>
            <a:ext cx="958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ru-RU" i="1"/>
              <a:t>y</a:t>
            </a:r>
            <a:r>
              <a:rPr lang="ru-RU" altLang="ru-RU"/>
              <a:t>   и   </a:t>
            </a:r>
            <a:r>
              <a:rPr lang="en-US" altLang="ru-RU" i="1"/>
              <a:t>z</a:t>
            </a:r>
            <a:r>
              <a:rPr lang="ru-RU" altLang="ru-RU"/>
              <a:t>  </a:t>
            </a:r>
          </a:p>
        </p:txBody>
      </p:sp>
      <p:sp>
        <p:nvSpPr>
          <p:cNvPr id="75811" name="Rectangle 35">
            <a:extLst>
              <a:ext uri="{FF2B5EF4-FFF2-40B4-BE49-F238E27FC236}">
                <a16:creationId xmlns:a16="http://schemas.microsoft.com/office/drawing/2014/main" id="{5B7A897D-9BF2-4E82-BFA9-6349F5975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4391025"/>
            <a:ext cx="21256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dirty="0">
                <a:cs typeface="Times New Roman" panose="02020603050405020304" pitchFamily="18" charset="0"/>
              </a:rPr>
              <a:t>имели размерность </a:t>
            </a:r>
          </a:p>
        </p:txBody>
      </p:sp>
      <p:graphicFrame>
        <p:nvGraphicFramePr>
          <p:cNvPr id="75810" name="Object 34">
            <a:extLst>
              <a:ext uri="{FF2B5EF4-FFF2-40B4-BE49-F238E27FC236}">
                <a16:creationId xmlns:a16="http://schemas.microsoft.com/office/drawing/2014/main" id="{3173AF1C-BF61-4FD9-981A-09DFE370E3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3420589"/>
              </p:ext>
            </p:extLst>
          </p:nvPr>
        </p:nvGraphicFramePr>
        <p:xfrm>
          <a:off x="2861469" y="4396583"/>
          <a:ext cx="865187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19" name="Формула" r:id="rId21" imgW="444307" imgH="203112" progId="Equation.3">
                  <p:embed/>
                </p:oleObj>
              </mc:Choice>
              <mc:Fallback>
                <p:oleObj name="Формула" r:id="rId21" imgW="444307" imgH="203112" progId="Equation.3">
                  <p:embed/>
                  <p:pic>
                    <p:nvPicPr>
                      <p:cNvPr id="75810" name="Object 34">
                        <a:extLst>
                          <a:ext uri="{FF2B5EF4-FFF2-40B4-BE49-F238E27FC236}">
                            <a16:creationId xmlns:a16="http://schemas.microsoft.com/office/drawing/2014/main" id="{3173AF1C-BF61-4FD9-981A-09DFE370E3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1469" y="4396583"/>
                        <a:ext cx="865187" cy="404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812" name="Rectangle 36">
            <a:extLst>
              <a:ext uri="{FF2B5EF4-FFF2-40B4-BE49-F238E27FC236}">
                <a16:creationId xmlns:a16="http://schemas.microsoft.com/office/drawing/2014/main" id="{DC17B6C9-926A-4676-80CF-BCDFDBBD9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3644900"/>
            <a:ext cx="2476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r>
              <a:rPr lang="ru-RU" altLang="ru-RU" sz="600">
                <a:latin typeface="Arial" panose="020B0604020202020204" pitchFamily="34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75813" name="Rectangle 37">
            <a:extLst>
              <a:ext uri="{FF2B5EF4-FFF2-40B4-BE49-F238E27FC236}">
                <a16:creationId xmlns:a16="http://schemas.microsoft.com/office/drawing/2014/main" id="{2A760C0B-57B7-4705-8F9D-4A87CE30B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75" y="4365625"/>
            <a:ext cx="241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/>
              <a:t>.</a:t>
            </a:r>
          </a:p>
        </p:txBody>
      </p:sp>
      <p:sp>
        <p:nvSpPr>
          <p:cNvPr id="75814" name="Rectangle 38">
            <a:extLst>
              <a:ext uri="{FF2B5EF4-FFF2-40B4-BE49-F238E27FC236}">
                <a16:creationId xmlns:a16="http://schemas.microsoft.com/office/drawing/2014/main" id="{F682D1EF-9301-4DA5-89E6-AD0AB8F0A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4868863"/>
            <a:ext cx="88677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В зависимости от подбора векторов  </a:t>
            </a:r>
            <a:r>
              <a:rPr lang="en-US" altLang="ru-RU" i="1"/>
              <a:t>y</a:t>
            </a:r>
            <a:r>
              <a:rPr lang="ru-RU" altLang="ru-RU"/>
              <a:t>  и  </a:t>
            </a:r>
            <a:r>
              <a:rPr lang="en-US" altLang="ru-RU" i="1"/>
              <a:t>z</a:t>
            </a:r>
            <a:r>
              <a:rPr lang="ru-RU" altLang="ru-RU"/>
              <a:t>  получим различные варианты метода </a:t>
            </a:r>
          </a:p>
        </p:txBody>
      </p:sp>
      <p:sp>
        <p:nvSpPr>
          <p:cNvPr id="75815" name="Rectangle 39">
            <a:extLst>
              <a:ext uri="{FF2B5EF4-FFF2-40B4-BE49-F238E27FC236}">
                <a16:creationId xmlns:a16="http://schemas.microsoft.com/office/drawing/2014/main" id="{F2069452-9EBD-40C8-94B7-B9453FE75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5373688"/>
            <a:ext cx="25225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переменной метрики. </a:t>
            </a:r>
          </a:p>
        </p:txBody>
      </p:sp>
      <p:sp>
        <p:nvSpPr>
          <p:cNvPr id="75817" name="Rectangle 41">
            <a:extLst>
              <a:ext uri="{FF2B5EF4-FFF2-40B4-BE49-F238E27FC236}">
                <a16:creationId xmlns:a16="http://schemas.microsoft.com/office/drawing/2014/main" id="{FD2BC42E-7304-4187-ACF1-6D13019856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5816" name="Object 40">
            <a:extLst>
              <a:ext uri="{FF2B5EF4-FFF2-40B4-BE49-F238E27FC236}">
                <a16:creationId xmlns:a16="http://schemas.microsoft.com/office/drawing/2014/main" id="{4CA440E4-BD6B-4159-A373-C5C9F571F3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9538666"/>
              </p:ext>
            </p:extLst>
          </p:nvPr>
        </p:nvGraphicFramePr>
        <p:xfrm>
          <a:off x="2451100" y="5157863"/>
          <a:ext cx="1657350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20" name="Формула" r:id="rId23" imgW="939392" imgH="444307" progId="Equation.3">
                  <p:embed/>
                </p:oleObj>
              </mc:Choice>
              <mc:Fallback>
                <p:oleObj name="Формула" r:id="rId23" imgW="939392" imgH="444307" progId="Equation.3">
                  <p:embed/>
                  <p:pic>
                    <p:nvPicPr>
                      <p:cNvPr id="75816" name="Object 40">
                        <a:extLst>
                          <a:ext uri="{FF2B5EF4-FFF2-40B4-BE49-F238E27FC236}">
                            <a16:creationId xmlns:a16="http://schemas.microsoft.com/office/drawing/2014/main" id="{4CA440E4-BD6B-4159-A373-C5C9F571F3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5157863"/>
                        <a:ext cx="1657350" cy="779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818" name="Rectangle 42">
            <a:extLst>
              <a:ext uri="{FF2B5EF4-FFF2-40B4-BE49-F238E27FC236}">
                <a16:creationId xmlns:a16="http://schemas.microsoft.com/office/drawing/2014/main" id="{2DE70B15-C2B8-46EB-8036-9A0A6CFA4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4644" y="5297487"/>
            <a:ext cx="3540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dirty="0"/>
              <a:t> , </a:t>
            </a:r>
          </a:p>
        </p:txBody>
      </p:sp>
      <p:sp>
        <p:nvSpPr>
          <p:cNvPr id="75820" name="Rectangle 44">
            <a:extLst>
              <a:ext uri="{FF2B5EF4-FFF2-40B4-BE49-F238E27FC236}">
                <a16:creationId xmlns:a16="http://schemas.microsoft.com/office/drawing/2014/main" id="{F6DE8A28-A48C-4244-90C3-8037A7269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8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5819" name="Object 43">
            <a:extLst>
              <a:ext uri="{FF2B5EF4-FFF2-40B4-BE49-F238E27FC236}">
                <a16:creationId xmlns:a16="http://schemas.microsoft.com/office/drawing/2014/main" id="{0BCB4A30-608A-4D2A-A70A-4A6BACA22A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7400150"/>
              </p:ext>
            </p:extLst>
          </p:nvPr>
        </p:nvGraphicFramePr>
        <p:xfrm>
          <a:off x="4216858" y="5142484"/>
          <a:ext cx="2016125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21" name="Формула" r:id="rId25" imgW="1205977" imgH="444307" progId="Equation.3">
                  <p:embed/>
                </p:oleObj>
              </mc:Choice>
              <mc:Fallback>
                <p:oleObj name="Формула" r:id="rId25" imgW="1205977" imgH="444307" progId="Equation.3">
                  <p:embed/>
                  <p:pic>
                    <p:nvPicPr>
                      <p:cNvPr id="75819" name="Object 43">
                        <a:extLst>
                          <a:ext uri="{FF2B5EF4-FFF2-40B4-BE49-F238E27FC236}">
                            <a16:creationId xmlns:a16="http://schemas.microsoft.com/office/drawing/2014/main" id="{0BCB4A30-608A-4D2A-A70A-4A6BACA22A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6858" y="5142484"/>
                        <a:ext cx="2016125" cy="739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821" name="Rectangle 45">
            <a:extLst>
              <a:ext uri="{FF2B5EF4-FFF2-40B4-BE49-F238E27FC236}">
                <a16:creationId xmlns:a16="http://schemas.microsoft.com/office/drawing/2014/main" id="{ECD0E80D-7D07-491D-A541-1AFEB8114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0977" y="5346700"/>
            <a:ext cx="241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dirty="0"/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B71C79B4-7223-48A2-B119-234D776C51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Квазиньютоновские</a:t>
            </a:r>
            <a:r>
              <a:rPr lang="ru-RU" altLang="ru-RU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методы</a:t>
            </a:r>
            <a:r>
              <a:rPr lang="ru-RU" altLang="ru-RU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ru-RU" altLang="ru-RU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Метод  </a:t>
            </a:r>
            <a:r>
              <a:rPr lang="ru-RU" altLang="ru-RU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Девидона</a:t>
            </a:r>
            <a:r>
              <a:rPr lang="ru-RU" altLang="ru-RU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Флетчера – Пауэлла (</a:t>
            </a:r>
            <a:r>
              <a:rPr lang="en-US" altLang="ru-RU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DFP</a:t>
            </a:r>
            <a:r>
              <a:rPr lang="ru-RU" altLang="ru-RU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altLang="ru-RU" sz="2400" b="1" u="sng" dirty="0"/>
              <a:t>.</a:t>
            </a:r>
            <a:br>
              <a:rPr lang="ru-RU" altLang="ru-RU" sz="2400" b="1" u="sng" dirty="0"/>
            </a:br>
            <a:endParaRPr lang="ru-RU" altLang="ru-RU" sz="2400" b="1" u="sng" dirty="0"/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34EE7691-4F48-4F3E-85D5-5521B7D258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ru-RU" altLang="ru-RU" sz="2000" b="1" u="sng"/>
          </a:p>
        </p:txBody>
      </p:sp>
      <p:sp>
        <p:nvSpPr>
          <p:cNvPr id="76805" name="Rectangle 5">
            <a:extLst>
              <a:ext uri="{FF2B5EF4-FFF2-40B4-BE49-F238E27FC236}">
                <a16:creationId xmlns:a16="http://schemas.microsoft.com/office/drawing/2014/main" id="{120FDD7F-91D2-4971-A59A-E4C38FA80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527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6804" name="Object 4">
            <a:extLst>
              <a:ext uri="{FF2B5EF4-FFF2-40B4-BE49-F238E27FC236}">
                <a16:creationId xmlns:a16="http://schemas.microsoft.com/office/drawing/2014/main" id="{A1246695-A153-4838-9499-7FBF15BBA3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2390775"/>
          <a:ext cx="6911975" cy="240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46" name="Формула" r:id="rId3" imgW="2743200" imgH="952500" progId="Equation.3">
                  <p:embed/>
                </p:oleObj>
              </mc:Choice>
              <mc:Fallback>
                <p:oleObj name="Формула" r:id="rId3" imgW="2743200" imgH="952500" progId="Equation.3">
                  <p:embed/>
                  <p:pic>
                    <p:nvPicPr>
                      <p:cNvPr id="76804" name="Object 4">
                        <a:extLst>
                          <a:ext uri="{FF2B5EF4-FFF2-40B4-BE49-F238E27FC236}">
                            <a16:creationId xmlns:a16="http://schemas.microsoft.com/office/drawing/2014/main" id="{A1246695-A153-4838-9499-7FBF15BBA3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390775"/>
                        <a:ext cx="6911975" cy="2400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F0C5D9AC-3768-4944-91C8-7A43014708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Квазиньютоновские</a:t>
            </a:r>
            <a:r>
              <a:rPr lang="ru-RU" altLang="ru-RU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методы </a:t>
            </a:r>
            <a:br>
              <a:rPr lang="ru-RU" altLang="ru-RU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ru-RU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ru-RU" altLang="ru-RU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</a:t>
            </a:r>
            <a:r>
              <a:rPr lang="ru-RU" altLang="ru-RU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Бройдена</a:t>
            </a:r>
            <a:r>
              <a:rPr lang="ru-RU" altLang="ru-RU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r>
              <a:rPr lang="ru-RU" altLang="ru-RU" sz="2400" b="1" u="sng" dirty="0"/>
              <a:t>.</a:t>
            </a:r>
            <a:br>
              <a:rPr lang="ru-RU" altLang="ru-RU" sz="2400" b="1" u="sng" dirty="0"/>
            </a:br>
            <a:endParaRPr lang="ru-RU" altLang="ru-RU" sz="2400" b="1" u="sng" dirty="0"/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FA0CA88A-AFB5-49C5-8897-BE1AE2842B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ru-RU" altLang="ru-RU" sz="2000" b="1" u="sng"/>
          </a:p>
        </p:txBody>
      </p:sp>
      <p:sp>
        <p:nvSpPr>
          <p:cNvPr id="77829" name="Rectangle 5">
            <a:extLst>
              <a:ext uri="{FF2B5EF4-FFF2-40B4-BE49-F238E27FC236}">
                <a16:creationId xmlns:a16="http://schemas.microsoft.com/office/drawing/2014/main" id="{5A1C78FE-6416-459B-9D6A-FC1CAA453B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24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7831" name="Rectangle 7">
            <a:extLst>
              <a:ext uri="{FF2B5EF4-FFF2-40B4-BE49-F238E27FC236}">
                <a16:creationId xmlns:a16="http://schemas.microsoft.com/office/drawing/2014/main" id="{986DE821-0948-4268-881A-4F617F6A3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6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7830" name="Object 6">
            <a:extLst>
              <a:ext uri="{FF2B5EF4-FFF2-40B4-BE49-F238E27FC236}">
                <a16:creationId xmlns:a16="http://schemas.microsoft.com/office/drawing/2014/main" id="{BED1C3BB-6F76-472F-A915-494DD32DF8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2036763"/>
          <a:ext cx="4464050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02" name="Формула" r:id="rId3" imgW="1955800" imgH="241300" progId="Equation.3">
                  <p:embed/>
                </p:oleObj>
              </mc:Choice>
              <mc:Fallback>
                <p:oleObj name="Формула" r:id="rId3" imgW="1955800" imgH="241300" progId="Equation.3">
                  <p:embed/>
                  <p:pic>
                    <p:nvPicPr>
                      <p:cNvPr id="77830" name="Object 6">
                        <a:extLst>
                          <a:ext uri="{FF2B5EF4-FFF2-40B4-BE49-F238E27FC236}">
                            <a16:creationId xmlns:a16="http://schemas.microsoft.com/office/drawing/2014/main" id="{BED1C3BB-6F76-472F-A915-494DD32DF8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2036763"/>
                        <a:ext cx="4464050" cy="557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33" name="Rectangle 9">
            <a:extLst>
              <a:ext uri="{FF2B5EF4-FFF2-40B4-BE49-F238E27FC236}">
                <a16:creationId xmlns:a16="http://schemas.microsoft.com/office/drawing/2014/main" id="{6A1C132B-201E-4639-9CCE-17256F3CF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7832" name="Object 8">
            <a:extLst>
              <a:ext uri="{FF2B5EF4-FFF2-40B4-BE49-F238E27FC236}">
                <a16:creationId xmlns:a16="http://schemas.microsoft.com/office/drawing/2014/main" id="{B8086FD3-E34E-41E1-99CE-C6EC9A5055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2852738"/>
          <a:ext cx="7920038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03" name="Формула" r:id="rId5" imgW="4127500" imgH="457200" progId="Equation.3">
                  <p:embed/>
                </p:oleObj>
              </mc:Choice>
              <mc:Fallback>
                <p:oleObj name="Формула" r:id="rId5" imgW="4127500" imgH="457200" progId="Equation.3">
                  <p:embed/>
                  <p:pic>
                    <p:nvPicPr>
                      <p:cNvPr id="77832" name="Object 8">
                        <a:extLst>
                          <a:ext uri="{FF2B5EF4-FFF2-40B4-BE49-F238E27FC236}">
                            <a16:creationId xmlns:a16="http://schemas.microsoft.com/office/drawing/2014/main" id="{B8086FD3-E34E-41E1-99CE-C6EC9A5055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852738"/>
                        <a:ext cx="7920038" cy="1008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34" name="Rectangle 10">
            <a:extLst>
              <a:ext uri="{FF2B5EF4-FFF2-40B4-BE49-F238E27FC236}">
                <a16:creationId xmlns:a16="http://schemas.microsoft.com/office/drawing/2014/main" id="{6172CEB6-ED72-4DD1-B992-69B548F28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940175"/>
            <a:ext cx="83534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/>
              <a:t>Здесь так же как и в методе сопряженных градиентов на каждой итерации формируется новая матрица сопряжения </a:t>
            </a:r>
          </a:p>
        </p:txBody>
      </p:sp>
      <p:sp>
        <p:nvSpPr>
          <p:cNvPr id="77836" name="Rectangle 12">
            <a:extLst>
              <a:ext uri="{FF2B5EF4-FFF2-40B4-BE49-F238E27FC236}">
                <a16:creationId xmlns:a16="http://schemas.microsoft.com/office/drawing/2014/main" id="{0AFA7C23-1E21-451C-ABED-6B07235DF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7835" name="Object 11">
            <a:extLst>
              <a:ext uri="{FF2B5EF4-FFF2-40B4-BE49-F238E27FC236}">
                <a16:creationId xmlns:a16="http://schemas.microsoft.com/office/drawing/2014/main" id="{76217B56-E7C2-4419-A61C-041654334F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8263" y="4221163"/>
          <a:ext cx="576262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04" name="Формула" r:id="rId7" imgW="279400" imgH="228600" progId="Equation.3">
                  <p:embed/>
                </p:oleObj>
              </mc:Choice>
              <mc:Fallback>
                <p:oleObj name="Формула" r:id="rId7" imgW="279400" imgH="228600" progId="Equation.3">
                  <p:embed/>
                  <p:pic>
                    <p:nvPicPr>
                      <p:cNvPr id="77835" name="Object 11">
                        <a:extLst>
                          <a:ext uri="{FF2B5EF4-FFF2-40B4-BE49-F238E27FC236}">
                            <a16:creationId xmlns:a16="http://schemas.microsoft.com/office/drawing/2014/main" id="{76217B56-E7C2-4419-A61C-041654334F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4221163"/>
                        <a:ext cx="576262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37" name="Rectangle 13">
            <a:extLst>
              <a:ext uri="{FF2B5EF4-FFF2-40B4-BE49-F238E27FC236}">
                <a16:creationId xmlns:a16="http://schemas.microsoft.com/office/drawing/2014/main" id="{4B4B2798-2BC6-41F9-BCB0-471C948C7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4292600"/>
            <a:ext cx="7000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, где </a:t>
            </a:r>
          </a:p>
        </p:txBody>
      </p:sp>
      <p:sp>
        <p:nvSpPr>
          <p:cNvPr id="77839" name="Rectangle 15">
            <a:extLst>
              <a:ext uri="{FF2B5EF4-FFF2-40B4-BE49-F238E27FC236}">
                <a16:creationId xmlns:a16="http://schemas.microsoft.com/office/drawing/2014/main" id="{C7B0FD07-CEFB-4A40-BB12-908C69835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6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7838" name="Object 14">
            <a:extLst>
              <a:ext uri="{FF2B5EF4-FFF2-40B4-BE49-F238E27FC236}">
                <a16:creationId xmlns:a16="http://schemas.microsoft.com/office/drawing/2014/main" id="{FDF6F75B-29D8-4954-9F3B-C7400AC0EF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4581525"/>
          <a:ext cx="432117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05" name="Формула" r:id="rId9" imgW="2006600" imgH="241300" progId="Equation.3">
                  <p:embed/>
                </p:oleObj>
              </mc:Choice>
              <mc:Fallback>
                <p:oleObj name="Формула" r:id="rId9" imgW="2006600" imgH="241300" progId="Equation.3">
                  <p:embed/>
                  <p:pic>
                    <p:nvPicPr>
                      <p:cNvPr id="77838" name="Object 14">
                        <a:extLst>
                          <a:ext uri="{FF2B5EF4-FFF2-40B4-BE49-F238E27FC236}">
                            <a16:creationId xmlns:a16="http://schemas.microsoft.com/office/drawing/2014/main" id="{FDF6F75B-29D8-4954-9F3B-C7400AC0EF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581525"/>
                        <a:ext cx="4321175" cy="527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40" name="Rectangle 16">
            <a:extLst>
              <a:ext uri="{FF2B5EF4-FFF2-40B4-BE49-F238E27FC236}">
                <a16:creationId xmlns:a16="http://schemas.microsoft.com/office/drawing/2014/main" id="{BEC7ECCB-21A9-4C72-8567-048D62220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5516563"/>
            <a:ext cx="12858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При этом: </a:t>
            </a:r>
          </a:p>
        </p:txBody>
      </p:sp>
      <p:sp>
        <p:nvSpPr>
          <p:cNvPr id="77842" name="Rectangle 18">
            <a:extLst>
              <a:ext uri="{FF2B5EF4-FFF2-40B4-BE49-F238E27FC236}">
                <a16:creationId xmlns:a16="http://schemas.microsoft.com/office/drawing/2014/main" id="{97C86D33-F459-4ECC-AE82-E366017C9A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59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7841" name="Object 17">
            <a:extLst>
              <a:ext uri="{FF2B5EF4-FFF2-40B4-BE49-F238E27FC236}">
                <a16:creationId xmlns:a16="http://schemas.microsoft.com/office/drawing/2014/main" id="{B23477B5-DA31-4BE7-85F0-2663516688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5048250"/>
          <a:ext cx="4176713" cy="150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06" name="Формула" r:id="rId11" imgW="2057400" imgH="736600" progId="Equation.3">
                  <p:embed/>
                </p:oleObj>
              </mc:Choice>
              <mc:Fallback>
                <p:oleObj name="Формула" r:id="rId11" imgW="2057400" imgH="736600" progId="Equation.3">
                  <p:embed/>
                  <p:pic>
                    <p:nvPicPr>
                      <p:cNvPr id="77841" name="Object 17">
                        <a:extLst>
                          <a:ext uri="{FF2B5EF4-FFF2-40B4-BE49-F238E27FC236}">
                            <a16:creationId xmlns:a16="http://schemas.microsoft.com/office/drawing/2014/main" id="{B23477B5-DA31-4BE7-85F0-2663516688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5048250"/>
                        <a:ext cx="4176713" cy="1501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43" name="Rectangle 19">
            <a:extLst>
              <a:ext uri="{FF2B5EF4-FFF2-40B4-BE49-F238E27FC236}">
                <a16:creationId xmlns:a16="http://schemas.microsoft.com/office/drawing/2014/main" id="{80C9B62E-7247-43B1-AF6E-458337F39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4652963"/>
            <a:ext cx="25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2000"/>
              <a:t>;</a:t>
            </a:r>
          </a:p>
        </p:txBody>
      </p:sp>
      <p:sp>
        <p:nvSpPr>
          <p:cNvPr id="77844" name="Rectangle 20">
            <a:extLst>
              <a:ext uri="{FF2B5EF4-FFF2-40B4-BE49-F238E27FC236}">
                <a16:creationId xmlns:a16="http://schemas.microsoft.com/office/drawing/2014/main" id="{FD6F697A-D641-4DF1-9651-C82F70311E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5589588"/>
            <a:ext cx="25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2000"/>
              <a:t>;</a:t>
            </a:r>
          </a:p>
        </p:txBody>
      </p:sp>
      <p:sp>
        <p:nvSpPr>
          <p:cNvPr id="77845" name="Rectangle 21">
            <a:extLst>
              <a:ext uri="{FF2B5EF4-FFF2-40B4-BE49-F238E27FC236}">
                <a16:creationId xmlns:a16="http://schemas.microsoft.com/office/drawing/2014/main" id="{3AAA5C55-272A-4A72-885C-100CBA0C3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8713" y="3068638"/>
            <a:ext cx="2476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2000"/>
              <a:t>.</a:t>
            </a:r>
          </a:p>
        </p:txBody>
      </p:sp>
      <p:sp>
        <p:nvSpPr>
          <p:cNvPr id="77846" name="Rectangle 22">
            <a:extLst>
              <a:ext uri="{FF2B5EF4-FFF2-40B4-BE49-F238E27FC236}">
                <a16:creationId xmlns:a16="http://schemas.microsoft.com/office/drawing/2014/main" id="{82CC1122-FD08-4613-9F02-C5D80D656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6165850"/>
            <a:ext cx="2476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2000"/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8A59903A-ED81-4BA2-A6F1-C20DCEBFF0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Квазиньютоновские</a:t>
            </a:r>
            <a:r>
              <a:rPr lang="ru-RU" altLang="ru-RU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методы</a:t>
            </a:r>
            <a:r>
              <a:rPr lang="ru-RU" altLang="ru-RU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ru-RU" altLang="ru-RU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ru-RU" altLang="ru-RU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квазиньютоновских</a:t>
            </a:r>
            <a:r>
              <a:rPr lang="ru-RU" altLang="ru-RU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методов</a:t>
            </a:r>
            <a:r>
              <a:rPr lang="ru-RU" altLang="ru-RU" sz="2800" u="sng" dirty="0"/>
              <a:t>.</a:t>
            </a:r>
            <a:br>
              <a:rPr lang="ru-RU" altLang="ru-RU" sz="2800" u="sng" dirty="0"/>
            </a:br>
            <a:endParaRPr lang="ru-RU" altLang="ru-RU" sz="2800" u="sng" dirty="0"/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5A775463-60BB-4C6D-BBF4-513ED50544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628775"/>
            <a:ext cx="8229600" cy="4525963"/>
          </a:xfrm>
        </p:spPr>
        <p:txBody>
          <a:bodyPr/>
          <a:lstStyle/>
          <a:p>
            <a:pPr>
              <a:buFontTx/>
              <a:buNone/>
            </a:pPr>
            <a:endParaRPr lang="ru-RU" altLang="ru-RU" sz="2000" u="sng"/>
          </a:p>
        </p:txBody>
      </p:sp>
      <p:sp>
        <p:nvSpPr>
          <p:cNvPr id="78853" name="Rectangle 5">
            <a:extLst>
              <a:ext uri="{FF2B5EF4-FFF2-40B4-BE49-F238E27FC236}">
                <a16:creationId xmlns:a16="http://schemas.microsoft.com/office/drawing/2014/main" id="{AB21C734-930C-4178-A84F-7D239B170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773238"/>
            <a:ext cx="76327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r>
              <a:rPr lang="ru-RU" altLang="ru-RU" b="1" i="1" u="sng">
                <a:latin typeface="Arial" panose="020B0604020202020204" pitchFamily="34" charset="0"/>
                <a:cs typeface="Times New Roman" panose="02020603050405020304" pitchFamily="18" charset="0"/>
              </a:rPr>
              <a:t>Ш0.</a:t>
            </a:r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 Выбор параметров точности </a:t>
            </a:r>
            <a:r>
              <a:rPr lang="ru-RU" altLang="ru-RU"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ru-RU" altLang="ru-RU">
                <a:cs typeface="Times New Roman" panose="02020603050405020304" pitchFamily="18" charset="0"/>
              </a:rPr>
              <a:t>,</a:t>
            </a:r>
            <a:r>
              <a:rPr lang="ru-RU" altLang="ru-RU"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ru-RU" altLang="ru-RU">
                <a:cs typeface="Times New Roman" panose="02020603050405020304" pitchFamily="18" charset="0"/>
              </a:rPr>
              <a:t>, </a:t>
            </a:r>
            <a:r>
              <a:rPr lang="en-US" altLang="ru-RU"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ru-RU" altLang="ru-RU">
                <a:cs typeface="Times New Roman" panose="02020603050405020304" pitchFamily="18" charset="0"/>
                <a:sym typeface="Symbol" panose="05050102010706020507" pitchFamily="18" charset="2"/>
              </a:rPr>
              <a:t>=0. Выбор нач. точки </a:t>
            </a:r>
          </a:p>
        </p:txBody>
      </p:sp>
      <p:graphicFrame>
        <p:nvGraphicFramePr>
          <p:cNvPr id="78852" name="Object 4">
            <a:extLst>
              <a:ext uri="{FF2B5EF4-FFF2-40B4-BE49-F238E27FC236}">
                <a16:creationId xmlns:a16="http://schemas.microsoft.com/office/drawing/2014/main" id="{F7346469-16D0-4D95-B356-EC85735325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59563" y="1773238"/>
          <a:ext cx="504825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42" name="Формула" r:id="rId3" imgW="253780" imgH="203024" progId="Equation.3">
                  <p:embed/>
                </p:oleObj>
              </mc:Choice>
              <mc:Fallback>
                <p:oleObj name="Формула" r:id="rId3" imgW="253780" imgH="203024" progId="Equation.3">
                  <p:embed/>
                  <p:pic>
                    <p:nvPicPr>
                      <p:cNvPr id="78852" name="Object 4">
                        <a:extLst>
                          <a:ext uri="{FF2B5EF4-FFF2-40B4-BE49-F238E27FC236}">
                            <a16:creationId xmlns:a16="http://schemas.microsoft.com/office/drawing/2014/main" id="{F7346469-16D0-4D95-B356-EC85735325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1773238"/>
                        <a:ext cx="504825" cy="41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4" name="Rectangle 6">
            <a:extLst>
              <a:ext uri="{FF2B5EF4-FFF2-40B4-BE49-F238E27FC236}">
                <a16:creationId xmlns:a16="http://schemas.microsoft.com/office/drawing/2014/main" id="{F0F8E556-9B7C-4AFB-93F0-B13269BE48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2159000"/>
            <a:ext cx="247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just"/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78855" name="Rectangle 7">
            <a:extLst>
              <a:ext uri="{FF2B5EF4-FFF2-40B4-BE49-F238E27FC236}">
                <a16:creationId xmlns:a16="http://schemas.microsoft.com/office/drawing/2014/main" id="{7E6C7974-659B-40A0-BD42-BB2C4A514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205038"/>
            <a:ext cx="19192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b="1" i="1" u="sng"/>
              <a:t>Ш1.</a:t>
            </a:r>
            <a:r>
              <a:rPr lang="ru-RU" altLang="ru-RU"/>
              <a:t> Вычислить: </a:t>
            </a:r>
          </a:p>
        </p:txBody>
      </p:sp>
      <p:sp>
        <p:nvSpPr>
          <p:cNvPr id="78857" name="Rectangle 9">
            <a:extLst>
              <a:ext uri="{FF2B5EF4-FFF2-40B4-BE49-F238E27FC236}">
                <a16:creationId xmlns:a16="http://schemas.microsoft.com/office/drawing/2014/main" id="{DF725EBF-7866-4875-A011-F5F594F44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6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8856" name="Object 8">
            <a:extLst>
              <a:ext uri="{FF2B5EF4-FFF2-40B4-BE49-F238E27FC236}">
                <a16:creationId xmlns:a16="http://schemas.microsoft.com/office/drawing/2014/main" id="{28261628-2E6C-415A-B431-49BCB8F56B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2205038"/>
          <a:ext cx="4392612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43" name="Формула" r:id="rId5" imgW="2590800" imgH="241300" progId="Equation.3">
                  <p:embed/>
                </p:oleObj>
              </mc:Choice>
              <mc:Fallback>
                <p:oleObj name="Формула" r:id="rId5" imgW="2590800" imgH="241300" progId="Equation.3">
                  <p:embed/>
                  <p:pic>
                    <p:nvPicPr>
                      <p:cNvPr id="78856" name="Object 8">
                        <a:extLst>
                          <a:ext uri="{FF2B5EF4-FFF2-40B4-BE49-F238E27FC236}">
                            <a16:creationId xmlns:a16="http://schemas.microsoft.com/office/drawing/2014/main" id="{28261628-2E6C-415A-B431-49BCB8F56B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2205038"/>
                        <a:ext cx="4392612" cy="414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8" name="Rectangle 10">
            <a:extLst>
              <a:ext uri="{FF2B5EF4-FFF2-40B4-BE49-F238E27FC236}">
                <a16:creationId xmlns:a16="http://schemas.microsoft.com/office/drawing/2014/main" id="{EA3725FD-5AAC-4227-B1B4-B62B09CB2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708275"/>
            <a:ext cx="19192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b="1" i="1" u="sng"/>
              <a:t>Ш2.</a:t>
            </a:r>
            <a:r>
              <a:rPr lang="ru-RU" altLang="ru-RU"/>
              <a:t> Вычислить: </a:t>
            </a:r>
          </a:p>
        </p:txBody>
      </p:sp>
      <p:sp>
        <p:nvSpPr>
          <p:cNvPr id="78860" name="Rectangle 12">
            <a:extLst>
              <a:ext uri="{FF2B5EF4-FFF2-40B4-BE49-F238E27FC236}">
                <a16:creationId xmlns:a16="http://schemas.microsoft.com/office/drawing/2014/main" id="{CD9EA546-FCB9-4BF4-8ED1-2CD24973B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8859" name="Object 11">
            <a:extLst>
              <a:ext uri="{FF2B5EF4-FFF2-40B4-BE49-F238E27FC236}">
                <a16:creationId xmlns:a16="http://schemas.microsoft.com/office/drawing/2014/main" id="{A9357E87-BE99-4520-AD5D-4344205681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4438" y="2708275"/>
          <a:ext cx="5113337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44" name="Формула" r:id="rId7" imgW="3568700" imgH="228600" progId="Equation.3">
                  <p:embed/>
                </p:oleObj>
              </mc:Choice>
              <mc:Fallback>
                <p:oleObj name="Формула" r:id="rId7" imgW="3568700" imgH="228600" progId="Equation.3">
                  <p:embed/>
                  <p:pic>
                    <p:nvPicPr>
                      <p:cNvPr id="78859" name="Object 11">
                        <a:extLst>
                          <a:ext uri="{FF2B5EF4-FFF2-40B4-BE49-F238E27FC236}">
                            <a16:creationId xmlns:a16="http://schemas.microsoft.com/office/drawing/2014/main" id="{A9357E87-BE99-4520-AD5D-4344205681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2708275"/>
                        <a:ext cx="5113337" cy="387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61" name="Rectangle 13">
            <a:extLst>
              <a:ext uri="{FF2B5EF4-FFF2-40B4-BE49-F238E27FC236}">
                <a16:creationId xmlns:a16="http://schemas.microsoft.com/office/drawing/2014/main" id="{3A2161CC-CDED-481B-A8BC-332EFB5D6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284538"/>
            <a:ext cx="19192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b="1" i="1" u="sng"/>
              <a:t>Ш3</a:t>
            </a:r>
            <a:r>
              <a:rPr lang="ru-RU" altLang="ru-RU"/>
              <a:t>. Вычислить: </a:t>
            </a:r>
          </a:p>
        </p:txBody>
      </p:sp>
      <p:sp>
        <p:nvSpPr>
          <p:cNvPr id="78863" name="Rectangle 15">
            <a:extLst>
              <a:ext uri="{FF2B5EF4-FFF2-40B4-BE49-F238E27FC236}">
                <a16:creationId xmlns:a16="http://schemas.microsoft.com/office/drawing/2014/main" id="{F1F2BB30-C0F3-42B6-943E-E6CD8711D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8862" name="Object 14">
            <a:extLst>
              <a:ext uri="{FF2B5EF4-FFF2-40B4-BE49-F238E27FC236}">
                <a16:creationId xmlns:a16="http://schemas.microsoft.com/office/drawing/2014/main" id="{FCF0BCA8-93EB-40CA-8B7F-8D6965447F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7313" y="3213100"/>
          <a:ext cx="374332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45" name="Формула" r:id="rId9" imgW="2260600" imgH="228600" progId="Equation.3">
                  <p:embed/>
                </p:oleObj>
              </mc:Choice>
              <mc:Fallback>
                <p:oleObj name="Формула" r:id="rId9" imgW="2260600" imgH="228600" progId="Equation.3">
                  <p:embed/>
                  <p:pic>
                    <p:nvPicPr>
                      <p:cNvPr id="78862" name="Object 14">
                        <a:extLst>
                          <a:ext uri="{FF2B5EF4-FFF2-40B4-BE49-F238E27FC236}">
                            <a16:creationId xmlns:a16="http://schemas.microsoft.com/office/drawing/2014/main" id="{FCF0BCA8-93EB-40CA-8B7F-8D6965447F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3213100"/>
                        <a:ext cx="3743325" cy="450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64" name="Rectangle 16">
            <a:extLst>
              <a:ext uri="{FF2B5EF4-FFF2-40B4-BE49-F238E27FC236}">
                <a16:creationId xmlns:a16="http://schemas.microsoft.com/office/drawing/2014/main" id="{14AB9BB1-0238-49DA-8208-EA070B3E2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933825"/>
            <a:ext cx="19192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b="1" i="1" u="sng"/>
              <a:t>Ш4.</a:t>
            </a:r>
            <a:r>
              <a:rPr lang="ru-RU" altLang="ru-RU"/>
              <a:t> Вычислить: </a:t>
            </a:r>
          </a:p>
        </p:txBody>
      </p:sp>
      <p:sp>
        <p:nvSpPr>
          <p:cNvPr id="78866" name="Rectangle 18">
            <a:extLst>
              <a:ext uri="{FF2B5EF4-FFF2-40B4-BE49-F238E27FC236}">
                <a16:creationId xmlns:a16="http://schemas.microsoft.com/office/drawing/2014/main" id="{19B07573-1506-431B-9BD9-8B51C5876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6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8865" name="Object 17">
            <a:extLst>
              <a:ext uri="{FF2B5EF4-FFF2-40B4-BE49-F238E27FC236}">
                <a16:creationId xmlns:a16="http://schemas.microsoft.com/office/drawing/2014/main" id="{AEAC87FD-6671-4CFD-A533-FECC198EF6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5875" y="3860800"/>
          <a:ext cx="61214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46" name="Формула" r:id="rId11" imgW="4241800" imgH="241300" progId="Equation.3">
                  <p:embed/>
                </p:oleObj>
              </mc:Choice>
              <mc:Fallback>
                <p:oleObj name="Формула" r:id="rId11" imgW="4241800" imgH="241300" progId="Equation.3">
                  <p:embed/>
                  <p:pic>
                    <p:nvPicPr>
                      <p:cNvPr id="78865" name="Object 17">
                        <a:extLst>
                          <a:ext uri="{FF2B5EF4-FFF2-40B4-BE49-F238E27FC236}">
                            <a16:creationId xmlns:a16="http://schemas.microsoft.com/office/drawing/2014/main" id="{AEAC87FD-6671-4CFD-A533-FECC198EF6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3860800"/>
                        <a:ext cx="6121400" cy="48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67" name="Rectangle 19">
            <a:extLst>
              <a:ext uri="{FF2B5EF4-FFF2-40B4-BE49-F238E27FC236}">
                <a16:creationId xmlns:a16="http://schemas.microsoft.com/office/drawing/2014/main" id="{D48293AA-595E-4F34-B3ED-979068550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652963"/>
            <a:ext cx="12207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b="1" i="1" u="sng"/>
              <a:t>Ш5</a:t>
            </a:r>
            <a:r>
              <a:rPr lang="ru-RU" altLang="ru-RU"/>
              <a:t>. Если </a:t>
            </a:r>
          </a:p>
        </p:txBody>
      </p:sp>
      <p:sp>
        <p:nvSpPr>
          <p:cNvPr id="78869" name="Rectangle 21">
            <a:extLst>
              <a:ext uri="{FF2B5EF4-FFF2-40B4-BE49-F238E27FC236}">
                <a16:creationId xmlns:a16="http://schemas.microsoft.com/office/drawing/2014/main" id="{BF0CFFCE-F62F-4BC2-B56C-5D41A0EFC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77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8868" name="Object 20">
            <a:extLst>
              <a:ext uri="{FF2B5EF4-FFF2-40B4-BE49-F238E27FC236}">
                <a16:creationId xmlns:a16="http://schemas.microsoft.com/office/drawing/2014/main" id="{3BEC0E9E-BDBA-4DA0-8AA9-37B1B13C58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4581525"/>
          <a:ext cx="6769100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47" name="Формула" r:id="rId13" imgW="3517900" imgH="279400" progId="Equation.3">
                  <p:embed/>
                </p:oleObj>
              </mc:Choice>
              <mc:Fallback>
                <p:oleObj name="Формула" r:id="rId13" imgW="3517900" imgH="279400" progId="Equation.3">
                  <p:embed/>
                  <p:pic>
                    <p:nvPicPr>
                      <p:cNvPr id="78868" name="Object 20">
                        <a:extLst>
                          <a:ext uri="{FF2B5EF4-FFF2-40B4-BE49-F238E27FC236}">
                            <a16:creationId xmlns:a16="http://schemas.microsoft.com/office/drawing/2014/main" id="{3BEC0E9E-BDBA-4DA0-8AA9-37B1B13C58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4581525"/>
                        <a:ext cx="6769100" cy="538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70" name="Rectangle 22">
            <a:extLst>
              <a:ext uri="{FF2B5EF4-FFF2-40B4-BE49-F238E27FC236}">
                <a16:creationId xmlns:a16="http://schemas.microsoft.com/office/drawing/2014/main" id="{3D4C6E2D-1BFB-4120-993A-D7634C397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5300663"/>
            <a:ext cx="9064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Иначе </a:t>
            </a:r>
          </a:p>
        </p:txBody>
      </p:sp>
      <p:sp>
        <p:nvSpPr>
          <p:cNvPr id="78872" name="Rectangle 24">
            <a:extLst>
              <a:ext uri="{FF2B5EF4-FFF2-40B4-BE49-F238E27FC236}">
                <a16:creationId xmlns:a16="http://schemas.microsoft.com/office/drawing/2014/main" id="{C353CA33-5191-4568-999E-012B1E0E7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8871" name="Object 23">
            <a:extLst>
              <a:ext uri="{FF2B5EF4-FFF2-40B4-BE49-F238E27FC236}">
                <a16:creationId xmlns:a16="http://schemas.microsoft.com/office/drawing/2014/main" id="{4D09EF27-FBEE-4D60-9929-D46E5F7C77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5300663"/>
          <a:ext cx="4319587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48" name="Формула" r:id="rId15" imgW="2463800" imgH="228600" progId="Equation.3">
                  <p:embed/>
                </p:oleObj>
              </mc:Choice>
              <mc:Fallback>
                <p:oleObj name="Формула" r:id="rId15" imgW="2463800" imgH="228600" progId="Equation.3">
                  <p:embed/>
                  <p:pic>
                    <p:nvPicPr>
                      <p:cNvPr id="78871" name="Object 23">
                        <a:extLst>
                          <a:ext uri="{FF2B5EF4-FFF2-40B4-BE49-F238E27FC236}">
                            <a16:creationId xmlns:a16="http://schemas.microsoft.com/office/drawing/2014/main" id="{4D09EF27-FBEE-4D60-9929-D46E5F7C77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5300663"/>
                        <a:ext cx="4319587" cy="401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6CEE376E-281A-4B19-BCB8-950868F9BB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Квазиньютоновские</a:t>
            </a:r>
            <a:r>
              <a:rPr lang="ru-RU" altLang="ru-RU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методы</a:t>
            </a:r>
            <a:r>
              <a:rPr lang="ru-RU" altLang="ru-RU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ru-RU" altLang="ru-RU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Метод </a:t>
            </a:r>
            <a:r>
              <a:rPr lang="ru-RU" altLang="ru-RU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Бройдена</a:t>
            </a:r>
            <a:r>
              <a:rPr lang="ru-RU" altLang="ru-RU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-Флетчера-Гольдфарба-</a:t>
            </a:r>
            <a:r>
              <a:rPr lang="ru-RU" altLang="ru-RU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Шенно</a:t>
            </a:r>
            <a:r>
              <a:rPr lang="ru-RU" altLang="ru-RU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ru-RU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BFGS)</a:t>
            </a:r>
            <a:r>
              <a:rPr lang="en-US" altLang="ru-RU" sz="2400" b="1" u="sng" dirty="0"/>
              <a:t>.</a:t>
            </a:r>
            <a:endParaRPr lang="ru-RU" altLang="ru-RU" sz="2400" b="1" u="sng" dirty="0"/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2FBB3C2F-EE67-4E49-B2CC-BD3613CFE7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628775"/>
            <a:ext cx="8229600" cy="4525963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Обозначим</a:t>
            </a:r>
            <a:r>
              <a:rPr lang="ru-RU" altLang="ru-RU" dirty="0"/>
              <a:t> </a:t>
            </a:r>
          </a:p>
        </p:txBody>
      </p:sp>
      <p:sp>
        <p:nvSpPr>
          <p:cNvPr id="83973" name="Rectangle 5">
            <a:extLst>
              <a:ext uri="{FF2B5EF4-FFF2-40B4-BE49-F238E27FC236}">
                <a16:creationId xmlns:a16="http://schemas.microsoft.com/office/drawing/2014/main" id="{AD9BEC0A-DC45-4693-902D-FE1341711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83972" name="Object 4">
            <a:extLst>
              <a:ext uri="{FF2B5EF4-FFF2-40B4-BE49-F238E27FC236}">
                <a16:creationId xmlns:a16="http://schemas.microsoft.com/office/drawing/2014/main" id="{AA9F08A4-0CA1-496F-A4AC-702CB0A3A1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1700213"/>
          <a:ext cx="5040313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50" name="Формула" r:id="rId3" imgW="2895600" imgH="241300" progId="Equation.3">
                  <p:embed/>
                </p:oleObj>
              </mc:Choice>
              <mc:Fallback>
                <p:oleObj name="Формула" r:id="rId3" imgW="2895600" imgH="241300" progId="Equation.3">
                  <p:embed/>
                  <p:pic>
                    <p:nvPicPr>
                      <p:cNvPr id="83972" name="Object 4">
                        <a:extLst>
                          <a:ext uri="{FF2B5EF4-FFF2-40B4-BE49-F238E27FC236}">
                            <a16:creationId xmlns:a16="http://schemas.microsoft.com/office/drawing/2014/main" id="{AA9F08A4-0CA1-496F-A4AC-702CB0A3A1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1700213"/>
                        <a:ext cx="5040313" cy="503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5" name="Rectangle 7">
            <a:extLst>
              <a:ext uri="{FF2B5EF4-FFF2-40B4-BE49-F238E27FC236}">
                <a16:creationId xmlns:a16="http://schemas.microsoft.com/office/drawing/2014/main" id="{031B20AE-ED47-4656-8C21-FDDC2FF16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330450"/>
            <a:ext cx="1022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2400" dirty="0">
                <a:cs typeface="Times New Roman" panose="02020603050405020304" pitchFamily="18" charset="0"/>
              </a:rPr>
              <a:t>Тогда </a:t>
            </a:r>
          </a:p>
        </p:txBody>
      </p:sp>
      <p:graphicFrame>
        <p:nvGraphicFramePr>
          <p:cNvPr id="83974" name="Object 6">
            <a:extLst>
              <a:ext uri="{FF2B5EF4-FFF2-40B4-BE49-F238E27FC236}">
                <a16:creationId xmlns:a16="http://schemas.microsoft.com/office/drawing/2014/main" id="{CB4CA5E2-5A49-46F0-A8C5-CC53EEBC98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2349500"/>
          <a:ext cx="3095625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51" name="Формула" r:id="rId5" imgW="1739900" imgH="241300" progId="Equation.3">
                  <p:embed/>
                </p:oleObj>
              </mc:Choice>
              <mc:Fallback>
                <p:oleObj name="Формула" r:id="rId5" imgW="1739900" imgH="241300" progId="Equation.3">
                  <p:embed/>
                  <p:pic>
                    <p:nvPicPr>
                      <p:cNvPr id="83974" name="Object 6">
                        <a:extLst>
                          <a:ext uri="{FF2B5EF4-FFF2-40B4-BE49-F238E27FC236}">
                            <a16:creationId xmlns:a16="http://schemas.microsoft.com/office/drawing/2014/main" id="{CB4CA5E2-5A49-46F0-A8C5-CC53EEBC98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2349500"/>
                        <a:ext cx="3095625" cy="490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7" name="Rectangle 9">
            <a:extLst>
              <a:ext uri="{FF2B5EF4-FFF2-40B4-BE49-F238E27FC236}">
                <a16:creationId xmlns:a16="http://schemas.microsoft.com/office/drawing/2014/main" id="{081A2711-BE30-4DEC-8478-DCE8F8E1E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997200"/>
            <a:ext cx="1274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2400" dirty="0">
                <a:cs typeface="Times New Roman" panose="02020603050405020304" pitchFamily="18" charset="0"/>
              </a:rPr>
              <a:t>Отсюда </a:t>
            </a:r>
          </a:p>
        </p:txBody>
      </p:sp>
      <p:graphicFrame>
        <p:nvGraphicFramePr>
          <p:cNvPr id="83976" name="Object 8">
            <a:extLst>
              <a:ext uri="{FF2B5EF4-FFF2-40B4-BE49-F238E27FC236}">
                <a16:creationId xmlns:a16="http://schemas.microsoft.com/office/drawing/2014/main" id="{F238E57B-DBDF-43FF-B9F2-0181B5BFDD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2852738"/>
          <a:ext cx="331311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52" name="Формула" r:id="rId7" imgW="2057400" imgH="457200" progId="Equation.3">
                  <p:embed/>
                </p:oleObj>
              </mc:Choice>
              <mc:Fallback>
                <p:oleObj name="Формула" r:id="rId7" imgW="2057400" imgH="457200" progId="Equation.3">
                  <p:embed/>
                  <p:pic>
                    <p:nvPicPr>
                      <p:cNvPr id="83976" name="Object 8">
                        <a:extLst>
                          <a:ext uri="{FF2B5EF4-FFF2-40B4-BE49-F238E27FC236}">
                            <a16:creationId xmlns:a16="http://schemas.microsoft.com/office/drawing/2014/main" id="{F238E57B-DBDF-43FF-B9F2-0181B5BFDD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2852738"/>
                        <a:ext cx="3313112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8" name="Rectangle 10">
            <a:extLst>
              <a:ext uri="{FF2B5EF4-FFF2-40B4-BE49-F238E27FC236}">
                <a16:creationId xmlns:a16="http://schemas.microsoft.com/office/drawing/2014/main" id="{ECF22964-2E7C-4BB2-84AE-7F8676F15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3300" y="3657600"/>
            <a:ext cx="2270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,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83979" name="Rectangle 11">
            <a:extLst>
              <a:ext uri="{FF2B5EF4-FFF2-40B4-BE49-F238E27FC236}">
                <a16:creationId xmlns:a16="http://schemas.microsoft.com/office/drawing/2014/main" id="{89D54E6A-E1DD-4CB5-9A17-FC218F283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2924175"/>
            <a:ext cx="317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ru-RU" sz="2400"/>
              <a:t>.</a:t>
            </a:r>
            <a:r>
              <a:rPr lang="ru-RU" altLang="ru-RU"/>
              <a:t> </a:t>
            </a:r>
          </a:p>
        </p:txBody>
      </p:sp>
      <p:sp>
        <p:nvSpPr>
          <p:cNvPr id="83980" name="Rectangle 12">
            <a:extLst>
              <a:ext uri="{FF2B5EF4-FFF2-40B4-BE49-F238E27FC236}">
                <a16:creationId xmlns:a16="http://schemas.microsoft.com/office/drawing/2014/main" id="{9B4C919A-1A09-4E73-A567-6AAED4C002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188" y="36449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, </a:t>
            </a:r>
          </a:p>
        </p:txBody>
      </p:sp>
      <p:sp>
        <p:nvSpPr>
          <p:cNvPr id="83981" name="Rectangle 13">
            <a:extLst>
              <a:ext uri="{FF2B5EF4-FFF2-40B4-BE49-F238E27FC236}">
                <a16:creationId xmlns:a16="http://schemas.microsoft.com/office/drawing/2014/main" id="{E8CBA1F8-F2C0-43C0-8A4B-16CA8A53B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633788"/>
            <a:ext cx="80676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2400"/>
              <a:t>Такая замена обеспечивает более устойчивый процесс</a:t>
            </a:r>
            <a:endParaRPr lang="en-US" altLang="ru-RU" sz="2400"/>
          </a:p>
          <a:p>
            <a:r>
              <a:rPr lang="ru-RU" altLang="ru-RU" sz="2400"/>
              <a:t> поиска экстремума.</a:t>
            </a:r>
          </a:p>
        </p:txBody>
      </p:sp>
      <p:graphicFrame>
        <p:nvGraphicFramePr>
          <p:cNvPr id="83983" name="Object 15">
            <a:extLst>
              <a:ext uri="{FF2B5EF4-FFF2-40B4-BE49-F238E27FC236}">
                <a16:creationId xmlns:a16="http://schemas.microsoft.com/office/drawing/2014/main" id="{86CCE431-A8C4-482C-9DE4-466E052A37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1083305"/>
              </p:ext>
            </p:extLst>
          </p:nvPr>
        </p:nvGraphicFramePr>
        <p:xfrm>
          <a:off x="4775434" y="4385469"/>
          <a:ext cx="6477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53" name="Формула" r:id="rId9" imgW="330057" imgH="190417" progId="Equation.3">
                  <p:embed/>
                </p:oleObj>
              </mc:Choice>
              <mc:Fallback>
                <p:oleObj name="Формула" r:id="rId9" imgW="330057" imgH="190417" progId="Equation.3">
                  <p:embed/>
                  <p:pic>
                    <p:nvPicPr>
                      <p:cNvPr id="83983" name="Object 15">
                        <a:extLst>
                          <a:ext uri="{FF2B5EF4-FFF2-40B4-BE49-F238E27FC236}">
                            <a16:creationId xmlns:a16="http://schemas.microsoft.com/office/drawing/2014/main" id="{86CCE431-A8C4-482C-9DE4-466E052A37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5434" y="4385469"/>
                        <a:ext cx="647700" cy="37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82" name="Object 14">
            <a:extLst>
              <a:ext uri="{FF2B5EF4-FFF2-40B4-BE49-F238E27FC236}">
                <a16:creationId xmlns:a16="http://schemas.microsoft.com/office/drawing/2014/main" id="{1B033A0E-27F4-404B-96E9-B529366483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4365625"/>
          <a:ext cx="71913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54" name="Формула" r:id="rId11" imgW="330057" imgH="190417" progId="Equation.3">
                  <p:embed/>
                </p:oleObj>
              </mc:Choice>
              <mc:Fallback>
                <p:oleObj name="Формула" r:id="rId11" imgW="330057" imgH="190417" progId="Equation.3">
                  <p:embed/>
                  <p:pic>
                    <p:nvPicPr>
                      <p:cNvPr id="83982" name="Object 14">
                        <a:extLst>
                          <a:ext uri="{FF2B5EF4-FFF2-40B4-BE49-F238E27FC236}">
                            <a16:creationId xmlns:a16="http://schemas.microsoft.com/office/drawing/2014/main" id="{1B033A0E-27F4-404B-96E9-B529366483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4365625"/>
                        <a:ext cx="719137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84" name="Rectangle 16">
            <a:extLst>
              <a:ext uri="{FF2B5EF4-FFF2-40B4-BE49-F238E27FC236}">
                <a16:creationId xmlns:a16="http://schemas.microsoft.com/office/drawing/2014/main" id="{6E672490-3A99-472F-A828-2D7C77DABD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4365625"/>
            <a:ext cx="4351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2400" dirty="0">
                <a:cs typeface="Times New Roman" panose="02020603050405020304" pitchFamily="18" charset="0"/>
              </a:rPr>
              <a:t>Как видно из соотношений для </a:t>
            </a:r>
          </a:p>
        </p:txBody>
      </p:sp>
      <p:sp>
        <p:nvSpPr>
          <p:cNvPr id="83985" name="Rectangle 17">
            <a:extLst>
              <a:ext uri="{FF2B5EF4-FFF2-40B4-BE49-F238E27FC236}">
                <a16:creationId xmlns:a16="http://schemas.microsoft.com/office/drawing/2014/main" id="{7C411B66-7F14-480A-BB69-498D4BFF5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4365625"/>
            <a:ext cx="515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2400">
                <a:latin typeface="Arial" panose="020B0604020202020204" pitchFamily="34" charset="0"/>
                <a:cs typeface="Times New Roman" panose="02020603050405020304" pitchFamily="18" charset="0"/>
              </a:rPr>
              <a:t> и </a:t>
            </a:r>
            <a:endParaRPr lang="ru-RU" altLang="ru-RU" sz="2400">
              <a:latin typeface="Arial" panose="020B0604020202020204" pitchFamily="34" charset="0"/>
            </a:endParaRPr>
          </a:p>
        </p:txBody>
      </p:sp>
      <p:sp>
        <p:nvSpPr>
          <p:cNvPr id="83986" name="Rectangle 18">
            <a:extLst>
              <a:ext uri="{FF2B5EF4-FFF2-40B4-BE49-F238E27FC236}">
                <a16:creationId xmlns:a16="http://schemas.microsoft.com/office/drawing/2014/main" id="{E1836207-DB41-45BC-864D-DDEC7F675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868863"/>
            <a:ext cx="68405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 sz="2400" dirty="0">
                <a:cs typeface="Times New Roman" panose="02020603050405020304" pitchFamily="18" charset="0"/>
              </a:rPr>
              <a:t>пересчета для </a:t>
            </a:r>
            <a:r>
              <a:rPr lang="en-US" altLang="ru-RU" sz="2400" dirty="0">
                <a:cs typeface="Times New Roman" panose="02020603050405020304" pitchFamily="18" charset="0"/>
              </a:rPr>
              <a:t>DFP </a:t>
            </a:r>
            <a:r>
              <a:rPr lang="ru-RU" altLang="ru-RU" sz="2400" dirty="0">
                <a:cs typeface="Times New Roman" panose="02020603050405020304" pitchFamily="18" charset="0"/>
              </a:rPr>
              <a:t>и </a:t>
            </a:r>
            <a:r>
              <a:rPr lang="en-US" altLang="ru-RU" sz="2400" dirty="0">
                <a:cs typeface="Times New Roman" panose="02020603050405020304" pitchFamily="18" charset="0"/>
              </a:rPr>
              <a:t>BFGS </a:t>
            </a:r>
            <a:r>
              <a:rPr lang="ru-RU" altLang="ru-RU" sz="2400" dirty="0" err="1">
                <a:cs typeface="Times New Roman" panose="02020603050405020304" pitchFamily="18" charset="0"/>
              </a:rPr>
              <a:t>взаимнообратны</a:t>
            </a:r>
            <a:r>
              <a:rPr lang="ru-RU" altLang="ru-RU" sz="2400" dirty="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ru-RU" altLang="ru-RU" sz="2400" dirty="0">
              <a:latin typeface="Arial" panose="020B0604020202020204" pitchFamily="34" charset="0"/>
            </a:endParaRPr>
          </a:p>
        </p:txBody>
      </p:sp>
      <p:sp>
        <p:nvSpPr>
          <p:cNvPr id="83987" name="Rectangle 19">
            <a:extLst>
              <a:ext uri="{FF2B5EF4-FFF2-40B4-BE49-F238E27FC236}">
                <a16:creationId xmlns:a16="http://schemas.microsoft.com/office/drawing/2014/main" id="{319D66A2-DC81-4D54-8D0F-6A7009429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4365625"/>
            <a:ext cx="1685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2400"/>
              <a:t>, формулы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66D04229-256E-488E-B1E7-9CA75F6412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Квазиньютоновские</a:t>
            </a:r>
            <a:r>
              <a:rPr lang="ru-RU" altLang="ru-RU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методы</a:t>
            </a:r>
            <a:r>
              <a:rPr lang="ru-RU" altLang="ru-RU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ru-RU" altLang="ru-RU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Метод </a:t>
            </a:r>
            <a:r>
              <a:rPr lang="ru-RU" altLang="ru-RU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Бройдена</a:t>
            </a:r>
            <a:r>
              <a:rPr lang="ru-RU" altLang="ru-RU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-Флетчера-Гольдфарба-</a:t>
            </a:r>
            <a:r>
              <a:rPr lang="ru-RU" altLang="ru-RU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Шенно</a:t>
            </a:r>
            <a:r>
              <a:rPr lang="ru-RU" altLang="ru-RU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BFGS)</a:t>
            </a:r>
            <a:endParaRPr lang="ru-RU" altLang="ru-RU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DBF67292-CC79-437A-8781-2EA79C611E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ru-RU" altLang="ru-RU"/>
          </a:p>
        </p:txBody>
      </p:sp>
      <p:sp>
        <p:nvSpPr>
          <p:cNvPr id="84997" name="Rectangle 5">
            <a:extLst>
              <a:ext uri="{FF2B5EF4-FFF2-40B4-BE49-F238E27FC236}">
                <a16:creationId xmlns:a16="http://schemas.microsoft.com/office/drawing/2014/main" id="{82B79109-DB9F-4200-BE08-AA0A93E37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4999" name="Rectangle 7">
            <a:extLst>
              <a:ext uri="{FF2B5EF4-FFF2-40B4-BE49-F238E27FC236}">
                <a16:creationId xmlns:a16="http://schemas.microsoft.com/office/drawing/2014/main" id="{92258462-5BC2-4CD3-BC54-B74533C78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84998" name="Object 6">
            <a:extLst>
              <a:ext uri="{FF2B5EF4-FFF2-40B4-BE49-F238E27FC236}">
                <a16:creationId xmlns:a16="http://schemas.microsoft.com/office/drawing/2014/main" id="{DCB01AB6-3024-433C-AD31-62F858A82D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1844675"/>
          <a:ext cx="7920037" cy="172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50" name="Формула" r:id="rId3" imgW="4432300" imgH="939800" progId="Equation.3">
                  <p:embed/>
                </p:oleObj>
              </mc:Choice>
              <mc:Fallback>
                <p:oleObj name="Формула" r:id="rId3" imgW="4432300" imgH="939800" progId="Equation.3">
                  <p:embed/>
                  <p:pic>
                    <p:nvPicPr>
                      <p:cNvPr id="84998" name="Object 6">
                        <a:extLst>
                          <a:ext uri="{FF2B5EF4-FFF2-40B4-BE49-F238E27FC236}">
                            <a16:creationId xmlns:a16="http://schemas.microsoft.com/office/drawing/2014/main" id="{DCB01AB6-3024-433C-AD31-62F858A82D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844675"/>
                        <a:ext cx="7920037" cy="1728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01" name="Rectangle 9">
            <a:extLst>
              <a:ext uri="{FF2B5EF4-FFF2-40B4-BE49-F238E27FC236}">
                <a16:creationId xmlns:a16="http://schemas.microsoft.com/office/drawing/2014/main" id="{5D287B45-A65C-4367-A981-F5C82382C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60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85000" name="Object 8">
            <a:extLst>
              <a:ext uri="{FF2B5EF4-FFF2-40B4-BE49-F238E27FC236}">
                <a16:creationId xmlns:a16="http://schemas.microsoft.com/office/drawing/2014/main" id="{34386149-B8E2-45CD-AEB2-FD050E3DC4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3860800"/>
          <a:ext cx="7991475" cy="180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51" name="Формула" r:id="rId5" imgW="4495800" imgH="939800" progId="Equation.3">
                  <p:embed/>
                </p:oleObj>
              </mc:Choice>
              <mc:Fallback>
                <p:oleObj name="Формула" r:id="rId5" imgW="4495800" imgH="939800" progId="Equation.3">
                  <p:embed/>
                  <p:pic>
                    <p:nvPicPr>
                      <p:cNvPr id="85000" name="Object 8">
                        <a:extLst>
                          <a:ext uri="{FF2B5EF4-FFF2-40B4-BE49-F238E27FC236}">
                            <a16:creationId xmlns:a16="http://schemas.microsoft.com/office/drawing/2014/main" id="{34386149-B8E2-45CD-AEB2-FD050E3DC4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3860800"/>
                        <a:ext cx="7991475" cy="1800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1047</TotalTime>
  <Words>1282</Words>
  <Application>Microsoft Office PowerPoint</Application>
  <PresentationFormat>Экран (4:3)</PresentationFormat>
  <Paragraphs>233</Paragraphs>
  <Slides>28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2" baseType="lpstr">
      <vt:lpstr>Arial</vt:lpstr>
      <vt:lpstr>Times New Roman</vt:lpstr>
      <vt:lpstr>Оформление по умолчанию</vt:lpstr>
      <vt:lpstr>Формула</vt:lpstr>
      <vt:lpstr>Современные методы оптимизации Каганов Ю.Т. к.т.н., доцент каф. ИУ-5 ИУ-8</vt:lpstr>
      <vt:lpstr>1. Классификация ММП.</vt:lpstr>
      <vt:lpstr>2. Стратегия методов спуска. </vt:lpstr>
      <vt:lpstr>2. Стратегия методов спуска. </vt:lpstr>
      <vt:lpstr>2. Стратегия методов спуска. </vt:lpstr>
      <vt:lpstr>2. Стратегия методов спуска. </vt:lpstr>
      <vt:lpstr>Простейшие методы ММП для решения ЗВП. </vt:lpstr>
      <vt:lpstr> Метод покоординатного спуска (метод 0-го порядка)</vt:lpstr>
      <vt:lpstr>Алгоритм:</vt:lpstr>
      <vt:lpstr>Обусловленность задачи </vt:lpstr>
      <vt:lpstr>Метод наискорейшего спуска (метод 1-го порядка).  </vt:lpstr>
      <vt:lpstr>Метод наискорейшего спуска  (метод 1-го порядка)</vt:lpstr>
      <vt:lpstr>Метод Ньютона  (метод второго порядка)</vt:lpstr>
      <vt:lpstr>Метод Ньютона  (метод второго порядка)</vt:lpstr>
      <vt:lpstr>Метод Ньютона  (метод второго порядка)</vt:lpstr>
      <vt:lpstr>Методы, использующие производные</vt:lpstr>
      <vt:lpstr>Методы сопряженных градиентов</vt:lpstr>
      <vt:lpstr>Методы сопряженных градиентов</vt:lpstr>
      <vt:lpstr>Метод Флетчера-Ривза  </vt:lpstr>
      <vt:lpstr>Алгоритм метода Флетчера-Ривза</vt:lpstr>
      <vt:lpstr>Квазиньютоновские методы  ( Методы переменной метрики)</vt:lpstr>
      <vt:lpstr>Квазиньютоновские методы  ( Методы переменной метрики). </vt:lpstr>
      <vt:lpstr>Квазиньютоновские методы  ( Методы переменной метрики).</vt:lpstr>
      <vt:lpstr>Квазиньютоновские методы  1. Метод  Девидона – Флетчера – Пауэлла (DFP). </vt:lpstr>
      <vt:lpstr>Квазиньютоновские методы  2.Метод Бройдена (B). </vt:lpstr>
      <vt:lpstr>Квазиньютоновские методы  Алгоритм квазиньютоновских методов. </vt:lpstr>
      <vt:lpstr>Квазиньютоновские методы  3. Метод Бройдена-Флетчера-Гольдфарба-Шенно (BFGS).</vt:lpstr>
      <vt:lpstr>Квазиньютоновские методы  3. Метод Бройдена-Флетчера-Гольдфарба-Шенно(BFGS)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№ 3</dc:title>
  <dc:creator>Yura</dc:creator>
  <cp:lastModifiedBy>Yuriy Kaganov</cp:lastModifiedBy>
  <cp:revision>48</cp:revision>
  <dcterms:created xsi:type="dcterms:W3CDTF">2015-10-05T05:25:32Z</dcterms:created>
  <dcterms:modified xsi:type="dcterms:W3CDTF">2025-09-01T10:28:15Z</dcterms:modified>
</cp:coreProperties>
</file>