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  <p:sldId id="261" r:id="rId5"/>
    <p:sldId id="262" r:id="rId6"/>
    <p:sldId id="277" r:id="rId7"/>
    <p:sldId id="278" r:id="rId8"/>
    <p:sldId id="265" r:id="rId9"/>
    <p:sldId id="266" r:id="rId10"/>
    <p:sldId id="267" r:id="rId11"/>
    <p:sldId id="268" r:id="rId12"/>
    <p:sldId id="269" r:id="rId13"/>
    <p:sldId id="270" r:id="rId14"/>
    <p:sldId id="272" r:id="rId15"/>
    <p:sldId id="273" r:id="rId16"/>
    <p:sldId id="274" r:id="rId17"/>
    <p:sldId id="275" r:id="rId18"/>
    <p:sldId id="280" r:id="rId19"/>
    <p:sldId id="281" r:id="rId20"/>
    <p:sldId id="276" r:id="rId21"/>
    <p:sldId id="283" r:id="rId22"/>
    <p:sldId id="285" r:id="rId23"/>
    <p:sldId id="292" r:id="rId24"/>
    <p:sldId id="286" r:id="rId25"/>
    <p:sldId id="287" r:id="rId26"/>
    <p:sldId id="288" r:id="rId27"/>
    <p:sldId id="289" r:id="rId28"/>
    <p:sldId id="290" r:id="rId29"/>
    <p:sldId id="291" r:id="rId3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5" d="100"/>
          <a:sy n="55" d="100"/>
        </p:scale>
        <p:origin x="62" y="60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Relationship Id="rId6" Type="http://schemas.openxmlformats.org/officeDocument/2006/relationships/image" Target="../media/image14.wmf"/><Relationship Id="rId5" Type="http://schemas.openxmlformats.org/officeDocument/2006/relationships/image" Target="../media/image13.wmf"/><Relationship Id="rId4" Type="http://schemas.openxmlformats.org/officeDocument/2006/relationships/image" Target="../media/image12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Relationship Id="rId4" Type="http://schemas.openxmlformats.org/officeDocument/2006/relationships/image" Target="../media/image18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image" Target="../media/image21.wmf"/><Relationship Id="rId7" Type="http://schemas.openxmlformats.org/officeDocument/2006/relationships/image" Target="../media/image25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Relationship Id="rId6" Type="http://schemas.openxmlformats.org/officeDocument/2006/relationships/image" Target="../media/image24.wmf"/><Relationship Id="rId5" Type="http://schemas.openxmlformats.org/officeDocument/2006/relationships/image" Target="../media/image23.wmf"/><Relationship Id="rId4" Type="http://schemas.openxmlformats.org/officeDocument/2006/relationships/image" Target="../media/image22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3" Type="http://schemas.openxmlformats.org/officeDocument/2006/relationships/image" Target="../media/image29.wmf"/><Relationship Id="rId7" Type="http://schemas.openxmlformats.org/officeDocument/2006/relationships/image" Target="../media/image33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Relationship Id="rId6" Type="http://schemas.openxmlformats.org/officeDocument/2006/relationships/image" Target="../media/image32.wmf"/><Relationship Id="rId5" Type="http://schemas.openxmlformats.org/officeDocument/2006/relationships/image" Target="../media/image31.wmf"/><Relationship Id="rId4" Type="http://schemas.openxmlformats.org/officeDocument/2006/relationships/image" Target="../media/image30.wmf"/><Relationship Id="rId9" Type="http://schemas.openxmlformats.org/officeDocument/2006/relationships/image" Target="../media/image35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Relationship Id="rId6" Type="http://schemas.openxmlformats.org/officeDocument/2006/relationships/image" Target="../media/image42.wmf"/><Relationship Id="rId5" Type="http://schemas.openxmlformats.org/officeDocument/2006/relationships/image" Target="../media/image41.wmf"/><Relationship Id="rId4" Type="http://schemas.openxmlformats.org/officeDocument/2006/relationships/image" Target="../media/image40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image" Target="../media/image43.wmf"/><Relationship Id="rId1" Type="http://schemas.openxmlformats.org/officeDocument/2006/relationships/image" Target="../media/image41.wmf"/><Relationship Id="rId4" Type="http://schemas.openxmlformats.org/officeDocument/2006/relationships/image" Target="../media/image45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2" Type="http://schemas.openxmlformats.org/officeDocument/2006/relationships/image" Target="../media/image48.wmf"/><Relationship Id="rId1" Type="http://schemas.openxmlformats.org/officeDocument/2006/relationships/image" Target="../media/image47.wmf"/><Relationship Id="rId5" Type="http://schemas.openxmlformats.org/officeDocument/2006/relationships/image" Target="../media/image51.wmf"/><Relationship Id="rId4" Type="http://schemas.openxmlformats.org/officeDocument/2006/relationships/image" Target="../media/image50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4.wmf"/><Relationship Id="rId2" Type="http://schemas.openxmlformats.org/officeDocument/2006/relationships/image" Target="../media/image53.wmf"/><Relationship Id="rId1" Type="http://schemas.openxmlformats.org/officeDocument/2006/relationships/image" Target="../media/image52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6.wmf"/><Relationship Id="rId1" Type="http://schemas.openxmlformats.org/officeDocument/2006/relationships/image" Target="../media/image55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61.wmf"/><Relationship Id="rId1" Type="http://schemas.openxmlformats.org/officeDocument/2006/relationships/image" Target="../media/image60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64.wmf"/><Relationship Id="rId2" Type="http://schemas.openxmlformats.org/officeDocument/2006/relationships/image" Target="../media/image63.wmf"/><Relationship Id="rId1" Type="http://schemas.openxmlformats.org/officeDocument/2006/relationships/image" Target="../media/image62.wmf"/><Relationship Id="rId6" Type="http://schemas.openxmlformats.org/officeDocument/2006/relationships/image" Target="../media/image67.wmf"/><Relationship Id="rId5" Type="http://schemas.openxmlformats.org/officeDocument/2006/relationships/image" Target="../media/image66.wmf"/><Relationship Id="rId4" Type="http://schemas.openxmlformats.org/officeDocument/2006/relationships/image" Target="../media/image65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72.wmf"/><Relationship Id="rId2" Type="http://schemas.openxmlformats.org/officeDocument/2006/relationships/image" Target="../media/image71.wmf"/><Relationship Id="rId1" Type="http://schemas.openxmlformats.org/officeDocument/2006/relationships/image" Target="../media/image70.wmf"/><Relationship Id="rId6" Type="http://schemas.openxmlformats.org/officeDocument/2006/relationships/image" Target="../media/image75.wmf"/><Relationship Id="rId5" Type="http://schemas.openxmlformats.org/officeDocument/2006/relationships/image" Target="../media/image74.wmf"/><Relationship Id="rId4" Type="http://schemas.openxmlformats.org/officeDocument/2006/relationships/image" Target="../media/image73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78.wmf"/><Relationship Id="rId2" Type="http://schemas.openxmlformats.org/officeDocument/2006/relationships/image" Target="../media/image77.wmf"/><Relationship Id="rId1" Type="http://schemas.openxmlformats.org/officeDocument/2006/relationships/image" Target="../media/image76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80.wmf"/><Relationship Id="rId1" Type="http://schemas.openxmlformats.org/officeDocument/2006/relationships/image" Target="../media/image79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84.wmf"/><Relationship Id="rId2" Type="http://schemas.openxmlformats.org/officeDocument/2006/relationships/image" Target="../media/image83.wmf"/><Relationship Id="rId1" Type="http://schemas.openxmlformats.org/officeDocument/2006/relationships/image" Target="../media/image82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89.wmf"/><Relationship Id="rId2" Type="http://schemas.openxmlformats.org/officeDocument/2006/relationships/image" Target="../media/image88.wmf"/><Relationship Id="rId1" Type="http://schemas.openxmlformats.org/officeDocument/2006/relationships/image" Target="../media/image87.wmf"/><Relationship Id="rId6" Type="http://schemas.openxmlformats.org/officeDocument/2006/relationships/image" Target="../media/image92.wmf"/><Relationship Id="rId5" Type="http://schemas.openxmlformats.org/officeDocument/2006/relationships/image" Target="../media/image91.wmf"/><Relationship Id="rId4" Type="http://schemas.openxmlformats.org/officeDocument/2006/relationships/image" Target="../media/image90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96.wmf"/><Relationship Id="rId2" Type="http://schemas.openxmlformats.org/officeDocument/2006/relationships/image" Target="../media/image95.wmf"/><Relationship Id="rId1" Type="http://schemas.openxmlformats.org/officeDocument/2006/relationships/image" Target="../media/image94.wmf"/><Relationship Id="rId4" Type="http://schemas.openxmlformats.org/officeDocument/2006/relationships/image" Target="../media/image97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wmf"/><Relationship Id="rId2" Type="http://schemas.openxmlformats.org/officeDocument/2006/relationships/image" Target="../media/image102.wmf"/><Relationship Id="rId1" Type="http://schemas.openxmlformats.org/officeDocument/2006/relationships/image" Target="../media/image101.wmf"/><Relationship Id="rId6" Type="http://schemas.openxmlformats.org/officeDocument/2006/relationships/image" Target="../media/image106.wmf"/><Relationship Id="rId5" Type="http://schemas.openxmlformats.org/officeDocument/2006/relationships/image" Target="../media/image105.wmf"/><Relationship Id="rId4" Type="http://schemas.openxmlformats.org/officeDocument/2006/relationships/image" Target="../media/image104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wmf"/><Relationship Id="rId2" Type="http://schemas.openxmlformats.org/officeDocument/2006/relationships/image" Target="../media/image107.wmf"/><Relationship Id="rId1" Type="http://schemas.openxmlformats.org/officeDocument/2006/relationships/image" Target="../media/image94.wmf"/><Relationship Id="rId5" Type="http://schemas.openxmlformats.org/officeDocument/2006/relationships/image" Target="../media/image110.wmf"/><Relationship Id="rId4" Type="http://schemas.openxmlformats.org/officeDocument/2006/relationships/image" Target="../media/image109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wmf"/><Relationship Id="rId3" Type="http://schemas.openxmlformats.org/officeDocument/2006/relationships/image" Target="../media/image112.wmf"/><Relationship Id="rId7" Type="http://schemas.openxmlformats.org/officeDocument/2006/relationships/image" Target="../media/image116.wmf"/><Relationship Id="rId2" Type="http://schemas.openxmlformats.org/officeDocument/2006/relationships/image" Target="../media/image111.wmf"/><Relationship Id="rId1" Type="http://schemas.openxmlformats.org/officeDocument/2006/relationships/image" Target="../media/image83.wmf"/><Relationship Id="rId6" Type="http://schemas.openxmlformats.org/officeDocument/2006/relationships/image" Target="../media/image115.wmf"/><Relationship Id="rId5" Type="http://schemas.openxmlformats.org/officeDocument/2006/relationships/image" Target="../media/image114.wmf"/><Relationship Id="rId4" Type="http://schemas.openxmlformats.org/officeDocument/2006/relationships/image" Target="../media/image113.wmf"/><Relationship Id="rId9" Type="http://schemas.openxmlformats.org/officeDocument/2006/relationships/image" Target="../media/image118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wmf"/><Relationship Id="rId2" Type="http://schemas.openxmlformats.org/officeDocument/2006/relationships/image" Target="../media/image120.wmf"/><Relationship Id="rId1" Type="http://schemas.openxmlformats.org/officeDocument/2006/relationships/image" Target="../media/image83.wmf"/><Relationship Id="rId5" Type="http://schemas.openxmlformats.org/officeDocument/2006/relationships/image" Target="../media/image123.wmf"/><Relationship Id="rId4" Type="http://schemas.openxmlformats.org/officeDocument/2006/relationships/image" Target="../media/image122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622C84-2233-4FB1-8D3E-94D40E8A01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0E12B2B-3C69-4FE4-B71D-B88AB6065E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2B8500C-284B-4643-97F0-ABBC7A56F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C009-55D8-4AEC-8884-EE5009DFEA48}" type="datetimeFigureOut">
              <a:rPr lang="ru-RU" smtClean="0"/>
              <a:t>14.09.2025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924B518-08E8-49E2-8582-AE86A6674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B134A46-FC4E-44D0-B7E8-DA4044324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51067-798D-423F-9B75-6610E597BA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3052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3F8CE6-5F9D-44BB-B6CD-75A0F33EC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8D5030B-F0CA-4E0A-8C3B-A4D591F31F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60FF3DB-7D09-45E3-8620-6A10E63CE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C009-55D8-4AEC-8884-EE5009DFEA48}" type="datetimeFigureOut">
              <a:rPr lang="ru-RU" smtClean="0"/>
              <a:t>14.09.2025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5D4B8BD-2ABB-4CDB-B108-4CF416F1E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4D849E2-1A31-4663-AB20-2D9BD27A7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51067-798D-423F-9B75-6610E597BA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4825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9C70E2-1669-4520-A5A9-07481CB41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74C7D7E-35C9-4D78-B77B-0278B96155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AE4272B-78A1-47A3-9CEA-8741FE470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C009-55D8-4AEC-8884-EE5009DFEA48}" type="datetimeFigureOut">
              <a:rPr lang="ru-RU" smtClean="0"/>
              <a:t>14.09.2025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8D3F948-A13C-41C9-B0BC-CB31E3CA4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45362FD-E032-4DB3-B447-FED257868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51067-798D-423F-9B75-6610E597BA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0188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60E590-2027-45BF-9CA2-EB0305E49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24B7BA3-4BF0-4081-A48B-D5C1C4E722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39493FC-9667-47D7-9033-8F137F1817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B97E9DB-8CD7-4786-820A-11FEFD51E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C009-55D8-4AEC-8884-EE5009DFEA48}" type="datetimeFigureOut">
              <a:rPr lang="ru-RU" smtClean="0"/>
              <a:t>14.09.2025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3B88606-2723-4692-BAA9-06F103D9B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B02E42D-EC5B-4DD8-9473-28E2EB78C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51067-798D-423F-9B75-6610E597BA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4218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36D0D3-4E09-41E8-80BE-F5B342FE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A782AAB-6B2A-41E6-ADB4-1D7D5BD9B8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F78B37-BB98-4940-8189-037CE8A190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B161787-22C3-45D9-9AF8-4E0813994B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9E1AF66-C6CD-47C2-9A3B-9499E1B025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420521D-33CC-4CD5-9B75-79C281DA3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C009-55D8-4AEC-8884-EE5009DFEA48}" type="datetimeFigureOut">
              <a:rPr lang="ru-RU" smtClean="0"/>
              <a:t>14.09.2025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4CE615E-8256-47CA-B8C9-C3F25C9F6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51B7B68-158A-4A8C-B2AF-28D275523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51067-798D-423F-9B75-6610E597BA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3892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49143B-DB62-4528-8FAB-72ABA29A6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D170E65-F588-4F51-AD58-50C736666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C009-55D8-4AEC-8884-EE5009DFEA48}" type="datetimeFigureOut">
              <a:rPr lang="ru-RU" smtClean="0"/>
              <a:t>14.09.2025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FB19915-8EB2-4C76-9BF9-ED9801B89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97A1280-EEC1-4A17-BCB8-24C37FCCF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51067-798D-423F-9B75-6610E597BA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6012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EBCABCE-0D7D-4C95-9390-863CAB016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C009-55D8-4AEC-8884-EE5009DFEA48}" type="datetimeFigureOut">
              <a:rPr lang="ru-RU" smtClean="0"/>
              <a:t>14.09.2025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F35EB12-6450-4CDC-8DE6-0C11626A0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9349A89-1B55-461B-B7C4-CCABBBF6F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51067-798D-423F-9B75-6610E597BA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5101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7BFAB2-4672-44A4-BD55-332AC78BA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AF83C4-FAC6-4D03-9A3D-922AD1D215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48EF474-24B3-4C36-AE6F-BFE4AFC3E8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9512472-F69E-4DCE-830B-4C3FD4ECB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C009-55D8-4AEC-8884-EE5009DFEA48}" type="datetimeFigureOut">
              <a:rPr lang="ru-RU" smtClean="0"/>
              <a:t>14.09.2025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08B7B5F-66EA-4F31-AED7-44D4AD61D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9432AE8-F18B-4659-B0A2-7628C4439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51067-798D-423F-9B75-6610E597BA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7855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B940A2-7E9D-4425-9D41-D16BC2177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0917C3D-1B73-4246-8824-C00544CB68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67F3C9F-FBD5-433E-AC7D-83A207E570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18BC3C0-C503-4A14-AE8C-0A079AAC6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C009-55D8-4AEC-8884-EE5009DFEA48}" type="datetimeFigureOut">
              <a:rPr lang="ru-RU" smtClean="0"/>
              <a:t>14.09.2025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B95F019-6A5A-460F-9EBE-77AB5D019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D3FB62A-6059-4BAE-B4EC-868623204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51067-798D-423F-9B75-6610E597BA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5056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A1BCE2-07C4-4C02-8232-9FCA1860D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FB9605D-0928-407A-97CD-7F4A02F749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DBA897A-0613-4768-94E3-A6BF844C0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C009-55D8-4AEC-8884-EE5009DFEA48}" type="datetimeFigureOut">
              <a:rPr lang="ru-RU" smtClean="0"/>
              <a:t>14.09.2025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304CE2E-D984-4B6D-A9C8-DF1797157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B16DFA8-87F6-4D33-AB07-884BE6D9B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51067-798D-423F-9B75-6610E597BA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8896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6B86F96-193B-45FD-A1F1-7F19E13054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7A18F7C-7677-4937-94EC-3F41686A10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0A36FA7-A4A8-4749-8136-2B138F69F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C009-55D8-4AEC-8884-EE5009DFEA48}" type="datetimeFigureOut">
              <a:rPr lang="ru-RU" smtClean="0"/>
              <a:t>14.09.2025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2EAA452-749A-42D4-81B3-4B7062DC3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A4ACA1C-1B79-4370-BB7E-E1D2596AC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51067-798D-423F-9B75-6610E597BA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32543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Заголовок, текст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480DD7-359B-422B-8886-5DDBDA32B2A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F2DA97-9282-4EBB-A4BC-789BC44EF9E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E3D746-3A75-490D-9681-CE24AC0025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A1CF6AD-AB6A-4F55-B983-D53717207B04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4614928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Заголовок, текст и 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quarter" idx="3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C9350477-8AED-46E3-B52D-927B4FD3707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EF91F6CB-E7EF-4FD6-88FB-7CCFB2AD408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21A0C32C-3910-4C1C-87A4-5E6190096C5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7BAB2ED-AC81-4393-ABE4-C78ADC96987E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816570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CBEAB1-61D3-43AF-BC4B-E93FE00D4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18061FE-4F19-4A8D-9869-460B746E30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37A55B-5A89-4507-B237-AE407EEC15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66C009-55D8-4AEC-8884-EE5009DFEA48}" type="datetimeFigureOut">
              <a:rPr lang="ru-RU" smtClean="0"/>
              <a:t>14.09.2025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FDA70C8-5796-44E4-A26A-6D645B84B2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198D0A9-2BE6-43F3-9BA8-3DA6D4DC46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D51067-798D-423F-9B75-6610E597BA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7129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image" Target="../media/image6.wmf"/><Relationship Id="rId10" Type="http://schemas.openxmlformats.org/officeDocument/2006/relationships/image" Target="../media/image4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Relationship Id="rId14" Type="http://schemas.openxmlformats.org/officeDocument/2006/relationships/oleObject" Target="../embeddings/oleObject7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1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10.bin"/><Relationship Id="rId5" Type="http://schemas.openxmlformats.org/officeDocument/2006/relationships/oleObject" Target="../embeddings/oleObject9.bin"/><Relationship Id="rId10" Type="http://schemas.openxmlformats.org/officeDocument/2006/relationships/image" Target="../media/image8.wmf"/><Relationship Id="rId4" Type="http://schemas.openxmlformats.org/officeDocument/2006/relationships/image" Target="../media/image7.wmf"/><Relationship Id="rId9" Type="http://schemas.openxmlformats.org/officeDocument/2006/relationships/oleObject" Target="../embeddings/oleObject13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13" Type="http://schemas.openxmlformats.org/officeDocument/2006/relationships/oleObject" Target="../embeddings/oleObject19.bin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12" Type="http://schemas.openxmlformats.org/officeDocument/2006/relationships/image" Target="../media/image13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0.wmf"/><Relationship Id="rId11" Type="http://schemas.openxmlformats.org/officeDocument/2006/relationships/oleObject" Target="../embeddings/oleObject18.bin"/><Relationship Id="rId5" Type="http://schemas.openxmlformats.org/officeDocument/2006/relationships/oleObject" Target="../embeddings/oleObject15.bin"/><Relationship Id="rId10" Type="http://schemas.openxmlformats.org/officeDocument/2006/relationships/image" Target="../media/image12.wmf"/><Relationship Id="rId4" Type="http://schemas.openxmlformats.org/officeDocument/2006/relationships/image" Target="../media/image9.wmf"/><Relationship Id="rId9" Type="http://schemas.openxmlformats.org/officeDocument/2006/relationships/oleObject" Target="../embeddings/oleObject17.bin"/><Relationship Id="rId14" Type="http://schemas.openxmlformats.org/officeDocument/2006/relationships/image" Target="../media/image14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oleObject" Target="../embeddings/oleObject20.bin"/><Relationship Id="rId7" Type="http://schemas.openxmlformats.org/officeDocument/2006/relationships/oleObject" Target="../embeddings/oleObject22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21.bin"/><Relationship Id="rId10" Type="http://schemas.openxmlformats.org/officeDocument/2006/relationships/image" Target="../media/image18.wmf"/><Relationship Id="rId4" Type="http://schemas.openxmlformats.org/officeDocument/2006/relationships/image" Target="../media/image15.wmf"/><Relationship Id="rId9" Type="http://schemas.openxmlformats.org/officeDocument/2006/relationships/oleObject" Target="../embeddings/oleObject23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13" Type="http://schemas.openxmlformats.org/officeDocument/2006/relationships/oleObject" Target="../embeddings/oleObject29.bin"/><Relationship Id="rId18" Type="http://schemas.openxmlformats.org/officeDocument/2006/relationships/image" Target="../media/image26.wmf"/><Relationship Id="rId3" Type="http://schemas.openxmlformats.org/officeDocument/2006/relationships/oleObject" Target="../embeddings/oleObject24.bin"/><Relationship Id="rId7" Type="http://schemas.openxmlformats.org/officeDocument/2006/relationships/oleObject" Target="../embeddings/oleObject26.bin"/><Relationship Id="rId12" Type="http://schemas.openxmlformats.org/officeDocument/2006/relationships/image" Target="../media/image23.wmf"/><Relationship Id="rId17" Type="http://schemas.openxmlformats.org/officeDocument/2006/relationships/oleObject" Target="../embeddings/oleObject31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5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20.wmf"/><Relationship Id="rId11" Type="http://schemas.openxmlformats.org/officeDocument/2006/relationships/oleObject" Target="../embeddings/oleObject28.bin"/><Relationship Id="rId5" Type="http://schemas.openxmlformats.org/officeDocument/2006/relationships/oleObject" Target="../embeddings/oleObject25.bin"/><Relationship Id="rId15" Type="http://schemas.openxmlformats.org/officeDocument/2006/relationships/oleObject" Target="../embeddings/oleObject30.bin"/><Relationship Id="rId10" Type="http://schemas.openxmlformats.org/officeDocument/2006/relationships/image" Target="../media/image22.wmf"/><Relationship Id="rId4" Type="http://schemas.openxmlformats.org/officeDocument/2006/relationships/image" Target="../media/image19.wmf"/><Relationship Id="rId9" Type="http://schemas.openxmlformats.org/officeDocument/2006/relationships/oleObject" Target="../embeddings/oleObject27.bin"/><Relationship Id="rId14" Type="http://schemas.openxmlformats.org/officeDocument/2006/relationships/image" Target="../media/image24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13" Type="http://schemas.openxmlformats.org/officeDocument/2006/relationships/oleObject" Target="../embeddings/oleObject37.bin"/><Relationship Id="rId18" Type="http://schemas.openxmlformats.org/officeDocument/2006/relationships/image" Target="../media/image34.wmf"/><Relationship Id="rId3" Type="http://schemas.openxmlformats.org/officeDocument/2006/relationships/oleObject" Target="../embeddings/oleObject32.bin"/><Relationship Id="rId21" Type="http://schemas.openxmlformats.org/officeDocument/2006/relationships/image" Target="../media/image36.png"/><Relationship Id="rId7" Type="http://schemas.openxmlformats.org/officeDocument/2006/relationships/oleObject" Target="../embeddings/oleObject34.bin"/><Relationship Id="rId12" Type="http://schemas.openxmlformats.org/officeDocument/2006/relationships/image" Target="../media/image31.wmf"/><Relationship Id="rId17" Type="http://schemas.openxmlformats.org/officeDocument/2006/relationships/oleObject" Target="../embeddings/oleObject39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3.wmf"/><Relationship Id="rId20" Type="http://schemas.openxmlformats.org/officeDocument/2006/relationships/image" Target="../media/image35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28.wmf"/><Relationship Id="rId11" Type="http://schemas.openxmlformats.org/officeDocument/2006/relationships/oleObject" Target="../embeddings/oleObject36.bin"/><Relationship Id="rId5" Type="http://schemas.openxmlformats.org/officeDocument/2006/relationships/oleObject" Target="../embeddings/oleObject33.bin"/><Relationship Id="rId15" Type="http://schemas.openxmlformats.org/officeDocument/2006/relationships/oleObject" Target="../embeddings/oleObject38.bin"/><Relationship Id="rId10" Type="http://schemas.openxmlformats.org/officeDocument/2006/relationships/image" Target="../media/image30.wmf"/><Relationship Id="rId19" Type="http://schemas.openxmlformats.org/officeDocument/2006/relationships/oleObject" Target="../embeddings/oleObject40.bin"/><Relationship Id="rId4" Type="http://schemas.openxmlformats.org/officeDocument/2006/relationships/image" Target="../media/image27.wmf"/><Relationship Id="rId9" Type="http://schemas.openxmlformats.org/officeDocument/2006/relationships/oleObject" Target="../embeddings/oleObject35.bin"/><Relationship Id="rId14" Type="http://schemas.openxmlformats.org/officeDocument/2006/relationships/image" Target="../media/image32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13" Type="http://schemas.openxmlformats.org/officeDocument/2006/relationships/oleObject" Target="../embeddings/oleObject46.bin"/><Relationship Id="rId3" Type="http://schemas.openxmlformats.org/officeDocument/2006/relationships/oleObject" Target="../embeddings/oleObject41.bin"/><Relationship Id="rId7" Type="http://schemas.openxmlformats.org/officeDocument/2006/relationships/oleObject" Target="../embeddings/oleObject43.bin"/><Relationship Id="rId12" Type="http://schemas.openxmlformats.org/officeDocument/2006/relationships/image" Target="../media/image41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8.wmf"/><Relationship Id="rId11" Type="http://schemas.openxmlformats.org/officeDocument/2006/relationships/oleObject" Target="../embeddings/oleObject45.bin"/><Relationship Id="rId5" Type="http://schemas.openxmlformats.org/officeDocument/2006/relationships/oleObject" Target="../embeddings/oleObject42.bin"/><Relationship Id="rId15" Type="http://schemas.openxmlformats.org/officeDocument/2006/relationships/image" Target="../media/image42.wmf"/><Relationship Id="rId10" Type="http://schemas.openxmlformats.org/officeDocument/2006/relationships/image" Target="../media/image40.wmf"/><Relationship Id="rId4" Type="http://schemas.openxmlformats.org/officeDocument/2006/relationships/image" Target="../media/image37.wmf"/><Relationship Id="rId9" Type="http://schemas.openxmlformats.org/officeDocument/2006/relationships/oleObject" Target="../embeddings/oleObject44.bin"/><Relationship Id="rId14" Type="http://schemas.openxmlformats.org/officeDocument/2006/relationships/oleObject" Target="../embeddings/oleObject47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3" Type="http://schemas.openxmlformats.org/officeDocument/2006/relationships/oleObject" Target="../embeddings/oleObject48.bin"/><Relationship Id="rId7" Type="http://schemas.openxmlformats.org/officeDocument/2006/relationships/oleObject" Target="../embeddings/oleObject50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8.wmf"/><Relationship Id="rId5" Type="http://schemas.openxmlformats.org/officeDocument/2006/relationships/oleObject" Target="../embeddings/oleObject49.bin"/><Relationship Id="rId4" Type="http://schemas.openxmlformats.org/officeDocument/2006/relationships/image" Target="../media/image37.wmf"/><Relationship Id="rId9" Type="http://schemas.openxmlformats.org/officeDocument/2006/relationships/oleObject" Target="../embeddings/oleObject51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3" Type="http://schemas.openxmlformats.org/officeDocument/2006/relationships/oleObject" Target="../embeddings/oleObject52.bin"/><Relationship Id="rId7" Type="http://schemas.openxmlformats.org/officeDocument/2006/relationships/oleObject" Target="../embeddings/oleObject54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43.wmf"/><Relationship Id="rId11" Type="http://schemas.openxmlformats.org/officeDocument/2006/relationships/image" Target="../media/image46.png"/><Relationship Id="rId5" Type="http://schemas.openxmlformats.org/officeDocument/2006/relationships/oleObject" Target="../embeddings/oleObject53.bin"/><Relationship Id="rId10" Type="http://schemas.openxmlformats.org/officeDocument/2006/relationships/image" Target="../media/image45.wmf"/><Relationship Id="rId4" Type="http://schemas.openxmlformats.org/officeDocument/2006/relationships/image" Target="../media/image41.wmf"/><Relationship Id="rId9" Type="http://schemas.openxmlformats.org/officeDocument/2006/relationships/oleObject" Target="../embeddings/oleObject55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wmf"/><Relationship Id="rId3" Type="http://schemas.openxmlformats.org/officeDocument/2006/relationships/oleObject" Target="../embeddings/oleObject56.bin"/><Relationship Id="rId7" Type="http://schemas.openxmlformats.org/officeDocument/2006/relationships/oleObject" Target="../embeddings/oleObject58.bin"/><Relationship Id="rId12" Type="http://schemas.openxmlformats.org/officeDocument/2006/relationships/image" Target="../media/image5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48.wmf"/><Relationship Id="rId11" Type="http://schemas.openxmlformats.org/officeDocument/2006/relationships/oleObject" Target="../embeddings/oleObject60.bin"/><Relationship Id="rId5" Type="http://schemas.openxmlformats.org/officeDocument/2006/relationships/oleObject" Target="../embeddings/oleObject57.bin"/><Relationship Id="rId10" Type="http://schemas.openxmlformats.org/officeDocument/2006/relationships/image" Target="../media/image50.wmf"/><Relationship Id="rId4" Type="http://schemas.openxmlformats.org/officeDocument/2006/relationships/image" Target="../media/image47.wmf"/><Relationship Id="rId9" Type="http://schemas.openxmlformats.org/officeDocument/2006/relationships/oleObject" Target="../embeddings/oleObject59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wmf"/><Relationship Id="rId3" Type="http://schemas.openxmlformats.org/officeDocument/2006/relationships/oleObject" Target="../embeddings/oleObject61.bin"/><Relationship Id="rId7" Type="http://schemas.openxmlformats.org/officeDocument/2006/relationships/oleObject" Target="../embeddings/oleObject6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53.wmf"/><Relationship Id="rId5" Type="http://schemas.openxmlformats.org/officeDocument/2006/relationships/oleObject" Target="../embeddings/oleObject62.bin"/><Relationship Id="rId4" Type="http://schemas.openxmlformats.org/officeDocument/2006/relationships/image" Target="../media/image52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oleObject" Target="../embeddings/oleObject64.bin"/><Relationship Id="rId7" Type="http://schemas.openxmlformats.org/officeDocument/2006/relationships/image" Target="../media/image57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56.wmf"/><Relationship Id="rId5" Type="http://schemas.openxmlformats.org/officeDocument/2006/relationships/oleObject" Target="../embeddings/oleObject65.bin"/><Relationship Id="rId4" Type="http://schemas.openxmlformats.org/officeDocument/2006/relationships/image" Target="../media/image55.wmf"/><Relationship Id="rId9" Type="http://schemas.openxmlformats.org/officeDocument/2006/relationships/image" Target="../media/image5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6.bin"/><Relationship Id="rId7" Type="http://schemas.openxmlformats.org/officeDocument/2006/relationships/image" Target="../media/image6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61.wmf"/><Relationship Id="rId5" Type="http://schemas.openxmlformats.org/officeDocument/2006/relationships/oleObject" Target="../embeddings/oleObject67.bin"/><Relationship Id="rId4" Type="http://schemas.openxmlformats.org/officeDocument/2006/relationships/image" Target="../media/image60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wmf"/><Relationship Id="rId13" Type="http://schemas.openxmlformats.org/officeDocument/2006/relationships/image" Target="../media/image66.wmf"/><Relationship Id="rId3" Type="http://schemas.openxmlformats.org/officeDocument/2006/relationships/oleObject" Target="../embeddings/oleObject68.bin"/><Relationship Id="rId7" Type="http://schemas.openxmlformats.org/officeDocument/2006/relationships/oleObject" Target="../embeddings/oleObject70.bin"/><Relationship Id="rId12" Type="http://schemas.openxmlformats.org/officeDocument/2006/relationships/oleObject" Target="../embeddings/oleObject73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63.wmf"/><Relationship Id="rId11" Type="http://schemas.openxmlformats.org/officeDocument/2006/relationships/oleObject" Target="../embeddings/oleObject72.bin"/><Relationship Id="rId5" Type="http://schemas.openxmlformats.org/officeDocument/2006/relationships/oleObject" Target="../embeddings/oleObject69.bin"/><Relationship Id="rId15" Type="http://schemas.openxmlformats.org/officeDocument/2006/relationships/image" Target="../media/image67.wmf"/><Relationship Id="rId10" Type="http://schemas.openxmlformats.org/officeDocument/2006/relationships/image" Target="../media/image65.wmf"/><Relationship Id="rId4" Type="http://schemas.openxmlformats.org/officeDocument/2006/relationships/image" Target="../media/image62.wmf"/><Relationship Id="rId9" Type="http://schemas.openxmlformats.org/officeDocument/2006/relationships/oleObject" Target="../embeddings/oleObject71.bin"/><Relationship Id="rId14" Type="http://schemas.openxmlformats.org/officeDocument/2006/relationships/oleObject" Target="../embeddings/oleObject74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wmf"/><Relationship Id="rId13" Type="http://schemas.openxmlformats.org/officeDocument/2006/relationships/oleObject" Target="../embeddings/oleObject80.bin"/><Relationship Id="rId3" Type="http://schemas.openxmlformats.org/officeDocument/2006/relationships/oleObject" Target="../embeddings/oleObject75.bin"/><Relationship Id="rId7" Type="http://schemas.openxmlformats.org/officeDocument/2006/relationships/oleObject" Target="../embeddings/oleObject77.bin"/><Relationship Id="rId12" Type="http://schemas.openxmlformats.org/officeDocument/2006/relationships/image" Target="../media/image7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71.wmf"/><Relationship Id="rId11" Type="http://schemas.openxmlformats.org/officeDocument/2006/relationships/oleObject" Target="../embeddings/oleObject79.bin"/><Relationship Id="rId5" Type="http://schemas.openxmlformats.org/officeDocument/2006/relationships/oleObject" Target="../embeddings/oleObject76.bin"/><Relationship Id="rId10" Type="http://schemas.openxmlformats.org/officeDocument/2006/relationships/image" Target="../media/image73.wmf"/><Relationship Id="rId4" Type="http://schemas.openxmlformats.org/officeDocument/2006/relationships/image" Target="../media/image70.wmf"/><Relationship Id="rId9" Type="http://schemas.openxmlformats.org/officeDocument/2006/relationships/oleObject" Target="../embeddings/oleObject78.bin"/><Relationship Id="rId14" Type="http://schemas.openxmlformats.org/officeDocument/2006/relationships/image" Target="../media/image75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wmf"/><Relationship Id="rId3" Type="http://schemas.openxmlformats.org/officeDocument/2006/relationships/oleObject" Target="../embeddings/oleObject81.bin"/><Relationship Id="rId7" Type="http://schemas.openxmlformats.org/officeDocument/2006/relationships/oleObject" Target="../embeddings/oleObject83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77.wmf"/><Relationship Id="rId5" Type="http://schemas.openxmlformats.org/officeDocument/2006/relationships/oleObject" Target="../embeddings/oleObject82.bin"/><Relationship Id="rId4" Type="http://schemas.openxmlformats.org/officeDocument/2006/relationships/image" Target="../media/image76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jpeg"/><Relationship Id="rId7" Type="http://schemas.openxmlformats.org/officeDocument/2006/relationships/image" Target="../media/image8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85.bin"/><Relationship Id="rId5" Type="http://schemas.openxmlformats.org/officeDocument/2006/relationships/image" Target="../media/image79.wmf"/><Relationship Id="rId4" Type="http://schemas.openxmlformats.org/officeDocument/2006/relationships/oleObject" Target="../embeddings/oleObject84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8.bin"/><Relationship Id="rId3" Type="http://schemas.openxmlformats.org/officeDocument/2006/relationships/oleObject" Target="../embeddings/oleObject86.bin"/><Relationship Id="rId7" Type="http://schemas.openxmlformats.org/officeDocument/2006/relationships/image" Target="../media/image85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83.wmf"/><Relationship Id="rId5" Type="http://schemas.openxmlformats.org/officeDocument/2006/relationships/oleObject" Target="../embeddings/oleObject87.bin"/><Relationship Id="rId10" Type="http://schemas.openxmlformats.org/officeDocument/2006/relationships/image" Target="../media/image86.png"/><Relationship Id="rId4" Type="http://schemas.openxmlformats.org/officeDocument/2006/relationships/image" Target="../media/image82.wmf"/><Relationship Id="rId9" Type="http://schemas.openxmlformats.org/officeDocument/2006/relationships/image" Target="../media/image84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wmf"/><Relationship Id="rId13" Type="http://schemas.openxmlformats.org/officeDocument/2006/relationships/oleObject" Target="../embeddings/oleObject94.bin"/><Relationship Id="rId3" Type="http://schemas.openxmlformats.org/officeDocument/2006/relationships/oleObject" Target="../embeddings/oleObject89.bin"/><Relationship Id="rId7" Type="http://schemas.openxmlformats.org/officeDocument/2006/relationships/oleObject" Target="../embeddings/oleObject91.bin"/><Relationship Id="rId12" Type="http://schemas.openxmlformats.org/officeDocument/2006/relationships/image" Target="../media/image9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88.wmf"/><Relationship Id="rId11" Type="http://schemas.openxmlformats.org/officeDocument/2006/relationships/oleObject" Target="../embeddings/oleObject93.bin"/><Relationship Id="rId5" Type="http://schemas.openxmlformats.org/officeDocument/2006/relationships/oleObject" Target="../embeddings/oleObject90.bin"/><Relationship Id="rId10" Type="http://schemas.openxmlformats.org/officeDocument/2006/relationships/image" Target="../media/image90.wmf"/><Relationship Id="rId4" Type="http://schemas.openxmlformats.org/officeDocument/2006/relationships/image" Target="../media/image87.wmf"/><Relationship Id="rId9" Type="http://schemas.openxmlformats.org/officeDocument/2006/relationships/oleObject" Target="../embeddings/oleObject92.bin"/><Relationship Id="rId14" Type="http://schemas.openxmlformats.org/officeDocument/2006/relationships/image" Target="../media/image92.wm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jpe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wmf"/><Relationship Id="rId13" Type="http://schemas.openxmlformats.org/officeDocument/2006/relationships/image" Target="../media/image100.png"/><Relationship Id="rId3" Type="http://schemas.openxmlformats.org/officeDocument/2006/relationships/oleObject" Target="../embeddings/oleObject95.bin"/><Relationship Id="rId7" Type="http://schemas.openxmlformats.org/officeDocument/2006/relationships/oleObject" Target="../embeddings/oleObject97.bin"/><Relationship Id="rId12" Type="http://schemas.openxmlformats.org/officeDocument/2006/relationships/image" Target="../media/image99.png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95.wmf"/><Relationship Id="rId11" Type="http://schemas.openxmlformats.org/officeDocument/2006/relationships/image" Target="../media/image98.png"/><Relationship Id="rId5" Type="http://schemas.openxmlformats.org/officeDocument/2006/relationships/oleObject" Target="../embeddings/oleObject96.bin"/><Relationship Id="rId10" Type="http://schemas.openxmlformats.org/officeDocument/2006/relationships/image" Target="../media/image97.wmf"/><Relationship Id="rId4" Type="http://schemas.openxmlformats.org/officeDocument/2006/relationships/image" Target="../media/image94.wmf"/><Relationship Id="rId9" Type="http://schemas.openxmlformats.org/officeDocument/2006/relationships/oleObject" Target="../embeddings/oleObject98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wmf"/><Relationship Id="rId13" Type="http://schemas.openxmlformats.org/officeDocument/2006/relationships/oleObject" Target="../embeddings/oleObject104.bin"/><Relationship Id="rId3" Type="http://schemas.openxmlformats.org/officeDocument/2006/relationships/oleObject" Target="../embeddings/oleObject99.bin"/><Relationship Id="rId7" Type="http://schemas.openxmlformats.org/officeDocument/2006/relationships/oleObject" Target="../embeddings/oleObject101.bin"/><Relationship Id="rId12" Type="http://schemas.openxmlformats.org/officeDocument/2006/relationships/image" Target="../media/image105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02.wmf"/><Relationship Id="rId11" Type="http://schemas.openxmlformats.org/officeDocument/2006/relationships/oleObject" Target="../embeddings/oleObject103.bin"/><Relationship Id="rId5" Type="http://schemas.openxmlformats.org/officeDocument/2006/relationships/oleObject" Target="../embeddings/oleObject100.bin"/><Relationship Id="rId10" Type="http://schemas.openxmlformats.org/officeDocument/2006/relationships/image" Target="../media/image104.wmf"/><Relationship Id="rId4" Type="http://schemas.openxmlformats.org/officeDocument/2006/relationships/image" Target="../media/image101.wmf"/><Relationship Id="rId9" Type="http://schemas.openxmlformats.org/officeDocument/2006/relationships/oleObject" Target="../embeddings/oleObject102.bin"/><Relationship Id="rId14" Type="http://schemas.openxmlformats.org/officeDocument/2006/relationships/image" Target="../media/image106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wmf"/><Relationship Id="rId3" Type="http://schemas.openxmlformats.org/officeDocument/2006/relationships/oleObject" Target="../embeddings/oleObject105.bin"/><Relationship Id="rId7" Type="http://schemas.openxmlformats.org/officeDocument/2006/relationships/oleObject" Target="../embeddings/oleObject107.bin"/><Relationship Id="rId12" Type="http://schemas.openxmlformats.org/officeDocument/2006/relationships/image" Target="../media/image110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07.wmf"/><Relationship Id="rId11" Type="http://schemas.openxmlformats.org/officeDocument/2006/relationships/oleObject" Target="../embeddings/oleObject109.bin"/><Relationship Id="rId5" Type="http://schemas.openxmlformats.org/officeDocument/2006/relationships/oleObject" Target="../embeddings/oleObject106.bin"/><Relationship Id="rId10" Type="http://schemas.openxmlformats.org/officeDocument/2006/relationships/image" Target="../media/image109.wmf"/><Relationship Id="rId4" Type="http://schemas.openxmlformats.org/officeDocument/2006/relationships/image" Target="../media/image94.wmf"/><Relationship Id="rId9" Type="http://schemas.openxmlformats.org/officeDocument/2006/relationships/oleObject" Target="../embeddings/oleObject108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3.bin"/><Relationship Id="rId13" Type="http://schemas.openxmlformats.org/officeDocument/2006/relationships/image" Target="../media/image114.wmf"/><Relationship Id="rId18" Type="http://schemas.openxmlformats.org/officeDocument/2006/relationships/oleObject" Target="../embeddings/oleObject118.bin"/><Relationship Id="rId3" Type="http://schemas.openxmlformats.org/officeDocument/2006/relationships/oleObject" Target="../embeddings/oleObject110.bin"/><Relationship Id="rId21" Type="http://schemas.openxmlformats.org/officeDocument/2006/relationships/image" Target="../media/image118.wmf"/><Relationship Id="rId7" Type="http://schemas.openxmlformats.org/officeDocument/2006/relationships/oleObject" Target="../embeddings/oleObject112.bin"/><Relationship Id="rId12" Type="http://schemas.openxmlformats.org/officeDocument/2006/relationships/oleObject" Target="../embeddings/oleObject115.bin"/><Relationship Id="rId17" Type="http://schemas.openxmlformats.org/officeDocument/2006/relationships/image" Target="../media/image116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17.bin"/><Relationship Id="rId20" Type="http://schemas.openxmlformats.org/officeDocument/2006/relationships/oleObject" Target="../embeddings/oleObject119.bin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11.wmf"/><Relationship Id="rId11" Type="http://schemas.openxmlformats.org/officeDocument/2006/relationships/image" Target="../media/image113.wmf"/><Relationship Id="rId5" Type="http://schemas.openxmlformats.org/officeDocument/2006/relationships/oleObject" Target="../embeddings/oleObject111.bin"/><Relationship Id="rId15" Type="http://schemas.openxmlformats.org/officeDocument/2006/relationships/image" Target="../media/image115.wmf"/><Relationship Id="rId10" Type="http://schemas.openxmlformats.org/officeDocument/2006/relationships/oleObject" Target="../embeddings/oleObject114.bin"/><Relationship Id="rId19" Type="http://schemas.openxmlformats.org/officeDocument/2006/relationships/image" Target="../media/image117.wmf"/><Relationship Id="rId4" Type="http://schemas.openxmlformats.org/officeDocument/2006/relationships/image" Target="../media/image83.wmf"/><Relationship Id="rId9" Type="http://schemas.openxmlformats.org/officeDocument/2006/relationships/image" Target="../media/image112.wmf"/><Relationship Id="rId14" Type="http://schemas.openxmlformats.org/officeDocument/2006/relationships/oleObject" Target="../embeddings/oleObject116.bin"/><Relationship Id="rId22" Type="http://schemas.openxmlformats.org/officeDocument/2006/relationships/image" Target="../media/image119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2.bin"/><Relationship Id="rId13" Type="http://schemas.openxmlformats.org/officeDocument/2006/relationships/image" Target="../media/image123.wmf"/><Relationship Id="rId3" Type="http://schemas.openxmlformats.org/officeDocument/2006/relationships/oleObject" Target="../embeddings/oleObject120.bin"/><Relationship Id="rId7" Type="http://schemas.openxmlformats.org/officeDocument/2006/relationships/image" Target="../media/image120.wmf"/><Relationship Id="rId12" Type="http://schemas.openxmlformats.org/officeDocument/2006/relationships/oleObject" Target="../embeddings/oleObject124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4.vml"/><Relationship Id="rId6" Type="http://schemas.openxmlformats.org/officeDocument/2006/relationships/oleObject" Target="../embeddings/oleObject121.bin"/><Relationship Id="rId11" Type="http://schemas.openxmlformats.org/officeDocument/2006/relationships/image" Target="../media/image122.wmf"/><Relationship Id="rId5" Type="http://schemas.openxmlformats.org/officeDocument/2006/relationships/image" Target="../media/image124.png"/><Relationship Id="rId15" Type="http://schemas.openxmlformats.org/officeDocument/2006/relationships/image" Target="../media/image126.png"/><Relationship Id="rId10" Type="http://schemas.openxmlformats.org/officeDocument/2006/relationships/oleObject" Target="../embeddings/oleObject123.bin"/><Relationship Id="rId4" Type="http://schemas.openxmlformats.org/officeDocument/2006/relationships/image" Target="../media/image83.wmf"/><Relationship Id="rId9" Type="http://schemas.openxmlformats.org/officeDocument/2006/relationships/image" Target="../media/image121.wmf"/><Relationship Id="rId14" Type="http://schemas.openxmlformats.org/officeDocument/2006/relationships/image" Target="../media/image1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0B911DFA-3325-4C09-85B6-C8F39E8DC9D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41550" y="765176"/>
            <a:ext cx="7772400" cy="1470025"/>
          </a:xfrm>
        </p:spPr>
        <p:txBody>
          <a:bodyPr anchor="ctr"/>
          <a:lstStyle/>
          <a:p>
            <a:pPr eaLnBrk="1" hangingPunct="1"/>
            <a:r>
              <a:rPr lang="ru-RU" altLang="ru-RU" sz="4400" b="1" dirty="0">
                <a:latin typeface="+mn-lt"/>
              </a:rPr>
              <a:t>ЛЕКЦИЯ № 2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F721A7D7-4BA0-45EA-97BC-8AD42D07A37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071813" y="2852738"/>
            <a:ext cx="6400800" cy="1752600"/>
          </a:xfrm>
        </p:spPr>
        <p:txBody>
          <a:bodyPr/>
          <a:lstStyle/>
          <a:p>
            <a:pPr eaLnBrk="1" hangingPunct="1"/>
            <a:r>
              <a:rPr lang="ru-RU" altLang="ru-RU" sz="4400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Математические основы оптимизации</a:t>
            </a:r>
            <a:endParaRPr lang="ru-RU" altLang="ru-RU" sz="4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4747AAD5-6B9F-458D-BDA6-50F4475E47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838200" indent="-838200"/>
            <a:r>
              <a:rPr lang="en-US" altLang="ru-RU" sz="4000" b="1" i="1" u="sng" dirty="0"/>
              <a:t>1</a:t>
            </a:r>
            <a:r>
              <a:rPr lang="ru-RU" altLang="ru-RU" sz="4000" b="1" i="1" u="sng" dirty="0"/>
              <a:t>. </a:t>
            </a:r>
            <a:r>
              <a:rPr lang="ru-RU" altLang="ru-RU" sz="40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Краткий экскурс в функциональный анализ.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1A3B82DD-DC6E-49C4-ABF3-68B0E6DFF74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92313" y="1628776"/>
            <a:ext cx="4038600" cy="4525963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ru-RU" sz="2000" b="1"/>
              <a:t>1</a:t>
            </a:r>
            <a:r>
              <a:rPr lang="ru-RU" altLang="ru-RU" sz="2000" b="1"/>
              <a:t>.1.</a:t>
            </a:r>
            <a:r>
              <a:rPr lang="ru-RU" altLang="ru-RU" b="1" u="sng"/>
              <a:t> </a:t>
            </a:r>
            <a:r>
              <a:rPr lang="ru-RU" altLang="ru-RU" sz="2000" b="1" u="sng"/>
              <a:t>Векторное пространство.</a:t>
            </a:r>
            <a:r>
              <a:rPr lang="ru-RU" altLang="ru-RU" sz="2000"/>
              <a:t> </a:t>
            </a:r>
          </a:p>
        </p:txBody>
      </p:sp>
      <p:graphicFrame>
        <p:nvGraphicFramePr>
          <p:cNvPr id="3076" name="Object 4">
            <a:extLst>
              <a:ext uri="{FF2B5EF4-FFF2-40B4-BE49-F238E27FC236}">
                <a16:creationId xmlns:a16="http://schemas.microsoft.com/office/drawing/2014/main" id="{E5348310-3D45-4707-823F-523A0FFFAB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15089" y="2265364"/>
          <a:ext cx="346075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9" name="Формула" r:id="rId3" imgW="164814" imgH="177492" progId="Equation.3">
                  <p:embed/>
                </p:oleObj>
              </mc:Choice>
              <mc:Fallback>
                <p:oleObj name="Формула" r:id="rId3" imgW="164814" imgH="177492" progId="Equation.3">
                  <p:embed/>
                  <p:pic>
                    <p:nvPicPr>
                      <p:cNvPr id="3076" name="Object 4">
                        <a:extLst>
                          <a:ext uri="{FF2B5EF4-FFF2-40B4-BE49-F238E27FC236}">
                            <a16:creationId xmlns:a16="http://schemas.microsoft.com/office/drawing/2014/main" id="{E5348310-3D45-4707-823F-523A0FFFAB1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5089" y="2265364"/>
                        <a:ext cx="346075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7" name="Rectangle 6">
            <a:extLst>
              <a:ext uri="{FF2B5EF4-FFF2-40B4-BE49-F238E27FC236}">
                <a16:creationId xmlns:a16="http://schemas.microsoft.com/office/drawing/2014/main" id="{21872CC2-361F-4395-9090-8732D7B2D8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0" y="2276475"/>
            <a:ext cx="8497888" cy="2154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1200" dirty="0">
                <a:cs typeface="Times New Roman" panose="02020603050405020304" pitchFamily="18" charset="0"/>
              </a:rPr>
              <a:t> </a:t>
            </a:r>
            <a:r>
              <a:rPr lang="ru-RU" altLang="ru-RU" sz="1800" b="1" i="1" dirty="0"/>
              <a:t>Векторное пространство над полем</a:t>
            </a:r>
            <a:endParaRPr lang="ru-RU" altLang="ru-RU" sz="1800" dirty="0"/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представляет собой множество </a:t>
            </a:r>
            <a:r>
              <a:rPr lang="en-US" altLang="ru-RU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(элементы этого множества называются векторами), для которого определены две операции: </a:t>
            </a:r>
            <a:r>
              <a:rPr lang="ru-RU" altLang="ru-RU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умножение на скаляры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altLang="ru-RU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сложение векторов. 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Они должны обладать следующими свойствами: 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2000" dirty="0"/>
              <a:t>1.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Каждой паре векторов</a:t>
            </a:r>
            <a:r>
              <a:rPr lang="ru-RU" altLang="ru-RU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ru-RU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ru-RU" alt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ставится в соответствие вектор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z=</a:t>
            </a:r>
            <a:r>
              <a:rPr lang="en-US" alt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При этом, если также </a:t>
            </a:r>
            <a:r>
              <a:rPr lang="en-US" alt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ru-RU" alt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,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тогда</a:t>
            </a:r>
            <a:r>
              <a:rPr lang="ru-RU" alt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ru-RU" altLang="ru-RU" sz="1800" dirty="0"/>
          </a:p>
        </p:txBody>
      </p:sp>
      <p:graphicFrame>
        <p:nvGraphicFramePr>
          <p:cNvPr id="3078" name="Object 7">
            <a:extLst>
              <a:ext uri="{FF2B5EF4-FFF2-40B4-BE49-F238E27FC236}">
                <a16:creationId xmlns:a16="http://schemas.microsoft.com/office/drawing/2014/main" id="{8D79BA93-5962-4CC5-BD1B-4FFCB964B7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43475" y="3541713"/>
          <a:ext cx="509588" cy="296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0" name="Формула" r:id="rId5" imgW="291847" imgH="164957" progId="Equation.3">
                  <p:embed/>
                </p:oleObj>
              </mc:Choice>
              <mc:Fallback>
                <p:oleObj name="Формула" r:id="rId5" imgW="291847" imgH="164957" progId="Equation.3">
                  <p:embed/>
                  <p:pic>
                    <p:nvPicPr>
                      <p:cNvPr id="3078" name="Object 7">
                        <a:extLst>
                          <a:ext uri="{FF2B5EF4-FFF2-40B4-BE49-F238E27FC236}">
                            <a16:creationId xmlns:a16="http://schemas.microsoft.com/office/drawing/2014/main" id="{8D79BA93-5962-4CC5-BD1B-4FFCB964B7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3475" y="3541713"/>
                        <a:ext cx="509588" cy="296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9" name="Rectangle 14">
            <a:extLst>
              <a:ext uri="{FF2B5EF4-FFF2-40B4-BE49-F238E27FC236}">
                <a16:creationId xmlns:a16="http://schemas.microsoft.com/office/drawing/2014/main" id="{11C4267A-5797-4E60-BF7B-2D5B18581E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2859" y="4363134"/>
            <a:ext cx="522655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ru-RU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ru-RU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ru-RU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ru-RU" altLang="ru-RU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ru-RU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ru-RU" altLang="ru-RU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ru-RU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ru-RU" altLang="ru-RU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свойство коммутативности, </a:t>
            </a: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ru-RU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ru-RU" altLang="ru-RU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ru-RU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ru-RU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ru-RU" altLang="ru-RU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ru-RU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ru-RU" altLang="ru-RU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ru-RU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ru-RU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ru-RU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ru-RU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ru-RU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ru-RU" altLang="ru-RU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ru-RU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ru-RU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</a:t>
            </a:r>
            <a:r>
              <a:rPr lang="ru-RU" alt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свойство ассоциативности</a:t>
            </a:r>
            <a:r>
              <a:rPr lang="ru-RU" altLang="ru-RU" sz="1800" b="1" dirty="0"/>
              <a:t>.</a:t>
            </a:r>
          </a:p>
        </p:txBody>
      </p:sp>
      <p:graphicFrame>
        <p:nvGraphicFramePr>
          <p:cNvPr id="3080" name="Object 17">
            <a:extLst>
              <a:ext uri="{FF2B5EF4-FFF2-40B4-BE49-F238E27FC236}">
                <a16:creationId xmlns:a16="http://schemas.microsoft.com/office/drawing/2014/main" id="{F28094DE-7BD8-40B9-BC16-A77A710EC8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75276" y="5157789"/>
          <a:ext cx="619125" cy="268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1" name="Формула" r:id="rId7" imgW="405872" imgH="177569" progId="Equation.3">
                  <p:embed/>
                </p:oleObj>
              </mc:Choice>
              <mc:Fallback>
                <p:oleObj name="Формула" r:id="rId7" imgW="405872" imgH="177569" progId="Equation.3">
                  <p:embed/>
                  <p:pic>
                    <p:nvPicPr>
                      <p:cNvPr id="3080" name="Object 17">
                        <a:extLst>
                          <a:ext uri="{FF2B5EF4-FFF2-40B4-BE49-F238E27FC236}">
                            <a16:creationId xmlns:a16="http://schemas.microsoft.com/office/drawing/2014/main" id="{F28094DE-7BD8-40B9-BC16-A77A710EC83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5276" y="5157789"/>
                        <a:ext cx="619125" cy="268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1" name="Object 16">
            <a:extLst>
              <a:ext uri="{FF2B5EF4-FFF2-40B4-BE49-F238E27FC236}">
                <a16:creationId xmlns:a16="http://schemas.microsoft.com/office/drawing/2014/main" id="{B38B2525-1C08-462F-A8EB-79A11ABCBA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83338" y="5157788"/>
          <a:ext cx="6477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2" name="Формула" r:id="rId9" imgW="405872" imgH="177569" progId="Equation.3">
                  <p:embed/>
                </p:oleObj>
              </mc:Choice>
              <mc:Fallback>
                <p:oleObj name="Формула" r:id="rId9" imgW="405872" imgH="177569" progId="Equation.3">
                  <p:embed/>
                  <p:pic>
                    <p:nvPicPr>
                      <p:cNvPr id="3081" name="Object 16">
                        <a:extLst>
                          <a:ext uri="{FF2B5EF4-FFF2-40B4-BE49-F238E27FC236}">
                            <a16:creationId xmlns:a16="http://schemas.microsoft.com/office/drawing/2014/main" id="{B38B2525-1C08-462F-A8EB-79A11ABCBAB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3338" y="5157788"/>
                        <a:ext cx="6477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2" name="Rectangle 19">
            <a:extLst>
              <a:ext uri="{FF2B5EF4-FFF2-40B4-BE49-F238E27FC236}">
                <a16:creationId xmlns:a16="http://schemas.microsoft.com/office/drawing/2014/main" id="{23D41E9F-E85C-4862-94B5-D962CC7BA6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5189" y="5097464"/>
            <a:ext cx="19446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000"/>
              <a:t>2. </a:t>
            </a: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Каждой паре </a:t>
            </a:r>
          </a:p>
        </p:txBody>
      </p:sp>
      <p:sp>
        <p:nvSpPr>
          <p:cNvPr id="3083" name="Rectangle 20">
            <a:extLst>
              <a:ext uri="{FF2B5EF4-FFF2-40B4-BE49-F238E27FC236}">
                <a16:creationId xmlns:a16="http://schemas.microsoft.com/office/drawing/2014/main" id="{43803F5D-37F7-4826-86E1-9922018683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5084764"/>
            <a:ext cx="7127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200">
                <a:cs typeface="Times New Roman" panose="02020603050405020304" pitchFamily="18" charset="0"/>
              </a:rPr>
              <a:t>,</a:t>
            </a:r>
            <a:r>
              <a:rPr lang="ru-RU" altLang="ru-RU" sz="2000">
                <a:cs typeface="Times New Roman" panose="02020603050405020304" pitchFamily="18" charset="0"/>
              </a:rPr>
              <a:t> </a:t>
            </a: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где </a:t>
            </a:r>
          </a:p>
        </p:txBody>
      </p:sp>
      <p:sp>
        <p:nvSpPr>
          <p:cNvPr id="3084" name="Rectangle 21">
            <a:extLst>
              <a:ext uri="{FF2B5EF4-FFF2-40B4-BE49-F238E27FC236}">
                <a16:creationId xmlns:a16="http://schemas.microsoft.com/office/drawing/2014/main" id="{09416023-6A2B-47AA-B4E9-7E869C561E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4564" y="5084764"/>
            <a:ext cx="3905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</a:p>
        </p:txBody>
      </p:sp>
      <p:sp>
        <p:nvSpPr>
          <p:cNvPr id="3085" name="Rectangle 22">
            <a:extLst>
              <a:ext uri="{FF2B5EF4-FFF2-40B4-BE49-F238E27FC236}">
                <a16:creationId xmlns:a16="http://schemas.microsoft.com/office/drawing/2014/main" id="{3253C561-372C-44C7-98E7-F602F10EF9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2625" y="5097464"/>
            <a:ext cx="27051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сопоставляется вектор </a:t>
            </a:r>
          </a:p>
        </p:txBody>
      </p:sp>
      <p:sp>
        <p:nvSpPr>
          <p:cNvPr id="3086" name="Rectangle 24">
            <a:extLst>
              <a:ext uri="{FF2B5EF4-FFF2-40B4-BE49-F238E27FC236}">
                <a16:creationId xmlns:a16="http://schemas.microsoft.com/office/drawing/2014/main" id="{2C812769-C67A-4BB7-BC14-FB8FB9973F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087" name="Rectangle 26">
            <a:extLst>
              <a:ext uri="{FF2B5EF4-FFF2-40B4-BE49-F238E27FC236}">
                <a16:creationId xmlns:a16="http://schemas.microsoft.com/office/drawing/2014/main" id="{7A495040-D8BB-4652-9589-2618DD6676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570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3088" name="Object 25">
            <a:extLst>
              <a:ext uri="{FF2B5EF4-FFF2-40B4-BE49-F238E27FC236}">
                <a16:creationId xmlns:a16="http://schemas.microsoft.com/office/drawing/2014/main" id="{8D193E9E-D058-47F6-93BF-42F450D446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551988" y="5153025"/>
          <a:ext cx="1116012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3" name="Формула" r:id="rId11" imgW="494870" imgH="177646" progId="Equation.3">
                  <p:embed/>
                </p:oleObj>
              </mc:Choice>
              <mc:Fallback>
                <p:oleObj name="Формула" r:id="rId11" imgW="494870" imgH="177646" progId="Equation.3">
                  <p:embed/>
                  <p:pic>
                    <p:nvPicPr>
                      <p:cNvPr id="3088" name="Object 25">
                        <a:extLst>
                          <a:ext uri="{FF2B5EF4-FFF2-40B4-BE49-F238E27FC236}">
                            <a16:creationId xmlns:a16="http://schemas.microsoft.com/office/drawing/2014/main" id="{8D193E9E-D058-47F6-93BF-42F450D4460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51988" y="5153025"/>
                        <a:ext cx="1116012" cy="323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9" name="Object 27">
            <a:extLst>
              <a:ext uri="{FF2B5EF4-FFF2-40B4-BE49-F238E27FC236}">
                <a16:creationId xmlns:a16="http://schemas.microsoft.com/office/drawing/2014/main" id="{6E42C975-A3C4-4898-BF7C-29FFA1BC5EE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16275" y="3857626"/>
          <a:ext cx="433388" cy="252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4" name="Формула" r:id="rId13" imgW="291847" imgH="164957" progId="Equation.3">
                  <p:embed/>
                </p:oleObj>
              </mc:Choice>
              <mc:Fallback>
                <p:oleObj name="Формула" r:id="rId13" imgW="291847" imgH="164957" progId="Equation.3">
                  <p:embed/>
                  <p:pic>
                    <p:nvPicPr>
                      <p:cNvPr id="3089" name="Object 27">
                        <a:extLst>
                          <a:ext uri="{FF2B5EF4-FFF2-40B4-BE49-F238E27FC236}">
                            <a16:creationId xmlns:a16="http://schemas.microsoft.com/office/drawing/2014/main" id="{6E42C975-A3C4-4898-BF7C-29FFA1BC5EE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6275" y="3857626"/>
                        <a:ext cx="433388" cy="252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90" name="Object 28">
            <a:extLst>
              <a:ext uri="{FF2B5EF4-FFF2-40B4-BE49-F238E27FC236}">
                <a16:creationId xmlns:a16="http://schemas.microsoft.com/office/drawing/2014/main" id="{27363359-FE77-4699-9C4B-DC0920552327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4008439" y="5157789"/>
          <a:ext cx="720725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5" name="Формула" r:id="rId14" imgW="393529" imgH="203112" progId="Equation.3">
                  <p:embed/>
                </p:oleObj>
              </mc:Choice>
              <mc:Fallback>
                <p:oleObj name="Формула" r:id="rId14" imgW="393529" imgH="203112" progId="Equation.3">
                  <p:embed/>
                  <p:pic>
                    <p:nvPicPr>
                      <p:cNvPr id="3090" name="Object 28">
                        <a:extLst>
                          <a:ext uri="{FF2B5EF4-FFF2-40B4-BE49-F238E27FC236}">
                            <a16:creationId xmlns:a16="http://schemas.microsoft.com/office/drawing/2014/main" id="{27363359-FE77-4699-9C4B-DC092055232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8439" y="5157789"/>
                        <a:ext cx="720725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FDC21090-FECC-4128-A1AA-9128673392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ru-RU" sz="4000" b="1" i="1" u="sng" dirty="0"/>
              <a:t>1</a:t>
            </a:r>
            <a:r>
              <a:rPr lang="ru-RU" altLang="ru-RU" sz="4000" b="1" i="1" u="sng" dirty="0">
                <a:latin typeface="+mn-lt"/>
              </a:rPr>
              <a:t>. </a:t>
            </a:r>
            <a:r>
              <a:rPr lang="ru-RU" altLang="ru-RU" sz="40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Краткий экскурс в функциональный анализ.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2F6D52D0-C837-447E-8AA4-B989C76A966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92313" y="1557338"/>
            <a:ext cx="8280400" cy="4525962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ru-RU" sz="2400" b="1" dirty="0"/>
              <a:t>1</a:t>
            </a:r>
            <a:r>
              <a:rPr lang="ru-RU" altLang="ru-RU" sz="2400" b="1" dirty="0"/>
              <a:t>.2.</a:t>
            </a:r>
            <a:r>
              <a:rPr lang="ru-RU" altLang="ru-RU" sz="2400" b="1" u="sng" dirty="0"/>
              <a:t> Линейное пространство      (</a:t>
            </a:r>
            <a:r>
              <a:rPr lang="en-US" altLang="ru-RU" sz="2400" b="1" u="sng" dirty="0"/>
              <a:t>n</a:t>
            </a:r>
            <a:r>
              <a:rPr lang="ru-RU" altLang="ru-RU" sz="2400" b="1" u="sng" dirty="0"/>
              <a:t> – размерность пространства)</a:t>
            </a:r>
            <a:r>
              <a:rPr lang="ru-RU" altLang="ru-RU" sz="2400" dirty="0"/>
              <a:t> </a:t>
            </a:r>
          </a:p>
        </p:txBody>
      </p:sp>
      <p:graphicFrame>
        <p:nvGraphicFramePr>
          <p:cNvPr id="4100" name="Object 4">
            <a:extLst>
              <a:ext uri="{FF2B5EF4-FFF2-40B4-BE49-F238E27FC236}">
                <a16:creationId xmlns:a16="http://schemas.microsoft.com/office/drawing/2014/main" id="{69A4B232-F3A1-44B5-9C49-ABEE2D026619}"/>
              </a:ext>
            </a:extLst>
          </p:cNvPr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2670176807"/>
              </p:ext>
            </p:extLst>
          </p:nvPr>
        </p:nvGraphicFramePr>
        <p:xfrm>
          <a:off x="5751626" y="2699256"/>
          <a:ext cx="409501" cy="4518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4" name="Формула" r:id="rId3" imgW="203112" imgH="190417" progId="Equation.3">
                  <p:embed/>
                </p:oleObj>
              </mc:Choice>
              <mc:Fallback>
                <p:oleObj name="Формула" r:id="rId3" imgW="203112" imgH="190417" progId="Equation.3">
                  <p:embed/>
                  <p:pic>
                    <p:nvPicPr>
                      <p:cNvPr id="4100" name="Object 4">
                        <a:extLst>
                          <a:ext uri="{FF2B5EF4-FFF2-40B4-BE49-F238E27FC236}">
                            <a16:creationId xmlns:a16="http://schemas.microsoft.com/office/drawing/2014/main" id="{69A4B232-F3A1-44B5-9C49-ABEE2D02661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1626" y="2699256"/>
                        <a:ext cx="409501" cy="4518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1" name="Rectangle 6">
            <a:extLst>
              <a:ext uri="{FF2B5EF4-FFF2-40B4-BE49-F238E27FC236}">
                <a16:creationId xmlns:a16="http://schemas.microsoft.com/office/drawing/2014/main" id="{1A7D5D93-3E9E-4D40-B0E0-C2F35D8DE9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9851" y="2239673"/>
            <a:ext cx="737870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Элементами линейного пространства (линеала) являются объекты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102" name="Rectangle 7">
            <a:extLst>
              <a:ext uri="{FF2B5EF4-FFF2-40B4-BE49-F238E27FC236}">
                <a16:creationId xmlns:a16="http://schemas.microsoft.com/office/drawing/2014/main" id="{C448FC0B-0C3A-411D-A144-FEBAA271E1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9851" y="2779991"/>
            <a:ext cx="389587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Свойства линейного пространства:</a:t>
            </a:r>
          </a:p>
        </p:txBody>
      </p:sp>
      <p:sp>
        <p:nvSpPr>
          <p:cNvPr id="4103" name="Rectangle 8">
            <a:extLst>
              <a:ext uri="{FF2B5EF4-FFF2-40B4-BE49-F238E27FC236}">
                <a16:creationId xmlns:a16="http://schemas.microsoft.com/office/drawing/2014/main" id="{72FF8F59-EFCA-45E5-AA5A-481A84ABAC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2964" y="3067050"/>
            <a:ext cx="2751137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,тогда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 </a:t>
            </a:r>
            <a:endParaRPr lang="ru-RU" altLang="ru-RU" sz="180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graphicFrame>
        <p:nvGraphicFramePr>
          <p:cNvPr id="4104" name="Object 11">
            <a:extLst>
              <a:ext uri="{FF2B5EF4-FFF2-40B4-BE49-F238E27FC236}">
                <a16:creationId xmlns:a16="http://schemas.microsoft.com/office/drawing/2014/main" id="{F0F23752-A8A5-43A8-8AB8-91CE373F4E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0884571"/>
              </p:ext>
            </p:extLst>
          </p:nvPr>
        </p:nvGraphicFramePr>
        <p:xfrm>
          <a:off x="5835726" y="1540671"/>
          <a:ext cx="426958" cy="3698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5" name="Формула" r:id="rId5" imgW="203112" imgH="190417" progId="Equation.3">
                  <p:embed/>
                </p:oleObj>
              </mc:Choice>
              <mc:Fallback>
                <p:oleObj name="Формула" r:id="rId5" imgW="203112" imgH="190417" progId="Equation.3">
                  <p:embed/>
                  <p:pic>
                    <p:nvPicPr>
                      <p:cNvPr id="4104" name="Object 11">
                        <a:extLst>
                          <a:ext uri="{FF2B5EF4-FFF2-40B4-BE49-F238E27FC236}">
                            <a16:creationId xmlns:a16="http://schemas.microsoft.com/office/drawing/2014/main" id="{F0F23752-A8A5-43A8-8AB8-91CE373F4E4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5726" y="1540671"/>
                        <a:ext cx="426958" cy="3698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5" name="Object 12">
            <a:extLst>
              <a:ext uri="{FF2B5EF4-FFF2-40B4-BE49-F238E27FC236}">
                <a16:creationId xmlns:a16="http://schemas.microsoft.com/office/drawing/2014/main" id="{F82CCB6E-F452-4EAB-81C1-889750C506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27351" y="3068639"/>
          <a:ext cx="360363" cy="33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6" name="Формула" r:id="rId6" imgW="203112" imgH="190417" progId="Equation.3">
                  <p:embed/>
                </p:oleObj>
              </mc:Choice>
              <mc:Fallback>
                <p:oleObj name="Формула" r:id="rId6" imgW="203112" imgH="190417" progId="Equation.3">
                  <p:embed/>
                  <p:pic>
                    <p:nvPicPr>
                      <p:cNvPr id="4105" name="Object 12">
                        <a:extLst>
                          <a:ext uri="{FF2B5EF4-FFF2-40B4-BE49-F238E27FC236}">
                            <a16:creationId xmlns:a16="http://schemas.microsoft.com/office/drawing/2014/main" id="{F82CCB6E-F452-4EAB-81C1-889750C506D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7351" y="3068639"/>
                        <a:ext cx="360363" cy="338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" name="Object 13">
            <a:extLst>
              <a:ext uri="{FF2B5EF4-FFF2-40B4-BE49-F238E27FC236}">
                <a16:creationId xmlns:a16="http://schemas.microsoft.com/office/drawing/2014/main" id="{BA3E27F2-8644-48A9-9BCD-D921A72E70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43476" y="3068639"/>
          <a:ext cx="360363" cy="312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7" name="Формула" r:id="rId7" imgW="203112" imgH="190417" progId="Equation.3">
                  <p:embed/>
                </p:oleObj>
              </mc:Choice>
              <mc:Fallback>
                <p:oleObj name="Формула" r:id="rId7" imgW="203112" imgH="190417" progId="Equation.3">
                  <p:embed/>
                  <p:pic>
                    <p:nvPicPr>
                      <p:cNvPr id="4106" name="Object 13">
                        <a:extLst>
                          <a:ext uri="{FF2B5EF4-FFF2-40B4-BE49-F238E27FC236}">
                            <a16:creationId xmlns:a16="http://schemas.microsoft.com/office/drawing/2014/main" id="{BA3E27F2-8644-48A9-9BCD-D921A72E707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3476" y="3068639"/>
                        <a:ext cx="360363" cy="312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7" name="Rectangle 14">
            <a:extLst>
              <a:ext uri="{FF2B5EF4-FFF2-40B4-BE49-F238E27FC236}">
                <a16:creationId xmlns:a16="http://schemas.microsoft.com/office/drawing/2014/main" id="{04E83098-4E14-42D8-ACA3-F1BF1610F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9289" y="3427414"/>
            <a:ext cx="5038725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, 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ru-RU" altLang="ru-RU" sz="12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ru-RU" altLang="ru-RU" sz="1800">
                <a:sym typeface="Symbol" panose="05050102010706020507" pitchFamily="18" charset="2"/>
              </a:rPr>
              <a:t>–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произведение на скаляр </a:t>
            </a:r>
          </a:p>
        </p:txBody>
      </p:sp>
      <p:graphicFrame>
        <p:nvGraphicFramePr>
          <p:cNvPr id="4108" name="Object 15">
            <a:extLst>
              <a:ext uri="{FF2B5EF4-FFF2-40B4-BE49-F238E27FC236}">
                <a16:creationId xmlns:a16="http://schemas.microsoft.com/office/drawing/2014/main" id="{5140AA9F-5490-4C3B-A32E-2821C75C19B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73338" y="3429000"/>
          <a:ext cx="360362" cy="33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8" name="Формула" r:id="rId8" imgW="203112" imgH="190417" progId="Equation.3">
                  <p:embed/>
                </p:oleObj>
              </mc:Choice>
              <mc:Fallback>
                <p:oleObj name="Формула" r:id="rId8" imgW="203112" imgH="190417" progId="Equation.3">
                  <p:embed/>
                  <p:pic>
                    <p:nvPicPr>
                      <p:cNvPr id="4108" name="Object 15">
                        <a:extLst>
                          <a:ext uri="{FF2B5EF4-FFF2-40B4-BE49-F238E27FC236}">
                            <a16:creationId xmlns:a16="http://schemas.microsoft.com/office/drawing/2014/main" id="{5140AA9F-5490-4C3B-A32E-2821C75C19B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3338" y="3429000"/>
                        <a:ext cx="360362" cy="338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9" name="Rectangle 16">
            <a:extLst>
              <a:ext uri="{FF2B5EF4-FFF2-40B4-BE49-F238E27FC236}">
                <a16:creationId xmlns:a16="http://schemas.microsoft.com/office/drawing/2014/main" id="{6DA210A8-91A2-4D19-85D1-41F1880DC5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8526" y="3429001"/>
            <a:ext cx="16478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при этом для </a:t>
            </a:r>
          </a:p>
        </p:txBody>
      </p:sp>
      <p:graphicFrame>
        <p:nvGraphicFramePr>
          <p:cNvPr id="4110" name="Object 19">
            <a:extLst>
              <a:ext uri="{FF2B5EF4-FFF2-40B4-BE49-F238E27FC236}">
                <a16:creationId xmlns:a16="http://schemas.microsoft.com/office/drawing/2014/main" id="{03340D62-0E71-4458-99F0-142F2B11F3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832851" y="3429001"/>
          <a:ext cx="1103313" cy="309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9" name="Формула" r:id="rId9" imgW="812447" imgH="228501" progId="Equation.3">
                  <p:embed/>
                </p:oleObj>
              </mc:Choice>
              <mc:Fallback>
                <p:oleObj name="Формула" r:id="rId9" imgW="812447" imgH="228501" progId="Equation.3">
                  <p:embed/>
                  <p:pic>
                    <p:nvPicPr>
                      <p:cNvPr id="4110" name="Object 19">
                        <a:extLst>
                          <a:ext uri="{FF2B5EF4-FFF2-40B4-BE49-F238E27FC236}">
                            <a16:creationId xmlns:a16="http://schemas.microsoft.com/office/drawing/2014/main" id="{03340D62-0E71-4458-99F0-142F2B11F3A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32851" y="3429001"/>
                        <a:ext cx="1103313" cy="309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11" name="Rectangle 21">
            <a:extLst>
              <a:ext uri="{FF2B5EF4-FFF2-40B4-BE49-F238E27FC236}">
                <a16:creationId xmlns:a16="http://schemas.microsoft.com/office/drawing/2014/main" id="{DBAE036B-21BA-48BE-8AF3-7E12FFD245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6464" y="3787775"/>
            <a:ext cx="3432175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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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выполняются аксиомы</a:t>
            </a:r>
            <a:r>
              <a:rPr lang="ru-RU" altLang="ru-RU" sz="1800">
                <a:sym typeface="Symbol" panose="05050102010706020507" pitchFamily="18" charset="2"/>
              </a:rPr>
              <a:t>:</a:t>
            </a:r>
          </a:p>
        </p:txBody>
      </p:sp>
      <p:sp>
        <p:nvSpPr>
          <p:cNvPr id="4112" name="Rectangle 22">
            <a:extLst>
              <a:ext uri="{FF2B5EF4-FFF2-40B4-BE49-F238E27FC236}">
                <a16:creationId xmlns:a16="http://schemas.microsoft.com/office/drawing/2014/main" id="{7AEE97FF-F121-4983-8AB2-F447935880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1950" y="4025900"/>
            <a:ext cx="9036050" cy="2014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342900" indent="-342900">
              <a:spcBef>
                <a:spcPct val="20000"/>
              </a:spcBef>
              <a:buChar char="•"/>
              <a:tabLst>
                <a:tab pos="6858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tabLst>
                <a:tab pos="6858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6858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685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685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85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85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85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85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коммутативность сложения;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(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(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ассоциативность сложения;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3)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Rn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такой, что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+ 0 =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; существование нулевого элемента для сложения;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4)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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)=(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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– ассоциативность умножения скаляров;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5)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 такой, что1*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; существование единичного элемента для умножения;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6)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+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=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+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– дистрибутивность умножения на скаляр;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7)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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+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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- дистрибутивность умножения на вектор.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7F65F96C-98FA-47EC-B95E-572C19BAC2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ru-RU" sz="4000" b="1" i="1" u="sng" dirty="0">
                <a:latin typeface="+mn-lt"/>
              </a:rPr>
              <a:t>1</a:t>
            </a:r>
            <a:r>
              <a:rPr lang="ru-RU" altLang="ru-RU" sz="40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.Краткий экскурс в функциональный анализ.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520A4136-F51B-4CAB-8CDA-4054A38BB45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703388" y="1628776"/>
            <a:ext cx="8856662" cy="4525963"/>
          </a:xfrm>
        </p:spPr>
        <p:txBody>
          <a:bodyPr>
            <a:normAutofit/>
          </a:bodyPr>
          <a:lstStyle/>
          <a:p>
            <a:pPr eaLnBrk="1" hangingPunct="1">
              <a:buFontTx/>
              <a:buNone/>
            </a:pPr>
            <a:r>
              <a:rPr lang="en-US" altLang="ru-RU" b="1" dirty="0"/>
              <a:t>1</a:t>
            </a:r>
            <a:r>
              <a:rPr lang="ru-RU" altLang="ru-RU" b="1" dirty="0"/>
              <a:t>.3. </a:t>
            </a:r>
            <a:r>
              <a:rPr lang="ru-RU" altLang="ru-RU" b="1" u="sng" dirty="0"/>
              <a:t>Евклидово пространство</a:t>
            </a:r>
            <a:r>
              <a:rPr lang="ru-RU" altLang="ru-RU" b="1" dirty="0"/>
              <a:t> </a:t>
            </a:r>
          </a:p>
        </p:txBody>
      </p:sp>
      <p:sp>
        <p:nvSpPr>
          <p:cNvPr id="5124" name="Rectangle 10">
            <a:extLst>
              <a:ext uri="{FF2B5EF4-FFF2-40B4-BE49-F238E27FC236}">
                <a16:creationId xmlns:a16="http://schemas.microsoft.com/office/drawing/2014/main" id="{0F31DB84-78BB-4337-A6E4-761EAFB038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2889" y="2205038"/>
            <a:ext cx="43656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b="1"/>
              <a:t>Вводится скалярное произведение:</a:t>
            </a:r>
            <a:r>
              <a:rPr lang="ru-RU" altLang="ru-RU" sz="1800"/>
              <a:t> </a:t>
            </a:r>
          </a:p>
        </p:txBody>
      </p:sp>
      <p:sp>
        <p:nvSpPr>
          <p:cNvPr id="5125" name="Rectangle 12">
            <a:extLst>
              <a:ext uri="{FF2B5EF4-FFF2-40B4-BE49-F238E27FC236}">
                <a16:creationId xmlns:a16="http://schemas.microsoft.com/office/drawing/2014/main" id="{F8F18060-367F-4C44-8EE8-3A87F1A4E0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236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5126" name="Object 11">
            <a:extLst>
              <a:ext uri="{FF2B5EF4-FFF2-40B4-BE49-F238E27FC236}">
                <a16:creationId xmlns:a16="http://schemas.microsoft.com/office/drawing/2014/main" id="{88A8D905-55D6-40B4-A53C-6C5D4DC761F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07225" y="2087564"/>
          <a:ext cx="1873250" cy="661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8" name="Формула" r:id="rId3" imgW="965200" imgH="431800" progId="Equation.3">
                  <p:embed/>
                </p:oleObj>
              </mc:Choice>
              <mc:Fallback>
                <p:oleObj name="Формула" r:id="rId3" imgW="965200" imgH="431800" progId="Equation.3">
                  <p:embed/>
                  <p:pic>
                    <p:nvPicPr>
                      <p:cNvPr id="5126" name="Object 11">
                        <a:extLst>
                          <a:ext uri="{FF2B5EF4-FFF2-40B4-BE49-F238E27FC236}">
                            <a16:creationId xmlns:a16="http://schemas.microsoft.com/office/drawing/2014/main" id="{88A8D905-55D6-40B4-A53C-6C5D4DC761F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7225" y="2087564"/>
                        <a:ext cx="1873250" cy="661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7" name="Rectangle 13">
            <a:extLst>
              <a:ext uri="{FF2B5EF4-FFF2-40B4-BE49-F238E27FC236}">
                <a16:creationId xmlns:a16="http://schemas.microsoft.com/office/drawing/2014/main" id="{461686F2-E623-40B0-82D4-6FC074D97F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4649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5128" name="Rectangle 15">
            <a:extLst>
              <a:ext uri="{FF2B5EF4-FFF2-40B4-BE49-F238E27FC236}">
                <a16:creationId xmlns:a16="http://schemas.microsoft.com/office/drawing/2014/main" id="{7125EFE1-F630-4F77-A860-953A8D9B97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300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5129" name="Object 14">
            <a:extLst>
              <a:ext uri="{FF2B5EF4-FFF2-40B4-BE49-F238E27FC236}">
                <a16:creationId xmlns:a16="http://schemas.microsoft.com/office/drawing/2014/main" id="{4FB45FC3-D75D-494F-BAED-F0DFDFEF0E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82889" y="2492375"/>
          <a:ext cx="4033837" cy="655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9" name="Формула" r:id="rId5" imgW="2108200" imgH="431800" progId="Equation.3">
                  <p:embed/>
                </p:oleObj>
              </mc:Choice>
              <mc:Fallback>
                <p:oleObj name="Формула" r:id="rId5" imgW="2108200" imgH="431800" progId="Equation.3">
                  <p:embed/>
                  <p:pic>
                    <p:nvPicPr>
                      <p:cNvPr id="5129" name="Object 14">
                        <a:extLst>
                          <a:ext uri="{FF2B5EF4-FFF2-40B4-BE49-F238E27FC236}">
                            <a16:creationId xmlns:a16="http://schemas.microsoft.com/office/drawing/2014/main" id="{4FB45FC3-D75D-494F-BAED-F0DFDFEF0EB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2889" y="2492375"/>
                        <a:ext cx="4033837" cy="655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0" name="Rectangle 16">
            <a:extLst>
              <a:ext uri="{FF2B5EF4-FFF2-40B4-BE49-F238E27FC236}">
                <a16:creationId xmlns:a16="http://schemas.microsoft.com/office/drawing/2014/main" id="{D9482040-EE11-455F-B599-991011E960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4602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5131" name="Rectangle 17">
            <a:extLst>
              <a:ext uri="{FF2B5EF4-FFF2-40B4-BE49-F238E27FC236}">
                <a16:creationId xmlns:a16="http://schemas.microsoft.com/office/drawing/2014/main" id="{235D47A9-C0BA-450B-89D5-B74311DE7A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1951" y="3024188"/>
            <a:ext cx="58404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ru-RU" sz="2400" b="1"/>
              <a:t>1</a:t>
            </a:r>
            <a:r>
              <a:rPr lang="ru-RU" altLang="ru-RU" sz="2400" b="1"/>
              <a:t>.4.  </a:t>
            </a:r>
            <a:r>
              <a:rPr lang="ru-RU" altLang="ru-RU" sz="2400" b="1" u="sng"/>
              <a:t>Метрическое пространство</a:t>
            </a:r>
            <a:r>
              <a:rPr lang="ru-RU" altLang="ru-RU" sz="2400" b="1"/>
              <a:t>   </a:t>
            </a:r>
          </a:p>
        </p:txBody>
      </p:sp>
      <p:sp>
        <p:nvSpPr>
          <p:cNvPr id="5132" name="Rectangle 19">
            <a:extLst>
              <a:ext uri="{FF2B5EF4-FFF2-40B4-BE49-F238E27FC236}">
                <a16:creationId xmlns:a16="http://schemas.microsoft.com/office/drawing/2014/main" id="{CD29B493-0F56-43B4-9121-3C3940B8B6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728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5133" name="Object 18">
            <a:extLst>
              <a:ext uri="{FF2B5EF4-FFF2-40B4-BE49-F238E27FC236}">
                <a16:creationId xmlns:a16="http://schemas.microsoft.com/office/drawing/2014/main" id="{DA194F56-A800-4001-93A2-6B1A1857E2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72263" y="3068638"/>
          <a:ext cx="576262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0" name="Формула" r:id="rId7" imgW="203024" imgH="152268" progId="Equation.3">
                  <p:embed/>
                </p:oleObj>
              </mc:Choice>
              <mc:Fallback>
                <p:oleObj name="Формула" r:id="rId7" imgW="203024" imgH="152268" progId="Equation.3">
                  <p:embed/>
                  <p:pic>
                    <p:nvPicPr>
                      <p:cNvPr id="5133" name="Object 18">
                        <a:extLst>
                          <a:ext uri="{FF2B5EF4-FFF2-40B4-BE49-F238E27FC236}">
                            <a16:creationId xmlns:a16="http://schemas.microsoft.com/office/drawing/2014/main" id="{DA194F56-A800-4001-93A2-6B1A1857E2C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2263" y="3068638"/>
                        <a:ext cx="576262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4" name="Rectangle 20">
            <a:extLst>
              <a:ext uri="{FF2B5EF4-FFF2-40B4-BE49-F238E27FC236}">
                <a16:creationId xmlns:a16="http://schemas.microsoft.com/office/drawing/2014/main" id="{BAE04ED4-9C63-41BF-A660-9FCEECAE83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389" y="3494089"/>
            <a:ext cx="8785225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/>
              <a:t>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Метрическим пространством называется всякое множество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в котором для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любых 2-х его элементов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введено вещественное неотрицательное  число,  называемое расстоянием, обозначаемое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). Например, для евклидового  пространства:</a:t>
            </a:r>
          </a:p>
        </p:txBody>
      </p:sp>
      <p:sp>
        <p:nvSpPr>
          <p:cNvPr id="5135" name="Rectangle 22">
            <a:extLst>
              <a:ext uri="{FF2B5EF4-FFF2-40B4-BE49-F238E27FC236}">
                <a16:creationId xmlns:a16="http://schemas.microsoft.com/office/drawing/2014/main" id="{1F64E8AE-E39D-46D6-BC28-585FB7BAB7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316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5136" name="Rectangle 24">
            <a:extLst>
              <a:ext uri="{FF2B5EF4-FFF2-40B4-BE49-F238E27FC236}">
                <a16:creationId xmlns:a16="http://schemas.microsoft.com/office/drawing/2014/main" id="{41A3490B-3770-456E-8BD9-F2D468979F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284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5137" name="Object 23">
            <a:extLst>
              <a:ext uri="{FF2B5EF4-FFF2-40B4-BE49-F238E27FC236}">
                <a16:creationId xmlns:a16="http://schemas.microsoft.com/office/drawing/2014/main" id="{78901F49-C885-43D1-AEB2-F362086956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51314" y="4625975"/>
          <a:ext cx="3311525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1" name="Формула" r:id="rId9" imgW="2032000" imgH="431800" progId="Equation.3">
                  <p:embed/>
                </p:oleObj>
              </mc:Choice>
              <mc:Fallback>
                <p:oleObj name="Формула" r:id="rId9" imgW="2032000" imgH="431800" progId="Equation.3">
                  <p:embed/>
                  <p:pic>
                    <p:nvPicPr>
                      <p:cNvPr id="5137" name="Object 23">
                        <a:extLst>
                          <a:ext uri="{FF2B5EF4-FFF2-40B4-BE49-F238E27FC236}">
                            <a16:creationId xmlns:a16="http://schemas.microsoft.com/office/drawing/2014/main" id="{78901F49-C885-43D1-AEB2-F3620869564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1314" y="4625975"/>
                        <a:ext cx="3311525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8" name="Rectangle 25">
            <a:extLst>
              <a:ext uri="{FF2B5EF4-FFF2-40B4-BE49-F238E27FC236}">
                <a16:creationId xmlns:a16="http://schemas.microsoft.com/office/drawing/2014/main" id="{996214B4-A204-42DD-8465-C36D18572D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388" y="5343526"/>
            <a:ext cx="8640762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Пространство, обладающее   евклидовой метрикой обозначается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или   .</a:t>
            </a:r>
          </a:p>
        </p:txBody>
      </p:sp>
      <p:sp>
        <p:nvSpPr>
          <p:cNvPr id="5139" name="Rectangle 27">
            <a:extLst>
              <a:ext uri="{FF2B5EF4-FFF2-40B4-BE49-F238E27FC236}">
                <a16:creationId xmlns:a16="http://schemas.microsoft.com/office/drawing/2014/main" id="{AE552C0B-37AE-49DB-8C6A-DBA00F1E9F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5140" name="Object 26">
            <a:extLst>
              <a:ext uri="{FF2B5EF4-FFF2-40B4-BE49-F238E27FC236}">
                <a16:creationId xmlns:a16="http://schemas.microsoft.com/office/drawing/2014/main" id="{260EEB47-BF9D-433D-A433-5F76D44E79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880475" y="5273675"/>
          <a:ext cx="344488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2" name="Формула" r:id="rId11" imgW="152334" imgH="228501" progId="Equation.3">
                  <p:embed/>
                </p:oleObj>
              </mc:Choice>
              <mc:Fallback>
                <p:oleObj name="Формула" r:id="rId11" imgW="152334" imgH="228501" progId="Equation.3">
                  <p:embed/>
                  <p:pic>
                    <p:nvPicPr>
                      <p:cNvPr id="5140" name="Object 26">
                        <a:extLst>
                          <a:ext uri="{FF2B5EF4-FFF2-40B4-BE49-F238E27FC236}">
                            <a16:creationId xmlns:a16="http://schemas.microsoft.com/office/drawing/2014/main" id="{260EEB47-BF9D-433D-A433-5F76D44E79C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80475" y="5273675"/>
                        <a:ext cx="344488" cy="515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41" name="Object 30">
            <a:extLst>
              <a:ext uri="{FF2B5EF4-FFF2-40B4-BE49-F238E27FC236}">
                <a16:creationId xmlns:a16="http://schemas.microsoft.com/office/drawing/2014/main" id="{C3ED7134-7DC9-43FE-B07C-0B3958F4EFB2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2208213" y="5661025"/>
          <a:ext cx="360362" cy="33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3" name="Формула" r:id="rId13" imgW="203112" imgH="190417" progId="Equation.3">
                  <p:embed/>
                </p:oleObj>
              </mc:Choice>
              <mc:Fallback>
                <p:oleObj name="Формула" r:id="rId13" imgW="203112" imgH="190417" progId="Equation.3">
                  <p:embed/>
                  <p:pic>
                    <p:nvPicPr>
                      <p:cNvPr id="5141" name="Object 30">
                        <a:extLst>
                          <a:ext uri="{FF2B5EF4-FFF2-40B4-BE49-F238E27FC236}">
                            <a16:creationId xmlns:a16="http://schemas.microsoft.com/office/drawing/2014/main" id="{C3ED7134-7DC9-43FE-B07C-0B3958F4EFB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3" y="5661025"/>
                        <a:ext cx="360362" cy="338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C7A07F0B-3F65-4FE1-B1B2-56308A1057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ru-RU" sz="4000" b="1" i="1" u="sng" dirty="0">
                <a:latin typeface="+mn-lt"/>
              </a:rPr>
              <a:t>1</a:t>
            </a:r>
            <a:r>
              <a:rPr lang="ru-RU" altLang="ru-RU" sz="4000" b="1" i="1" u="sng" dirty="0">
                <a:latin typeface="+mn-lt"/>
              </a:rPr>
              <a:t>.</a:t>
            </a:r>
            <a:r>
              <a:rPr lang="ru-RU" altLang="ru-RU" sz="40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Краткий экскурс в функциональный анализ.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926CE40E-6561-41ED-8EF9-6AF372726DB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524000" y="1700213"/>
            <a:ext cx="9144000" cy="4525962"/>
          </a:xfrm>
        </p:spPr>
        <p:txBody>
          <a:bodyPr>
            <a:normAutofit/>
          </a:bodyPr>
          <a:lstStyle/>
          <a:p>
            <a:pPr eaLnBrk="1" hangingPunct="1">
              <a:buFontTx/>
              <a:buNone/>
            </a:pPr>
            <a:r>
              <a:rPr lang="en-US" altLang="ru-RU" b="1" dirty="0"/>
              <a:t>1</a:t>
            </a:r>
            <a:r>
              <a:rPr lang="ru-RU" altLang="ru-RU" b="1" dirty="0"/>
              <a:t>.5.</a:t>
            </a:r>
            <a:r>
              <a:rPr lang="ru-RU" altLang="ru-RU" dirty="0"/>
              <a:t> </a:t>
            </a:r>
            <a:r>
              <a:rPr lang="ru-RU" altLang="ru-RU" b="1" u="sng" dirty="0"/>
              <a:t>Гильбертово пространство</a:t>
            </a:r>
            <a:r>
              <a:rPr lang="ru-RU" altLang="ru-RU" b="1" dirty="0"/>
              <a:t> (аналог евклидова пространства в функциональном   пространстве)</a:t>
            </a:r>
            <a:r>
              <a:rPr lang="ru-RU" altLang="ru-RU" dirty="0"/>
              <a:t>.</a:t>
            </a:r>
          </a:p>
        </p:txBody>
      </p:sp>
      <p:sp>
        <p:nvSpPr>
          <p:cNvPr id="6148" name="Rectangle 5">
            <a:extLst>
              <a:ext uri="{FF2B5EF4-FFF2-40B4-BE49-F238E27FC236}">
                <a16:creationId xmlns:a16="http://schemas.microsoft.com/office/drawing/2014/main" id="{AA1DCA60-68F7-4325-A748-91FC0F355D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236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6149" name="Rectangle 7">
            <a:extLst>
              <a:ext uri="{FF2B5EF4-FFF2-40B4-BE49-F238E27FC236}">
                <a16:creationId xmlns:a16="http://schemas.microsoft.com/office/drawing/2014/main" id="{53D409EC-E633-4B07-937B-DA3A3706FC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4649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6150" name="Rectangle 8">
            <a:extLst>
              <a:ext uri="{FF2B5EF4-FFF2-40B4-BE49-F238E27FC236}">
                <a16:creationId xmlns:a16="http://schemas.microsoft.com/office/drawing/2014/main" id="{F8884570-171B-4809-A26B-7109C1B4C0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300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6151" name="Rectangle 10">
            <a:extLst>
              <a:ext uri="{FF2B5EF4-FFF2-40B4-BE49-F238E27FC236}">
                <a16:creationId xmlns:a16="http://schemas.microsoft.com/office/drawing/2014/main" id="{697B535E-8D08-46EB-8FE5-424AFB608C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4602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6152" name="Rectangle 12">
            <a:extLst>
              <a:ext uri="{FF2B5EF4-FFF2-40B4-BE49-F238E27FC236}">
                <a16:creationId xmlns:a16="http://schemas.microsoft.com/office/drawing/2014/main" id="{32F4065D-9506-4316-B362-9FD463C8B9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6276" y="30998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6153" name="Rectangle 15">
            <a:extLst>
              <a:ext uri="{FF2B5EF4-FFF2-40B4-BE49-F238E27FC236}">
                <a16:creationId xmlns:a16="http://schemas.microsoft.com/office/drawing/2014/main" id="{BF655F9B-CFC5-419F-9AB2-486713E4D0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284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6154" name="Rectangle 19">
            <a:extLst>
              <a:ext uri="{FF2B5EF4-FFF2-40B4-BE49-F238E27FC236}">
                <a16:creationId xmlns:a16="http://schemas.microsoft.com/office/drawing/2014/main" id="{4C033D24-93D8-4D17-A868-EF0C668497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6155" name="Rectangle 22">
            <a:extLst>
              <a:ext uri="{FF2B5EF4-FFF2-40B4-BE49-F238E27FC236}">
                <a16:creationId xmlns:a16="http://schemas.microsoft.com/office/drawing/2014/main" id="{C317CCEE-2C08-4FE3-8337-874E3603BD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5188" y="2492376"/>
            <a:ext cx="4800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Расстояние в гильбертовом пространстве: </a:t>
            </a:r>
          </a:p>
        </p:txBody>
      </p:sp>
      <p:sp>
        <p:nvSpPr>
          <p:cNvPr id="6156" name="Rectangle 24">
            <a:extLst>
              <a:ext uri="{FF2B5EF4-FFF2-40B4-BE49-F238E27FC236}">
                <a16:creationId xmlns:a16="http://schemas.microsoft.com/office/drawing/2014/main" id="{F12EB8A7-4D13-47D2-9C3B-88D69B8045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9569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6157" name="Object 23">
            <a:extLst>
              <a:ext uri="{FF2B5EF4-FFF2-40B4-BE49-F238E27FC236}">
                <a16:creationId xmlns:a16="http://schemas.microsoft.com/office/drawing/2014/main" id="{9480B595-D6A7-4786-95A7-09F08A7E1F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95551" y="2781300"/>
          <a:ext cx="4968875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4" name="Формула" r:id="rId3" imgW="2679700" imgH="558800" progId="Equation.3">
                  <p:embed/>
                </p:oleObj>
              </mc:Choice>
              <mc:Fallback>
                <p:oleObj name="Формула" r:id="rId3" imgW="2679700" imgH="558800" progId="Equation.3">
                  <p:embed/>
                  <p:pic>
                    <p:nvPicPr>
                      <p:cNvPr id="6157" name="Object 23">
                        <a:extLst>
                          <a:ext uri="{FF2B5EF4-FFF2-40B4-BE49-F238E27FC236}">
                            <a16:creationId xmlns:a16="http://schemas.microsoft.com/office/drawing/2014/main" id="{9480B595-D6A7-4786-95A7-09F08A7E1FA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551" y="2781300"/>
                        <a:ext cx="4968875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8" name="Rectangle 26">
            <a:extLst>
              <a:ext uri="{FF2B5EF4-FFF2-40B4-BE49-F238E27FC236}">
                <a16:creationId xmlns:a16="http://schemas.microsoft.com/office/drawing/2014/main" id="{70332E5F-4463-48E0-A079-65D0FFC0A3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8213" y="3500438"/>
            <a:ext cx="39163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Норма гильбертова пространства: </a:t>
            </a:r>
          </a:p>
        </p:txBody>
      </p:sp>
      <p:sp>
        <p:nvSpPr>
          <p:cNvPr id="6159" name="Rectangle 28">
            <a:extLst>
              <a:ext uri="{FF2B5EF4-FFF2-40B4-BE49-F238E27FC236}">
                <a16:creationId xmlns:a16="http://schemas.microsoft.com/office/drawing/2014/main" id="{37FE15B7-7845-4028-B96C-B8400F5129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427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6160" name="Object 27">
            <a:extLst>
              <a:ext uri="{FF2B5EF4-FFF2-40B4-BE49-F238E27FC236}">
                <a16:creationId xmlns:a16="http://schemas.microsoft.com/office/drawing/2014/main" id="{16C46DE4-2843-4F79-9E33-68EFA277B2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1" y="3429000"/>
          <a:ext cx="3457575" cy="661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5" name="Формула" r:id="rId5" imgW="1485255" imgH="406224" progId="Equation.3">
                  <p:embed/>
                </p:oleObj>
              </mc:Choice>
              <mc:Fallback>
                <p:oleObj name="Формула" r:id="rId5" imgW="1485255" imgH="406224" progId="Equation.3">
                  <p:embed/>
                  <p:pic>
                    <p:nvPicPr>
                      <p:cNvPr id="6160" name="Object 27">
                        <a:extLst>
                          <a:ext uri="{FF2B5EF4-FFF2-40B4-BE49-F238E27FC236}">
                            <a16:creationId xmlns:a16="http://schemas.microsoft.com/office/drawing/2014/main" id="{16C46DE4-2843-4F79-9E33-68EFA277B2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1" y="3429000"/>
                        <a:ext cx="3457575" cy="661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61" name="Rectangle 29">
            <a:extLst>
              <a:ext uri="{FF2B5EF4-FFF2-40B4-BE49-F238E27FC236}">
                <a16:creationId xmlns:a16="http://schemas.microsoft.com/office/drawing/2014/main" id="{0ABC12E9-98D0-4FAA-A209-B66C8ECE0A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4459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6162" name="Rectangle 30">
            <a:extLst>
              <a:ext uri="{FF2B5EF4-FFF2-40B4-BE49-F238E27FC236}">
                <a16:creationId xmlns:a16="http://schemas.microsoft.com/office/drawing/2014/main" id="{F52D6080-86D4-430F-98E7-A353B6FE38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389" y="4032250"/>
            <a:ext cx="65166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ru-RU" sz="2400" b="1" u="sng"/>
              <a:t>1</a:t>
            </a:r>
            <a:r>
              <a:rPr lang="ru-RU" altLang="ru-RU" sz="2400" b="1" u="sng"/>
              <a:t>.6. Общее конечномерное пространство</a:t>
            </a:r>
            <a:r>
              <a:rPr lang="ru-RU" altLang="ru-RU" sz="2400"/>
              <a:t> </a:t>
            </a:r>
          </a:p>
        </p:txBody>
      </p:sp>
      <p:sp>
        <p:nvSpPr>
          <p:cNvPr id="6163" name="Rectangle 32">
            <a:extLst>
              <a:ext uri="{FF2B5EF4-FFF2-40B4-BE49-F238E27FC236}">
                <a16:creationId xmlns:a16="http://schemas.microsoft.com/office/drawing/2014/main" id="{3FE863B4-8FF1-44D4-B6D7-CAC9A2C9A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189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6164" name="Object 31">
            <a:extLst>
              <a:ext uri="{FF2B5EF4-FFF2-40B4-BE49-F238E27FC236}">
                <a16:creationId xmlns:a16="http://schemas.microsoft.com/office/drawing/2014/main" id="{78BCF8FF-8001-4923-9F04-E2697E9844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12126" y="4005264"/>
          <a:ext cx="47307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6" name="Формула" r:id="rId7" imgW="203024" imgH="253780" progId="Equation.3">
                  <p:embed/>
                </p:oleObj>
              </mc:Choice>
              <mc:Fallback>
                <p:oleObj name="Формула" r:id="rId7" imgW="203024" imgH="253780" progId="Equation.3">
                  <p:embed/>
                  <p:pic>
                    <p:nvPicPr>
                      <p:cNvPr id="6164" name="Object 31">
                        <a:extLst>
                          <a:ext uri="{FF2B5EF4-FFF2-40B4-BE49-F238E27FC236}">
                            <a16:creationId xmlns:a16="http://schemas.microsoft.com/office/drawing/2014/main" id="{78BCF8FF-8001-4923-9F04-E2697E98445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12126" y="4005264"/>
                        <a:ext cx="47307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65" name="Rectangle 34">
            <a:extLst>
              <a:ext uri="{FF2B5EF4-FFF2-40B4-BE49-F238E27FC236}">
                <a16:creationId xmlns:a16="http://schemas.microsoft.com/office/drawing/2014/main" id="{F761A36A-E8E9-475F-9874-C255416374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6267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6166" name="Object 33">
            <a:extLst>
              <a:ext uri="{FF2B5EF4-FFF2-40B4-BE49-F238E27FC236}">
                <a16:creationId xmlns:a16="http://schemas.microsoft.com/office/drawing/2014/main" id="{CCD038EA-2161-48E7-AECC-B0A66F88FDE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82889" y="4652963"/>
          <a:ext cx="2808287" cy="208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7" name="Формула" r:id="rId9" imgW="1409700" imgH="1524000" progId="Equation.3">
                  <p:embed/>
                </p:oleObj>
              </mc:Choice>
              <mc:Fallback>
                <p:oleObj name="Формула" r:id="rId9" imgW="1409700" imgH="1524000" progId="Equation.3">
                  <p:embed/>
                  <p:pic>
                    <p:nvPicPr>
                      <p:cNvPr id="6166" name="Object 33">
                        <a:extLst>
                          <a:ext uri="{FF2B5EF4-FFF2-40B4-BE49-F238E27FC236}">
                            <a16:creationId xmlns:a16="http://schemas.microsoft.com/office/drawing/2014/main" id="{CCD038EA-2161-48E7-AECC-B0A66F88FDE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2889" y="4652963"/>
                        <a:ext cx="2808287" cy="2089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C08D6AD9-DF94-4D12-A0D2-8CAEAE265F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92313" y="260350"/>
            <a:ext cx="8229600" cy="1143000"/>
          </a:xfrm>
        </p:spPr>
        <p:txBody>
          <a:bodyPr/>
          <a:lstStyle/>
          <a:p>
            <a:pPr algn="ctr" eaLnBrk="1" hangingPunct="1"/>
            <a:r>
              <a:rPr lang="ru-RU" alt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Понятие нормы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B841951E-85E6-4B9F-BD96-BE212FE530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92313" y="1628776"/>
            <a:ext cx="8229600" cy="4525963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ru-RU" altLang="ru-RU" sz="2400" b="1" i="1">
                <a:latin typeface="Times New Roman" panose="02020603050405020304" pitchFamily="18" charset="0"/>
              </a:rPr>
              <a:t>Определение 1.</a:t>
            </a:r>
            <a:r>
              <a:rPr lang="ru-RU" altLang="ru-RU"/>
              <a:t> </a:t>
            </a: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Нормой называется положительное число, обозначаемое      и удовлетворяющее следующим условиям:</a:t>
            </a:r>
          </a:p>
          <a:p>
            <a:pPr eaLnBrk="1" hangingPunct="1">
              <a:buFontTx/>
              <a:buNone/>
            </a:pPr>
            <a:r>
              <a:rPr lang="ru-RU" altLang="ru-RU" sz="2000"/>
              <a:t>1) </a:t>
            </a:r>
          </a:p>
          <a:p>
            <a:pPr eaLnBrk="1" hangingPunct="1">
              <a:buFontTx/>
              <a:buNone/>
            </a:pPr>
            <a:r>
              <a:rPr lang="ru-RU" altLang="ru-RU" sz="2000"/>
              <a:t>2)</a:t>
            </a:r>
          </a:p>
          <a:p>
            <a:pPr eaLnBrk="1" hangingPunct="1">
              <a:buFontTx/>
              <a:buNone/>
            </a:pPr>
            <a:r>
              <a:rPr lang="ru-RU" altLang="ru-RU" sz="2000"/>
              <a:t>3) </a:t>
            </a:r>
          </a:p>
          <a:p>
            <a:pPr eaLnBrk="1" hangingPunct="1">
              <a:buFontTx/>
              <a:buNone/>
            </a:pPr>
            <a:endParaRPr lang="ru-RU" altLang="ru-RU" sz="2000"/>
          </a:p>
          <a:p>
            <a:pPr eaLnBrk="1" hangingPunct="1">
              <a:buFontTx/>
              <a:buNone/>
            </a:pPr>
            <a:endParaRPr lang="ru-RU" altLang="ru-RU" sz="2000"/>
          </a:p>
          <a:p>
            <a:pPr eaLnBrk="1" hangingPunct="1">
              <a:buFontTx/>
              <a:buNone/>
            </a:pPr>
            <a:endParaRPr lang="ru-RU" altLang="ru-RU" sz="2000"/>
          </a:p>
          <a:p>
            <a:pPr eaLnBrk="1" hangingPunct="1">
              <a:buFontTx/>
              <a:buNone/>
            </a:pPr>
            <a:endParaRPr lang="ru-RU" altLang="ru-RU" sz="2000"/>
          </a:p>
          <a:p>
            <a:pPr eaLnBrk="1" hangingPunct="1">
              <a:buFontTx/>
              <a:buNone/>
            </a:pP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В некоторых случаях оказывается очень полезной эллипсоидная норма:</a:t>
            </a:r>
          </a:p>
          <a:p>
            <a:pPr eaLnBrk="1" hangingPunct="1">
              <a:buFontTx/>
              <a:buNone/>
            </a:pPr>
            <a:r>
              <a:rPr lang="ru-RU" altLang="ru-RU" sz="2000"/>
              <a:t> </a:t>
            </a:r>
          </a:p>
        </p:txBody>
      </p:sp>
      <p:sp>
        <p:nvSpPr>
          <p:cNvPr id="7172" name="Rectangle 4">
            <a:extLst>
              <a:ext uri="{FF2B5EF4-FFF2-40B4-BE49-F238E27FC236}">
                <a16:creationId xmlns:a16="http://schemas.microsoft.com/office/drawing/2014/main" id="{556CD2EE-57BD-4C9F-B3E2-6CD355FE74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7173" name="Object 5">
            <a:extLst>
              <a:ext uri="{FF2B5EF4-FFF2-40B4-BE49-F238E27FC236}">
                <a16:creationId xmlns:a16="http://schemas.microsoft.com/office/drawing/2014/main" id="{D62B4394-A14A-42E6-8B26-4DB09EA3EA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95551" y="2492375"/>
          <a:ext cx="525621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94" name="Формула" r:id="rId3" imgW="3149600" imgH="254000" progId="Equation.3">
                  <p:embed/>
                </p:oleObj>
              </mc:Choice>
              <mc:Fallback>
                <p:oleObj name="Формула" r:id="rId3" imgW="3149600" imgH="254000" progId="Equation.3">
                  <p:embed/>
                  <p:pic>
                    <p:nvPicPr>
                      <p:cNvPr id="7173" name="Object 5">
                        <a:extLst>
                          <a:ext uri="{FF2B5EF4-FFF2-40B4-BE49-F238E27FC236}">
                            <a16:creationId xmlns:a16="http://schemas.microsoft.com/office/drawing/2014/main" id="{D62B4394-A14A-42E6-8B26-4DB09EA3EAB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551" y="2492375"/>
                        <a:ext cx="5256213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4" name="Rectangle 6">
            <a:extLst>
              <a:ext uri="{FF2B5EF4-FFF2-40B4-BE49-F238E27FC236}">
                <a16:creationId xmlns:a16="http://schemas.microsoft.com/office/drawing/2014/main" id="{FBE21324-0712-4955-8A02-1A857EDC97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998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7175" name="Object 7">
            <a:extLst>
              <a:ext uri="{FF2B5EF4-FFF2-40B4-BE49-F238E27FC236}">
                <a16:creationId xmlns:a16="http://schemas.microsoft.com/office/drawing/2014/main" id="{8A36A93A-CEF0-4C0D-AD7B-788BC632B1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95550" y="2849564"/>
          <a:ext cx="3384550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95" name="Формула" r:id="rId5" imgW="1954951" imgH="253890" progId="Equation.3">
                  <p:embed/>
                </p:oleObj>
              </mc:Choice>
              <mc:Fallback>
                <p:oleObj name="Формула" r:id="rId5" imgW="1954951" imgH="253890" progId="Equation.3">
                  <p:embed/>
                  <p:pic>
                    <p:nvPicPr>
                      <p:cNvPr id="7175" name="Object 7">
                        <a:extLst>
                          <a:ext uri="{FF2B5EF4-FFF2-40B4-BE49-F238E27FC236}">
                            <a16:creationId xmlns:a16="http://schemas.microsoft.com/office/drawing/2014/main" id="{8A36A93A-CEF0-4C0D-AD7B-788BC632B1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550" y="2849564"/>
                        <a:ext cx="3384550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6" name="Rectangle 8">
            <a:extLst>
              <a:ext uri="{FF2B5EF4-FFF2-40B4-BE49-F238E27FC236}">
                <a16:creationId xmlns:a16="http://schemas.microsoft.com/office/drawing/2014/main" id="{D910A5CA-736C-4D87-9E5F-00E9D1180F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7177" name="Object 9">
            <a:extLst>
              <a:ext uri="{FF2B5EF4-FFF2-40B4-BE49-F238E27FC236}">
                <a16:creationId xmlns:a16="http://schemas.microsoft.com/office/drawing/2014/main" id="{A1169BC5-ACD3-4645-819C-917D732A081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95550" y="3222625"/>
          <a:ext cx="3240088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96" name="Формула" r:id="rId7" imgW="1828800" imgH="254000" progId="Equation.3">
                  <p:embed/>
                </p:oleObj>
              </mc:Choice>
              <mc:Fallback>
                <p:oleObj name="Формула" r:id="rId7" imgW="1828800" imgH="254000" progId="Equation.3">
                  <p:embed/>
                  <p:pic>
                    <p:nvPicPr>
                      <p:cNvPr id="7177" name="Object 9">
                        <a:extLst>
                          <a:ext uri="{FF2B5EF4-FFF2-40B4-BE49-F238E27FC236}">
                            <a16:creationId xmlns:a16="http://schemas.microsoft.com/office/drawing/2014/main" id="{A1169BC5-ACD3-4645-819C-917D732A081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550" y="3222625"/>
                        <a:ext cx="3240088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8" name="Rectangle 10">
            <a:extLst>
              <a:ext uri="{FF2B5EF4-FFF2-40B4-BE49-F238E27FC236}">
                <a16:creationId xmlns:a16="http://schemas.microsoft.com/office/drawing/2014/main" id="{476900BE-2ABC-418E-9BC1-9C9D62E4FB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7179" name="Object 11">
            <a:extLst>
              <a:ext uri="{FF2B5EF4-FFF2-40B4-BE49-F238E27FC236}">
                <a16:creationId xmlns:a16="http://schemas.microsoft.com/office/drawing/2014/main" id="{D1408BF3-80A3-4D71-ABCD-A8DE2C944A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0" y="2781300"/>
          <a:ext cx="3455988" cy="2160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97" name="Формула" r:id="rId9" imgW="1968500" imgH="1282700" progId="Equation.3">
                  <p:embed/>
                </p:oleObj>
              </mc:Choice>
              <mc:Fallback>
                <p:oleObj name="Формула" r:id="rId9" imgW="1968500" imgH="1282700" progId="Equation.3">
                  <p:embed/>
                  <p:pic>
                    <p:nvPicPr>
                      <p:cNvPr id="7179" name="Object 11">
                        <a:extLst>
                          <a:ext uri="{FF2B5EF4-FFF2-40B4-BE49-F238E27FC236}">
                            <a16:creationId xmlns:a16="http://schemas.microsoft.com/office/drawing/2014/main" id="{D1408BF3-80A3-4D71-ABCD-A8DE2C944A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2781300"/>
                        <a:ext cx="3455988" cy="2160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0" name="Rectangle 12">
            <a:extLst>
              <a:ext uri="{FF2B5EF4-FFF2-40B4-BE49-F238E27FC236}">
                <a16:creationId xmlns:a16="http://schemas.microsoft.com/office/drawing/2014/main" id="{18161342-9E9C-4221-A72D-D23BCD9EBF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7181" name="Object 13">
            <a:extLst>
              <a:ext uri="{FF2B5EF4-FFF2-40B4-BE49-F238E27FC236}">
                <a16:creationId xmlns:a16="http://schemas.microsoft.com/office/drawing/2014/main" id="{AD9DE90B-1019-41AA-971D-5D58A9099E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7912510"/>
              </p:ext>
            </p:extLst>
          </p:nvPr>
        </p:nvGraphicFramePr>
        <p:xfrm>
          <a:off x="2234264" y="4077496"/>
          <a:ext cx="3311525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98" name="Формула" r:id="rId11" imgW="2019300" imgH="546100" progId="Equation.3">
                  <p:embed/>
                </p:oleObj>
              </mc:Choice>
              <mc:Fallback>
                <p:oleObj name="Формула" r:id="rId11" imgW="2019300" imgH="546100" progId="Equation.3">
                  <p:embed/>
                  <p:pic>
                    <p:nvPicPr>
                      <p:cNvPr id="7181" name="Object 13">
                        <a:extLst>
                          <a:ext uri="{FF2B5EF4-FFF2-40B4-BE49-F238E27FC236}">
                            <a16:creationId xmlns:a16="http://schemas.microsoft.com/office/drawing/2014/main" id="{AD9DE90B-1019-41AA-971D-5D58A9099E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4264" y="4077496"/>
                        <a:ext cx="3311525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2" name="Rectangle 14">
            <a:extLst>
              <a:ext uri="{FF2B5EF4-FFF2-40B4-BE49-F238E27FC236}">
                <a16:creationId xmlns:a16="http://schemas.microsoft.com/office/drawing/2014/main" id="{65EBEC07-9586-4C9B-9F94-0EA7F44311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7183" name="Object 15">
            <a:extLst>
              <a:ext uri="{FF2B5EF4-FFF2-40B4-BE49-F238E27FC236}">
                <a16:creationId xmlns:a16="http://schemas.microsoft.com/office/drawing/2014/main" id="{2B7441DC-3500-4A44-B0B2-36FE22460B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1470771"/>
              </p:ext>
            </p:extLst>
          </p:nvPr>
        </p:nvGraphicFramePr>
        <p:xfrm>
          <a:off x="2881965" y="5534028"/>
          <a:ext cx="2016125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99" name="Формула" r:id="rId13" imgW="990170" imgH="304668" progId="Equation.3">
                  <p:embed/>
                </p:oleObj>
              </mc:Choice>
              <mc:Fallback>
                <p:oleObj name="Формула" r:id="rId13" imgW="990170" imgH="304668" progId="Equation.3">
                  <p:embed/>
                  <p:pic>
                    <p:nvPicPr>
                      <p:cNvPr id="7183" name="Object 15">
                        <a:extLst>
                          <a:ext uri="{FF2B5EF4-FFF2-40B4-BE49-F238E27FC236}">
                            <a16:creationId xmlns:a16="http://schemas.microsoft.com/office/drawing/2014/main" id="{2B7441DC-3500-4A44-B0B2-36FE22460B0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1965" y="5534028"/>
                        <a:ext cx="2016125" cy="538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4" name="Rectangle 16">
            <a:extLst>
              <a:ext uri="{FF2B5EF4-FFF2-40B4-BE49-F238E27FC236}">
                <a16:creationId xmlns:a16="http://schemas.microsoft.com/office/drawing/2014/main" id="{4A12140E-ED93-4ADE-B460-01185EC42B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0988" y="5519884"/>
            <a:ext cx="7493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dirty="0">
                <a:cs typeface="Times New Roman" panose="02020603050405020304" pitchFamily="18" charset="0"/>
              </a:rPr>
              <a:t>, 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где </a:t>
            </a:r>
          </a:p>
        </p:txBody>
      </p:sp>
      <p:sp>
        <p:nvSpPr>
          <p:cNvPr id="7185" name="Rectangle 18">
            <a:extLst>
              <a:ext uri="{FF2B5EF4-FFF2-40B4-BE49-F238E27FC236}">
                <a16:creationId xmlns:a16="http://schemas.microsoft.com/office/drawing/2014/main" id="{EDD1C834-35A0-40DD-A81A-EB9803014E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4061" y="5481712"/>
            <a:ext cx="4700011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dirty="0">
                <a:cs typeface="Times New Roman" panose="02020603050405020304" pitchFamily="18" charset="0"/>
              </a:rPr>
              <a:t>-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симметричная положительно определенная матрица.</a:t>
            </a:r>
          </a:p>
        </p:txBody>
      </p:sp>
      <p:sp>
        <p:nvSpPr>
          <p:cNvPr id="7186" name="Rectangle 19">
            <a:extLst>
              <a:ext uri="{FF2B5EF4-FFF2-40B4-BE49-F238E27FC236}">
                <a16:creationId xmlns:a16="http://schemas.microsoft.com/office/drawing/2014/main" id="{32D4B9F9-1EA5-4AC9-944C-CA2B4B41D6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7187" name="Object 20">
            <a:extLst>
              <a:ext uri="{FF2B5EF4-FFF2-40B4-BE49-F238E27FC236}">
                <a16:creationId xmlns:a16="http://schemas.microsoft.com/office/drawing/2014/main" id="{11587E4F-41AF-4F76-AFFD-37C4947F8E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1338471"/>
              </p:ext>
            </p:extLst>
          </p:nvPr>
        </p:nvGraphicFramePr>
        <p:xfrm>
          <a:off x="6096000" y="5519884"/>
          <a:ext cx="1008062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00" name="Формула" r:id="rId15" imgW="558800" imgH="190500" progId="Equation.3">
                  <p:embed/>
                </p:oleObj>
              </mc:Choice>
              <mc:Fallback>
                <p:oleObj name="Формула" r:id="rId15" imgW="558800" imgH="190500" progId="Equation.3">
                  <p:embed/>
                  <p:pic>
                    <p:nvPicPr>
                      <p:cNvPr id="7187" name="Object 20">
                        <a:extLst>
                          <a:ext uri="{FF2B5EF4-FFF2-40B4-BE49-F238E27FC236}">
                            <a16:creationId xmlns:a16="http://schemas.microsoft.com/office/drawing/2014/main" id="{11587E4F-41AF-4F76-AFFD-37C4947F8EA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5519884"/>
                        <a:ext cx="1008062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8" name="Rectangle 21">
            <a:extLst>
              <a:ext uri="{FF2B5EF4-FFF2-40B4-BE49-F238E27FC236}">
                <a16:creationId xmlns:a16="http://schemas.microsoft.com/office/drawing/2014/main" id="{199A838D-11AC-49F6-ACDA-6819077A76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7189" name="Object 22">
            <a:extLst>
              <a:ext uri="{FF2B5EF4-FFF2-40B4-BE49-F238E27FC236}">
                <a16:creationId xmlns:a16="http://schemas.microsoft.com/office/drawing/2014/main" id="{DD2E010E-2727-40A0-92D6-B5C612CD869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22700" y="2030414"/>
          <a:ext cx="382588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01" name="Формула" r:id="rId17" imgW="190417" imgH="253890" progId="Equation.3">
                  <p:embed/>
                </p:oleObj>
              </mc:Choice>
              <mc:Fallback>
                <p:oleObj name="Формула" r:id="rId17" imgW="190417" imgH="253890" progId="Equation.3">
                  <p:embed/>
                  <p:pic>
                    <p:nvPicPr>
                      <p:cNvPr id="7189" name="Object 22">
                        <a:extLst>
                          <a:ext uri="{FF2B5EF4-FFF2-40B4-BE49-F238E27FC236}">
                            <a16:creationId xmlns:a16="http://schemas.microsoft.com/office/drawing/2014/main" id="{DD2E010E-2727-40A0-92D6-B5C612CD869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2700" y="2030414"/>
                        <a:ext cx="382588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33EA248B-44C6-4455-8672-C4A51EDD20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ru-RU" alt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Матричная норма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752A34A5-366E-4E6F-84E6-29A2F4CC30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92313" y="1628776"/>
            <a:ext cx="8229600" cy="4525963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ru-RU" altLang="ru-RU" sz="2400" b="1" i="1">
                <a:latin typeface="Times New Roman" panose="02020603050405020304" pitchFamily="18" charset="0"/>
              </a:rPr>
              <a:t>Определение 2.</a:t>
            </a:r>
            <a:r>
              <a:rPr lang="ru-RU" altLang="ru-RU" sz="2400" b="1">
                <a:latin typeface="Times New Roman" panose="02020603050405020304" pitchFamily="18" charset="0"/>
              </a:rPr>
              <a:t> </a:t>
            </a: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Пусть </a:t>
            </a:r>
          </a:p>
        </p:txBody>
      </p:sp>
      <p:sp>
        <p:nvSpPr>
          <p:cNvPr id="8196" name="Rectangle 4">
            <a:extLst>
              <a:ext uri="{FF2B5EF4-FFF2-40B4-BE49-F238E27FC236}">
                <a16:creationId xmlns:a16="http://schemas.microsoft.com/office/drawing/2014/main" id="{612A3B08-4490-40FC-8777-2D2824B973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79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8197" name="Object 5">
            <a:extLst>
              <a:ext uri="{FF2B5EF4-FFF2-40B4-BE49-F238E27FC236}">
                <a16:creationId xmlns:a16="http://schemas.microsoft.com/office/drawing/2014/main" id="{01D9B97D-29B2-467B-9DE8-83F7266DA47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65713" y="1643064"/>
          <a:ext cx="1439862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7" name="Формула" r:id="rId3" imgW="787058" imgH="215806" progId="Equation.3">
                  <p:embed/>
                </p:oleObj>
              </mc:Choice>
              <mc:Fallback>
                <p:oleObj name="Формула" r:id="rId3" imgW="787058" imgH="215806" progId="Equation.3">
                  <p:embed/>
                  <p:pic>
                    <p:nvPicPr>
                      <p:cNvPr id="8197" name="Object 5">
                        <a:extLst>
                          <a:ext uri="{FF2B5EF4-FFF2-40B4-BE49-F238E27FC236}">
                            <a16:creationId xmlns:a16="http://schemas.microsoft.com/office/drawing/2014/main" id="{01D9B97D-29B2-467B-9DE8-83F7266DA4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5713" y="1643064"/>
                        <a:ext cx="1439862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8" name="Rectangle 6">
            <a:extLst>
              <a:ext uri="{FF2B5EF4-FFF2-40B4-BE49-F238E27FC236}">
                <a16:creationId xmlns:a16="http://schemas.microsoft.com/office/drawing/2014/main" id="{33428D1D-19C9-4880-BDE0-19EB5297C9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6726" y="1698625"/>
            <a:ext cx="1565275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Отображение </a:t>
            </a:r>
          </a:p>
        </p:txBody>
      </p:sp>
      <p:sp>
        <p:nvSpPr>
          <p:cNvPr id="8199" name="Rectangle 7">
            <a:extLst>
              <a:ext uri="{FF2B5EF4-FFF2-40B4-BE49-F238E27FC236}">
                <a16:creationId xmlns:a16="http://schemas.microsoft.com/office/drawing/2014/main" id="{195B7EBE-ABF7-4C39-9E19-6903112A67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189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8200" name="Object 8">
            <a:extLst>
              <a:ext uri="{FF2B5EF4-FFF2-40B4-BE49-F238E27FC236}">
                <a16:creationId xmlns:a16="http://schemas.microsoft.com/office/drawing/2014/main" id="{552F3C6B-D0C0-47A9-931A-45C309CCA99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472489" y="1700213"/>
          <a:ext cx="1584325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8" name="Формула" r:id="rId5" imgW="952087" imgH="253890" progId="Equation.3">
                  <p:embed/>
                </p:oleObj>
              </mc:Choice>
              <mc:Fallback>
                <p:oleObj name="Формула" r:id="rId5" imgW="952087" imgH="253890" progId="Equation.3">
                  <p:embed/>
                  <p:pic>
                    <p:nvPicPr>
                      <p:cNvPr id="8200" name="Object 8">
                        <a:extLst>
                          <a:ext uri="{FF2B5EF4-FFF2-40B4-BE49-F238E27FC236}">
                            <a16:creationId xmlns:a16="http://schemas.microsoft.com/office/drawing/2014/main" id="{552F3C6B-D0C0-47A9-931A-45C309CCA99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72489" y="1700213"/>
                        <a:ext cx="1584325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1" name="Rectangle 9">
            <a:extLst>
              <a:ext uri="{FF2B5EF4-FFF2-40B4-BE49-F238E27FC236}">
                <a16:creationId xmlns:a16="http://schemas.microsoft.com/office/drawing/2014/main" id="{111C9A23-690A-468C-B710-AE40996299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5188" y="2058989"/>
            <a:ext cx="2457450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называется матричной </a:t>
            </a:r>
          </a:p>
        </p:txBody>
      </p:sp>
      <p:sp>
        <p:nvSpPr>
          <p:cNvPr id="8202" name="Rectangle 10">
            <a:extLst>
              <a:ext uri="{FF2B5EF4-FFF2-40B4-BE49-F238E27FC236}">
                <a16:creationId xmlns:a16="http://schemas.microsoft.com/office/drawing/2014/main" id="{5D811037-7860-4819-B33A-824C94CBFA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0239" y="2068513"/>
            <a:ext cx="53292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нормой, если она удовлетворяет </a:t>
            </a:r>
          </a:p>
        </p:txBody>
      </p:sp>
      <p:sp>
        <p:nvSpPr>
          <p:cNvPr id="8203" name="Rectangle 11">
            <a:extLst>
              <a:ext uri="{FF2B5EF4-FFF2-40B4-BE49-F238E27FC236}">
                <a16:creationId xmlns:a16="http://schemas.microsoft.com/office/drawing/2014/main" id="{40A2719E-C507-4119-8491-45B8869870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9526" y="2068513"/>
            <a:ext cx="1355725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следующим</a:t>
            </a:r>
          </a:p>
        </p:txBody>
      </p:sp>
      <p:sp>
        <p:nvSpPr>
          <p:cNvPr id="8204" name="Rectangle 12">
            <a:extLst>
              <a:ext uri="{FF2B5EF4-FFF2-40B4-BE49-F238E27FC236}">
                <a16:creationId xmlns:a16="http://schemas.microsoft.com/office/drawing/2014/main" id="{0078F496-EE09-430F-802E-C069BB4CD0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3813" y="2055814"/>
            <a:ext cx="1181100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условиям:</a:t>
            </a:r>
          </a:p>
        </p:txBody>
      </p:sp>
      <p:sp>
        <p:nvSpPr>
          <p:cNvPr id="8205" name="Rectangle 13">
            <a:extLst>
              <a:ext uri="{FF2B5EF4-FFF2-40B4-BE49-F238E27FC236}">
                <a16:creationId xmlns:a16="http://schemas.microsoft.com/office/drawing/2014/main" id="{1D9F7ED2-B4ED-4793-8791-FBCDD9DA3F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4" y="2781301"/>
            <a:ext cx="5032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000">
                <a:cs typeface="Times New Roman" panose="02020603050405020304" pitchFamily="18" charset="0"/>
              </a:rPr>
              <a:t>1)</a:t>
            </a:r>
            <a:r>
              <a:rPr lang="ru-RU" altLang="ru-RU" sz="1200">
                <a:cs typeface="Times New Roman" panose="02020603050405020304" pitchFamily="18" charset="0"/>
              </a:rPr>
              <a:t> </a:t>
            </a:r>
            <a:endParaRPr lang="ru-RU" altLang="ru-RU" sz="1800"/>
          </a:p>
        </p:txBody>
      </p:sp>
      <p:graphicFrame>
        <p:nvGraphicFramePr>
          <p:cNvPr id="8206" name="Object 14">
            <a:extLst>
              <a:ext uri="{FF2B5EF4-FFF2-40B4-BE49-F238E27FC236}">
                <a16:creationId xmlns:a16="http://schemas.microsoft.com/office/drawing/2014/main" id="{FBB31D26-4924-4E52-9FF3-E380FFA68D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95550" y="2781301"/>
          <a:ext cx="5545138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9" name="Формула" r:id="rId7" imgW="3302000" imgH="254000" progId="Equation.3">
                  <p:embed/>
                </p:oleObj>
              </mc:Choice>
              <mc:Fallback>
                <p:oleObj name="Формула" r:id="rId7" imgW="3302000" imgH="254000" progId="Equation.3">
                  <p:embed/>
                  <p:pic>
                    <p:nvPicPr>
                      <p:cNvPr id="8206" name="Object 14">
                        <a:extLst>
                          <a:ext uri="{FF2B5EF4-FFF2-40B4-BE49-F238E27FC236}">
                            <a16:creationId xmlns:a16="http://schemas.microsoft.com/office/drawing/2014/main" id="{FBB31D26-4924-4E52-9FF3-E380FFA68D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550" y="2781301"/>
                        <a:ext cx="5545138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7" name="Rectangle 15">
            <a:extLst>
              <a:ext uri="{FF2B5EF4-FFF2-40B4-BE49-F238E27FC236}">
                <a16:creationId xmlns:a16="http://schemas.microsoft.com/office/drawing/2014/main" id="{FFA8DC49-2E75-4311-BF94-140B2A29DD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0" y="3297239"/>
            <a:ext cx="4524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000">
                <a:cs typeface="Times New Roman" panose="02020603050405020304" pitchFamily="18" charset="0"/>
              </a:rPr>
              <a:t>2)</a:t>
            </a:r>
            <a:r>
              <a:rPr lang="ru-RU" altLang="ru-RU" sz="1200">
                <a:cs typeface="Times New Roman" panose="02020603050405020304" pitchFamily="18" charset="0"/>
              </a:rPr>
              <a:t> </a:t>
            </a:r>
            <a:endParaRPr lang="ru-RU" altLang="ru-RU" sz="1800"/>
          </a:p>
        </p:txBody>
      </p:sp>
      <p:graphicFrame>
        <p:nvGraphicFramePr>
          <p:cNvPr id="8208" name="Object 16">
            <a:extLst>
              <a:ext uri="{FF2B5EF4-FFF2-40B4-BE49-F238E27FC236}">
                <a16:creationId xmlns:a16="http://schemas.microsoft.com/office/drawing/2014/main" id="{38F09E63-2457-4CC1-98D7-7EB358B8F1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66988" y="3279776"/>
          <a:ext cx="3529012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0" name="Формула" r:id="rId9" imgW="2032000" imgH="254000" progId="Equation.3">
                  <p:embed/>
                </p:oleObj>
              </mc:Choice>
              <mc:Fallback>
                <p:oleObj name="Формула" r:id="rId9" imgW="2032000" imgH="254000" progId="Equation.3">
                  <p:embed/>
                  <p:pic>
                    <p:nvPicPr>
                      <p:cNvPr id="8208" name="Object 16">
                        <a:extLst>
                          <a:ext uri="{FF2B5EF4-FFF2-40B4-BE49-F238E27FC236}">
                            <a16:creationId xmlns:a16="http://schemas.microsoft.com/office/drawing/2014/main" id="{38F09E63-2457-4CC1-98D7-7EB358B8F14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6988" y="3279776"/>
                        <a:ext cx="3529012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9" name="Rectangle 17">
            <a:extLst>
              <a:ext uri="{FF2B5EF4-FFF2-40B4-BE49-F238E27FC236}">
                <a16:creationId xmlns:a16="http://schemas.microsoft.com/office/drawing/2014/main" id="{95F9102E-6022-47CC-A8CC-60A442ED12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0" y="3800476"/>
            <a:ext cx="4191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000">
                <a:cs typeface="Times New Roman" panose="02020603050405020304" pitchFamily="18" charset="0"/>
              </a:rPr>
              <a:t>3</a:t>
            </a:r>
            <a:r>
              <a:rPr lang="ru-RU" altLang="ru-RU" sz="1200">
                <a:cs typeface="Times New Roman" panose="02020603050405020304" pitchFamily="18" charset="0"/>
              </a:rPr>
              <a:t>) </a:t>
            </a:r>
            <a:endParaRPr lang="ru-RU" altLang="ru-RU" sz="1800"/>
          </a:p>
        </p:txBody>
      </p:sp>
      <p:graphicFrame>
        <p:nvGraphicFramePr>
          <p:cNvPr id="8210" name="Object 18">
            <a:extLst>
              <a:ext uri="{FF2B5EF4-FFF2-40B4-BE49-F238E27FC236}">
                <a16:creationId xmlns:a16="http://schemas.microsoft.com/office/drawing/2014/main" id="{0437045A-F58B-4AC0-9D01-26A2501689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66988" y="3789363"/>
          <a:ext cx="3384550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1" name="Формула" r:id="rId11" imgW="2057400" imgH="254000" progId="Equation.3">
                  <p:embed/>
                </p:oleObj>
              </mc:Choice>
              <mc:Fallback>
                <p:oleObj name="Формула" r:id="rId11" imgW="2057400" imgH="254000" progId="Equation.3">
                  <p:embed/>
                  <p:pic>
                    <p:nvPicPr>
                      <p:cNvPr id="8210" name="Object 18">
                        <a:extLst>
                          <a:ext uri="{FF2B5EF4-FFF2-40B4-BE49-F238E27FC236}">
                            <a16:creationId xmlns:a16="http://schemas.microsoft.com/office/drawing/2014/main" id="{0437045A-F58B-4AC0-9D01-26A25016892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6988" y="3789363"/>
                        <a:ext cx="3384550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11" name="Rectangle 19">
            <a:extLst>
              <a:ext uri="{FF2B5EF4-FFF2-40B4-BE49-F238E27FC236}">
                <a16:creationId xmlns:a16="http://schemas.microsoft.com/office/drawing/2014/main" id="{7E615FF3-88E3-46D3-A56D-E9CB28E31F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8213" y="4435475"/>
            <a:ext cx="3116262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Примеры матричных норм:</a:t>
            </a:r>
          </a:p>
        </p:txBody>
      </p:sp>
      <p:sp>
        <p:nvSpPr>
          <p:cNvPr id="8212" name="Rectangle 20">
            <a:extLst>
              <a:ext uri="{FF2B5EF4-FFF2-40B4-BE49-F238E27FC236}">
                <a16:creationId xmlns:a16="http://schemas.microsoft.com/office/drawing/2014/main" id="{94F700A0-40E6-4F38-B8C9-DB647B7CB1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9855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8213" name="Object 21">
            <a:extLst>
              <a:ext uri="{FF2B5EF4-FFF2-40B4-BE49-F238E27FC236}">
                <a16:creationId xmlns:a16="http://schemas.microsoft.com/office/drawing/2014/main" id="{195E26C6-577E-4F5B-90B0-0355FF04CF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40464" y="3141663"/>
          <a:ext cx="4249737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2" name="Формула" r:id="rId13" imgW="1828800" imgH="520700" progId="Equation.3">
                  <p:embed/>
                </p:oleObj>
              </mc:Choice>
              <mc:Fallback>
                <p:oleObj name="Формула" r:id="rId13" imgW="1828800" imgH="520700" progId="Equation.3">
                  <p:embed/>
                  <p:pic>
                    <p:nvPicPr>
                      <p:cNvPr id="8213" name="Object 21">
                        <a:extLst>
                          <a:ext uri="{FF2B5EF4-FFF2-40B4-BE49-F238E27FC236}">
                            <a16:creationId xmlns:a16="http://schemas.microsoft.com/office/drawing/2014/main" id="{195E26C6-577E-4F5B-90B0-0355FF04CF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0464" y="3141663"/>
                        <a:ext cx="4249737" cy="1008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14" name="Rectangle 22">
            <a:extLst>
              <a:ext uri="{FF2B5EF4-FFF2-40B4-BE49-F238E27FC236}">
                <a16:creationId xmlns:a16="http://schemas.microsoft.com/office/drawing/2014/main" id="{5B3E55CF-EE60-403D-AE3A-D726F511CD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268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8215" name="Object 23">
            <a:extLst>
              <a:ext uri="{FF2B5EF4-FFF2-40B4-BE49-F238E27FC236}">
                <a16:creationId xmlns:a16="http://schemas.microsoft.com/office/drawing/2014/main" id="{DACAECB6-2D15-46C3-BAF7-05DF0DC815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79651" y="4768851"/>
          <a:ext cx="4968875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3" name="Формула" r:id="rId15" imgW="3454400" imgH="431800" progId="Equation.3">
                  <p:embed/>
                </p:oleObj>
              </mc:Choice>
              <mc:Fallback>
                <p:oleObj name="Формула" r:id="rId15" imgW="3454400" imgH="431800" progId="Equation.3">
                  <p:embed/>
                  <p:pic>
                    <p:nvPicPr>
                      <p:cNvPr id="8215" name="Object 23">
                        <a:extLst>
                          <a:ext uri="{FF2B5EF4-FFF2-40B4-BE49-F238E27FC236}">
                            <a16:creationId xmlns:a16="http://schemas.microsoft.com/office/drawing/2014/main" id="{DACAECB6-2D15-46C3-BAF7-05DF0DC8152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651" y="4768851"/>
                        <a:ext cx="4968875" cy="625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16" name="Rectangle 24">
            <a:extLst>
              <a:ext uri="{FF2B5EF4-FFF2-40B4-BE49-F238E27FC236}">
                <a16:creationId xmlns:a16="http://schemas.microsoft.com/office/drawing/2014/main" id="{F98E7BAF-7127-4D33-B0A1-271A69476F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236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8217" name="Object 25">
            <a:extLst>
              <a:ext uri="{FF2B5EF4-FFF2-40B4-BE49-F238E27FC236}">
                <a16:creationId xmlns:a16="http://schemas.microsoft.com/office/drawing/2014/main" id="{87D6EAE2-3015-4843-A17E-2B26196365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79650" y="5313364"/>
          <a:ext cx="4895850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4" name="Формула" r:id="rId17" imgW="3352800" imgH="444500" progId="Equation.3">
                  <p:embed/>
                </p:oleObj>
              </mc:Choice>
              <mc:Fallback>
                <p:oleObj name="Формула" r:id="rId17" imgW="3352800" imgH="444500" progId="Equation.3">
                  <p:embed/>
                  <p:pic>
                    <p:nvPicPr>
                      <p:cNvPr id="8217" name="Object 25">
                        <a:extLst>
                          <a:ext uri="{FF2B5EF4-FFF2-40B4-BE49-F238E27FC236}">
                            <a16:creationId xmlns:a16="http://schemas.microsoft.com/office/drawing/2014/main" id="{87D6EAE2-3015-4843-A17E-2B26196365A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650" y="5313364"/>
                        <a:ext cx="4895850" cy="644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18" name="Rectangle 26">
            <a:extLst>
              <a:ext uri="{FF2B5EF4-FFF2-40B4-BE49-F238E27FC236}">
                <a16:creationId xmlns:a16="http://schemas.microsoft.com/office/drawing/2014/main" id="{4877DD15-B65B-45EF-BD65-3C7B136C77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728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8219" name="Object 27">
            <a:extLst>
              <a:ext uri="{FF2B5EF4-FFF2-40B4-BE49-F238E27FC236}">
                <a16:creationId xmlns:a16="http://schemas.microsoft.com/office/drawing/2014/main" id="{67D0FCE3-135C-400D-840A-74A809C5C4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51088" y="5949951"/>
          <a:ext cx="4608512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5" name="Формула" r:id="rId19" imgW="2908300" imgH="342900" progId="Equation.3">
                  <p:embed/>
                </p:oleObj>
              </mc:Choice>
              <mc:Fallback>
                <p:oleObj name="Формула" r:id="rId19" imgW="2908300" imgH="342900" progId="Equation.3">
                  <p:embed/>
                  <p:pic>
                    <p:nvPicPr>
                      <p:cNvPr id="8219" name="Object 27">
                        <a:extLst>
                          <a:ext uri="{FF2B5EF4-FFF2-40B4-BE49-F238E27FC236}">
                            <a16:creationId xmlns:a16="http://schemas.microsoft.com/office/drawing/2014/main" id="{67D0FCE3-135C-400D-840A-74A809C5C44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8" y="5949951"/>
                        <a:ext cx="4608512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220" name="Picture 29" descr=" \|A\|_{F}=\sqrt{\sum_{i=1}^n\sum_{j=1}^m a^2_{ij}} ">
            <a:extLst>
              <a:ext uri="{FF2B5EF4-FFF2-40B4-BE49-F238E27FC236}">
                <a16:creationId xmlns:a16="http://schemas.microsoft.com/office/drawing/2014/main" id="{7633F11F-3235-4047-AF0F-7CFAC0AB0F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6226" y="5445126"/>
            <a:ext cx="2016125" cy="728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21" name="Rectangle 30">
            <a:extLst>
              <a:ext uri="{FF2B5EF4-FFF2-40B4-BE49-F238E27FC236}">
                <a16:creationId xmlns:a16="http://schemas.microsoft.com/office/drawing/2014/main" id="{41B57646-4DC1-40B2-A5AA-1FC97A469A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1764" y="4868864"/>
            <a:ext cx="2185987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Норма Фробениуса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2205E01B-454D-4CC5-AA56-165285C5C2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ru-RU" sz="3200" b="1" i="1" u="sng" dirty="0">
                <a:latin typeface="+mn-lt"/>
              </a:rPr>
              <a:t>2</a:t>
            </a:r>
            <a:r>
              <a:rPr lang="ru-RU" altLang="ru-RU" sz="3200" b="1" i="1" u="sng" dirty="0">
                <a:latin typeface="+mn-lt"/>
              </a:rPr>
              <a:t>.  </a:t>
            </a:r>
            <a:r>
              <a:rPr lang="ru-RU" altLang="ru-RU" sz="32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понятия и определения конечномерного выпуклого анализа</a:t>
            </a:r>
            <a:r>
              <a:rPr lang="ru-RU" altLang="ru-RU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B4611C3F-C0F1-41DD-8306-84FEA48FF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92313" y="1628776"/>
            <a:ext cx="4038600" cy="4525963"/>
          </a:xfrm>
        </p:spPr>
        <p:txBody>
          <a:bodyPr/>
          <a:lstStyle/>
          <a:p>
            <a:pPr marL="609600" indent="-609600">
              <a:buNone/>
            </a:pPr>
            <a:r>
              <a:rPr lang="en-US" altLang="ru-RU" sz="2000" b="1"/>
              <a:t>2</a:t>
            </a:r>
            <a:r>
              <a:rPr lang="ru-RU" altLang="ru-RU" sz="2000" b="1"/>
              <a:t>.1. </a:t>
            </a:r>
            <a:r>
              <a:rPr lang="ru-RU" altLang="ru-RU" sz="2000" b="1" u="sng"/>
              <a:t>Задачи оптимизации</a:t>
            </a:r>
            <a:r>
              <a:rPr lang="ru-RU" altLang="ru-RU" sz="2000" b="1"/>
              <a:t>.</a:t>
            </a:r>
          </a:p>
        </p:txBody>
      </p:sp>
      <p:graphicFrame>
        <p:nvGraphicFramePr>
          <p:cNvPr id="9220" name="Object 21">
            <a:extLst>
              <a:ext uri="{FF2B5EF4-FFF2-40B4-BE49-F238E27FC236}">
                <a16:creationId xmlns:a16="http://schemas.microsoft.com/office/drawing/2014/main" id="{43EB9D9C-D32D-4CD3-903F-690266E2D831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8108950" y="2584450"/>
          <a:ext cx="1651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3" name="Формула" r:id="rId3" imgW="164885" imgH="215619" progId="Equation.3">
                  <p:embed/>
                </p:oleObj>
              </mc:Choice>
              <mc:Fallback>
                <p:oleObj name="Формула" r:id="rId3" imgW="164885" imgH="215619" progId="Equation.3">
                  <p:embed/>
                  <p:pic>
                    <p:nvPicPr>
                      <p:cNvPr id="9220" name="Object 21">
                        <a:extLst>
                          <a:ext uri="{FF2B5EF4-FFF2-40B4-BE49-F238E27FC236}">
                            <a16:creationId xmlns:a16="http://schemas.microsoft.com/office/drawing/2014/main" id="{43EB9D9C-D32D-4CD3-903F-690266E2D83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08950" y="2584450"/>
                        <a:ext cx="1651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1" name="Rectangle 4">
            <a:extLst>
              <a:ext uri="{FF2B5EF4-FFF2-40B4-BE49-F238E27FC236}">
                <a16:creationId xmlns:a16="http://schemas.microsoft.com/office/drawing/2014/main" id="{5CEEDBE4-522D-48B1-B104-BD4529DA3F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329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9222" name="Object 5">
            <a:extLst>
              <a:ext uri="{FF2B5EF4-FFF2-40B4-BE49-F238E27FC236}">
                <a16:creationId xmlns:a16="http://schemas.microsoft.com/office/drawing/2014/main" id="{34FD2FA8-3A28-41ED-9CA6-7976B909EC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47851" y="2205038"/>
          <a:ext cx="3743325" cy="2087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4" name="Рисунок" r:id="rId5" imgW="2743200" imgH="1828800" progId="Word.Picture.8">
                  <p:embed/>
                </p:oleObj>
              </mc:Choice>
              <mc:Fallback>
                <p:oleObj name="Рисунок" r:id="rId5" imgW="2743200" imgH="1828800" progId="Word.Picture.8">
                  <p:embed/>
                  <p:pic>
                    <p:nvPicPr>
                      <p:cNvPr id="9222" name="Object 5">
                        <a:extLst>
                          <a:ext uri="{FF2B5EF4-FFF2-40B4-BE49-F238E27FC236}">
                            <a16:creationId xmlns:a16="http://schemas.microsoft.com/office/drawing/2014/main" id="{34FD2FA8-3A28-41ED-9CA6-7976B909EC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51" y="2205038"/>
                        <a:ext cx="3743325" cy="2087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3" name="Rectangle 6">
            <a:extLst>
              <a:ext uri="{FF2B5EF4-FFF2-40B4-BE49-F238E27FC236}">
                <a16:creationId xmlns:a16="http://schemas.microsoft.com/office/drawing/2014/main" id="{862BA7E1-850A-493D-93E2-0BF7E20ED5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329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9224" name="Object 7">
            <a:extLst>
              <a:ext uri="{FF2B5EF4-FFF2-40B4-BE49-F238E27FC236}">
                <a16:creationId xmlns:a16="http://schemas.microsoft.com/office/drawing/2014/main" id="{B9839A9D-54E9-47CE-8AC7-4ECDB3A770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83339" y="2205039"/>
          <a:ext cx="3457575" cy="223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5" name="Рисунок" r:id="rId7" imgW="2743200" imgH="1828800" progId="Word.Picture.8">
                  <p:embed/>
                </p:oleObj>
              </mc:Choice>
              <mc:Fallback>
                <p:oleObj name="Рисунок" r:id="rId7" imgW="2743200" imgH="1828800" progId="Word.Picture.8">
                  <p:embed/>
                  <p:pic>
                    <p:nvPicPr>
                      <p:cNvPr id="9224" name="Object 7">
                        <a:extLst>
                          <a:ext uri="{FF2B5EF4-FFF2-40B4-BE49-F238E27FC236}">
                            <a16:creationId xmlns:a16="http://schemas.microsoft.com/office/drawing/2014/main" id="{B9839A9D-54E9-47CE-8AC7-4ECDB3A7701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3339" y="2205039"/>
                        <a:ext cx="3457575" cy="223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5" name="Rectangle 8">
            <a:extLst>
              <a:ext uri="{FF2B5EF4-FFF2-40B4-BE49-F238E27FC236}">
                <a16:creationId xmlns:a16="http://schemas.microsoft.com/office/drawing/2014/main" id="{7210A64B-E511-409A-ABAC-E0FC029B92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84745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9226" name="Object 9">
            <a:extLst>
              <a:ext uri="{FF2B5EF4-FFF2-40B4-BE49-F238E27FC236}">
                <a16:creationId xmlns:a16="http://schemas.microsoft.com/office/drawing/2014/main" id="{E04A7AB9-DD9B-4F5C-BF5B-8E75E2580B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51089" y="4076700"/>
          <a:ext cx="2376487" cy="1296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6" name="Формула" r:id="rId9" imgW="1371600" imgH="787400" progId="Equation.3">
                  <p:embed/>
                </p:oleObj>
              </mc:Choice>
              <mc:Fallback>
                <p:oleObj name="Формула" r:id="rId9" imgW="1371600" imgH="787400" progId="Equation.3">
                  <p:embed/>
                  <p:pic>
                    <p:nvPicPr>
                      <p:cNvPr id="9226" name="Object 9">
                        <a:extLst>
                          <a:ext uri="{FF2B5EF4-FFF2-40B4-BE49-F238E27FC236}">
                            <a16:creationId xmlns:a16="http://schemas.microsoft.com/office/drawing/2014/main" id="{E04A7AB9-DD9B-4F5C-BF5B-8E75E2580B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9" y="4076700"/>
                        <a:ext cx="2376487" cy="1296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7" name="Rectangle 10">
            <a:extLst>
              <a:ext uri="{FF2B5EF4-FFF2-40B4-BE49-F238E27FC236}">
                <a16:creationId xmlns:a16="http://schemas.microsoft.com/office/drawing/2014/main" id="{F5E02CFA-CD63-4D69-AC31-1D56CCA50D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6396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9228" name="Rectangle 11">
            <a:extLst>
              <a:ext uri="{FF2B5EF4-FFF2-40B4-BE49-F238E27FC236}">
                <a16:creationId xmlns:a16="http://schemas.microsoft.com/office/drawing/2014/main" id="{AC5F6B1B-1ECF-4036-B796-0C4E4318B3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8490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9229" name="Object 12">
            <a:extLst>
              <a:ext uri="{FF2B5EF4-FFF2-40B4-BE49-F238E27FC236}">
                <a16:creationId xmlns:a16="http://schemas.microsoft.com/office/drawing/2014/main" id="{9DF1EDFC-C764-4E97-A54B-EEF75D9BBED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88163" y="4005264"/>
          <a:ext cx="2159000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7" name="Формула" r:id="rId11" imgW="1066800" imgH="787400" progId="Equation.3">
                  <p:embed/>
                </p:oleObj>
              </mc:Choice>
              <mc:Fallback>
                <p:oleObj name="Формула" r:id="rId11" imgW="1066800" imgH="787400" progId="Equation.3">
                  <p:embed/>
                  <p:pic>
                    <p:nvPicPr>
                      <p:cNvPr id="9229" name="Object 12">
                        <a:extLst>
                          <a:ext uri="{FF2B5EF4-FFF2-40B4-BE49-F238E27FC236}">
                            <a16:creationId xmlns:a16="http://schemas.microsoft.com/office/drawing/2014/main" id="{9DF1EDFC-C764-4E97-A54B-EEF75D9BBED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8163" y="4005264"/>
                        <a:ext cx="2159000" cy="1152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0" name="Rectangle 13">
            <a:extLst>
              <a:ext uri="{FF2B5EF4-FFF2-40B4-BE49-F238E27FC236}">
                <a16:creationId xmlns:a16="http://schemas.microsoft.com/office/drawing/2014/main" id="{EE9594FF-F48D-4331-B853-EEA7627755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1451" y="1928814"/>
            <a:ext cx="11525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000" b="1">
                <a:cs typeface="Times New Roman" panose="02020603050405020304" pitchFamily="18" charset="0"/>
              </a:rPr>
              <a:t>Задача </a:t>
            </a:r>
            <a:endParaRPr lang="ru-RU" altLang="ru-RU" sz="2000"/>
          </a:p>
        </p:txBody>
      </p:sp>
      <p:graphicFrame>
        <p:nvGraphicFramePr>
          <p:cNvPr id="9231" name="Object 14">
            <a:extLst>
              <a:ext uri="{FF2B5EF4-FFF2-40B4-BE49-F238E27FC236}">
                <a16:creationId xmlns:a16="http://schemas.microsoft.com/office/drawing/2014/main" id="{1752BF2A-62FC-4BD3-9326-BEA2242D3D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19513" y="1989138"/>
          <a:ext cx="285750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8" name="Формула" r:id="rId13" imgW="164885" imgH="215619" progId="Equation.3">
                  <p:embed/>
                </p:oleObj>
              </mc:Choice>
              <mc:Fallback>
                <p:oleObj name="Формула" r:id="rId13" imgW="164885" imgH="215619" progId="Equation.3">
                  <p:embed/>
                  <p:pic>
                    <p:nvPicPr>
                      <p:cNvPr id="9231" name="Object 14">
                        <a:extLst>
                          <a:ext uri="{FF2B5EF4-FFF2-40B4-BE49-F238E27FC236}">
                            <a16:creationId xmlns:a16="http://schemas.microsoft.com/office/drawing/2014/main" id="{1752BF2A-62FC-4BD3-9326-BEA2242D3D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9513" y="1989138"/>
                        <a:ext cx="285750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2" name="Rectangle 16">
            <a:extLst>
              <a:ext uri="{FF2B5EF4-FFF2-40B4-BE49-F238E27FC236}">
                <a16:creationId xmlns:a16="http://schemas.microsoft.com/office/drawing/2014/main" id="{28984682-BE9E-4A5A-8F6E-61E540E4AD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8164" y="1617733"/>
            <a:ext cx="136842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000" b="1">
                <a:cs typeface="Times New Roman" panose="02020603050405020304" pitchFamily="18" charset="0"/>
              </a:rPr>
              <a:t>Задача</a:t>
            </a:r>
            <a:r>
              <a:rPr lang="ru-RU" altLang="ru-RU" sz="1200" b="1">
                <a:cs typeface="Times New Roman" panose="02020603050405020304" pitchFamily="18" charset="0"/>
              </a:rPr>
              <a:t> </a:t>
            </a:r>
            <a:r>
              <a:rPr lang="ru-RU" altLang="ru-RU" sz="1200" b="1"/>
              <a:t> </a:t>
            </a:r>
            <a:r>
              <a:rPr lang="en-US" altLang="ru-RU" sz="2000" i="1"/>
              <a:t>P</a:t>
            </a:r>
            <a:r>
              <a:rPr lang="en-US" altLang="ru-RU" sz="1200" i="1"/>
              <a:t>1</a:t>
            </a:r>
            <a:endParaRPr lang="ru-RU" altLang="ru-RU" sz="1200" i="1"/>
          </a:p>
        </p:txBody>
      </p:sp>
      <p:sp>
        <p:nvSpPr>
          <p:cNvPr id="9233" name="Rectangle 19">
            <a:extLst>
              <a:ext uri="{FF2B5EF4-FFF2-40B4-BE49-F238E27FC236}">
                <a16:creationId xmlns:a16="http://schemas.microsoft.com/office/drawing/2014/main" id="{D3B04125-2356-41EA-8123-27AB4342BF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650" y="5373688"/>
            <a:ext cx="792003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Решением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задачи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ru-RU" altLang="ru-RU" sz="1800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называется любой вектор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удовлетворяющий ограничениям </a:t>
            </a:r>
          </a:p>
        </p:txBody>
      </p:sp>
      <p:graphicFrame>
        <p:nvGraphicFramePr>
          <p:cNvPr id="9234" name="Object 20">
            <a:extLst>
              <a:ext uri="{FF2B5EF4-FFF2-40B4-BE49-F238E27FC236}">
                <a16:creationId xmlns:a16="http://schemas.microsoft.com/office/drawing/2014/main" id="{2A268B73-E094-4650-B05A-736A1035D7E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35414" y="5805489"/>
          <a:ext cx="1944687" cy="71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9" name="Формула" r:id="rId14" imgW="1371600" imgH="482600" progId="Equation.3">
                  <p:embed/>
                </p:oleObj>
              </mc:Choice>
              <mc:Fallback>
                <p:oleObj name="Формула" r:id="rId14" imgW="1371600" imgH="482600" progId="Equation.3">
                  <p:embed/>
                  <p:pic>
                    <p:nvPicPr>
                      <p:cNvPr id="9234" name="Object 20">
                        <a:extLst>
                          <a:ext uri="{FF2B5EF4-FFF2-40B4-BE49-F238E27FC236}">
                            <a16:creationId xmlns:a16="http://schemas.microsoft.com/office/drawing/2014/main" id="{2A268B73-E094-4650-B05A-736A1035D7E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5414" y="5805489"/>
                        <a:ext cx="1944687" cy="719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5" name="Rectangle 26">
            <a:extLst>
              <a:ext uri="{FF2B5EF4-FFF2-40B4-BE49-F238E27FC236}">
                <a16:creationId xmlns:a16="http://schemas.microsoft.com/office/drawing/2014/main" id="{77A020AE-C8F6-4302-8DBE-D67CB34EF2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9A9A81EC-3BDB-431F-BDA9-1C343AE647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ru-RU" sz="3200" b="1" i="1" u="sng" dirty="0">
                <a:latin typeface="+mn-lt"/>
              </a:rPr>
              <a:t>2</a:t>
            </a:r>
            <a:r>
              <a:rPr lang="ru-RU" altLang="ru-RU" sz="32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Основные понятия и определения конечномерного выпуклого анализа</a:t>
            </a:r>
            <a:r>
              <a:rPr lang="ru-RU" altLang="ru-RU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7E5E3D34-BE77-4A6D-8424-39E8C130B74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1316182"/>
            <a:ext cx="5384800" cy="4809983"/>
          </a:xfrm>
        </p:spPr>
        <p:txBody>
          <a:bodyPr/>
          <a:lstStyle/>
          <a:p>
            <a:pPr marL="609600" indent="-609600">
              <a:buNone/>
            </a:pPr>
            <a:r>
              <a:rPr lang="en-US" altLang="ru-RU" sz="2400" b="1" dirty="0"/>
              <a:t>2</a:t>
            </a:r>
            <a:r>
              <a:rPr lang="ru-RU" altLang="ru-RU" sz="2400" b="1" dirty="0"/>
              <a:t>.1. </a:t>
            </a:r>
            <a:r>
              <a:rPr lang="ru-RU" altLang="ru-RU" sz="2400" b="1" u="sng" dirty="0"/>
              <a:t>Задачи оптимизации</a:t>
            </a:r>
            <a:r>
              <a:rPr lang="ru-RU" altLang="ru-RU" sz="2000" b="1" dirty="0"/>
              <a:t>.</a:t>
            </a:r>
          </a:p>
        </p:txBody>
      </p:sp>
      <p:graphicFrame>
        <p:nvGraphicFramePr>
          <p:cNvPr id="10244" name="Object 4">
            <a:extLst>
              <a:ext uri="{FF2B5EF4-FFF2-40B4-BE49-F238E27FC236}">
                <a16:creationId xmlns:a16="http://schemas.microsoft.com/office/drawing/2014/main" id="{0778B0E6-966D-4530-9297-CEA3E3D34F6B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8108950" y="2584450"/>
          <a:ext cx="1651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0" name="Формула" r:id="rId3" imgW="164885" imgH="215619" progId="Equation.3">
                  <p:embed/>
                </p:oleObj>
              </mc:Choice>
              <mc:Fallback>
                <p:oleObj name="Формула" r:id="rId3" imgW="164885" imgH="215619" progId="Equation.3">
                  <p:embed/>
                  <p:pic>
                    <p:nvPicPr>
                      <p:cNvPr id="10244" name="Object 4">
                        <a:extLst>
                          <a:ext uri="{FF2B5EF4-FFF2-40B4-BE49-F238E27FC236}">
                            <a16:creationId xmlns:a16="http://schemas.microsoft.com/office/drawing/2014/main" id="{0778B0E6-966D-4530-9297-CEA3E3D34F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08950" y="2584450"/>
                        <a:ext cx="1651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5" name="Rectangle 5">
            <a:extLst>
              <a:ext uri="{FF2B5EF4-FFF2-40B4-BE49-F238E27FC236}">
                <a16:creationId xmlns:a16="http://schemas.microsoft.com/office/drawing/2014/main" id="{BFB6E5BE-6F97-41E2-B6E4-DD708822BF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329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10246" name="Object 6">
            <a:extLst>
              <a:ext uri="{FF2B5EF4-FFF2-40B4-BE49-F238E27FC236}">
                <a16:creationId xmlns:a16="http://schemas.microsoft.com/office/drawing/2014/main" id="{44320846-0901-448F-8297-1F76BD85C1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47851" y="2205038"/>
          <a:ext cx="3743325" cy="2087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1" name="Рисунок" r:id="rId5" imgW="2743200" imgH="1828800" progId="Word.Picture.8">
                  <p:embed/>
                </p:oleObj>
              </mc:Choice>
              <mc:Fallback>
                <p:oleObj name="Рисунок" r:id="rId5" imgW="2743200" imgH="1828800" progId="Word.Picture.8">
                  <p:embed/>
                  <p:pic>
                    <p:nvPicPr>
                      <p:cNvPr id="10246" name="Object 6">
                        <a:extLst>
                          <a:ext uri="{FF2B5EF4-FFF2-40B4-BE49-F238E27FC236}">
                            <a16:creationId xmlns:a16="http://schemas.microsoft.com/office/drawing/2014/main" id="{44320846-0901-448F-8297-1F76BD85C16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51" y="2205038"/>
                        <a:ext cx="3743325" cy="2087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7" name="Rectangle 7">
            <a:extLst>
              <a:ext uri="{FF2B5EF4-FFF2-40B4-BE49-F238E27FC236}">
                <a16:creationId xmlns:a16="http://schemas.microsoft.com/office/drawing/2014/main" id="{BEEDC753-5F6F-464F-A725-4862527C18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329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10248" name="Object 8">
            <a:extLst>
              <a:ext uri="{FF2B5EF4-FFF2-40B4-BE49-F238E27FC236}">
                <a16:creationId xmlns:a16="http://schemas.microsoft.com/office/drawing/2014/main" id="{A53F2DD5-C397-4C46-AC9F-552D749DB7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56364" y="2205039"/>
          <a:ext cx="3457575" cy="223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2" name="Рисунок" r:id="rId7" imgW="2743200" imgH="1828800" progId="Word.Picture.8">
                  <p:embed/>
                </p:oleObj>
              </mc:Choice>
              <mc:Fallback>
                <p:oleObj name="Рисунок" r:id="rId7" imgW="2743200" imgH="1828800" progId="Word.Picture.8">
                  <p:embed/>
                  <p:pic>
                    <p:nvPicPr>
                      <p:cNvPr id="10248" name="Object 8">
                        <a:extLst>
                          <a:ext uri="{FF2B5EF4-FFF2-40B4-BE49-F238E27FC236}">
                            <a16:creationId xmlns:a16="http://schemas.microsoft.com/office/drawing/2014/main" id="{A53F2DD5-C397-4C46-AC9F-552D749DB76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6364" y="2205039"/>
                        <a:ext cx="3457575" cy="223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9" name="Rectangle 9">
            <a:extLst>
              <a:ext uri="{FF2B5EF4-FFF2-40B4-BE49-F238E27FC236}">
                <a16:creationId xmlns:a16="http://schemas.microsoft.com/office/drawing/2014/main" id="{2608AE2D-6E39-4B35-B57E-BB563B039D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84745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10250" name="Rectangle 11">
            <a:extLst>
              <a:ext uri="{FF2B5EF4-FFF2-40B4-BE49-F238E27FC236}">
                <a16:creationId xmlns:a16="http://schemas.microsoft.com/office/drawing/2014/main" id="{E984AE77-CDDE-4EED-B44A-A622A37463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6046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10251" name="Rectangle 12">
            <a:extLst>
              <a:ext uri="{FF2B5EF4-FFF2-40B4-BE49-F238E27FC236}">
                <a16:creationId xmlns:a16="http://schemas.microsoft.com/office/drawing/2014/main" id="{FCE9E47B-FD50-43BE-AB5B-E45E043A12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8490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10252" name="Rectangle 14">
            <a:extLst>
              <a:ext uri="{FF2B5EF4-FFF2-40B4-BE49-F238E27FC236}">
                <a16:creationId xmlns:a16="http://schemas.microsoft.com/office/drawing/2014/main" id="{453D3A34-B28A-48E5-BBB8-09AAB6D4BE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6988" y="1675348"/>
            <a:ext cx="11525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000" b="1" dirty="0">
                <a:cs typeface="Times New Roman" panose="02020603050405020304" pitchFamily="18" charset="0"/>
              </a:rPr>
              <a:t>Задача </a:t>
            </a:r>
            <a:endParaRPr lang="ru-RU" altLang="ru-RU" sz="2000" dirty="0"/>
          </a:p>
        </p:txBody>
      </p:sp>
      <p:graphicFrame>
        <p:nvGraphicFramePr>
          <p:cNvPr id="10253" name="Object 15">
            <a:extLst>
              <a:ext uri="{FF2B5EF4-FFF2-40B4-BE49-F238E27FC236}">
                <a16:creationId xmlns:a16="http://schemas.microsoft.com/office/drawing/2014/main" id="{F68CD636-53BD-40F3-A9CF-6EB4145617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4240219"/>
              </p:ext>
            </p:extLst>
          </p:nvPr>
        </p:nvGraphicFramePr>
        <p:xfrm>
          <a:off x="3807620" y="1711861"/>
          <a:ext cx="285750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3" name="Формула" r:id="rId9" imgW="164885" imgH="215619" progId="Equation.3">
                  <p:embed/>
                </p:oleObj>
              </mc:Choice>
              <mc:Fallback>
                <p:oleObj name="Формула" r:id="rId9" imgW="164885" imgH="215619" progId="Equation.3">
                  <p:embed/>
                  <p:pic>
                    <p:nvPicPr>
                      <p:cNvPr id="10253" name="Object 15">
                        <a:extLst>
                          <a:ext uri="{FF2B5EF4-FFF2-40B4-BE49-F238E27FC236}">
                            <a16:creationId xmlns:a16="http://schemas.microsoft.com/office/drawing/2014/main" id="{F68CD636-53BD-40F3-A9CF-6EB4145617B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7620" y="1711861"/>
                        <a:ext cx="285750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4" name="Rectangle 16">
            <a:extLst>
              <a:ext uri="{FF2B5EF4-FFF2-40B4-BE49-F238E27FC236}">
                <a16:creationId xmlns:a16="http://schemas.microsoft.com/office/drawing/2014/main" id="{7B8B8BB3-0A6E-4C60-B4E2-CC589C88A6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2036" y="1596994"/>
            <a:ext cx="163916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000" b="1" dirty="0">
                <a:cs typeface="Times New Roman" panose="02020603050405020304" pitchFamily="18" charset="0"/>
              </a:rPr>
              <a:t>Задача</a:t>
            </a:r>
            <a:r>
              <a:rPr lang="ru-RU" altLang="ru-RU" sz="1200" b="1" dirty="0">
                <a:cs typeface="Times New Roman" panose="02020603050405020304" pitchFamily="18" charset="0"/>
              </a:rPr>
              <a:t> </a:t>
            </a:r>
            <a:r>
              <a:rPr lang="ru-RU" altLang="ru-RU" sz="1200" b="1" dirty="0"/>
              <a:t> </a:t>
            </a:r>
            <a:r>
              <a:rPr lang="en-US" altLang="ru-RU" sz="2000" i="1" dirty="0"/>
              <a:t>P</a:t>
            </a:r>
            <a:r>
              <a:rPr lang="en-US" altLang="ru-RU" sz="1200" i="1" dirty="0"/>
              <a:t>1</a:t>
            </a:r>
            <a:endParaRPr lang="ru-RU" altLang="ru-RU" sz="1200" i="1" dirty="0"/>
          </a:p>
        </p:txBody>
      </p:sp>
      <p:sp>
        <p:nvSpPr>
          <p:cNvPr id="10255" name="Rectangle 20">
            <a:extLst>
              <a:ext uri="{FF2B5EF4-FFF2-40B4-BE49-F238E27FC236}">
                <a16:creationId xmlns:a16="http://schemas.microsoft.com/office/drawing/2014/main" id="{BA9D92B4-61D8-474E-B6C5-0E4A614149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10256" name="Rectangle 21">
            <a:extLst>
              <a:ext uri="{FF2B5EF4-FFF2-40B4-BE49-F238E27FC236}">
                <a16:creationId xmlns:a16="http://schemas.microsoft.com/office/drawing/2014/main" id="{60AC6D33-A39D-4ED3-A946-D70E2846B0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1338" y="4211638"/>
            <a:ext cx="8856662" cy="646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Оптимальным решением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(или глобальным оптимумом) задачи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1 называется решение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xe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минимизирующее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) – целевую функцию на множестве всех решений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xe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).</a:t>
            </a:r>
            <a:endParaRPr lang="en-US" altLang="ru-RU" sz="180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FD539C26-0158-4528-946B-B38D9B4526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92313" y="26035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ru-RU" sz="3200" b="1" i="1" u="sng" dirty="0">
                <a:latin typeface="+mn-lt"/>
              </a:rPr>
              <a:t>2</a:t>
            </a:r>
            <a:r>
              <a:rPr lang="ru-RU" altLang="ru-RU" sz="3200" b="1" i="1" u="sng" dirty="0">
                <a:latin typeface="+mn-lt"/>
              </a:rPr>
              <a:t>.  </a:t>
            </a:r>
            <a:r>
              <a:rPr lang="ru-RU" altLang="ru-RU" sz="32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понятия и определения конечномерного выпуклого анализа</a:t>
            </a:r>
            <a:r>
              <a:rPr lang="ru-RU" altLang="ru-RU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795E1ACB-9203-49EF-9F11-F38AA427415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855788" y="1409701"/>
            <a:ext cx="4038600" cy="4525963"/>
          </a:xfrm>
        </p:spPr>
        <p:txBody>
          <a:bodyPr>
            <a:normAutofit/>
          </a:bodyPr>
          <a:lstStyle/>
          <a:p>
            <a:pPr marL="609600" indent="-609600">
              <a:buNone/>
            </a:pPr>
            <a:r>
              <a:rPr lang="en-US" altLang="ru-RU" sz="2400" b="1" dirty="0"/>
              <a:t>2</a:t>
            </a:r>
            <a:r>
              <a:rPr lang="ru-RU" altLang="ru-RU" sz="2400" b="1" dirty="0"/>
              <a:t>.</a:t>
            </a:r>
            <a:r>
              <a:rPr lang="en-US" altLang="ru-RU" sz="2400" b="1" dirty="0"/>
              <a:t>1</a:t>
            </a:r>
            <a:r>
              <a:rPr lang="ru-RU" altLang="ru-RU" sz="2400" b="1" dirty="0"/>
              <a:t>. </a:t>
            </a:r>
            <a:r>
              <a:rPr lang="ru-RU" altLang="ru-RU" sz="2400" b="1" u="sng" dirty="0"/>
              <a:t>Задачи оптимизации</a:t>
            </a:r>
            <a:r>
              <a:rPr lang="ru-RU" altLang="ru-RU" sz="2400" b="1" dirty="0"/>
              <a:t>.</a:t>
            </a:r>
          </a:p>
        </p:txBody>
      </p:sp>
      <p:sp>
        <p:nvSpPr>
          <p:cNvPr id="11268" name="Rectangle 5">
            <a:extLst>
              <a:ext uri="{FF2B5EF4-FFF2-40B4-BE49-F238E27FC236}">
                <a16:creationId xmlns:a16="http://schemas.microsoft.com/office/drawing/2014/main" id="{227A0714-C1CE-42DD-93D1-6E6FE36437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329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11269" name="Rectangle 7">
            <a:extLst>
              <a:ext uri="{FF2B5EF4-FFF2-40B4-BE49-F238E27FC236}">
                <a16:creationId xmlns:a16="http://schemas.microsoft.com/office/drawing/2014/main" id="{58E70E80-B197-4F31-9350-8D09D3394D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3077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11270" name="Rectangle 9">
            <a:extLst>
              <a:ext uri="{FF2B5EF4-FFF2-40B4-BE49-F238E27FC236}">
                <a16:creationId xmlns:a16="http://schemas.microsoft.com/office/drawing/2014/main" id="{DCAC4CEE-A40D-436F-8E06-1DEC48B04A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64" y="27395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11271" name="Rectangle 10">
            <a:extLst>
              <a:ext uri="{FF2B5EF4-FFF2-40B4-BE49-F238E27FC236}">
                <a16:creationId xmlns:a16="http://schemas.microsoft.com/office/drawing/2014/main" id="{F4BA3678-3E5C-4BE8-8CE9-8835DB6208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6046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11272" name="Rectangle 11">
            <a:extLst>
              <a:ext uri="{FF2B5EF4-FFF2-40B4-BE49-F238E27FC236}">
                <a16:creationId xmlns:a16="http://schemas.microsoft.com/office/drawing/2014/main" id="{E236AD8D-3D5B-4085-BBEF-76256A0041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8839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11273" name="Rectangle 14">
            <a:extLst>
              <a:ext uri="{FF2B5EF4-FFF2-40B4-BE49-F238E27FC236}">
                <a16:creationId xmlns:a16="http://schemas.microsoft.com/office/drawing/2014/main" id="{30A552F3-09C5-438E-A39B-85CCB16856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8524" y="1962319"/>
            <a:ext cx="166297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000" b="1" dirty="0">
                <a:cs typeface="Times New Roman" panose="02020603050405020304" pitchFamily="18" charset="0"/>
              </a:rPr>
              <a:t>Задача</a:t>
            </a:r>
            <a:r>
              <a:rPr lang="ru-RU" altLang="ru-RU" sz="1200" b="1" dirty="0">
                <a:cs typeface="Times New Roman" panose="02020603050405020304" pitchFamily="18" charset="0"/>
              </a:rPr>
              <a:t> </a:t>
            </a:r>
            <a:r>
              <a:rPr lang="ru-RU" altLang="ru-RU" sz="1200" b="1" dirty="0"/>
              <a:t> </a:t>
            </a:r>
            <a:r>
              <a:rPr lang="en-US" altLang="ru-RU" sz="2000" b="1" i="1" dirty="0"/>
              <a:t>P</a:t>
            </a:r>
            <a:r>
              <a:rPr lang="en-US" altLang="ru-RU" sz="1200" b="1" i="1" dirty="0"/>
              <a:t>2</a:t>
            </a:r>
            <a:endParaRPr lang="ru-RU" altLang="ru-RU" sz="1200" b="1" i="1" dirty="0"/>
          </a:p>
        </p:txBody>
      </p:sp>
      <p:sp>
        <p:nvSpPr>
          <p:cNvPr id="11274" name="Rectangle 15">
            <a:extLst>
              <a:ext uri="{FF2B5EF4-FFF2-40B4-BE49-F238E27FC236}">
                <a16:creationId xmlns:a16="http://schemas.microsoft.com/office/drawing/2014/main" id="{38DB26EB-6176-4EAE-AE7E-756279289E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11275" name="Rectangle 16">
            <a:extLst>
              <a:ext uri="{FF2B5EF4-FFF2-40B4-BE49-F238E27FC236}">
                <a16:creationId xmlns:a16="http://schemas.microsoft.com/office/drawing/2014/main" id="{8300F13C-463B-48E6-A362-1807395BE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1338" y="4149725"/>
            <a:ext cx="8856662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b="1" u="sng">
                <a:sym typeface="Symbol" panose="05050102010706020507" pitchFamily="18" charset="2"/>
              </a:rPr>
              <a:t>Локальным оптимумом</a:t>
            </a:r>
            <a:r>
              <a:rPr lang="ru-RU" altLang="ru-RU" sz="1800">
                <a:sym typeface="Symbol" panose="05050102010706020507" pitchFamily="18" charset="2"/>
              </a:rPr>
              <a:t>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задачи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 является вектор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x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для которого существует окрестность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U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x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такая, что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x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является оптимальным решением задачи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 на множестве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U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x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).</a:t>
            </a:r>
            <a:endParaRPr lang="en-US" altLang="ru-RU" sz="180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graphicFrame>
        <p:nvGraphicFramePr>
          <p:cNvPr id="11276" name="Object 18">
            <a:extLst>
              <a:ext uri="{FF2B5EF4-FFF2-40B4-BE49-F238E27FC236}">
                <a16:creationId xmlns:a16="http://schemas.microsoft.com/office/drawing/2014/main" id="{A184C3E4-6961-4977-83D3-068FC8B56E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65564" y="2471739"/>
          <a:ext cx="1944687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4" name="Формула" r:id="rId3" imgW="1066800" imgH="787400" progId="Equation.3">
                  <p:embed/>
                </p:oleObj>
              </mc:Choice>
              <mc:Fallback>
                <p:oleObj name="Формула" r:id="rId3" imgW="1066800" imgH="787400" progId="Equation.3">
                  <p:embed/>
                  <p:pic>
                    <p:nvPicPr>
                      <p:cNvPr id="11276" name="Object 18">
                        <a:extLst>
                          <a:ext uri="{FF2B5EF4-FFF2-40B4-BE49-F238E27FC236}">
                            <a16:creationId xmlns:a16="http://schemas.microsoft.com/office/drawing/2014/main" id="{A184C3E4-6961-4977-83D3-068FC8B56EB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5564" y="2471739"/>
                        <a:ext cx="1944687" cy="1152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7" name="Object 20">
            <a:extLst>
              <a:ext uri="{FF2B5EF4-FFF2-40B4-BE49-F238E27FC236}">
                <a16:creationId xmlns:a16="http://schemas.microsoft.com/office/drawing/2014/main" id="{6AFB1944-1875-447F-A5F5-EAB22EEF93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5189" y="2492376"/>
          <a:ext cx="2447925" cy="180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5" name="Рисунок" r:id="rId5" imgW="2743200" imgH="1828800" progId="Word.Picture.8">
                  <p:embed/>
                </p:oleObj>
              </mc:Choice>
              <mc:Fallback>
                <p:oleObj name="Рисунок" r:id="rId5" imgW="2743200" imgH="1828800" progId="Word.Picture.8">
                  <p:embed/>
                  <p:pic>
                    <p:nvPicPr>
                      <p:cNvPr id="11277" name="Object 20">
                        <a:extLst>
                          <a:ext uri="{FF2B5EF4-FFF2-40B4-BE49-F238E27FC236}">
                            <a16:creationId xmlns:a16="http://schemas.microsoft.com/office/drawing/2014/main" id="{6AFB1944-1875-447F-A5F5-EAB22EEF934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9" y="2492376"/>
                        <a:ext cx="2447925" cy="180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8" name="Rectangle 23">
            <a:extLst>
              <a:ext uri="{FF2B5EF4-FFF2-40B4-BE49-F238E27FC236}">
                <a16:creationId xmlns:a16="http://schemas.microsoft.com/office/drawing/2014/main" id="{9F7F28AE-DEB2-4741-8C39-249D9E55AF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329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11279" name="Object 22">
            <a:extLst>
              <a:ext uri="{FF2B5EF4-FFF2-40B4-BE49-F238E27FC236}">
                <a16:creationId xmlns:a16="http://schemas.microsoft.com/office/drawing/2014/main" id="{B0F9FB22-EB9E-48E7-BD7F-5562AD0687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27801" y="2133600"/>
          <a:ext cx="2881313" cy="215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6" name="Рисунок" r:id="rId7" imgW="2743200" imgH="1828800" progId="Word.Picture.8">
                  <p:embed/>
                </p:oleObj>
              </mc:Choice>
              <mc:Fallback>
                <p:oleObj name="Рисунок" r:id="rId7" imgW="2743200" imgH="1828800" progId="Word.Picture.8">
                  <p:embed/>
                  <p:pic>
                    <p:nvPicPr>
                      <p:cNvPr id="11279" name="Object 22">
                        <a:extLst>
                          <a:ext uri="{FF2B5EF4-FFF2-40B4-BE49-F238E27FC236}">
                            <a16:creationId xmlns:a16="http://schemas.microsoft.com/office/drawing/2014/main" id="{B0F9FB22-EB9E-48E7-BD7F-5562AD06875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7801" y="2133600"/>
                        <a:ext cx="2881313" cy="215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80" name="Rectangle 24">
            <a:extLst>
              <a:ext uri="{FF2B5EF4-FFF2-40B4-BE49-F238E27FC236}">
                <a16:creationId xmlns:a16="http://schemas.microsoft.com/office/drawing/2014/main" id="{B6C3F878-69BE-4510-8C73-08CB2E393D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8557" y="1338658"/>
            <a:ext cx="352901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Полимодальная функция.</a:t>
            </a:r>
          </a:p>
        </p:txBody>
      </p:sp>
      <p:sp>
        <p:nvSpPr>
          <p:cNvPr id="11282" name="Rectangle 26">
            <a:extLst>
              <a:ext uri="{FF2B5EF4-FFF2-40B4-BE49-F238E27FC236}">
                <a16:creationId xmlns:a16="http://schemas.microsoft.com/office/drawing/2014/main" id="{64E570A6-BE24-449E-9CC9-1070D498A6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2289" y="4999038"/>
            <a:ext cx="8605837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b="1" u="sng"/>
              <a:t>Глобальным оптимумом</a:t>
            </a:r>
            <a:r>
              <a:rPr lang="ru-RU" altLang="ru-RU" sz="1800"/>
              <a:t>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2 является решение, удовлетворяющее условию </a:t>
            </a:r>
          </a:p>
        </p:txBody>
      </p:sp>
      <p:sp>
        <p:nvSpPr>
          <p:cNvPr id="11283" name="Rectangle 28">
            <a:extLst>
              <a:ext uri="{FF2B5EF4-FFF2-40B4-BE49-F238E27FC236}">
                <a16:creationId xmlns:a16="http://schemas.microsoft.com/office/drawing/2014/main" id="{F4C78C21-0D64-40B2-9D45-CCC45E862C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11284" name="Rectangle 29">
            <a:extLst>
              <a:ext uri="{FF2B5EF4-FFF2-40B4-BE49-F238E27FC236}">
                <a16:creationId xmlns:a16="http://schemas.microsoft.com/office/drawing/2014/main" id="{74A8B93F-DCD7-4454-832F-96D8E2C6C7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1950" y="5661025"/>
            <a:ext cx="89281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b="1"/>
              <a:t>Множество локальных оптимумов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включающее также глобальный оптимум,  носит название </a:t>
            </a:r>
            <a:r>
              <a:rPr lang="ru-RU" altLang="ru-RU" sz="1800" b="1" i="1" u="sng">
                <a:latin typeface="Times New Roman" panose="02020603050405020304" pitchFamily="18" charset="0"/>
                <a:cs typeface="Times New Roman" panose="02020603050405020304" pitchFamily="18" charset="0"/>
              </a:rPr>
              <a:t>множество эффективных решений</a:t>
            </a:r>
            <a:endParaRPr lang="ru-RU" altLang="ru-RU" sz="18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285" name="Object 32">
            <a:extLst>
              <a:ext uri="{FF2B5EF4-FFF2-40B4-BE49-F238E27FC236}">
                <a16:creationId xmlns:a16="http://schemas.microsoft.com/office/drawing/2014/main" id="{79078A76-2C90-4B53-B6E7-90CA51FC756E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3143251" y="5300663"/>
          <a:ext cx="4824413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7" name="Формула" r:id="rId9" imgW="3390900" imgH="241300" progId="Equation.3">
                  <p:embed/>
                </p:oleObj>
              </mc:Choice>
              <mc:Fallback>
                <p:oleObj name="Формула" r:id="rId9" imgW="3390900" imgH="241300" progId="Equation.3">
                  <p:embed/>
                  <p:pic>
                    <p:nvPicPr>
                      <p:cNvPr id="11285" name="Object 32">
                        <a:extLst>
                          <a:ext uri="{FF2B5EF4-FFF2-40B4-BE49-F238E27FC236}">
                            <a16:creationId xmlns:a16="http://schemas.microsoft.com/office/drawing/2014/main" id="{79078A76-2C90-4B53-B6E7-90CA51FC756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251" y="5300663"/>
                        <a:ext cx="4824413" cy="385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5826B61-C584-4FC6-A93D-86ABB0B4F7B2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960096" y="5933043"/>
            <a:ext cx="1607620" cy="369332"/>
          </a:xfrm>
          <a:prstGeom prst="rect">
            <a:avLst/>
          </a:prstGeom>
          <a:blipFill rotWithShape="0">
            <a:blip r:embed="rId11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ru-RU">
                <a:noFill/>
              </a:rPr>
              <a:t> 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7B24AF5F-6A3F-4AF6-97E2-89DFEB6FAB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ru-RU" sz="3200" b="1" i="1" u="sng" dirty="0">
                <a:latin typeface="+mn-lt"/>
              </a:rPr>
              <a:t>2</a:t>
            </a:r>
            <a:r>
              <a:rPr lang="ru-RU" altLang="ru-RU" sz="32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Основные понятия и определения конечномерного выпуклого анализа</a:t>
            </a:r>
            <a:r>
              <a:rPr lang="ru-RU" altLang="ru-RU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A8C0FC0E-5AEA-486A-A4F4-B622D3525B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44688" y="1627188"/>
            <a:ext cx="8229600" cy="4525962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ru-RU" sz="2400" b="1" u="sng"/>
              <a:t>2</a:t>
            </a:r>
            <a:r>
              <a:rPr lang="ru-RU" altLang="ru-RU" sz="2400" b="1" u="sng"/>
              <a:t>.2. Выпуклые множества</a:t>
            </a:r>
            <a:r>
              <a:rPr lang="ru-RU" altLang="ru-RU" sz="2400" b="1"/>
              <a:t>.</a:t>
            </a:r>
          </a:p>
        </p:txBody>
      </p:sp>
      <p:sp>
        <p:nvSpPr>
          <p:cNvPr id="12292" name="Rectangle 4">
            <a:extLst>
              <a:ext uri="{FF2B5EF4-FFF2-40B4-BE49-F238E27FC236}">
                <a16:creationId xmlns:a16="http://schemas.microsoft.com/office/drawing/2014/main" id="{0D666EEC-DFF6-423A-8A54-EED88D59DB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4" y="2203450"/>
            <a:ext cx="7038975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b="1" u="sng"/>
              <a:t>Определение 1</a:t>
            </a:r>
            <a:r>
              <a:rPr lang="ru-RU" altLang="ru-RU" sz="1800" b="1"/>
              <a:t>:</a:t>
            </a:r>
            <a:r>
              <a:rPr lang="ru-RU" altLang="ru-RU" sz="1800"/>
              <a:t>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Множество                 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называется выпуклым, если </a:t>
            </a:r>
          </a:p>
        </p:txBody>
      </p:sp>
      <p:sp>
        <p:nvSpPr>
          <p:cNvPr id="12293" name="Rectangle 6">
            <a:extLst>
              <a:ext uri="{FF2B5EF4-FFF2-40B4-BE49-F238E27FC236}">
                <a16:creationId xmlns:a16="http://schemas.microsoft.com/office/drawing/2014/main" id="{E646D42E-3E56-4F61-844B-3F1859F3EF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91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12294" name="Object 5">
            <a:extLst>
              <a:ext uri="{FF2B5EF4-FFF2-40B4-BE49-F238E27FC236}">
                <a16:creationId xmlns:a16="http://schemas.microsoft.com/office/drawing/2014/main" id="{2DB9B373-E4C5-4CBE-A519-0517A29FF5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79650" y="2492376"/>
          <a:ext cx="7056438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7" name="Формула" r:id="rId3" imgW="4203700" imgH="304800" progId="Equation.3">
                  <p:embed/>
                </p:oleObj>
              </mc:Choice>
              <mc:Fallback>
                <p:oleObj name="Формула" r:id="rId3" imgW="4203700" imgH="304800" progId="Equation.3">
                  <p:embed/>
                  <p:pic>
                    <p:nvPicPr>
                      <p:cNvPr id="12294" name="Object 5">
                        <a:extLst>
                          <a:ext uri="{FF2B5EF4-FFF2-40B4-BE49-F238E27FC236}">
                            <a16:creationId xmlns:a16="http://schemas.microsoft.com/office/drawing/2014/main" id="{2DB9B373-E4C5-4CBE-A519-0517A29FF5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650" y="2492376"/>
                        <a:ext cx="7056438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5" name="Rectangle 8">
            <a:extLst>
              <a:ext uri="{FF2B5EF4-FFF2-40B4-BE49-F238E27FC236}">
                <a16:creationId xmlns:a16="http://schemas.microsoft.com/office/drawing/2014/main" id="{B107087B-812C-4427-BC88-3BE673EDBE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710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12296" name="Object 7">
            <a:extLst>
              <a:ext uri="{FF2B5EF4-FFF2-40B4-BE49-F238E27FC236}">
                <a16:creationId xmlns:a16="http://schemas.microsoft.com/office/drawing/2014/main" id="{3E2E53DB-1253-4BCB-B212-F98834E406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5663" y="2697163"/>
          <a:ext cx="2665412" cy="165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8" name="Рисунок" r:id="rId5" imgW="2743200" imgH="1828800" progId="Word.Picture.8">
                  <p:embed/>
                </p:oleObj>
              </mc:Choice>
              <mc:Fallback>
                <p:oleObj name="Рисунок" r:id="rId5" imgW="2743200" imgH="1828800" progId="Word.Picture.8">
                  <p:embed/>
                  <p:pic>
                    <p:nvPicPr>
                      <p:cNvPr id="12296" name="Object 7">
                        <a:extLst>
                          <a:ext uri="{FF2B5EF4-FFF2-40B4-BE49-F238E27FC236}">
                            <a16:creationId xmlns:a16="http://schemas.microsoft.com/office/drawing/2014/main" id="{3E2E53DB-1253-4BCB-B212-F98834E4060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5663" y="2697163"/>
                        <a:ext cx="2665412" cy="1655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7" name="Rectangle 10">
            <a:extLst>
              <a:ext uri="{FF2B5EF4-FFF2-40B4-BE49-F238E27FC236}">
                <a16:creationId xmlns:a16="http://schemas.microsoft.com/office/drawing/2014/main" id="{EC7C49C4-7FC6-492F-8577-50CAEDC762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4823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12298" name="Object 9">
            <a:extLst>
              <a:ext uri="{FF2B5EF4-FFF2-40B4-BE49-F238E27FC236}">
                <a16:creationId xmlns:a16="http://schemas.microsoft.com/office/drawing/2014/main" id="{EBF3153A-0A15-4092-BF78-D61BE3DFB6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40463" y="2636839"/>
          <a:ext cx="2519362" cy="172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9" name="Рисунок" r:id="rId7" imgW="2743200" imgH="1828800" progId="Word.Picture.8">
                  <p:embed/>
                </p:oleObj>
              </mc:Choice>
              <mc:Fallback>
                <p:oleObj name="Рисунок" r:id="rId7" imgW="2743200" imgH="1828800" progId="Word.Picture.8">
                  <p:embed/>
                  <p:pic>
                    <p:nvPicPr>
                      <p:cNvPr id="12298" name="Object 9">
                        <a:extLst>
                          <a:ext uri="{FF2B5EF4-FFF2-40B4-BE49-F238E27FC236}">
                            <a16:creationId xmlns:a16="http://schemas.microsoft.com/office/drawing/2014/main" id="{EBF3153A-0A15-4092-BF78-D61BE3DFB6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0463" y="2636839"/>
                        <a:ext cx="2519362" cy="172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9" name="Object 12">
            <a:extLst>
              <a:ext uri="{FF2B5EF4-FFF2-40B4-BE49-F238E27FC236}">
                <a16:creationId xmlns:a16="http://schemas.microsoft.com/office/drawing/2014/main" id="{79B7BDCA-F038-4755-8A95-F947637B48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47850" y="4941888"/>
          <a:ext cx="935038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0" name="Формула" r:id="rId9" imgW="583947" imgH="431613" progId="Equation.3">
                  <p:embed/>
                </p:oleObj>
              </mc:Choice>
              <mc:Fallback>
                <p:oleObj name="Формула" r:id="rId9" imgW="583947" imgH="431613" progId="Equation.3">
                  <p:embed/>
                  <p:pic>
                    <p:nvPicPr>
                      <p:cNvPr id="12299" name="Object 12">
                        <a:extLst>
                          <a:ext uri="{FF2B5EF4-FFF2-40B4-BE49-F238E27FC236}">
                            <a16:creationId xmlns:a16="http://schemas.microsoft.com/office/drawing/2014/main" id="{79B7BDCA-F038-4755-8A95-F947637B48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50" y="4941888"/>
                        <a:ext cx="935038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0" name="Object 11">
            <a:extLst>
              <a:ext uri="{FF2B5EF4-FFF2-40B4-BE49-F238E27FC236}">
                <a16:creationId xmlns:a16="http://schemas.microsoft.com/office/drawing/2014/main" id="{B172BB3F-D316-4B34-903B-3C2C103FA6E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03614" y="4868864"/>
          <a:ext cx="1944687" cy="71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1" name="Формула" r:id="rId11" imgW="1206500" imgH="431800" progId="Equation.3">
                  <p:embed/>
                </p:oleObj>
              </mc:Choice>
              <mc:Fallback>
                <p:oleObj name="Формула" r:id="rId11" imgW="1206500" imgH="431800" progId="Equation.3">
                  <p:embed/>
                  <p:pic>
                    <p:nvPicPr>
                      <p:cNvPr id="12300" name="Object 11">
                        <a:extLst>
                          <a:ext uri="{FF2B5EF4-FFF2-40B4-BE49-F238E27FC236}">
                            <a16:creationId xmlns:a16="http://schemas.microsoft.com/office/drawing/2014/main" id="{B172BB3F-D316-4B34-903B-3C2C103FA6E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3614" y="4868864"/>
                        <a:ext cx="1944687" cy="719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01" name="Rectangle 13">
            <a:extLst>
              <a:ext uri="{FF2B5EF4-FFF2-40B4-BE49-F238E27FC236}">
                <a16:creationId xmlns:a16="http://schemas.microsoft.com/office/drawing/2014/main" id="{007FC3CE-F813-44C9-A641-6B5C7A15EB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826" y="4149725"/>
            <a:ext cx="85693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b="1" u="sng">
                <a:cs typeface="Times New Roman" panose="02020603050405020304" pitchFamily="18" charset="0"/>
              </a:rPr>
              <a:t>Обобщение</a:t>
            </a:r>
            <a:r>
              <a:rPr lang="ru-RU" altLang="ru-RU" sz="1800" b="1">
                <a:cs typeface="Times New Roman" panose="02020603050405020304" pitchFamily="18" charset="0"/>
              </a:rPr>
              <a:t>:</a:t>
            </a:r>
            <a:r>
              <a:rPr lang="ru-RU" altLang="ru-RU" sz="1800">
                <a:cs typeface="Times New Roman" panose="02020603050405020304" pitchFamily="18" charset="0"/>
              </a:rPr>
              <a:t>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Пусть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ru-RU" sz="18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 </a:t>
            </a:r>
            <a:r>
              <a:rPr lang="ru-RU" altLang="ru-RU" sz="1800">
                <a:cs typeface="Times New Roman" panose="02020603050405020304" pitchFamily="18" charset="0"/>
              </a:rPr>
              <a:t> 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ru-RU" sz="1800" baseline="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тогда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 </a:t>
            </a:r>
            <a:r>
              <a:rPr lang="ru-RU" altLang="ru-RU" sz="1800">
                <a:cs typeface="Times New Roman" panose="02020603050405020304" pitchFamily="18" charset="0"/>
              </a:rPr>
              <a:t> 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– выпуклая комбинация этих точек, если существуют числа (коэффициенты) </a:t>
            </a:r>
            <a:r>
              <a:rPr lang="ru-RU" altLang="ru-RU" sz="1800" baseline="-30000">
                <a:cs typeface="Times New Roman" panose="02020603050405020304" pitchFamily="18" charset="0"/>
              </a:rPr>
              <a:t>1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,</a:t>
            </a:r>
            <a:r>
              <a:rPr lang="ru-RU" altLang="ru-RU" sz="1800" baseline="-30000">
                <a:cs typeface="Times New Roman" panose="02020603050405020304" pitchFamily="18" charset="0"/>
              </a:rPr>
              <a:t>2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,…,</a:t>
            </a:r>
            <a:r>
              <a:rPr lang="en-US" altLang="ru-RU" sz="1800" baseline="-30000">
                <a:cs typeface="Times New Roman" panose="02020603050405020304" pitchFamily="18" charset="0"/>
              </a:rPr>
              <a:t>k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(0 </a:t>
            </a:r>
            <a:r>
              <a:rPr lang="ru-RU" altLang="ru-RU" sz="1800">
                <a:cs typeface="Times New Roman" panose="02020603050405020304" pitchFamily="18" charset="0"/>
              </a:rPr>
              <a:t>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</a:t>
            </a:r>
            <a:r>
              <a:rPr lang="en-US" altLang="ru-RU" sz="1800" baseline="-30000">
                <a:cs typeface="Times New Roman" panose="02020603050405020304" pitchFamily="18" charset="0"/>
              </a:rPr>
              <a:t>i</a:t>
            </a:r>
            <a:r>
              <a:rPr lang="en-US" altLang="ru-RU" sz="1800" baseline="-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ru-RU" sz="1800">
                <a:cs typeface="Times New Roman" panose="02020603050405020304" pitchFamily="18" charset="0"/>
              </a:rPr>
              <a:t>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1), такие, что </a:t>
            </a:r>
          </a:p>
        </p:txBody>
      </p:sp>
      <p:sp>
        <p:nvSpPr>
          <p:cNvPr id="12302" name="Rectangle 14">
            <a:extLst>
              <a:ext uri="{FF2B5EF4-FFF2-40B4-BE49-F238E27FC236}">
                <a16:creationId xmlns:a16="http://schemas.microsoft.com/office/drawing/2014/main" id="{01886273-391E-4564-8A24-DC9FFB4F61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0375" y="5012016"/>
            <a:ext cx="42030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200">
                <a:cs typeface="Times New Roman" panose="02020603050405020304" pitchFamily="18" charset="0"/>
              </a:rPr>
              <a:t> </a:t>
            </a:r>
            <a:r>
              <a:rPr lang="ru-RU" altLang="ru-RU" sz="1800">
                <a:cs typeface="Times New Roman" panose="02020603050405020304" pitchFamily="18" charset="0"/>
              </a:rPr>
              <a:t>и </a:t>
            </a:r>
            <a:endParaRPr lang="ru-RU" altLang="ru-RU" sz="1800"/>
          </a:p>
        </p:txBody>
      </p:sp>
      <p:sp>
        <p:nvSpPr>
          <p:cNvPr id="12303" name="Rectangle 15">
            <a:extLst>
              <a:ext uri="{FF2B5EF4-FFF2-40B4-BE49-F238E27FC236}">
                <a16:creationId xmlns:a16="http://schemas.microsoft.com/office/drawing/2014/main" id="{3D7AD052-2708-437C-9267-76E3278734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5589588"/>
            <a:ext cx="87852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Множество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– выпукло, тогда и только тогда, если любая выпуклая комбинация точек из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принадлежит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12304" name="Rectangle 17">
            <a:extLst>
              <a:ext uri="{FF2B5EF4-FFF2-40B4-BE49-F238E27FC236}">
                <a16:creationId xmlns:a16="http://schemas.microsoft.com/office/drawing/2014/main" id="{DB0C52BD-3B24-4189-A47F-13FE2E041E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411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12305" name="Прямоугольник 2">
            <a:extLst>
              <a:ext uri="{FF2B5EF4-FFF2-40B4-BE49-F238E27FC236}">
                <a16:creationId xmlns:a16="http://schemas.microsoft.com/office/drawing/2014/main" id="{42A7AFCD-2BAA-43C1-99C4-F9CA73BB34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25" y="2216150"/>
            <a:ext cx="8953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 </a:t>
            </a:r>
            <a:r>
              <a:rPr lang="ru-RU" altLang="ru-RU" sz="1800">
                <a:cs typeface="Times New Roman" panose="02020603050405020304" pitchFamily="18" charset="0"/>
              </a:rPr>
              <a:t> 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ru-RU" sz="1800" baseline="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endParaRPr lang="ru-RU" altLang="ru-RU" sz="1800"/>
          </a:p>
        </p:txBody>
      </p:sp>
      <p:sp>
        <p:nvSpPr>
          <p:cNvPr id="12306" name="Прямоугольник 21">
            <a:extLst>
              <a:ext uri="{FF2B5EF4-FFF2-40B4-BE49-F238E27FC236}">
                <a16:creationId xmlns:a16="http://schemas.microsoft.com/office/drawing/2014/main" id="{E975E7AE-223A-462D-A988-4E7629AAB2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2750" y="5588000"/>
            <a:ext cx="8953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 </a:t>
            </a:r>
            <a:r>
              <a:rPr lang="ru-RU" altLang="ru-RU" sz="1800">
                <a:cs typeface="Times New Roman" panose="02020603050405020304" pitchFamily="18" charset="0"/>
              </a:rPr>
              <a:t> 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ru-RU" sz="1800" baseline="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endParaRPr lang="ru-RU" altLang="ru-RU"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BC0CFE8C-759B-4EA5-AE7D-0D46BBE0D7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47850" y="117475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ru-RU" sz="3200" b="1" i="1" u="sng" dirty="0">
                <a:latin typeface="+mn-lt"/>
              </a:rPr>
              <a:t>2</a:t>
            </a:r>
            <a:r>
              <a:rPr lang="ru-RU" altLang="ru-RU" sz="3200" b="1" i="1" u="sng" dirty="0">
                <a:latin typeface="+mn-lt"/>
              </a:rPr>
              <a:t>.  </a:t>
            </a:r>
            <a:r>
              <a:rPr lang="ru-RU" altLang="ru-RU" sz="32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понятия и определения конечномерного выпуклого анализа</a:t>
            </a:r>
            <a:r>
              <a:rPr lang="ru-RU" altLang="ru-RU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8D06F99F-3B9C-4926-94FC-B15EE68CE5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79625" y="1196976"/>
            <a:ext cx="8229600" cy="4784725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ru-RU" sz="2400" b="1"/>
              <a:t>2</a:t>
            </a:r>
            <a:r>
              <a:rPr lang="ru-RU" altLang="ru-RU" sz="2400" b="1"/>
              <a:t>.2.</a:t>
            </a:r>
            <a:r>
              <a:rPr lang="ru-RU" altLang="ru-RU" sz="2400" b="1" u="sng"/>
              <a:t> Выпуклые множества</a:t>
            </a:r>
            <a:r>
              <a:rPr lang="ru-RU" altLang="ru-RU" sz="2400" b="1"/>
              <a:t>.</a:t>
            </a:r>
          </a:p>
          <a:p>
            <a:pPr eaLnBrk="1" hangingPunct="1">
              <a:buFontTx/>
              <a:buNone/>
            </a:pPr>
            <a:endParaRPr lang="ru-RU" altLang="ru-RU" sz="2400"/>
          </a:p>
        </p:txBody>
      </p:sp>
      <p:graphicFrame>
        <p:nvGraphicFramePr>
          <p:cNvPr id="13316" name="Object 5">
            <a:extLst>
              <a:ext uri="{FF2B5EF4-FFF2-40B4-BE49-F238E27FC236}">
                <a16:creationId xmlns:a16="http://schemas.microsoft.com/office/drawing/2014/main" id="{F5302BDE-1D2F-446F-8E74-DD3DB2F8864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16414" y="2009776"/>
          <a:ext cx="358775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3" name="Формула" r:id="rId3" imgW="177569" imgH="304404" progId="Equation.3">
                  <p:embed/>
                </p:oleObj>
              </mc:Choice>
              <mc:Fallback>
                <p:oleObj name="Формула" r:id="rId3" imgW="177569" imgH="304404" progId="Equation.3">
                  <p:embed/>
                  <p:pic>
                    <p:nvPicPr>
                      <p:cNvPr id="13316" name="Object 5">
                        <a:extLst>
                          <a:ext uri="{FF2B5EF4-FFF2-40B4-BE49-F238E27FC236}">
                            <a16:creationId xmlns:a16="http://schemas.microsoft.com/office/drawing/2014/main" id="{F5302BDE-1D2F-446F-8E74-DD3DB2F8864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6414" y="2009776"/>
                        <a:ext cx="358775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7" name="Object 4">
            <a:extLst>
              <a:ext uri="{FF2B5EF4-FFF2-40B4-BE49-F238E27FC236}">
                <a16:creationId xmlns:a16="http://schemas.microsoft.com/office/drawing/2014/main" id="{B9E50183-526F-44D6-8083-325A10866D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83564" y="2330450"/>
          <a:ext cx="382587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4" name="Формула" r:id="rId5" imgW="177646" imgH="279158" progId="Equation.3">
                  <p:embed/>
                </p:oleObj>
              </mc:Choice>
              <mc:Fallback>
                <p:oleObj name="Формула" r:id="rId5" imgW="177646" imgH="279158" progId="Equation.3">
                  <p:embed/>
                  <p:pic>
                    <p:nvPicPr>
                      <p:cNvPr id="13317" name="Object 4">
                        <a:extLst>
                          <a:ext uri="{FF2B5EF4-FFF2-40B4-BE49-F238E27FC236}">
                            <a16:creationId xmlns:a16="http://schemas.microsoft.com/office/drawing/2014/main" id="{B9E50183-526F-44D6-8083-325A10866D7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83564" y="2330450"/>
                        <a:ext cx="382587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8" name="Rectangle 6">
            <a:extLst>
              <a:ext uri="{FF2B5EF4-FFF2-40B4-BE49-F238E27FC236}">
                <a16:creationId xmlns:a16="http://schemas.microsoft.com/office/drawing/2014/main" id="{2E6AAA3F-F43D-44E8-9DB0-7F8DCFDDA2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2651" y="1733550"/>
            <a:ext cx="842486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b="1" u="sng">
                <a:cs typeface="Times New Roman" panose="02020603050405020304" pitchFamily="18" charset="0"/>
              </a:rPr>
              <a:t>Определение 2</a:t>
            </a:r>
            <a:r>
              <a:rPr lang="ru-RU" altLang="ru-RU" sz="1800" b="1">
                <a:cs typeface="Times New Roman" panose="02020603050405020304" pitchFamily="18" charset="0"/>
              </a:rPr>
              <a:t>:</a:t>
            </a:r>
            <a:r>
              <a:rPr lang="ru-RU" altLang="ru-RU" sz="1800">
                <a:cs typeface="Times New Roman" panose="02020603050405020304" pitchFamily="18" charset="0"/>
              </a:rPr>
              <a:t>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Выпуклой оболочкой множества </a:t>
            </a:r>
            <a:r>
              <a:rPr lang="en-US" altLang="ru-RU" sz="1800">
                <a:cs typeface="Times New Roman" panose="02020603050405020304" pitchFamily="18" charset="0"/>
              </a:rPr>
              <a:t>S</a:t>
            </a:r>
            <a:r>
              <a:rPr lang="ru-RU" altLang="ru-RU" sz="1800">
                <a:cs typeface="Times New Roman" panose="02020603050405020304" pitchFamily="18" charset="0"/>
              </a:rPr>
              <a:t>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(не обязательно выпуклого) является множество </a:t>
            </a:r>
          </a:p>
        </p:txBody>
      </p:sp>
      <p:sp>
        <p:nvSpPr>
          <p:cNvPr id="13319" name="Rectangle 7">
            <a:extLst>
              <a:ext uri="{FF2B5EF4-FFF2-40B4-BE49-F238E27FC236}">
                <a16:creationId xmlns:a16="http://schemas.microsoft.com/office/drawing/2014/main" id="{7134592E-A921-4CC0-86C2-F5D7F347C0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2451100"/>
            <a:ext cx="842645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ru-RU" sz="1800">
                <a:cs typeface="Times New Roman" panose="02020603050405020304" pitchFamily="18" charset="0"/>
              </a:rPr>
              <a:t>  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если любая выпуклая комбинация точек из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принадлежит </a:t>
            </a:r>
          </a:p>
        </p:txBody>
      </p:sp>
      <p:sp>
        <p:nvSpPr>
          <p:cNvPr id="13320" name="Rectangle 9">
            <a:extLst>
              <a:ext uri="{FF2B5EF4-FFF2-40B4-BE49-F238E27FC236}">
                <a16:creationId xmlns:a16="http://schemas.microsoft.com/office/drawing/2014/main" id="{94361F74-AF46-4F7F-9F6F-4FE9A50EAB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5585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13321" name="Object 8">
            <a:extLst>
              <a:ext uri="{FF2B5EF4-FFF2-40B4-BE49-F238E27FC236}">
                <a16:creationId xmlns:a16="http://schemas.microsoft.com/office/drawing/2014/main" id="{CB39D9C0-91FC-42E6-8BBB-69374C2EA52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35551" y="2473326"/>
          <a:ext cx="2879725" cy="197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5" name="Рисунок" r:id="rId7" imgW="2743200" imgH="1828800" progId="Word.Picture.8">
                  <p:embed/>
                </p:oleObj>
              </mc:Choice>
              <mc:Fallback>
                <p:oleObj name="Рисунок" r:id="rId7" imgW="2743200" imgH="1828800" progId="Word.Picture.8">
                  <p:embed/>
                  <p:pic>
                    <p:nvPicPr>
                      <p:cNvPr id="13321" name="Object 8">
                        <a:extLst>
                          <a:ext uri="{FF2B5EF4-FFF2-40B4-BE49-F238E27FC236}">
                            <a16:creationId xmlns:a16="http://schemas.microsoft.com/office/drawing/2014/main" id="{CB39D9C0-91FC-42E6-8BBB-69374C2EA52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5551" y="2473326"/>
                        <a:ext cx="2879725" cy="1979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6" name="Rectangle 10">
            <a:extLst>
              <a:ext uri="{FF2B5EF4-FFF2-40B4-BE49-F238E27FC236}">
                <a16:creationId xmlns:a16="http://schemas.microsoft.com/office/drawing/2014/main" id="{38CD687D-D685-4A26-B9B3-702A70B06A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0" y="3848100"/>
            <a:ext cx="8712200" cy="1201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4572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4572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4572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ru-RU" altLang="ru-RU" sz="1800" b="1" u="sng" dirty="0"/>
              <a:t>Свойства выпуклых множеств</a:t>
            </a:r>
            <a:r>
              <a:rPr lang="ru-RU" altLang="ru-RU" sz="1800" b="1" dirty="0"/>
              <a:t>:</a:t>
            </a:r>
            <a:endParaRPr lang="ru-RU" altLang="ru-RU" sz="1800" dirty="0"/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ru-RU" altLang="ru-RU" sz="1800" b="1" dirty="0">
                <a:latin typeface="+mj-lt"/>
                <a:cs typeface="Times New Roman" panose="02020603050405020304" pitchFamily="18" charset="0"/>
              </a:rPr>
              <a:t>объединение</a:t>
            </a:r>
            <a:r>
              <a:rPr lang="ru-RU" alt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конечного числа выпуклых множеств </a:t>
            </a:r>
            <a:r>
              <a:rPr lang="ru-RU" alt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 всегда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является выпуклым;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ru-RU" altLang="ru-RU" sz="1800" b="1" dirty="0"/>
              <a:t>пересечение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конечного числа выпуклых множеств </a:t>
            </a:r>
            <a:r>
              <a:rPr lang="ru-RU" alt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всегда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является выпуклым множеством.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D8E193B5-2921-4446-A871-274EA1D3B3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ru-RU" sz="3200" b="1" i="1" u="sng" dirty="0">
                <a:latin typeface="+mn-lt"/>
              </a:rPr>
              <a:t>2</a:t>
            </a:r>
            <a:r>
              <a:rPr lang="ru-RU" altLang="ru-RU" sz="3200" b="1" i="1" u="sng" dirty="0">
                <a:latin typeface="+mn-lt"/>
              </a:rPr>
              <a:t>.  </a:t>
            </a:r>
            <a:r>
              <a:rPr lang="ru-RU" altLang="ru-RU" sz="32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понятия и определения конечномерного выпуклого анализа</a:t>
            </a:r>
            <a:r>
              <a:rPr lang="ru-RU" altLang="ru-RU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2A370C92-71AC-4801-B35E-7BF2BF393C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>
              <a:buNone/>
            </a:pPr>
            <a:r>
              <a:rPr lang="en-US" altLang="ru-RU" sz="2400" b="1" dirty="0"/>
              <a:t>2</a:t>
            </a:r>
            <a:r>
              <a:rPr lang="ru-RU" altLang="ru-RU" sz="2400" b="1" dirty="0"/>
              <a:t>.</a:t>
            </a:r>
            <a:r>
              <a:rPr lang="en-US" altLang="ru-RU" sz="2400" b="1" dirty="0"/>
              <a:t>3</a:t>
            </a:r>
            <a:r>
              <a:rPr lang="ru-RU" altLang="ru-RU" sz="2400" b="1" dirty="0"/>
              <a:t>.</a:t>
            </a:r>
            <a:r>
              <a:rPr lang="ru-RU" altLang="ru-RU" sz="2400" b="1" u="sng" dirty="0"/>
              <a:t> Выпуклые множества</a:t>
            </a:r>
            <a:r>
              <a:rPr lang="ru-RU" altLang="ru-RU" sz="2400" b="1" dirty="0"/>
              <a:t>.</a:t>
            </a:r>
            <a:r>
              <a:rPr lang="en-US" altLang="ru-RU" sz="2400" b="1" dirty="0"/>
              <a:t> </a:t>
            </a:r>
          </a:p>
          <a:p>
            <a:pPr marL="609600" indent="-609600">
              <a:buNone/>
            </a:pPr>
            <a:r>
              <a:rPr lang="ru-RU" altLang="ru-RU" sz="2000" b="1" u="sng" dirty="0"/>
              <a:t>Свойства выпуклых множеств:</a:t>
            </a:r>
            <a:endParaRPr lang="ru-RU" altLang="ru-RU" sz="2000" u="sng" dirty="0"/>
          </a:p>
          <a:p>
            <a:pPr marL="609600" indent="-609600">
              <a:buNone/>
            </a:pPr>
            <a:r>
              <a:rPr lang="ru-RU" altLang="ru-RU" sz="1800" b="1" u="sng" dirty="0"/>
              <a:t>Определение 3</a:t>
            </a:r>
            <a:r>
              <a:rPr lang="ru-RU" altLang="ru-RU" sz="1800" b="1" dirty="0"/>
              <a:t>:</a:t>
            </a:r>
            <a:r>
              <a:rPr lang="ru-RU" altLang="ru-RU" sz="1800" dirty="0"/>
              <a:t> </a:t>
            </a:r>
            <a:endParaRPr lang="en-US" altLang="ru-RU" sz="1800" dirty="0"/>
          </a:p>
          <a:p>
            <a:pPr marL="609600" indent="-609600">
              <a:buNone/>
            </a:pPr>
            <a:r>
              <a:rPr lang="en-US" altLang="ru-RU" sz="1800" b="1" dirty="0"/>
              <a:t>1</a:t>
            </a:r>
            <a:r>
              <a:rPr lang="en-US" alt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alt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Внутренность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множества </a:t>
            </a:r>
            <a:r>
              <a:rPr lang="en-US" altLang="ru-RU" sz="1800" dirty="0"/>
              <a:t>A</a:t>
            </a:r>
            <a:r>
              <a:rPr lang="ru-RU" altLang="ru-RU" sz="1800" dirty="0"/>
              <a:t>  - </a:t>
            </a:r>
            <a:r>
              <a:rPr lang="en-US" altLang="ru-RU" sz="1800" dirty="0"/>
              <a:t>I</a:t>
            </a:r>
            <a:r>
              <a:rPr lang="ru-RU" altLang="ru-RU" sz="1800" dirty="0"/>
              <a:t>(</a:t>
            </a:r>
            <a:r>
              <a:rPr lang="en-US" altLang="ru-RU" sz="1800" dirty="0"/>
              <a:t>A</a:t>
            </a:r>
            <a:r>
              <a:rPr lang="ru-RU" altLang="ru-RU" sz="1800" dirty="0"/>
              <a:t>)</a:t>
            </a:r>
            <a:r>
              <a:rPr lang="en-US" altLang="ru-RU" sz="1800" dirty="0"/>
              <a:t>:</a:t>
            </a:r>
          </a:p>
          <a:p>
            <a:pPr marL="609600" indent="-609600">
              <a:buNone/>
            </a:pPr>
            <a:r>
              <a:rPr lang="ru-RU" altLang="ru-RU" sz="1800" dirty="0"/>
              <a:t>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открытое множество</a:t>
            </a:r>
            <a:r>
              <a:rPr lang="ru-RU" altLang="ru-RU" sz="1800" dirty="0"/>
              <a:t>;</a:t>
            </a:r>
            <a:endParaRPr lang="en-US" altLang="ru-RU" sz="1800" dirty="0"/>
          </a:p>
          <a:p>
            <a:pPr marL="609600" indent="-609600">
              <a:buNone/>
            </a:pPr>
            <a:r>
              <a:rPr lang="en-US" altLang="ru-RU" sz="1800" dirty="0"/>
              <a:t>2. </a:t>
            </a:r>
            <a:r>
              <a:rPr lang="ru-RU" altLang="ru-RU" sz="1800" b="1" dirty="0"/>
              <a:t>Граница</a:t>
            </a:r>
            <a:r>
              <a:rPr lang="ru-RU" altLang="ru-RU" sz="1800" dirty="0"/>
              <a:t>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множества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 </a:t>
            </a:r>
            <a:r>
              <a:rPr lang="ru-RU" altLang="ru-RU" sz="1800" dirty="0"/>
              <a:t>Г(</a:t>
            </a:r>
            <a:r>
              <a:rPr lang="en-US" altLang="ru-RU" sz="1800" dirty="0"/>
              <a:t>A</a:t>
            </a:r>
            <a:r>
              <a:rPr lang="ru-RU" altLang="ru-RU" sz="1800" dirty="0"/>
              <a:t>): </a:t>
            </a:r>
            <a:endParaRPr lang="en-US" altLang="ru-RU" sz="1800" dirty="0"/>
          </a:p>
          <a:p>
            <a:pPr marL="609600" indent="-609600">
              <a:buFontTx/>
              <a:buChar char="-"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граница множества;</a:t>
            </a:r>
            <a:endParaRPr lang="en-US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9600" indent="-609600">
              <a:buNone/>
            </a:pPr>
            <a:r>
              <a:rPr lang="en-US" altLang="ru-RU" sz="1800" dirty="0"/>
              <a:t>3. </a:t>
            </a:r>
            <a:r>
              <a:rPr lang="ru-RU" altLang="ru-RU" sz="1800" b="1" dirty="0"/>
              <a:t>Замыкание</a:t>
            </a:r>
            <a:r>
              <a:rPr lang="ru-RU" altLang="ru-RU" sz="1800" dirty="0"/>
              <a:t>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множества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9600" indent="-609600">
              <a:buNone/>
            </a:pPr>
            <a:endParaRPr lang="en-US" altLang="ru-RU" sz="1800" b="1" u="sng" dirty="0"/>
          </a:p>
        </p:txBody>
      </p:sp>
      <p:sp>
        <p:nvSpPr>
          <p:cNvPr id="14340" name="Rectangle 5">
            <a:extLst>
              <a:ext uri="{FF2B5EF4-FFF2-40B4-BE49-F238E27FC236}">
                <a16:creationId xmlns:a16="http://schemas.microsoft.com/office/drawing/2014/main" id="{EF1E004F-BEA9-4B34-8988-AC81A679E5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14341" name="Object 4">
            <a:extLst>
              <a:ext uri="{FF2B5EF4-FFF2-40B4-BE49-F238E27FC236}">
                <a16:creationId xmlns:a16="http://schemas.microsoft.com/office/drawing/2014/main" id="{CF06FA1F-062B-44E8-AD27-559081053C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2851395"/>
              </p:ext>
            </p:extLst>
          </p:nvPr>
        </p:nvGraphicFramePr>
        <p:xfrm>
          <a:off x="4824549" y="2927345"/>
          <a:ext cx="3889375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8" name="Формула" r:id="rId3" imgW="2387600" imgH="317500" progId="Equation.3">
                  <p:embed/>
                </p:oleObj>
              </mc:Choice>
              <mc:Fallback>
                <p:oleObj name="Формула" r:id="rId3" imgW="2387600" imgH="317500" progId="Equation.3">
                  <p:embed/>
                  <p:pic>
                    <p:nvPicPr>
                      <p:cNvPr id="14341" name="Object 4">
                        <a:extLst>
                          <a:ext uri="{FF2B5EF4-FFF2-40B4-BE49-F238E27FC236}">
                            <a16:creationId xmlns:a16="http://schemas.microsoft.com/office/drawing/2014/main" id="{CF06FA1F-062B-44E8-AD27-559081053C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4549" y="2927345"/>
                        <a:ext cx="3889375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2" name="Rectangle 6">
            <a:extLst>
              <a:ext uri="{FF2B5EF4-FFF2-40B4-BE49-F238E27FC236}">
                <a16:creationId xmlns:a16="http://schemas.microsoft.com/office/drawing/2014/main" id="{02EF5D44-61E9-49CB-AD6C-3787E87C03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1280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14343" name="Rectangle 8">
            <a:extLst>
              <a:ext uri="{FF2B5EF4-FFF2-40B4-BE49-F238E27FC236}">
                <a16:creationId xmlns:a16="http://schemas.microsoft.com/office/drawing/2014/main" id="{794A7E1F-B9E3-41E5-A566-106366FFB8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14344" name="Object 7">
            <a:extLst>
              <a:ext uri="{FF2B5EF4-FFF2-40B4-BE49-F238E27FC236}">
                <a16:creationId xmlns:a16="http://schemas.microsoft.com/office/drawing/2014/main" id="{E49D8DB4-D6CC-4AA8-B045-08B6D84E82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439678"/>
              </p:ext>
            </p:extLst>
          </p:nvPr>
        </p:nvGraphicFramePr>
        <p:xfrm>
          <a:off x="4824549" y="3511942"/>
          <a:ext cx="4103687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9" name="Формула" r:id="rId5" imgW="2373870" imgH="317362" progId="Equation.3">
                  <p:embed/>
                </p:oleObj>
              </mc:Choice>
              <mc:Fallback>
                <p:oleObj name="Формула" r:id="rId5" imgW="2373870" imgH="317362" progId="Equation.3">
                  <p:embed/>
                  <p:pic>
                    <p:nvPicPr>
                      <p:cNvPr id="14344" name="Object 7">
                        <a:extLst>
                          <a:ext uri="{FF2B5EF4-FFF2-40B4-BE49-F238E27FC236}">
                            <a16:creationId xmlns:a16="http://schemas.microsoft.com/office/drawing/2014/main" id="{E49D8DB4-D6CC-4AA8-B045-08B6D84E820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4549" y="3511942"/>
                        <a:ext cx="4103687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5" name="Rectangle 10">
            <a:extLst>
              <a:ext uri="{FF2B5EF4-FFF2-40B4-BE49-F238E27FC236}">
                <a16:creationId xmlns:a16="http://schemas.microsoft.com/office/drawing/2014/main" id="{CBE7C75E-9CC4-4340-8FF3-436FDFA506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346" name="Object 9">
                <a:extLst>
                  <a:ext uri="{FF2B5EF4-FFF2-40B4-BE49-F238E27FC236}">
                    <a16:creationId xmlns:a16="http://schemas.microsoft.com/office/drawing/2014/main" id="{C04D4E52-A87E-4A2D-BDAC-0D39ACDF609C}"/>
                  </a:ext>
                </a:extLst>
              </p:cNvPr>
              <p:cNvSpPr txBox="1"/>
              <p:nvPr/>
            </p:nvSpPr>
            <p:spPr bwMode="auto">
              <a:xfrm>
                <a:off x="4777865" y="4466572"/>
                <a:ext cx="4032274" cy="5032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limUpp>
                        <m:limUppPr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lim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~</m:t>
                          </m:r>
                        </m:lim>
                      </m:limUpp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  </m:t>
                      </m:r>
                      <m:limUpp>
                        <m:limUppPr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lim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~</m:t>
                          </m:r>
                        </m:lim>
                      </m:limUpp>
                      <m:limUpp>
                        <m:limUppPr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  <m:lim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lim>
                      </m:limUpp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)∪Г(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).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14346" name="Object 9">
                <a:extLst>
                  <a:ext uri="{FF2B5EF4-FFF2-40B4-BE49-F238E27FC236}">
                    <a16:creationId xmlns:a16="http://schemas.microsoft.com/office/drawing/2014/main" id="{C04D4E52-A87E-4A2D-BDAC-0D39ACDF60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77865" y="4466572"/>
                <a:ext cx="4032274" cy="503238"/>
              </a:xfrm>
              <a:prstGeom prst="rect">
                <a:avLst/>
              </a:prstGeom>
              <a:blipFill>
                <a:blip r:embed="rId7"/>
                <a:stretch>
                  <a:fillRect b="-243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347" name="Rectangle 11">
            <a:extLst>
              <a:ext uri="{FF2B5EF4-FFF2-40B4-BE49-F238E27FC236}">
                <a16:creationId xmlns:a16="http://schemas.microsoft.com/office/drawing/2014/main" id="{8751FE24-8C7E-43FC-8FB0-4DB718072F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5189" y="4797425"/>
            <a:ext cx="6192837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b="1" u="sng"/>
              <a:t>Примеры</a:t>
            </a:r>
            <a:r>
              <a:rPr lang="ru-RU" altLang="ru-RU" sz="1800" b="1"/>
              <a:t>:</a:t>
            </a:r>
            <a:r>
              <a:rPr lang="ru-RU" altLang="ru-RU" sz="1800"/>
              <a:t>          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Открытый интервал (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Замкнутый интервал [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].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0BE4A24-C8F7-40CE-AB4E-F07E892924B8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523957" y="5771643"/>
            <a:ext cx="3486146" cy="369332"/>
          </a:xfrm>
          <a:prstGeom prst="rect">
            <a:avLst/>
          </a:prstGeom>
          <a:blipFill rotWithShape="0">
            <a:blip r:embed="rId8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ru-RU">
                <a:noFill/>
              </a:rPr>
              <a:t> </a:t>
            </a:r>
          </a:p>
        </p:txBody>
      </p:sp>
      <p:sp>
        <p:nvSpPr>
          <p:cNvPr id="14349" name="Прямоугольник 2">
            <a:extLst>
              <a:ext uri="{FF2B5EF4-FFF2-40B4-BE49-F238E27FC236}">
                <a16:creationId xmlns:a16="http://schemas.microsoft.com/office/drawing/2014/main" id="{1E633AF7-8CF4-44C6-A39D-9A09FA6378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7726" y="5743575"/>
            <a:ext cx="20605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Окрестность точки</a:t>
            </a:r>
            <a:endParaRPr lang="ru-RU" altLang="ru-RU" sz="180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C70840C-B056-447F-A43D-DDC7B9FF1DD2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079776" y="5749934"/>
            <a:ext cx="379206" cy="369332"/>
          </a:xfrm>
          <a:prstGeom prst="rect">
            <a:avLst/>
          </a:prstGeom>
          <a:blipFill rotWithShape="0">
            <a:blip r:embed="rId9"/>
            <a:stretch>
              <a:fillRect r="-22581"/>
            </a:stretch>
          </a:blipFill>
        </p:spPr>
        <p:txBody>
          <a:bodyPr/>
          <a:lstStyle/>
          <a:p>
            <a:pPr>
              <a:defRPr/>
            </a:pPr>
            <a:r>
              <a:rPr lang="ru-RU">
                <a:noFill/>
              </a:rPr>
              <a:t> 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CA331699-32C7-4700-86DD-FA63199506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ru-RU" sz="3200" b="1" i="1" u="sng" dirty="0">
                <a:latin typeface="+mn-lt"/>
              </a:rPr>
              <a:t>2</a:t>
            </a:r>
            <a:r>
              <a:rPr lang="ru-RU" altLang="ru-RU" sz="3200" b="1" i="1" u="sng" dirty="0">
                <a:latin typeface="+mn-lt"/>
              </a:rPr>
              <a:t>.  </a:t>
            </a:r>
            <a:r>
              <a:rPr lang="ru-RU" altLang="ru-RU" sz="32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понятия и определения конечномерного выпуклого анализа</a:t>
            </a:r>
            <a:r>
              <a:rPr lang="ru-RU" altLang="ru-RU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5E867354-2608-4E02-98D1-70A0F5D9E4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628776"/>
            <a:ext cx="8229600" cy="4525963"/>
          </a:xfrm>
        </p:spPr>
        <p:txBody>
          <a:bodyPr/>
          <a:lstStyle/>
          <a:p>
            <a:pPr marL="609600" indent="-609600">
              <a:buNone/>
            </a:pPr>
            <a:r>
              <a:rPr lang="ru-RU" altLang="ru-RU" b="1" u="sng" dirty="0"/>
              <a:t>Отображения и функции</a:t>
            </a:r>
            <a:r>
              <a:rPr lang="ru-RU" altLang="ru-RU" b="1" dirty="0"/>
              <a:t>.</a:t>
            </a:r>
            <a:r>
              <a:rPr lang="ru-RU" altLang="ru-RU" dirty="0"/>
              <a:t> </a:t>
            </a:r>
          </a:p>
        </p:txBody>
      </p:sp>
      <p:sp>
        <p:nvSpPr>
          <p:cNvPr id="15364" name="Rectangle 5">
            <a:extLst>
              <a:ext uri="{FF2B5EF4-FFF2-40B4-BE49-F238E27FC236}">
                <a16:creationId xmlns:a16="http://schemas.microsoft.com/office/drawing/2014/main" id="{0AB527F7-B904-4911-8744-821910D166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329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15365" name="Object 4">
            <a:extLst>
              <a:ext uri="{FF2B5EF4-FFF2-40B4-BE49-F238E27FC236}">
                <a16:creationId xmlns:a16="http://schemas.microsoft.com/office/drawing/2014/main" id="{542FE33F-D78D-493B-BA53-8CBBD07609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75050" y="2205039"/>
          <a:ext cx="4140200" cy="2592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2" name="Рисунок" r:id="rId3" imgW="2743200" imgH="1828800" progId="Word.Picture.8">
                  <p:embed/>
                </p:oleObj>
              </mc:Choice>
              <mc:Fallback>
                <p:oleObj name="Рисунок" r:id="rId3" imgW="2743200" imgH="1828800" progId="Word.Picture.8">
                  <p:embed/>
                  <p:pic>
                    <p:nvPicPr>
                      <p:cNvPr id="15365" name="Object 4">
                        <a:extLst>
                          <a:ext uri="{FF2B5EF4-FFF2-40B4-BE49-F238E27FC236}">
                            <a16:creationId xmlns:a16="http://schemas.microsoft.com/office/drawing/2014/main" id="{542FE33F-D78D-493B-BA53-8CBBD076093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5050" y="2205039"/>
                        <a:ext cx="4140200" cy="2592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6" name="Rectangle 6">
            <a:extLst>
              <a:ext uri="{FF2B5EF4-FFF2-40B4-BE49-F238E27FC236}">
                <a16:creationId xmlns:a16="http://schemas.microsoft.com/office/drawing/2014/main" id="{B7BAA180-987D-49EA-B8A3-6D6C351532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3" y="4724401"/>
            <a:ext cx="4140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marL="342900" indent="-342900"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57300" indent="-342900"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14500" indent="-342900"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1700" indent="-342900"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AutoNum type="arabicPeriod"/>
            </a:pPr>
            <a:r>
              <a:rPr lang="ru-RU" altLang="ru-RU" b="1" u="sng" dirty="0"/>
              <a:t>Отображения:</a:t>
            </a:r>
            <a:r>
              <a:rPr lang="ru-RU" altLang="ru-RU" dirty="0"/>
              <a:t> </a:t>
            </a:r>
            <a:r>
              <a:rPr lang="en-US" altLang="ru-RU" dirty="0"/>
              <a:t>f: X</a:t>
            </a:r>
            <a:r>
              <a:rPr lang="en-US" altLang="ru-RU" dirty="0">
                <a:sym typeface="Symbol" panose="05050102010706020507" pitchFamily="18" charset="2"/>
              </a:rPr>
              <a:t></a:t>
            </a:r>
            <a:r>
              <a:rPr lang="en-US" altLang="ru-RU" dirty="0"/>
              <a:t>Y; </a:t>
            </a:r>
            <a:endParaRPr lang="ru-RU" altLang="ru-RU" dirty="0"/>
          </a:p>
        </p:txBody>
      </p:sp>
      <p:sp>
        <p:nvSpPr>
          <p:cNvPr id="15367" name="Rectangle 8">
            <a:extLst>
              <a:ext uri="{FF2B5EF4-FFF2-40B4-BE49-F238E27FC236}">
                <a16:creationId xmlns:a16="http://schemas.microsoft.com/office/drawing/2014/main" id="{5F87F1B3-5F4A-433F-894E-BFAD975A3C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9826" y="2810792"/>
            <a:ext cx="889987" cy="4077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152352" bIns="38088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ru-RU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f: X</a:t>
            </a:r>
            <a:r>
              <a:rPr lang="en-US" altLang="ru-RU" sz="1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fr-FR" altLang="ru-RU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Y; </a:t>
            </a:r>
            <a:endParaRPr lang="fr-FR" altLang="ru-RU" sz="1400" b="1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graphicFrame>
        <p:nvGraphicFramePr>
          <p:cNvPr id="15368" name="Object 7">
            <a:extLst>
              <a:ext uri="{FF2B5EF4-FFF2-40B4-BE49-F238E27FC236}">
                <a16:creationId xmlns:a16="http://schemas.microsoft.com/office/drawing/2014/main" id="{3200D416-54C0-4518-865A-B8666C13BF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49825" y="3216276"/>
          <a:ext cx="114300" cy="21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3" name="Формула" r:id="rId5" imgW="114151" imgH="215619" progId="Equation.3">
                  <p:embed/>
                </p:oleObj>
              </mc:Choice>
              <mc:Fallback>
                <p:oleObj name="Формула" r:id="rId5" imgW="114151" imgH="215619" progId="Equation.3">
                  <p:embed/>
                  <p:pic>
                    <p:nvPicPr>
                      <p:cNvPr id="15368" name="Object 7">
                        <a:extLst>
                          <a:ext uri="{FF2B5EF4-FFF2-40B4-BE49-F238E27FC236}">
                            <a16:creationId xmlns:a16="http://schemas.microsoft.com/office/drawing/2014/main" id="{3200D416-54C0-4518-865A-B8666C13BF5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9825" y="3216276"/>
                        <a:ext cx="114300" cy="212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5369" name="Rectangle 9">
                <a:extLst>
                  <a:ext uri="{FF2B5EF4-FFF2-40B4-BE49-F238E27FC236}">
                    <a16:creationId xmlns:a16="http://schemas.microsoft.com/office/drawing/2014/main" id="{32093295-B8CC-4828-BC85-ACC77E59DB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60926" y="4604279"/>
                <a:ext cx="4619451" cy="6847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tIns="152352" bIns="38088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ru-RU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 </a:t>
                </a:r>
                <a:r>
                  <a:rPr lang="en-US" altLang="ru-RU" sz="1800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</a:t>
                </a:r>
                <a:r>
                  <a:rPr lang="fr-FR" altLang="ru-RU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fr-FR" altLang="ru-RU" sz="1800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X </a:t>
                </a:r>
                <a14:m>
                  <m:oMath xmlns:m="http://schemas.openxmlformats.org/officeDocument/2006/math">
                    <m:r>
                      <a:rPr lang="fr-FR" altLang="ru-RU" sz="18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×</m:t>
                    </m:r>
                  </m:oMath>
                </a14:m>
                <a:r>
                  <a:rPr lang="fr-FR" altLang="ru-RU" sz="1800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Y; X </a:t>
                </a:r>
                <a:r>
                  <a:rPr lang="en-US" altLang="ru-RU" sz="1800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</a:t>
                </a:r>
                <a:r>
                  <a:rPr lang="fr-FR" altLang="ru-RU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fr-FR" altLang="ru-RU" sz="1800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R</a:t>
                </a:r>
                <a:r>
                  <a:rPr lang="fr-FR" altLang="ru-RU" sz="1800" b="1" baseline="30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n</a:t>
                </a:r>
                <a:r>
                  <a:rPr lang="fr-FR" altLang="ru-RU" sz="1800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; Y </a:t>
                </a:r>
                <a:r>
                  <a:rPr lang="en-US" altLang="ru-RU" sz="1800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</a:t>
                </a:r>
                <a:r>
                  <a:rPr lang="fr-FR" altLang="ru-RU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fr-FR" altLang="ru-RU" sz="1800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R</a:t>
                </a:r>
                <a:r>
                  <a:rPr lang="fr-FR" altLang="ru-RU" sz="1800" b="1" baseline="30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m</a:t>
                </a:r>
                <a:r>
                  <a:rPr lang="fr-FR" altLang="ru-RU" sz="1400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.</a:t>
                </a:r>
                <a:endParaRPr lang="ru-RU" altLang="ru-RU" sz="14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  <a:p>
                <a:pPr>
                  <a:spcBef>
                    <a:spcPct val="0"/>
                  </a:spcBef>
                  <a:buFontTx/>
                  <a:buNone/>
                </a:pPr>
                <a:endParaRPr lang="ru-RU" altLang="ru-RU" sz="14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15369" name="Rectangle 9">
                <a:extLst>
                  <a:ext uri="{FF2B5EF4-FFF2-40B4-BE49-F238E27FC236}">
                    <a16:creationId xmlns:a16="http://schemas.microsoft.com/office/drawing/2014/main" id="{32093295-B8CC-4828-BC85-ACC77E59DB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60926" y="4604279"/>
                <a:ext cx="4619451" cy="684742"/>
              </a:xfrm>
              <a:prstGeom prst="rect">
                <a:avLst/>
              </a:prstGeom>
              <a:blipFill>
                <a:blip r:embed="rId7"/>
                <a:stretch>
                  <a:fillRect l="-39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70" name="Rectangle 10">
            <a:extLst>
              <a:ext uri="{FF2B5EF4-FFF2-40B4-BE49-F238E27FC236}">
                <a16:creationId xmlns:a16="http://schemas.microsoft.com/office/drawing/2014/main" id="{8C574ACB-B694-4025-A675-095E7B7689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825" y="5057776"/>
            <a:ext cx="8713788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Если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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и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B 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Y,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то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f: A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B(f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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AxB).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Отображение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может быть как однозначным, так и многозначным. Однозначное отображение называется функциональным.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В этом случае множество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– область определения, множество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– область значений функции.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7ED8D5EF-F96B-4013-B6AC-F8AA91833B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ru-RU" sz="3200" b="1" i="1" u="sng" dirty="0">
                <a:latin typeface="+mn-lt"/>
              </a:rPr>
              <a:t>2</a:t>
            </a:r>
            <a:r>
              <a:rPr lang="ru-RU" altLang="ru-RU" sz="3200" b="1" i="1" u="sng" dirty="0">
                <a:latin typeface="+mn-lt"/>
              </a:rPr>
              <a:t>.  </a:t>
            </a:r>
            <a:r>
              <a:rPr lang="ru-RU" altLang="ru-RU" sz="32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понятия и определения конечномерного выпуклого анализа</a:t>
            </a:r>
            <a:r>
              <a:rPr lang="ru-RU" altLang="ru-RU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421408EB-FB92-4E37-90D1-1DF72573BC1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89138" y="1692276"/>
            <a:ext cx="4038600" cy="4525963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ru-RU" altLang="ru-RU" sz="1800" b="1" u="sng"/>
              <a:t>Функциональное отображение</a:t>
            </a:r>
            <a:r>
              <a:rPr lang="ru-RU" altLang="ru-RU" b="1" i="1"/>
              <a:t>.</a:t>
            </a:r>
          </a:p>
        </p:txBody>
      </p:sp>
      <p:sp>
        <p:nvSpPr>
          <p:cNvPr id="16388" name="Rectangle 4">
            <a:extLst>
              <a:ext uri="{FF2B5EF4-FFF2-40B4-BE49-F238E27FC236}">
                <a16:creationId xmlns:a16="http://schemas.microsoft.com/office/drawing/2014/main" id="{AFEF4877-BD1E-470C-8022-1345DD1756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5188" y="2203450"/>
            <a:ext cx="575310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; 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 </a:t>
            </a:r>
            <a:r>
              <a:rPr lang="en-US" altLang="ru-RU" sz="1800">
                <a:sym typeface="Symbol" panose="05050102010706020507" pitchFamily="18" charset="2"/>
              </a:rPr>
              <a:t>       </a:t>
            </a:r>
            <a:r>
              <a:rPr lang="ru-RU" altLang="ru-RU" sz="1800">
                <a:sym typeface="Symbol" panose="05050102010706020507" pitchFamily="18" charset="2"/>
              </a:rPr>
              <a:t>, </a:t>
            </a:r>
            <a:r>
              <a:rPr lang="en-US" altLang="ru-RU" sz="1800">
                <a:sym typeface="Symbol" panose="05050102010706020507" pitchFamily="18" charset="2"/>
              </a:rPr>
              <a:t>    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Y </a:t>
            </a:r>
            <a:r>
              <a:rPr lang="en-US" altLang="ru-RU" sz="1800">
                <a:sym typeface="Symbol" panose="05050102010706020507" pitchFamily="18" charset="2"/>
              </a:rPr>
              <a:t>      </a:t>
            </a:r>
            <a:r>
              <a:rPr lang="ru-RU" altLang="ru-RU" sz="1800">
                <a:sym typeface="Symbol" panose="05050102010706020507" pitchFamily="18" charset="2"/>
              </a:rPr>
              <a:t>; 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),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где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 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y 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16389" name="Rectangle 5">
            <a:extLst>
              <a:ext uri="{FF2B5EF4-FFF2-40B4-BE49-F238E27FC236}">
                <a16:creationId xmlns:a16="http://schemas.microsoft.com/office/drawing/2014/main" id="{F02CB6A9-91FC-428B-93F3-EA76535452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1" y="2565400"/>
            <a:ext cx="864076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функция имеет обратную функцию, то она представляет одно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однозначное отображение.</a:t>
            </a:r>
          </a:p>
        </p:txBody>
      </p:sp>
      <p:sp>
        <p:nvSpPr>
          <p:cNvPr id="16390" name="Rectangle 6">
            <a:extLst>
              <a:ext uri="{FF2B5EF4-FFF2-40B4-BE49-F238E27FC236}">
                <a16:creationId xmlns:a16="http://schemas.microsoft.com/office/drawing/2014/main" id="{F73D5639-9E0A-4480-8856-4E0E1A2104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9289" y="3211791"/>
            <a:ext cx="332937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b="1" u="sng"/>
              <a:t>Операторное отображение</a:t>
            </a:r>
            <a:r>
              <a:rPr lang="ru-RU" altLang="ru-RU" sz="1800" b="1"/>
              <a:t>.</a:t>
            </a:r>
          </a:p>
        </p:txBody>
      </p:sp>
      <p:sp>
        <p:nvSpPr>
          <p:cNvPr id="16391" name="Rectangle 7">
            <a:extLst>
              <a:ext uri="{FF2B5EF4-FFF2-40B4-BE49-F238E27FC236}">
                <a16:creationId xmlns:a16="http://schemas.microsoft.com/office/drawing/2014/main" id="{EE5ECBF1-C94F-4186-9D90-9378BA0E27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389" y="3789363"/>
            <a:ext cx="8569325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где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         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Y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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обобщение понятия функционального отображения.</a:t>
            </a:r>
          </a:p>
        </p:txBody>
      </p:sp>
      <p:sp>
        <p:nvSpPr>
          <p:cNvPr id="16392" name="Rectangle 8">
            <a:extLst>
              <a:ext uri="{FF2B5EF4-FFF2-40B4-BE49-F238E27FC236}">
                <a16:creationId xmlns:a16="http://schemas.microsoft.com/office/drawing/2014/main" id="{16AF6D48-9D21-427C-98C6-9B3E22A04A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388" y="4348164"/>
            <a:ext cx="8964612" cy="915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b="1" i="1"/>
              <a:t>Теорема Вейерштрасса</a:t>
            </a:r>
            <a:r>
              <a:rPr lang="ru-RU" altLang="ru-RU" sz="1800"/>
              <a:t>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(теорема имеет фундаментальное значение для решения задач оптимизации): Если 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– непрерывная действительная функция, область определения которой задана на компактном множестве 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ru-RU" sz="1800"/>
              <a:t> </a:t>
            </a:r>
          </a:p>
        </p:txBody>
      </p:sp>
      <p:sp>
        <p:nvSpPr>
          <p:cNvPr id="16393" name="Rectangle 9">
            <a:extLst>
              <a:ext uri="{FF2B5EF4-FFF2-40B4-BE49-F238E27FC236}">
                <a16:creationId xmlns:a16="http://schemas.microsoft.com/office/drawing/2014/main" id="{612E2404-5EA8-4E6C-9536-6016BA3D48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4088" y="4859338"/>
            <a:ext cx="9191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ru-RU" sz="1800">
                <a:sym typeface="Symbol" panose="05050102010706020507" pitchFamily="18" charset="2"/>
              </a:rPr>
              <a:t></a:t>
            </a:r>
            <a:r>
              <a:rPr lang="ru-RU" altLang="ru-RU" sz="1800"/>
              <a:t> </a:t>
            </a:r>
            <a:r>
              <a:rPr lang="en-US" altLang="ru-RU" sz="1800"/>
              <a:t>       </a:t>
            </a:r>
            <a:r>
              <a:rPr lang="en-US" altLang="ru-RU" sz="1800">
                <a:sym typeface="Symbol" panose="05050102010706020507" pitchFamily="18" charset="2"/>
              </a:rPr>
              <a:t>,</a:t>
            </a:r>
          </a:p>
        </p:txBody>
      </p:sp>
      <p:sp>
        <p:nvSpPr>
          <p:cNvPr id="16394" name="Rectangle 10">
            <a:extLst>
              <a:ext uri="{FF2B5EF4-FFF2-40B4-BE49-F238E27FC236}">
                <a16:creationId xmlns:a16="http://schemas.microsoft.com/office/drawing/2014/main" id="{543E97CC-D7B4-47F9-AC1D-72DD064DE6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388" y="5373688"/>
            <a:ext cx="84248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/>
              <a:t>(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800"/>
              <a:t>–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замкнуто и ограничено</a:t>
            </a:r>
            <a:r>
              <a:rPr lang="ru-RU" altLang="ru-RU" sz="1800"/>
              <a:t>),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то задача </a:t>
            </a:r>
          </a:p>
        </p:txBody>
      </p:sp>
      <p:sp>
        <p:nvSpPr>
          <p:cNvPr id="16395" name="Rectangle 12">
            <a:extLst>
              <a:ext uri="{FF2B5EF4-FFF2-40B4-BE49-F238E27FC236}">
                <a16:creationId xmlns:a16="http://schemas.microsoft.com/office/drawing/2014/main" id="{D0983DD2-0146-47F9-A004-8E7AB06903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157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16396" name="Object 11">
            <a:extLst>
              <a:ext uri="{FF2B5EF4-FFF2-40B4-BE49-F238E27FC236}">
                <a16:creationId xmlns:a16="http://schemas.microsoft.com/office/drawing/2014/main" id="{CB2644F4-119A-48F2-9861-B50980CDEB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27738" y="5172075"/>
          <a:ext cx="10795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1" name="Формула" r:id="rId3" imgW="672808" imgH="457002" progId="Equation.3">
                  <p:embed/>
                </p:oleObj>
              </mc:Choice>
              <mc:Fallback>
                <p:oleObj name="Формула" r:id="rId3" imgW="672808" imgH="457002" progId="Equation.3">
                  <p:embed/>
                  <p:pic>
                    <p:nvPicPr>
                      <p:cNvPr id="16396" name="Object 11">
                        <a:extLst>
                          <a:ext uri="{FF2B5EF4-FFF2-40B4-BE49-F238E27FC236}">
                            <a16:creationId xmlns:a16="http://schemas.microsoft.com/office/drawing/2014/main" id="{CB2644F4-119A-48F2-9861-B50980CDEB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7738" y="5172075"/>
                        <a:ext cx="10795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7" name="Rectangle 13">
            <a:extLst>
              <a:ext uri="{FF2B5EF4-FFF2-40B4-BE49-F238E27FC236}">
                <a16:creationId xmlns:a16="http://schemas.microsoft.com/office/drawing/2014/main" id="{A3BAF986-94D7-41D0-AA1A-F2F4D4F40C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751" y="5414964"/>
            <a:ext cx="1724025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имеет решение </a:t>
            </a:r>
          </a:p>
        </p:txBody>
      </p:sp>
      <p:sp>
        <p:nvSpPr>
          <p:cNvPr id="16398" name="Rectangle 15">
            <a:extLst>
              <a:ext uri="{FF2B5EF4-FFF2-40B4-BE49-F238E27FC236}">
                <a16:creationId xmlns:a16="http://schemas.microsoft.com/office/drawing/2014/main" id="{E03F0246-56BA-4D74-A054-06FDE0E07B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411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16399" name="Object 14">
            <a:extLst>
              <a:ext uri="{FF2B5EF4-FFF2-40B4-BE49-F238E27FC236}">
                <a16:creationId xmlns:a16="http://schemas.microsoft.com/office/drawing/2014/main" id="{55199FB0-2FB6-461F-9D7D-71A971F441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04288" y="5381626"/>
          <a:ext cx="792162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2" name="Формула" r:id="rId5" imgW="469696" imgH="203112" progId="Equation.3">
                  <p:embed/>
                </p:oleObj>
              </mc:Choice>
              <mc:Fallback>
                <p:oleObj name="Формула" r:id="rId5" imgW="469696" imgH="203112" progId="Equation.3">
                  <p:embed/>
                  <p:pic>
                    <p:nvPicPr>
                      <p:cNvPr id="16399" name="Object 14">
                        <a:extLst>
                          <a:ext uri="{FF2B5EF4-FFF2-40B4-BE49-F238E27FC236}">
                            <a16:creationId xmlns:a16="http://schemas.microsoft.com/office/drawing/2014/main" id="{55199FB0-2FB6-461F-9D7D-71A971F441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04288" y="5381626"/>
                        <a:ext cx="792162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0" name="Rectangle 17">
            <a:extLst>
              <a:ext uri="{FF2B5EF4-FFF2-40B4-BE49-F238E27FC236}">
                <a16:creationId xmlns:a16="http://schemas.microsoft.com/office/drawing/2014/main" id="{CCD5BB57-6DE5-49CD-8E45-C957A68643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490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16401" name="Object 16">
            <a:extLst>
              <a:ext uri="{FF2B5EF4-FFF2-40B4-BE49-F238E27FC236}">
                <a16:creationId xmlns:a16="http://schemas.microsoft.com/office/drawing/2014/main" id="{8E761014-914F-4399-B616-2DB6F7A859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32175" y="2205038"/>
          <a:ext cx="357188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3" name="Формула" r:id="rId7" imgW="215713" imgH="190335" progId="Equation.3">
                  <p:embed/>
                </p:oleObj>
              </mc:Choice>
              <mc:Fallback>
                <p:oleObj name="Формула" r:id="rId7" imgW="215713" imgH="190335" progId="Equation.3">
                  <p:embed/>
                  <p:pic>
                    <p:nvPicPr>
                      <p:cNvPr id="16401" name="Object 16">
                        <a:extLst>
                          <a:ext uri="{FF2B5EF4-FFF2-40B4-BE49-F238E27FC236}">
                            <a16:creationId xmlns:a16="http://schemas.microsoft.com/office/drawing/2014/main" id="{8E761014-914F-4399-B616-2DB6F7A8594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2175" y="2205038"/>
                        <a:ext cx="357188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2" name="Rectangle 19">
            <a:extLst>
              <a:ext uri="{FF2B5EF4-FFF2-40B4-BE49-F238E27FC236}">
                <a16:creationId xmlns:a16="http://schemas.microsoft.com/office/drawing/2014/main" id="{DF73B1F2-BCE3-438D-B999-75DA2C2435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16403" name="Object 18">
            <a:extLst>
              <a:ext uri="{FF2B5EF4-FFF2-40B4-BE49-F238E27FC236}">
                <a16:creationId xmlns:a16="http://schemas.microsoft.com/office/drawing/2014/main" id="{7E9A2C53-7DBB-4155-939E-C65859A61BD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56138" y="2205038"/>
          <a:ext cx="360362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4" name="Формула" r:id="rId9" imgW="190417" imgH="190417" progId="Equation.3">
                  <p:embed/>
                </p:oleObj>
              </mc:Choice>
              <mc:Fallback>
                <p:oleObj name="Формула" r:id="rId9" imgW="190417" imgH="190417" progId="Equation.3">
                  <p:embed/>
                  <p:pic>
                    <p:nvPicPr>
                      <p:cNvPr id="16403" name="Object 18">
                        <a:extLst>
                          <a:ext uri="{FF2B5EF4-FFF2-40B4-BE49-F238E27FC236}">
                            <a16:creationId xmlns:a16="http://schemas.microsoft.com/office/drawing/2014/main" id="{7E9A2C53-7DBB-4155-939E-C65859A61BD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6138" y="2205038"/>
                        <a:ext cx="360362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4" name="Object 20">
            <a:extLst>
              <a:ext uri="{FF2B5EF4-FFF2-40B4-BE49-F238E27FC236}">
                <a16:creationId xmlns:a16="http://schemas.microsoft.com/office/drawing/2014/main" id="{FBE9F251-0FFF-438A-B5DE-13BA9DD7B547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3506788" y="3760788"/>
          <a:ext cx="4318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5" name="Формула" r:id="rId11" imgW="215713" imgH="190335" progId="Equation.3">
                  <p:embed/>
                </p:oleObj>
              </mc:Choice>
              <mc:Fallback>
                <p:oleObj name="Формула" r:id="rId11" imgW="215713" imgH="190335" progId="Equation.3">
                  <p:embed/>
                  <p:pic>
                    <p:nvPicPr>
                      <p:cNvPr id="16404" name="Object 20">
                        <a:extLst>
                          <a:ext uri="{FF2B5EF4-FFF2-40B4-BE49-F238E27FC236}">
                            <a16:creationId xmlns:a16="http://schemas.microsoft.com/office/drawing/2014/main" id="{FBE9F251-0FFF-438A-B5DE-13BA9DD7B54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6788" y="3760788"/>
                        <a:ext cx="4318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5" name="Rectangle 23">
            <a:extLst>
              <a:ext uri="{FF2B5EF4-FFF2-40B4-BE49-F238E27FC236}">
                <a16:creationId xmlns:a16="http://schemas.microsoft.com/office/drawing/2014/main" id="{453BAB77-0AB6-42A8-8DEE-4EC37B6171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16406" name="Object 22">
            <a:extLst>
              <a:ext uri="{FF2B5EF4-FFF2-40B4-BE49-F238E27FC236}">
                <a16:creationId xmlns:a16="http://schemas.microsoft.com/office/drawing/2014/main" id="{FA21A274-8D0A-48D6-8E5B-05C3BA73C9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51363" y="3754439"/>
          <a:ext cx="431800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6" name="Формула" r:id="rId12" imgW="228600" imgH="190500" progId="Equation.3">
                  <p:embed/>
                </p:oleObj>
              </mc:Choice>
              <mc:Fallback>
                <p:oleObj name="Формула" r:id="rId12" imgW="228600" imgH="190500" progId="Equation.3">
                  <p:embed/>
                  <p:pic>
                    <p:nvPicPr>
                      <p:cNvPr id="16406" name="Object 22">
                        <a:extLst>
                          <a:ext uri="{FF2B5EF4-FFF2-40B4-BE49-F238E27FC236}">
                            <a16:creationId xmlns:a16="http://schemas.microsoft.com/office/drawing/2014/main" id="{FA21A274-8D0A-48D6-8E5B-05C3BA73C9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1363" y="3754439"/>
                        <a:ext cx="431800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7" name="Rectangle 25">
            <a:extLst>
              <a:ext uri="{FF2B5EF4-FFF2-40B4-BE49-F238E27FC236}">
                <a16:creationId xmlns:a16="http://schemas.microsoft.com/office/drawing/2014/main" id="{9D0A6A94-1F24-4279-9569-A5394761D4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490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16408" name="Object 24">
            <a:extLst>
              <a:ext uri="{FF2B5EF4-FFF2-40B4-BE49-F238E27FC236}">
                <a16:creationId xmlns:a16="http://schemas.microsoft.com/office/drawing/2014/main" id="{8571CB57-66FB-4BA2-B0F2-ADB118C83D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99200" y="4875214"/>
          <a:ext cx="503238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7" name="Формула" r:id="rId14" imgW="203112" imgH="190417" progId="Equation.3">
                  <p:embed/>
                </p:oleObj>
              </mc:Choice>
              <mc:Fallback>
                <p:oleObj name="Формула" r:id="rId14" imgW="203112" imgH="190417" progId="Equation.3">
                  <p:embed/>
                  <p:pic>
                    <p:nvPicPr>
                      <p:cNvPr id="16408" name="Object 24">
                        <a:extLst>
                          <a:ext uri="{FF2B5EF4-FFF2-40B4-BE49-F238E27FC236}">
                            <a16:creationId xmlns:a16="http://schemas.microsoft.com/office/drawing/2014/main" id="{8571CB57-66FB-4BA2-B0F2-ADB118C83DF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99200" y="4875214"/>
                        <a:ext cx="503238" cy="357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6123BE97-6691-42F5-9016-B8B23866D4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ru-RU" sz="3200" b="1" i="1" u="sng" dirty="0">
                <a:latin typeface="+mn-lt"/>
              </a:rPr>
              <a:t>2</a:t>
            </a:r>
            <a:r>
              <a:rPr lang="ru-RU" altLang="ru-RU" sz="32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Основные понятия и определения конечномерного выпуклого анализа</a:t>
            </a:r>
            <a:r>
              <a:rPr lang="ru-RU" altLang="ru-RU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760763A0-2168-4109-840C-05C6E2F651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92313" y="1628776"/>
            <a:ext cx="8229600" cy="4525963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ru-RU" sz="2400" b="1" dirty="0"/>
              <a:t>2</a:t>
            </a:r>
            <a:r>
              <a:rPr lang="ru-RU" altLang="ru-RU" sz="2400" b="1" dirty="0"/>
              <a:t>.4.</a:t>
            </a:r>
            <a:r>
              <a:rPr lang="ru-RU" altLang="ru-RU" sz="2400" b="1" u="sng" dirty="0"/>
              <a:t>Выпуклые функции.</a:t>
            </a:r>
          </a:p>
        </p:txBody>
      </p:sp>
      <p:pic>
        <p:nvPicPr>
          <p:cNvPr id="17412" name="Picture 4" descr="LE1">
            <a:extLst>
              <a:ext uri="{FF2B5EF4-FFF2-40B4-BE49-F238E27FC236}">
                <a16:creationId xmlns:a16="http://schemas.microsoft.com/office/drawing/2014/main" id="{42F5285B-50E4-47CE-A1DF-3792122DC9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2306" y="1951189"/>
            <a:ext cx="7777162" cy="2088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3" name="Rectangle 5">
            <a:extLst>
              <a:ext uri="{FF2B5EF4-FFF2-40B4-BE49-F238E27FC236}">
                <a16:creationId xmlns:a16="http://schemas.microsoft.com/office/drawing/2014/main" id="{CEFE077D-479B-44E9-8FB0-A61FF1DCD2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011" y="3814535"/>
            <a:ext cx="11416937" cy="29540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142640" tIns="914112" rIns="1142640" bIns="914112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ru-RU" sz="1800" b="1" dirty="0"/>
              <a:t>2</a:t>
            </a:r>
            <a:r>
              <a:rPr lang="ru-RU" altLang="ru-RU" sz="1800" b="1" dirty="0"/>
              <a:t>.4.1.</a:t>
            </a:r>
            <a:r>
              <a:rPr lang="ru-RU" altLang="ru-RU" sz="1800" b="1" u="sng" dirty="0"/>
              <a:t>Выпуклые (вниз) функции.</a:t>
            </a:r>
            <a:endParaRPr lang="ru-RU" altLang="ru-RU" sz="1800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Выпуклой будем называть функцию, которая удовлетворяет следующему условию: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14" name="Rectangle 7">
            <a:extLst>
              <a:ext uri="{FF2B5EF4-FFF2-40B4-BE49-F238E27FC236}">
                <a16:creationId xmlns:a16="http://schemas.microsoft.com/office/drawing/2014/main" id="{0C3D1448-9AFB-4291-9F37-3CEAE622B5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2685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415" name="Object 6">
                <a:extLst>
                  <a:ext uri="{FF2B5EF4-FFF2-40B4-BE49-F238E27FC236}">
                    <a16:creationId xmlns:a16="http://schemas.microsoft.com/office/drawing/2014/main" id="{69029654-83AA-4CFE-A15F-6FBD812F0E56}"/>
                  </a:ext>
                </a:extLst>
              </p:cNvPr>
              <p:cNvSpPr txBox="1"/>
              <p:nvPr/>
            </p:nvSpPr>
            <p:spPr bwMode="auto">
              <a:xfrm>
                <a:off x="1616366" y="5497012"/>
                <a:ext cx="8251825" cy="8079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r>
                      <a:rPr lang="ru-RU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ru-RU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)={</m:t>
                    </m:r>
                    <m:r>
                      <a:rPr lang="ru-RU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ru-RU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ru-RU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ru-RU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ru-RU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ru-RU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ru-RU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ru-RU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)| (∀</m:t>
                    </m:r>
                    <m:sSub>
                      <m:sSubPr>
                        <m:ctrlP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)&amp;(∀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∈[0,1])⇒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sSub>
                      <m:sSubPr>
                        <m:ctrlP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+(1−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)+(1−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)}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7415" name="Object 6">
                <a:extLst>
                  <a:ext uri="{FF2B5EF4-FFF2-40B4-BE49-F238E27FC236}">
                    <a16:creationId xmlns:a16="http://schemas.microsoft.com/office/drawing/2014/main" id="{69029654-83AA-4CFE-A15F-6FBD812F0E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16366" y="5497012"/>
                <a:ext cx="8251825" cy="807994"/>
              </a:xfrm>
              <a:prstGeom prst="rect">
                <a:avLst/>
              </a:prstGeom>
              <a:blipFill>
                <a:blip r:embed="rId3"/>
                <a:stretch>
                  <a:fillRect l="-2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111AB7C6-A862-40DE-BB37-E1CE314124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ru-RU" sz="3200" b="1" i="1" u="sng" dirty="0">
                <a:latin typeface="+mn-lt"/>
              </a:rPr>
              <a:t>2. </a:t>
            </a:r>
            <a:r>
              <a:rPr lang="ru-RU" altLang="ru-RU" sz="32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понятия и определения конечномерного выпуклого анализа</a:t>
            </a:r>
            <a:r>
              <a:rPr lang="ru-RU" altLang="ru-RU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69100E7C-852D-4344-8B4E-38ED805B91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ru-RU" sz="2400" b="1"/>
              <a:t>2</a:t>
            </a:r>
            <a:r>
              <a:rPr lang="ru-RU" altLang="ru-RU" sz="2400" b="1"/>
              <a:t>.</a:t>
            </a:r>
            <a:r>
              <a:rPr lang="en-US" altLang="ru-RU" sz="2400" b="1"/>
              <a:t>4.1. </a:t>
            </a:r>
            <a:r>
              <a:rPr lang="ru-RU" altLang="ru-RU" sz="2400" b="1" u="sng"/>
              <a:t>Выпуклые функции.</a:t>
            </a:r>
          </a:p>
        </p:txBody>
      </p:sp>
      <p:pic>
        <p:nvPicPr>
          <p:cNvPr id="18436" name="Picture 4" descr="LE12">
            <a:extLst>
              <a:ext uri="{FF2B5EF4-FFF2-40B4-BE49-F238E27FC236}">
                <a16:creationId xmlns:a16="http://schemas.microsoft.com/office/drawing/2014/main" id="{8CC5F00F-2179-4B50-AC35-09B3960B51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4114" y="2205038"/>
            <a:ext cx="7056437" cy="403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FDBB0DEF-2FAB-4591-B8B8-F3CE64FAD3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ru-RU" altLang="ru-RU" sz="3200" b="1" i="1" u="sng" dirty="0">
                <a:latin typeface="+mn-lt"/>
              </a:rPr>
              <a:t>2</a:t>
            </a:r>
            <a:r>
              <a:rPr lang="en-US" altLang="ru-RU" sz="3200" b="1" i="1" u="sng" dirty="0">
                <a:latin typeface="+mn-lt"/>
              </a:rPr>
              <a:t>. </a:t>
            </a:r>
            <a:r>
              <a:rPr lang="ru-RU" altLang="ru-RU" sz="32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понятия и определения конечномерного выпуклого анализа</a:t>
            </a:r>
            <a:r>
              <a:rPr lang="ru-RU" altLang="ru-RU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B8DC7176-F3C1-4EE1-9D75-AA968802E7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74825" y="1700213"/>
            <a:ext cx="8229600" cy="4525962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ru-RU" b="1" dirty="0"/>
              <a:t>2.4.2.</a:t>
            </a:r>
            <a:r>
              <a:rPr lang="ru-RU" altLang="ru-RU" b="1" dirty="0"/>
              <a:t> Неравенство </a:t>
            </a:r>
            <a:r>
              <a:rPr lang="ru-RU" altLang="ru-RU" b="1" dirty="0" err="1"/>
              <a:t>Йенсена</a:t>
            </a:r>
            <a:endParaRPr lang="ru-RU" altLang="ru-RU" b="1" dirty="0"/>
          </a:p>
          <a:p>
            <a:pPr eaLnBrk="1" hangingPunct="1">
              <a:buFontTx/>
              <a:buNone/>
            </a:pPr>
            <a:r>
              <a:rPr lang="ru-RU" alt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Пусть</a:t>
            </a:r>
            <a:r>
              <a:rPr lang="ru-RU" altLang="ru-RU" b="1" dirty="0"/>
              <a:t>           </a:t>
            </a:r>
            <a:r>
              <a:rPr lang="en-US" altLang="ru-RU" b="1" dirty="0"/>
              <a:t> </a:t>
            </a:r>
            <a:r>
              <a:rPr lang="ru-RU" alt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выпуклая функция на      </a:t>
            </a:r>
            <a:r>
              <a:rPr lang="ru-RU" altLang="ru-RU" b="1" dirty="0"/>
              <a:t>. </a:t>
            </a:r>
            <a:r>
              <a:rPr lang="ru-RU" alt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Тогда для любых                           </a:t>
            </a:r>
            <a:r>
              <a:rPr lang="en-US" alt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ru-RU" alt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9460" name="Rectangle 5">
            <a:extLst>
              <a:ext uri="{FF2B5EF4-FFF2-40B4-BE49-F238E27FC236}">
                <a16:creationId xmlns:a16="http://schemas.microsoft.com/office/drawing/2014/main" id="{D37C13E9-ACD1-471D-AEDA-2860CEABA9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411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19461" name="Object 4">
            <a:extLst>
              <a:ext uri="{FF2B5EF4-FFF2-40B4-BE49-F238E27FC236}">
                <a16:creationId xmlns:a16="http://schemas.microsoft.com/office/drawing/2014/main" id="{F16AD45F-6D5E-4032-9FF6-CDD0FC6DC5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8021243"/>
              </p:ext>
            </p:extLst>
          </p:nvPr>
        </p:nvGraphicFramePr>
        <p:xfrm>
          <a:off x="2747963" y="2166146"/>
          <a:ext cx="1079500" cy="649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16" name="Формула" r:id="rId3" imgW="342751" imgH="203112" progId="Equation.3">
                  <p:embed/>
                </p:oleObj>
              </mc:Choice>
              <mc:Fallback>
                <p:oleObj name="Формула" r:id="rId3" imgW="342751" imgH="203112" progId="Equation.3">
                  <p:embed/>
                  <p:pic>
                    <p:nvPicPr>
                      <p:cNvPr id="19461" name="Object 4">
                        <a:extLst>
                          <a:ext uri="{FF2B5EF4-FFF2-40B4-BE49-F238E27FC236}">
                            <a16:creationId xmlns:a16="http://schemas.microsoft.com/office/drawing/2014/main" id="{F16AD45F-6D5E-4032-9FF6-CDD0FC6DC5D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7963" y="2166146"/>
                        <a:ext cx="1079500" cy="649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2" name="Rectangle 7">
            <a:extLst>
              <a:ext uri="{FF2B5EF4-FFF2-40B4-BE49-F238E27FC236}">
                <a16:creationId xmlns:a16="http://schemas.microsoft.com/office/drawing/2014/main" id="{05938355-36F4-47FB-A6DC-6753E6AAAD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490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19463" name="Object 6">
            <a:extLst>
              <a:ext uri="{FF2B5EF4-FFF2-40B4-BE49-F238E27FC236}">
                <a16:creationId xmlns:a16="http://schemas.microsoft.com/office/drawing/2014/main" id="{0CC1F3BA-8264-482A-92C7-CF280F64B9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3448958"/>
              </p:ext>
            </p:extLst>
          </p:nvPr>
        </p:nvGraphicFramePr>
        <p:xfrm>
          <a:off x="7623675" y="2083097"/>
          <a:ext cx="649287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17" name="Формула" r:id="rId5" imgW="203112" imgH="190417" progId="Equation.3">
                  <p:embed/>
                </p:oleObj>
              </mc:Choice>
              <mc:Fallback>
                <p:oleObj name="Формула" r:id="rId5" imgW="203112" imgH="190417" progId="Equation.3">
                  <p:embed/>
                  <p:pic>
                    <p:nvPicPr>
                      <p:cNvPr id="19463" name="Object 6">
                        <a:extLst>
                          <a:ext uri="{FF2B5EF4-FFF2-40B4-BE49-F238E27FC236}">
                            <a16:creationId xmlns:a16="http://schemas.microsoft.com/office/drawing/2014/main" id="{0CC1F3BA-8264-482A-92C7-CF280F64B9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3675" y="2083097"/>
                        <a:ext cx="649287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4" name="Rectangle 9">
            <a:extLst>
              <a:ext uri="{FF2B5EF4-FFF2-40B4-BE49-F238E27FC236}">
                <a16:creationId xmlns:a16="http://schemas.microsoft.com/office/drawing/2014/main" id="{007D8CA5-1E8B-4B0F-90E8-B91E4312E2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79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19465" name="Object 8">
            <a:extLst>
              <a:ext uri="{FF2B5EF4-FFF2-40B4-BE49-F238E27FC236}">
                <a16:creationId xmlns:a16="http://schemas.microsoft.com/office/drawing/2014/main" id="{90388EEA-86B5-4737-98CF-79F4382B2F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4751836"/>
              </p:ext>
            </p:extLst>
          </p:nvPr>
        </p:nvGraphicFramePr>
        <p:xfrm>
          <a:off x="3390900" y="2428359"/>
          <a:ext cx="2808288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18" name="Формула" r:id="rId7" imgW="863225" imgH="215806" progId="Equation.3">
                  <p:embed/>
                </p:oleObj>
              </mc:Choice>
              <mc:Fallback>
                <p:oleObj name="Формула" r:id="rId7" imgW="863225" imgH="215806" progId="Equation.3">
                  <p:embed/>
                  <p:pic>
                    <p:nvPicPr>
                      <p:cNvPr id="19465" name="Object 8">
                        <a:extLst>
                          <a:ext uri="{FF2B5EF4-FFF2-40B4-BE49-F238E27FC236}">
                            <a16:creationId xmlns:a16="http://schemas.microsoft.com/office/drawing/2014/main" id="{90388EEA-86B5-4737-98CF-79F4382B2FF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0900" y="2428359"/>
                        <a:ext cx="2808288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6" name="Rectangle 11">
            <a:extLst>
              <a:ext uri="{FF2B5EF4-FFF2-40B4-BE49-F238E27FC236}">
                <a16:creationId xmlns:a16="http://schemas.microsoft.com/office/drawing/2014/main" id="{F6B530D2-FF86-4517-811D-B50C4C9689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8839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19467" name="Object 10">
            <a:extLst>
              <a:ext uri="{FF2B5EF4-FFF2-40B4-BE49-F238E27FC236}">
                <a16:creationId xmlns:a16="http://schemas.microsoft.com/office/drawing/2014/main" id="{62423A7E-03C6-455D-83AF-EC6C0D9B7F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2598577"/>
              </p:ext>
            </p:extLst>
          </p:nvPr>
        </p:nvGraphicFramePr>
        <p:xfrm>
          <a:off x="1768475" y="3197226"/>
          <a:ext cx="6696075" cy="180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19" name="Формула" r:id="rId9" imgW="2781300" imgH="685800" progId="Equation.3">
                  <p:embed/>
                </p:oleObj>
              </mc:Choice>
              <mc:Fallback>
                <p:oleObj name="Формула" r:id="rId9" imgW="2781300" imgH="685800" progId="Equation.3">
                  <p:embed/>
                  <p:pic>
                    <p:nvPicPr>
                      <p:cNvPr id="19467" name="Object 10">
                        <a:extLst>
                          <a:ext uri="{FF2B5EF4-FFF2-40B4-BE49-F238E27FC236}">
                            <a16:creationId xmlns:a16="http://schemas.microsoft.com/office/drawing/2014/main" id="{62423A7E-03C6-455D-83AF-EC6C0D9B7F5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8475" y="3197226"/>
                        <a:ext cx="6696075" cy="180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8" name="Rectangle 14">
            <a:extLst>
              <a:ext uri="{FF2B5EF4-FFF2-40B4-BE49-F238E27FC236}">
                <a16:creationId xmlns:a16="http://schemas.microsoft.com/office/drawing/2014/main" id="{21803813-7468-4FA7-B368-C130E2834A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5373689"/>
            <a:ext cx="12255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Функция</a:t>
            </a:r>
            <a:r>
              <a:rPr lang="ru-RU" altLang="ru-RU" sz="2000">
                <a:cs typeface="Times New Roman" panose="02020603050405020304" pitchFamily="18" charset="0"/>
              </a:rPr>
              <a:t> </a:t>
            </a:r>
            <a:endParaRPr lang="ru-RU" altLang="ru-RU" sz="2000"/>
          </a:p>
        </p:txBody>
      </p:sp>
      <p:sp>
        <p:nvSpPr>
          <p:cNvPr id="19469" name="Rectangle 15">
            <a:extLst>
              <a:ext uri="{FF2B5EF4-FFF2-40B4-BE49-F238E27FC236}">
                <a16:creationId xmlns:a16="http://schemas.microsoft.com/office/drawing/2014/main" id="{0DFA9CC3-466D-4CB1-ADB9-17C53197AA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7713" y="5373689"/>
            <a:ext cx="16891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000">
                <a:cs typeface="Times New Roman" panose="02020603050405020304" pitchFamily="18" charset="0"/>
              </a:rPr>
              <a:t>, </a:t>
            </a: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для которой</a:t>
            </a:r>
            <a:r>
              <a:rPr lang="ru-RU" altLang="ru-RU" sz="1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altLang="ru-RU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70" name="Rectangle 16">
            <a:extLst>
              <a:ext uri="{FF2B5EF4-FFF2-40B4-BE49-F238E27FC236}">
                <a16:creationId xmlns:a16="http://schemas.microsoft.com/office/drawing/2014/main" id="{A16005F8-714D-4786-9DA2-ADCB1B345E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7226" y="5373689"/>
            <a:ext cx="48053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200">
                <a:cs typeface="Times New Roman" panose="02020603050405020304" pitchFamily="18" charset="0"/>
              </a:rPr>
              <a:t> </a:t>
            </a: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является выпуклой, называется вогнутой. </a:t>
            </a:r>
          </a:p>
        </p:txBody>
      </p:sp>
      <p:sp>
        <p:nvSpPr>
          <p:cNvPr id="19471" name="Rectangle 18">
            <a:extLst>
              <a:ext uri="{FF2B5EF4-FFF2-40B4-BE49-F238E27FC236}">
                <a16:creationId xmlns:a16="http://schemas.microsoft.com/office/drawing/2014/main" id="{D075633B-2723-4268-AA6C-09898E174C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411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19472" name="Object 17">
            <a:extLst>
              <a:ext uri="{FF2B5EF4-FFF2-40B4-BE49-F238E27FC236}">
                <a16:creationId xmlns:a16="http://schemas.microsoft.com/office/drawing/2014/main" id="{6F65F2BD-8ADE-490D-84C8-98971A9991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66988" y="5373688"/>
          <a:ext cx="792162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20" name="Формула" r:id="rId11" imgW="342751" imgH="203112" progId="Equation.3">
                  <p:embed/>
                </p:oleObj>
              </mc:Choice>
              <mc:Fallback>
                <p:oleObj name="Формула" r:id="rId11" imgW="342751" imgH="203112" progId="Equation.3">
                  <p:embed/>
                  <p:pic>
                    <p:nvPicPr>
                      <p:cNvPr id="19472" name="Object 17">
                        <a:extLst>
                          <a:ext uri="{FF2B5EF4-FFF2-40B4-BE49-F238E27FC236}">
                            <a16:creationId xmlns:a16="http://schemas.microsoft.com/office/drawing/2014/main" id="{6F65F2BD-8ADE-490D-84C8-98971A9991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6988" y="5373688"/>
                        <a:ext cx="792162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73" name="Rectangle 20">
            <a:extLst>
              <a:ext uri="{FF2B5EF4-FFF2-40B4-BE49-F238E27FC236}">
                <a16:creationId xmlns:a16="http://schemas.microsoft.com/office/drawing/2014/main" id="{4F473E5C-B158-4579-AD7B-FDF979B651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411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19474" name="Object 19">
            <a:extLst>
              <a:ext uri="{FF2B5EF4-FFF2-40B4-BE49-F238E27FC236}">
                <a16:creationId xmlns:a16="http://schemas.microsoft.com/office/drawing/2014/main" id="{25192BF6-04A4-403F-B212-6DE459E625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00601" y="5373689"/>
          <a:ext cx="936625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21" name="Формула" r:id="rId13" imgW="469696" imgH="203112" progId="Equation.3">
                  <p:embed/>
                </p:oleObj>
              </mc:Choice>
              <mc:Fallback>
                <p:oleObj name="Формула" r:id="rId13" imgW="469696" imgH="203112" progId="Equation.3">
                  <p:embed/>
                  <p:pic>
                    <p:nvPicPr>
                      <p:cNvPr id="19474" name="Object 19">
                        <a:extLst>
                          <a:ext uri="{FF2B5EF4-FFF2-40B4-BE49-F238E27FC236}">
                            <a16:creationId xmlns:a16="http://schemas.microsoft.com/office/drawing/2014/main" id="{25192BF6-04A4-403F-B212-6DE459E625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1" y="5373689"/>
                        <a:ext cx="936625" cy="40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89502CB7-66B1-4F4B-8F74-6DF6515B4C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ru-RU" altLang="ru-RU" sz="3200" b="1" i="1" u="sng" dirty="0">
                <a:latin typeface="+mn-lt"/>
              </a:rPr>
              <a:t>2</a:t>
            </a:r>
            <a:r>
              <a:rPr lang="en-US" altLang="ru-RU" sz="3200" b="1" i="1" u="sng" dirty="0">
                <a:latin typeface="+mn-lt"/>
              </a:rPr>
              <a:t>. </a:t>
            </a:r>
            <a:r>
              <a:rPr lang="ru-RU" altLang="ru-RU" sz="32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понятия и определения конечномерного выпуклого анализа</a:t>
            </a:r>
            <a:r>
              <a:rPr lang="ru-RU" altLang="ru-RU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CAC889DA-A56F-490E-BF71-0E2928EBDEF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92313" y="1628776"/>
            <a:ext cx="4978400" cy="4525963"/>
          </a:xfrm>
        </p:spPr>
        <p:txBody>
          <a:bodyPr/>
          <a:lstStyle/>
          <a:p>
            <a:pPr marL="609600" indent="-609600">
              <a:buFontTx/>
              <a:buAutoNum type="arabicPeriod"/>
            </a:pPr>
            <a:r>
              <a:rPr lang="ru-RU" alt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Выпуклые функции:</a:t>
            </a:r>
          </a:p>
          <a:p>
            <a:pPr marL="609600" indent="-609600">
              <a:buFontTx/>
              <a:buAutoNum type="arabicPeriod"/>
            </a:pPr>
            <a:endParaRPr lang="ru-RU" altLang="ru-RU" dirty="0"/>
          </a:p>
        </p:txBody>
      </p:sp>
      <p:graphicFrame>
        <p:nvGraphicFramePr>
          <p:cNvPr id="20484" name="Object 6">
            <a:extLst>
              <a:ext uri="{FF2B5EF4-FFF2-40B4-BE49-F238E27FC236}">
                <a16:creationId xmlns:a16="http://schemas.microsoft.com/office/drawing/2014/main" id="{F5799A4B-D26E-4717-BE85-C763659ACFFF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2640014" y="2205039"/>
          <a:ext cx="7488237" cy="71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3" name="Формула" r:id="rId3" imgW="2667000" imgH="241300" progId="Equation.3">
                  <p:embed/>
                </p:oleObj>
              </mc:Choice>
              <mc:Fallback>
                <p:oleObj name="Формула" r:id="rId3" imgW="2667000" imgH="241300" progId="Equation.3">
                  <p:embed/>
                  <p:pic>
                    <p:nvPicPr>
                      <p:cNvPr id="20484" name="Object 6">
                        <a:extLst>
                          <a:ext uri="{FF2B5EF4-FFF2-40B4-BE49-F238E27FC236}">
                            <a16:creationId xmlns:a16="http://schemas.microsoft.com/office/drawing/2014/main" id="{F5799A4B-D26E-4717-BE85-C763659ACFF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014" y="2205039"/>
                        <a:ext cx="7488237" cy="719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5" name="Rectangle 9">
            <a:extLst>
              <a:ext uri="{FF2B5EF4-FFF2-40B4-BE49-F238E27FC236}">
                <a16:creationId xmlns:a16="http://schemas.microsoft.com/office/drawing/2014/main" id="{8A6E0E2D-DAA8-46DC-812A-69F1E578E4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3" y="2918948"/>
            <a:ext cx="507485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800" dirty="0"/>
              <a:t>2. </a:t>
            </a:r>
            <a:r>
              <a:rPr lang="ru-RU" alt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Строго выпуклые функции</a:t>
            </a:r>
          </a:p>
        </p:txBody>
      </p:sp>
      <p:sp>
        <p:nvSpPr>
          <p:cNvPr id="20486" name="Rectangle 11">
            <a:extLst>
              <a:ext uri="{FF2B5EF4-FFF2-40B4-BE49-F238E27FC236}">
                <a16:creationId xmlns:a16="http://schemas.microsoft.com/office/drawing/2014/main" id="{39CC7F72-EE04-4F34-B92F-7604C6D980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220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20487" name="Object 10">
            <a:extLst>
              <a:ext uri="{FF2B5EF4-FFF2-40B4-BE49-F238E27FC236}">
                <a16:creationId xmlns:a16="http://schemas.microsoft.com/office/drawing/2014/main" id="{772A9E37-8847-46ED-8A32-49FA1FC2BB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95551" y="3500438"/>
          <a:ext cx="7777163" cy="709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4" name="Формула" r:id="rId5" imgW="2768600" imgH="241300" progId="Equation.3">
                  <p:embed/>
                </p:oleObj>
              </mc:Choice>
              <mc:Fallback>
                <p:oleObj name="Формула" r:id="rId5" imgW="2768600" imgH="241300" progId="Equation.3">
                  <p:embed/>
                  <p:pic>
                    <p:nvPicPr>
                      <p:cNvPr id="20487" name="Object 10">
                        <a:extLst>
                          <a:ext uri="{FF2B5EF4-FFF2-40B4-BE49-F238E27FC236}">
                            <a16:creationId xmlns:a16="http://schemas.microsoft.com/office/drawing/2014/main" id="{772A9E37-8847-46ED-8A32-49FA1FC2BB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551" y="3500438"/>
                        <a:ext cx="7777163" cy="709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8" name="Rectangle 12">
            <a:extLst>
              <a:ext uri="{FF2B5EF4-FFF2-40B4-BE49-F238E27FC236}">
                <a16:creationId xmlns:a16="http://schemas.microsoft.com/office/drawing/2014/main" id="{C02D23E8-8579-49B5-8311-F90F253ABD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4" y="4506448"/>
            <a:ext cx="516910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800" dirty="0"/>
              <a:t>3. </a:t>
            </a:r>
            <a:r>
              <a:rPr lang="ru-RU" alt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Сильно выпуклые функции</a:t>
            </a:r>
          </a:p>
        </p:txBody>
      </p:sp>
      <p:sp>
        <p:nvSpPr>
          <p:cNvPr id="20489" name="Rectangle 14">
            <a:extLst>
              <a:ext uri="{FF2B5EF4-FFF2-40B4-BE49-F238E27FC236}">
                <a16:creationId xmlns:a16="http://schemas.microsoft.com/office/drawing/2014/main" id="{73434645-5C2E-4B3F-9EDA-34E59ED050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268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0490" name="Rectangle 19">
            <a:extLst>
              <a:ext uri="{FF2B5EF4-FFF2-40B4-BE49-F238E27FC236}">
                <a16:creationId xmlns:a16="http://schemas.microsoft.com/office/drawing/2014/main" id="{2F8680E9-FFDB-4C88-93A2-E4179B1B69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268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20491" name="Object 18">
            <a:extLst>
              <a:ext uri="{FF2B5EF4-FFF2-40B4-BE49-F238E27FC236}">
                <a16:creationId xmlns:a16="http://schemas.microsoft.com/office/drawing/2014/main" id="{8E12E312-0053-41C4-A73C-C63E983323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47850" y="5027613"/>
          <a:ext cx="8642350" cy="862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5" name="Формула" r:id="rId7" imgW="4102100" imgH="431800" progId="Equation.3">
                  <p:embed/>
                </p:oleObj>
              </mc:Choice>
              <mc:Fallback>
                <p:oleObj name="Формула" r:id="rId7" imgW="4102100" imgH="431800" progId="Equation.3">
                  <p:embed/>
                  <p:pic>
                    <p:nvPicPr>
                      <p:cNvPr id="20491" name="Object 18">
                        <a:extLst>
                          <a:ext uri="{FF2B5EF4-FFF2-40B4-BE49-F238E27FC236}">
                            <a16:creationId xmlns:a16="http://schemas.microsoft.com/office/drawing/2014/main" id="{8E12E312-0053-41C4-A73C-C63E9833234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50" y="5027613"/>
                        <a:ext cx="8642350" cy="862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635C54FD-51D3-4080-8CFD-68A6A02223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ru-RU" sz="3200" b="1" i="1" u="sng" dirty="0">
                <a:latin typeface="+mn-lt"/>
              </a:rPr>
              <a:t>2. </a:t>
            </a:r>
            <a:r>
              <a:rPr lang="ru-RU" altLang="ru-RU" sz="32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понятия и определения конечномерного выпуклого анализа</a:t>
            </a:r>
            <a:r>
              <a:rPr lang="ru-RU" altLang="ru-RU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30185576-9DA4-4B77-8909-B53C902596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ru-RU" sz="2400" b="1" dirty="0"/>
              <a:t>2.</a:t>
            </a:r>
            <a:r>
              <a:rPr lang="ru-RU" altLang="ru-RU" sz="2400" b="1" dirty="0"/>
              <a:t>4.3.</a:t>
            </a:r>
            <a:r>
              <a:rPr lang="ru-RU" altLang="ru-RU" sz="2400" b="1" u="sng" dirty="0"/>
              <a:t> </a:t>
            </a:r>
            <a:r>
              <a:rPr lang="ru-RU" altLang="ru-RU" b="1" u="sng" dirty="0"/>
              <a:t>Множества уровня.</a:t>
            </a:r>
          </a:p>
        </p:txBody>
      </p:sp>
      <p:pic>
        <p:nvPicPr>
          <p:cNvPr id="21508" name="Picture 4" descr="LE14">
            <a:extLst>
              <a:ext uri="{FF2B5EF4-FFF2-40B4-BE49-F238E27FC236}">
                <a16:creationId xmlns:a16="http://schemas.microsoft.com/office/drawing/2014/main" id="{87C40DB9-BE56-458B-B3FC-FC7C732C0F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851" y="2276475"/>
            <a:ext cx="2663825" cy="316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1509" name="Object 6">
            <a:extLst>
              <a:ext uri="{FF2B5EF4-FFF2-40B4-BE49-F238E27FC236}">
                <a16:creationId xmlns:a16="http://schemas.microsoft.com/office/drawing/2014/main" id="{719068B4-34E5-45C1-98C9-3443EEB088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24563" y="2492375"/>
          <a:ext cx="1008062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8" name="Формула" r:id="rId4" imgW="698500" imgH="228600" progId="Equation.3">
                  <p:embed/>
                </p:oleObj>
              </mc:Choice>
              <mc:Fallback>
                <p:oleObj name="Формула" r:id="rId4" imgW="698500" imgH="228600" progId="Equation.3">
                  <p:embed/>
                  <p:pic>
                    <p:nvPicPr>
                      <p:cNvPr id="21509" name="Object 6">
                        <a:extLst>
                          <a:ext uri="{FF2B5EF4-FFF2-40B4-BE49-F238E27FC236}">
                            <a16:creationId xmlns:a16="http://schemas.microsoft.com/office/drawing/2014/main" id="{719068B4-34E5-45C1-98C9-3443EEB088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4563" y="2492375"/>
                        <a:ext cx="1008062" cy="331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0" name="Object 5">
            <a:extLst>
              <a:ext uri="{FF2B5EF4-FFF2-40B4-BE49-F238E27FC236}">
                <a16:creationId xmlns:a16="http://schemas.microsoft.com/office/drawing/2014/main" id="{B7696B09-0111-4D0B-9D57-6DDCE45FD1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87938" y="3644901"/>
          <a:ext cx="4824412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9" name="Формула" r:id="rId6" imgW="2082800" imgH="508000" progId="Equation.3">
                  <p:embed/>
                </p:oleObj>
              </mc:Choice>
              <mc:Fallback>
                <p:oleObj name="Формула" r:id="rId6" imgW="2082800" imgH="508000" progId="Equation.3">
                  <p:embed/>
                  <p:pic>
                    <p:nvPicPr>
                      <p:cNvPr id="21510" name="Object 5">
                        <a:extLst>
                          <a:ext uri="{FF2B5EF4-FFF2-40B4-BE49-F238E27FC236}">
                            <a16:creationId xmlns:a16="http://schemas.microsoft.com/office/drawing/2014/main" id="{B7696B09-0111-4D0B-9D57-6DDCE45FD1C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7938" y="3644901"/>
                        <a:ext cx="4824412" cy="1152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1" name="Rectangle 7">
            <a:extLst>
              <a:ext uri="{FF2B5EF4-FFF2-40B4-BE49-F238E27FC236}">
                <a16:creationId xmlns:a16="http://schemas.microsoft.com/office/drawing/2014/main" id="{4893A833-7A63-4925-86B2-D835D111D4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4100" y="2173289"/>
            <a:ext cx="5399088" cy="915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Пусть 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– выпуклая функция.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Зададим </a:t>
            </a:r>
            <a:endParaRPr lang="en-US" altLang="ru-RU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плоскость 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	    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при 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altLang="ru-RU" sz="180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ru-RU" altLang="ru-RU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12" name="Rectangle 8">
            <a:extLst>
              <a:ext uri="{FF2B5EF4-FFF2-40B4-BE49-F238E27FC236}">
                <a16:creationId xmlns:a16="http://schemas.microsoft.com/office/drawing/2014/main" id="{C6745D7E-8199-432E-8505-A26A52C67A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3476" y="2782889"/>
            <a:ext cx="2879725" cy="922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Тогда 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S</a:t>
            </a:r>
            <a:r>
              <a:rPr lang="ru-RU" altLang="ru-RU" sz="1800">
                <a:cs typeface="Times New Roman" panose="02020603050405020304" pitchFamily="18" charset="0"/>
              </a:rPr>
              <a:t>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altLang="ru-RU" sz="1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сечение уровня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endParaRPr lang="ru-RU" altLang="ru-RU" sz="180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L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altLang="ru-RU" sz="1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линия уровня.</a:t>
            </a:r>
            <a:endParaRPr lang="ru-RU" altLang="ru-RU" sz="1800" b="1" i="1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spcBef>
                <a:spcPct val="0"/>
              </a:spcBef>
              <a:buFontTx/>
              <a:buNone/>
            </a:pPr>
            <a:endParaRPr lang="ru-RU" altLang="ru-RU" sz="180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1513" name="Rectangle 9">
            <a:extLst>
              <a:ext uri="{FF2B5EF4-FFF2-40B4-BE49-F238E27FC236}">
                <a16:creationId xmlns:a16="http://schemas.microsoft.com/office/drawing/2014/main" id="{8B882DA3-3D16-4B8F-8E73-A09CD70B0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2492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48B68947-6620-49F8-B8FA-D41AD68C59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19288" y="274639"/>
            <a:ext cx="8291512" cy="1425575"/>
          </a:xfrm>
        </p:spPr>
        <p:txBody>
          <a:bodyPr/>
          <a:lstStyle/>
          <a:p>
            <a:pPr marL="838200" indent="-838200"/>
            <a:r>
              <a:rPr lang="en-US" altLang="ru-RU" sz="3600" b="1" i="1" u="sng" dirty="0">
                <a:latin typeface="+mn-lt"/>
              </a:rPr>
              <a:t>3</a:t>
            </a:r>
            <a:r>
              <a:rPr lang="ru-RU" altLang="ru-RU" sz="3600" b="1" i="1" u="sng" dirty="0">
                <a:latin typeface="+mn-lt"/>
              </a:rPr>
              <a:t>. </a:t>
            </a:r>
            <a:r>
              <a:rPr lang="ru-RU" altLang="ru-RU" sz="36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Дифференцирование функций.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E348D0EB-7E2A-45CE-9EC6-B5EB7B47AA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92313" y="1844676"/>
            <a:ext cx="8229600" cy="4608513"/>
          </a:xfrm>
        </p:spPr>
        <p:txBody>
          <a:bodyPr/>
          <a:lstStyle/>
          <a:p>
            <a:pPr marL="0" indent="0">
              <a:buNone/>
            </a:pPr>
            <a:endParaRPr lang="ru-RU" altLang="ru-RU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532" name="Rectangle 4">
            <a:extLst>
              <a:ext uri="{FF2B5EF4-FFF2-40B4-BE49-F238E27FC236}">
                <a16:creationId xmlns:a16="http://schemas.microsoft.com/office/drawing/2014/main" id="{4ABC6A7B-F4B8-4D6F-A6A2-0FA9EEF640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22533" name="Object 5">
            <a:extLst>
              <a:ext uri="{FF2B5EF4-FFF2-40B4-BE49-F238E27FC236}">
                <a16:creationId xmlns:a16="http://schemas.microsoft.com/office/drawing/2014/main" id="{2C06EE7C-A8A8-41BB-977F-9CD0861302E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09700" y="2957514"/>
          <a:ext cx="114300" cy="21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61" name="Формула" r:id="rId3" imgW="114151" imgH="215619" progId="Equation.3">
                  <p:embed/>
                </p:oleObj>
              </mc:Choice>
              <mc:Fallback>
                <p:oleObj name="Формула" r:id="rId3" imgW="114151" imgH="215619" progId="Equation.3">
                  <p:embed/>
                  <p:pic>
                    <p:nvPicPr>
                      <p:cNvPr id="22533" name="Object 5">
                        <a:extLst>
                          <a:ext uri="{FF2B5EF4-FFF2-40B4-BE49-F238E27FC236}">
                            <a16:creationId xmlns:a16="http://schemas.microsoft.com/office/drawing/2014/main" id="{2C06EE7C-A8A8-41BB-977F-9CD0861302E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9700" y="2957514"/>
                        <a:ext cx="114300" cy="212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4" name="Rectangle 6">
            <a:extLst>
              <a:ext uri="{FF2B5EF4-FFF2-40B4-BE49-F238E27FC236}">
                <a16:creationId xmlns:a16="http://schemas.microsoft.com/office/drawing/2014/main" id="{0F08B4A1-5095-4652-8972-2D133FD542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7395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2535" name="Rectangle 7">
            <a:extLst>
              <a:ext uri="{FF2B5EF4-FFF2-40B4-BE49-F238E27FC236}">
                <a16:creationId xmlns:a16="http://schemas.microsoft.com/office/drawing/2014/main" id="{6774FF01-7084-413C-A356-6AF7991019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411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2536" name="Rectangle 8">
            <a:extLst>
              <a:ext uri="{FF2B5EF4-FFF2-40B4-BE49-F238E27FC236}">
                <a16:creationId xmlns:a16="http://schemas.microsoft.com/office/drawing/2014/main" id="{C32DBC8F-F891-4098-9D63-18CB455B37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01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2537" name="Rectangle 9">
            <a:extLst>
              <a:ext uri="{FF2B5EF4-FFF2-40B4-BE49-F238E27FC236}">
                <a16:creationId xmlns:a16="http://schemas.microsoft.com/office/drawing/2014/main" id="{C420D49C-03B9-4100-BFD6-1DB37175F4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236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2538" name="Rectangle 10">
            <a:extLst>
              <a:ext uri="{FF2B5EF4-FFF2-40B4-BE49-F238E27FC236}">
                <a16:creationId xmlns:a16="http://schemas.microsoft.com/office/drawing/2014/main" id="{753C840B-4641-457B-9F76-57BEABEA05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3926" y="16600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2539" name="Rectangle 11">
            <a:extLst>
              <a:ext uri="{FF2B5EF4-FFF2-40B4-BE49-F238E27FC236}">
                <a16:creationId xmlns:a16="http://schemas.microsoft.com/office/drawing/2014/main" id="{071E7CDE-523D-463D-B442-FBFD9B529D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728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2540" name="Rectangle 12">
            <a:extLst>
              <a:ext uri="{FF2B5EF4-FFF2-40B4-BE49-F238E27FC236}">
                <a16:creationId xmlns:a16="http://schemas.microsoft.com/office/drawing/2014/main" id="{CA3D7A98-2241-42A7-A45E-B2D04180D5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157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2541" name="Rectangle 13">
            <a:extLst>
              <a:ext uri="{FF2B5EF4-FFF2-40B4-BE49-F238E27FC236}">
                <a16:creationId xmlns:a16="http://schemas.microsoft.com/office/drawing/2014/main" id="{7417185C-3741-4585-94B4-027C85C67D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22542" name="Object 14">
            <a:extLst>
              <a:ext uri="{FF2B5EF4-FFF2-40B4-BE49-F238E27FC236}">
                <a16:creationId xmlns:a16="http://schemas.microsoft.com/office/drawing/2014/main" id="{6B688371-7ABB-4673-B90B-3F207D7632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71814" y="3068638"/>
          <a:ext cx="2232025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62" name="Формула" r:id="rId5" imgW="1498600" imgH="228600" progId="Equation.3">
                  <p:embed/>
                </p:oleObj>
              </mc:Choice>
              <mc:Fallback>
                <p:oleObj name="Формула" r:id="rId5" imgW="1498600" imgH="228600" progId="Equation.3">
                  <p:embed/>
                  <p:pic>
                    <p:nvPicPr>
                      <p:cNvPr id="22542" name="Object 14">
                        <a:extLst>
                          <a:ext uri="{FF2B5EF4-FFF2-40B4-BE49-F238E27FC236}">
                            <a16:creationId xmlns:a16="http://schemas.microsoft.com/office/drawing/2014/main" id="{6B688371-7ABB-4673-B90B-3F207D7632A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814" y="3068638"/>
                        <a:ext cx="2232025" cy="341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43" name="Rectangle 15">
            <a:extLst>
              <a:ext uri="{FF2B5EF4-FFF2-40B4-BE49-F238E27FC236}">
                <a16:creationId xmlns:a16="http://schemas.microsoft.com/office/drawing/2014/main" id="{391D761D-C5B6-45B1-94A0-4F5BEED999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2544" name="Rectangle 16">
            <a:extLst>
              <a:ext uri="{FF2B5EF4-FFF2-40B4-BE49-F238E27FC236}">
                <a16:creationId xmlns:a16="http://schemas.microsoft.com/office/drawing/2014/main" id="{514A3C57-63AE-4B12-AC4D-688F731A37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5276" y="3067050"/>
            <a:ext cx="3121025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ru-RU" sz="1800"/>
              <a:t>f</a:t>
            </a:r>
            <a:r>
              <a:rPr lang="ru-RU" altLang="ru-RU" sz="1800"/>
              <a:t>(</a:t>
            </a:r>
            <a:r>
              <a:rPr lang="en-US" altLang="ru-RU" sz="1800"/>
              <a:t>x</a:t>
            </a:r>
            <a:r>
              <a:rPr lang="ru-RU" altLang="ru-RU" sz="1800"/>
              <a:t>)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– всюду гладкая функция</a:t>
            </a:r>
            <a:r>
              <a:rPr lang="ru-RU" altLang="ru-RU" sz="1800"/>
              <a:t>.</a:t>
            </a:r>
          </a:p>
        </p:txBody>
      </p:sp>
      <p:pic>
        <p:nvPicPr>
          <p:cNvPr id="22545" name="Picture 17" descr="LE15">
            <a:extLst>
              <a:ext uri="{FF2B5EF4-FFF2-40B4-BE49-F238E27FC236}">
                <a16:creationId xmlns:a16="http://schemas.microsoft.com/office/drawing/2014/main" id="{AAD4C061-90E3-4B73-838C-1F388F177D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288" y="3500438"/>
            <a:ext cx="2519362" cy="2881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46" name="Rectangle 18">
            <a:extLst>
              <a:ext uri="{FF2B5EF4-FFF2-40B4-BE49-F238E27FC236}">
                <a16:creationId xmlns:a16="http://schemas.microsoft.com/office/drawing/2014/main" id="{EE8F7C0B-A191-4EE1-B63D-23D3330974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776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2547" name="Rectangle 20">
            <a:extLst>
              <a:ext uri="{FF2B5EF4-FFF2-40B4-BE49-F238E27FC236}">
                <a16:creationId xmlns:a16="http://schemas.microsoft.com/office/drawing/2014/main" id="{D9C04F56-FD46-4704-B9C1-38B40CDF12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8076" y="4122739"/>
            <a:ext cx="2536825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для выпуклой функции:</a:t>
            </a:r>
          </a:p>
        </p:txBody>
      </p:sp>
      <p:sp>
        <p:nvSpPr>
          <p:cNvPr id="22548" name="Rectangle 21">
            <a:extLst>
              <a:ext uri="{FF2B5EF4-FFF2-40B4-BE49-F238E27FC236}">
                <a16:creationId xmlns:a16="http://schemas.microsoft.com/office/drawing/2014/main" id="{CBD4C52C-0707-48B5-AF72-3789FFCE8B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2685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22549" name="Object 22">
            <a:extLst>
              <a:ext uri="{FF2B5EF4-FFF2-40B4-BE49-F238E27FC236}">
                <a16:creationId xmlns:a16="http://schemas.microsoft.com/office/drawing/2014/main" id="{11569F25-67C4-4236-8E9A-832C41FE98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40275" y="4481514"/>
          <a:ext cx="381635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63" name="Формула" r:id="rId8" imgW="1968500" imgH="241300" progId="Equation.3">
                  <p:embed/>
                </p:oleObj>
              </mc:Choice>
              <mc:Fallback>
                <p:oleObj name="Формула" r:id="rId8" imgW="1968500" imgH="241300" progId="Equation.3">
                  <p:embed/>
                  <p:pic>
                    <p:nvPicPr>
                      <p:cNvPr id="22549" name="Object 22">
                        <a:extLst>
                          <a:ext uri="{FF2B5EF4-FFF2-40B4-BE49-F238E27FC236}">
                            <a16:creationId xmlns:a16="http://schemas.microsoft.com/office/drawing/2014/main" id="{11569F25-67C4-4236-8E9A-832C41FE980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0275" y="4481514"/>
                        <a:ext cx="3816350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50" name="Rectangle 23">
            <a:extLst>
              <a:ext uri="{FF2B5EF4-FFF2-40B4-BE49-F238E27FC236}">
                <a16:creationId xmlns:a16="http://schemas.microsoft.com/office/drawing/2014/main" id="{79D92AE4-2B8B-48BF-8E02-90F63A1734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5964" y="5038725"/>
            <a:ext cx="5233987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фундаментальное неравенство выпуклых функций.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96EFF3B-A2A0-4ABD-AAA1-229B3650224A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460851" y="3404346"/>
            <a:ext cx="6732240" cy="644985"/>
          </a:xfrm>
          <a:prstGeom prst="rect">
            <a:avLst/>
          </a:prstGeom>
          <a:blipFill rotWithShape="0">
            <a:blip r:embed="rId10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ru-RU">
                <a:noFill/>
              </a:rPr>
              <a:t> </a:t>
            </a:r>
          </a:p>
        </p:txBody>
      </p:sp>
      <p:sp>
        <p:nvSpPr>
          <p:cNvPr id="22552" name="Прямоугольник 2">
            <a:extLst>
              <a:ext uri="{FF2B5EF4-FFF2-40B4-BE49-F238E27FC236}">
                <a16:creationId xmlns:a16="http://schemas.microsoft.com/office/drawing/2014/main" id="{A571BA19-FB6F-4E7F-94C7-FB5A08AF12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0025" y="5864225"/>
            <a:ext cx="27892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- опорная гиперплоскость.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09390150-E618-4A1A-94C2-0CF9DE00C1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838200" indent="-838200"/>
            <a:r>
              <a:rPr lang="en-US" altLang="ru-RU" sz="3600" b="1" i="1" u="sng" dirty="0">
                <a:latin typeface="+mn-lt"/>
              </a:rPr>
              <a:t>3</a:t>
            </a:r>
            <a:r>
              <a:rPr lang="ru-RU" altLang="ru-RU" sz="3600" b="1" i="1" u="sng" dirty="0">
                <a:latin typeface="+mn-lt"/>
              </a:rPr>
              <a:t>. </a:t>
            </a:r>
            <a:r>
              <a:rPr lang="ru-RU" altLang="ru-RU" sz="36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Дифференцирование функций.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29C26EF5-AE94-414E-BC6B-838966B976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1" y="1628776"/>
            <a:ext cx="8697912" cy="5021406"/>
          </a:xfrm>
        </p:spPr>
        <p:txBody>
          <a:bodyPr/>
          <a:lstStyle/>
          <a:p>
            <a:pPr>
              <a:buFontTx/>
              <a:buNone/>
            </a:pPr>
            <a:r>
              <a:rPr lang="ru-RU" altLang="ru-RU" sz="2400" b="1" u="sng" dirty="0"/>
              <a:t>Теорема:</a:t>
            </a:r>
            <a:r>
              <a:rPr lang="ru-RU" altLang="ru-RU" dirty="0"/>
              <a:t>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любой точки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3556" name="Rectangle 4">
            <a:extLst>
              <a:ext uri="{FF2B5EF4-FFF2-40B4-BE49-F238E27FC236}">
                <a16:creationId xmlns:a16="http://schemas.microsoft.com/office/drawing/2014/main" id="{FAD9995C-49A4-4DBA-B59B-11E24D9A21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3557" name="Rectangle 5">
            <a:extLst>
              <a:ext uri="{FF2B5EF4-FFF2-40B4-BE49-F238E27FC236}">
                <a16:creationId xmlns:a16="http://schemas.microsoft.com/office/drawing/2014/main" id="{35ACB428-D0F4-4F5E-BE10-7A97E9FD16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570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3558" name="Rectangle 6">
            <a:extLst>
              <a:ext uri="{FF2B5EF4-FFF2-40B4-BE49-F238E27FC236}">
                <a16:creationId xmlns:a16="http://schemas.microsoft.com/office/drawing/2014/main" id="{A032BEB5-83AA-4F94-8D97-22011D5780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23559" name="Object 7">
            <a:extLst>
              <a:ext uri="{FF2B5EF4-FFF2-40B4-BE49-F238E27FC236}">
                <a16:creationId xmlns:a16="http://schemas.microsoft.com/office/drawing/2014/main" id="{AE6A3BD8-86D1-4BAF-A200-FFABD5E28B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5986751"/>
              </p:ext>
            </p:extLst>
          </p:nvPr>
        </p:nvGraphicFramePr>
        <p:xfrm>
          <a:off x="4757738" y="1697037"/>
          <a:ext cx="1728787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12" name="Формула" r:id="rId3" imgW="1002865" imgH="228501" progId="Equation.3">
                  <p:embed/>
                </p:oleObj>
              </mc:Choice>
              <mc:Fallback>
                <p:oleObj name="Формула" r:id="rId3" imgW="1002865" imgH="228501" progId="Equation.3">
                  <p:embed/>
                  <p:pic>
                    <p:nvPicPr>
                      <p:cNvPr id="23559" name="Object 7">
                        <a:extLst>
                          <a:ext uri="{FF2B5EF4-FFF2-40B4-BE49-F238E27FC236}">
                            <a16:creationId xmlns:a16="http://schemas.microsoft.com/office/drawing/2014/main" id="{AE6A3BD8-86D1-4BAF-A200-FFABD5E28B0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7738" y="1697037"/>
                        <a:ext cx="1728787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0" name="Rectangle 8">
            <a:extLst>
              <a:ext uri="{FF2B5EF4-FFF2-40B4-BE49-F238E27FC236}">
                <a16:creationId xmlns:a16="http://schemas.microsoft.com/office/drawing/2014/main" id="{DB38B784-BD5A-44C8-8809-BFE737EDDD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4775" y="1714759"/>
            <a:ext cx="3600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элемента внутренности множества</a:t>
            </a:r>
          </a:p>
        </p:txBody>
      </p:sp>
      <p:graphicFrame>
        <p:nvGraphicFramePr>
          <p:cNvPr id="23561" name="Object 9">
            <a:extLst>
              <a:ext uri="{FF2B5EF4-FFF2-40B4-BE49-F238E27FC236}">
                <a16:creationId xmlns:a16="http://schemas.microsoft.com/office/drawing/2014/main" id="{6D9D3BE6-624A-4B50-980B-C1A24BDAA9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0225142"/>
              </p:ext>
            </p:extLst>
          </p:nvPr>
        </p:nvGraphicFramePr>
        <p:xfrm>
          <a:off x="3295470" y="2083871"/>
          <a:ext cx="719138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13" name="Формула" r:id="rId5" imgW="444307" imgH="228501" progId="Equation.3">
                  <p:embed/>
                </p:oleObj>
              </mc:Choice>
              <mc:Fallback>
                <p:oleObj name="Формула" r:id="rId5" imgW="444307" imgH="228501" progId="Equation.3">
                  <p:embed/>
                  <p:pic>
                    <p:nvPicPr>
                      <p:cNvPr id="23561" name="Object 9">
                        <a:extLst>
                          <a:ext uri="{FF2B5EF4-FFF2-40B4-BE49-F238E27FC236}">
                            <a16:creationId xmlns:a16="http://schemas.microsoft.com/office/drawing/2014/main" id="{6D9D3BE6-624A-4B50-980B-C1A24BDAA9F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5470" y="2083871"/>
                        <a:ext cx="719138" cy="366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2" name="Rectangle 10">
            <a:extLst>
              <a:ext uri="{FF2B5EF4-FFF2-40B4-BE49-F238E27FC236}">
                <a16:creationId xmlns:a16="http://schemas.microsoft.com/office/drawing/2014/main" id="{C72CE1A5-1969-404B-B1E0-891B10FBC4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8582" y="2060576"/>
            <a:ext cx="27003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200" dirty="0">
                <a:cs typeface="Times New Roman" panose="02020603050405020304" pitchFamily="18" charset="0"/>
              </a:rPr>
              <a:t>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компактное множество</a:t>
            </a:r>
            <a:r>
              <a:rPr lang="ru-RU" altLang="ru-RU" sz="1800" dirty="0">
                <a:cs typeface="Times New Roman" panose="02020603050405020304" pitchFamily="18" charset="0"/>
              </a:rPr>
              <a:t>.</a:t>
            </a:r>
            <a:endParaRPr lang="ru-RU" altLang="ru-RU" sz="1800" dirty="0"/>
          </a:p>
        </p:txBody>
      </p:sp>
      <p:sp>
        <p:nvSpPr>
          <p:cNvPr id="23563" name="Rectangle 11">
            <a:extLst>
              <a:ext uri="{FF2B5EF4-FFF2-40B4-BE49-F238E27FC236}">
                <a16:creationId xmlns:a16="http://schemas.microsoft.com/office/drawing/2014/main" id="{429A7D49-11FE-4A8C-BE5F-C3A832B304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5436" y="2048946"/>
            <a:ext cx="1757363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сечения уровня </a:t>
            </a:r>
          </a:p>
        </p:txBody>
      </p:sp>
      <p:sp>
        <p:nvSpPr>
          <p:cNvPr id="23564" name="Rectangle 12">
            <a:extLst>
              <a:ext uri="{FF2B5EF4-FFF2-40B4-BE49-F238E27FC236}">
                <a16:creationId xmlns:a16="http://schemas.microsoft.com/office/drawing/2014/main" id="{3BEB81ED-B33B-4E8B-B517-F27D1166F7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7300" y="2480745"/>
            <a:ext cx="7175501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ru-RU" sz="2400" b="1" dirty="0"/>
              <a:t>3.</a:t>
            </a:r>
            <a:r>
              <a:rPr lang="ru-RU" altLang="ru-RU" sz="2400" b="1" dirty="0"/>
              <a:t>1.2.</a:t>
            </a:r>
            <a:r>
              <a:rPr lang="ru-RU" altLang="ru-RU" sz="2400" b="1" u="sng" dirty="0"/>
              <a:t> Производная функции по направлению.</a:t>
            </a:r>
          </a:p>
        </p:txBody>
      </p:sp>
      <p:sp>
        <p:nvSpPr>
          <p:cNvPr id="23565" name="Rectangle 13">
            <a:extLst>
              <a:ext uri="{FF2B5EF4-FFF2-40B4-BE49-F238E27FC236}">
                <a16:creationId xmlns:a16="http://schemas.microsoft.com/office/drawing/2014/main" id="{0DEBD82D-A43D-4F68-B660-89AD9CEFA6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389" y="3284538"/>
            <a:ext cx="29051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b="1" u="sng" dirty="0"/>
              <a:t>Определение 3.</a:t>
            </a:r>
            <a:r>
              <a:rPr lang="ru-RU" altLang="ru-RU" sz="1800" dirty="0"/>
              <a:t>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Пусть</a:t>
            </a:r>
            <a:r>
              <a:rPr lang="ru-RU" altLang="ru-RU" sz="1800" dirty="0"/>
              <a:t> </a:t>
            </a:r>
            <a:r>
              <a:rPr lang="en-US" altLang="ru-RU" sz="1800" dirty="0"/>
              <a:t>f</a:t>
            </a:r>
            <a:r>
              <a:rPr lang="ru-RU" altLang="ru-RU" sz="1800" dirty="0"/>
              <a:t>: </a:t>
            </a:r>
          </a:p>
        </p:txBody>
      </p:sp>
      <p:sp>
        <p:nvSpPr>
          <p:cNvPr id="23566" name="Rectangle 14">
            <a:extLst>
              <a:ext uri="{FF2B5EF4-FFF2-40B4-BE49-F238E27FC236}">
                <a16:creationId xmlns:a16="http://schemas.microsoft.com/office/drawing/2014/main" id="{ECBEC248-D439-48E5-9EE1-8D6E802562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23567" name="Object 15">
            <a:extLst>
              <a:ext uri="{FF2B5EF4-FFF2-40B4-BE49-F238E27FC236}">
                <a16:creationId xmlns:a16="http://schemas.microsoft.com/office/drawing/2014/main" id="{D627C296-3C89-4115-922C-FF971407F51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11676" y="3284539"/>
          <a:ext cx="266382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14" name="Формула" r:id="rId7" imgW="1536700" imgH="228600" progId="Equation.3">
                  <p:embed/>
                </p:oleObj>
              </mc:Choice>
              <mc:Fallback>
                <p:oleObj name="Формула" r:id="rId7" imgW="1536700" imgH="228600" progId="Equation.3">
                  <p:embed/>
                  <p:pic>
                    <p:nvPicPr>
                      <p:cNvPr id="23567" name="Object 15">
                        <a:extLst>
                          <a:ext uri="{FF2B5EF4-FFF2-40B4-BE49-F238E27FC236}">
                            <a16:creationId xmlns:a16="http://schemas.microsoft.com/office/drawing/2014/main" id="{D627C296-3C89-4115-922C-FF971407F51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1676" y="3284539"/>
                        <a:ext cx="2663825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8" name="Rectangle 16">
            <a:extLst>
              <a:ext uri="{FF2B5EF4-FFF2-40B4-BE49-F238E27FC236}">
                <a16:creationId xmlns:a16="http://schemas.microsoft.com/office/drawing/2014/main" id="{E89D9EB5-974D-4212-BC54-A9B3F872AD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8526" y="3282950"/>
            <a:ext cx="2022475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тогда производной</a:t>
            </a:r>
          </a:p>
        </p:txBody>
      </p:sp>
      <p:sp>
        <p:nvSpPr>
          <p:cNvPr id="23569" name="Rectangle 17">
            <a:extLst>
              <a:ext uri="{FF2B5EF4-FFF2-40B4-BE49-F238E27FC236}">
                <a16:creationId xmlns:a16="http://schemas.microsoft.com/office/drawing/2014/main" id="{DC71CA97-1B75-48A1-B42F-D0E66B4669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825" y="3643314"/>
            <a:ext cx="6059488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по направлению  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функции  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в т. 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ru-RU" sz="1400" i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ru-RU" altLang="ru-RU" sz="1400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называется предел:</a:t>
            </a:r>
          </a:p>
        </p:txBody>
      </p:sp>
      <p:sp>
        <p:nvSpPr>
          <p:cNvPr id="23570" name="Rectangle 18">
            <a:extLst>
              <a:ext uri="{FF2B5EF4-FFF2-40B4-BE49-F238E27FC236}">
                <a16:creationId xmlns:a16="http://schemas.microsoft.com/office/drawing/2014/main" id="{3378CE3C-11C3-44F3-B18D-BD83BA32A5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5065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3571" name="Rectangle 19">
            <a:extLst>
              <a:ext uri="{FF2B5EF4-FFF2-40B4-BE49-F238E27FC236}">
                <a16:creationId xmlns:a16="http://schemas.microsoft.com/office/drawing/2014/main" id="{BFE622CC-FFE8-448E-BD0F-807E244C7B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5550" y="4175126"/>
            <a:ext cx="10795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 '</a:t>
            </a:r>
            <a:r>
              <a:rPr lang="en-US" altLang="ru-RU" sz="1800" i="1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ru-RU" sz="1800" i="1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altLang="ru-RU" sz="1800">
                <a:cs typeface="Times New Roman" panose="02020603050405020304" pitchFamily="18" charset="0"/>
              </a:rPr>
              <a:t>=</a:t>
            </a:r>
            <a:endParaRPr lang="ru-RU" altLang="ru-RU" sz="1800"/>
          </a:p>
        </p:txBody>
      </p:sp>
      <p:graphicFrame>
        <p:nvGraphicFramePr>
          <p:cNvPr id="23572" name="Object 20">
            <a:extLst>
              <a:ext uri="{FF2B5EF4-FFF2-40B4-BE49-F238E27FC236}">
                <a16:creationId xmlns:a16="http://schemas.microsoft.com/office/drawing/2014/main" id="{FA2DD915-151C-4247-996A-35E254BDF4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32176" y="4076701"/>
          <a:ext cx="3311525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15" name="Формула" r:id="rId9" imgW="2260600" imgH="393700" progId="Equation.3">
                  <p:embed/>
                </p:oleObj>
              </mc:Choice>
              <mc:Fallback>
                <p:oleObj name="Формула" r:id="rId9" imgW="2260600" imgH="393700" progId="Equation.3">
                  <p:embed/>
                  <p:pic>
                    <p:nvPicPr>
                      <p:cNvPr id="23572" name="Object 20">
                        <a:extLst>
                          <a:ext uri="{FF2B5EF4-FFF2-40B4-BE49-F238E27FC236}">
                            <a16:creationId xmlns:a16="http://schemas.microsoft.com/office/drawing/2014/main" id="{FA2DD915-151C-4247-996A-35E254BDF46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2176" y="4076701"/>
                        <a:ext cx="3311525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73" name="Rectangle 21">
            <a:extLst>
              <a:ext uri="{FF2B5EF4-FFF2-40B4-BE49-F238E27FC236}">
                <a16:creationId xmlns:a16="http://schemas.microsoft.com/office/drawing/2014/main" id="{9AA7BBCD-E3F1-40DF-B9DB-266F3901C7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8876" y="3624264"/>
            <a:ext cx="269875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200">
                <a:cs typeface="Times New Roman" panose="02020603050405020304" pitchFamily="18" charset="0"/>
              </a:rPr>
              <a:t>  </a:t>
            </a:r>
            <a:endParaRPr lang="ru-RU" altLang="ru-RU" sz="1800"/>
          </a:p>
        </p:txBody>
      </p:sp>
      <p:sp>
        <p:nvSpPr>
          <p:cNvPr id="23574" name="Rectangle 22">
            <a:extLst>
              <a:ext uri="{FF2B5EF4-FFF2-40B4-BE49-F238E27FC236}">
                <a16:creationId xmlns:a16="http://schemas.microsoft.com/office/drawing/2014/main" id="{75D38BA4-3DFE-4E2B-AE31-2277B14F48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825" y="4722814"/>
            <a:ext cx="604838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или </a:t>
            </a:r>
          </a:p>
        </p:txBody>
      </p:sp>
      <p:sp>
        <p:nvSpPr>
          <p:cNvPr id="23575" name="Rectangle 23">
            <a:extLst>
              <a:ext uri="{FF2B5EF4-FFF2-40B4-BE49-F238E27FC236}">
                <a16:creationId xmlns:a16="http://schemas.microsoft.com/office/drawing/2014/main" id="{C3A5A076-FB85-46C4-A2D8-B94892BFC2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204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23576" name="Object 24">
            <a:extLst>
              <a:ext uri="{FF2B5EF4-FFF2-40B4-BE49-F238E27FC236}">
                <a16:creationId xmlns:a16="http://schemas.microsoft.com/office/drawing/2014/main" id="{DA1AD0CD-FA42-4872-B809-15CC1895A8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11450" y="4652963"/>
          <a:ext cx="3816350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16" name="Формула" r:id="rId11" imgW="2679700" imgH="444500" progId="Equation.3">
                  <p:embed/>
                </p:oleObj>
              </mc:Choice>
              <mc:Fallback>
                <p:oleObj name="Формула" r:id="rId11" imgW="2679700" imgH="444500" progId="Equation.3">
                  <p:embed/>
                  <p:pic>
                    <p:nvPicPr>
                      <p:cNvPr id="23576" name="Object 24">
                        <a:extLst>
                          <a:ext uri="{FF2B5EF4-FFF2-40B4-BE49-F238E27FC236}">
                            <a16:creationId xmlns:a16="http://schemas.microsoft.com/office/drawing/2014/main" id="{DA1AD0CD-FA42-4872-B809-15CC1895A8D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450" y="4652963"/>
                        <a:ext cx="3816350" cy="641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77" name="Rectangle 25">
            <a:extLst>
              <a:ext uri="{FF2B5EF4-FFF2-40B4-BE49-F238E27FC236}">
                <a16:creationId xmlns:a16="http://schemas.microsoft.com/office/drawing/2014/main" id="{402BFBB5-5166-422C-A697-E304694C5A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1" y="5372100"/>
            <a:ext cx="3567113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b="1" u="sng" dirty="0"/>
              <a:t>Обобщение:</a:t>
            </a:r>
            <a:r>
              <a:rPr lang="ru-RU" altLang="ru-RU" sz="1800" dirty="0"/>
              <a:t>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Производная Гато</a:t>
            </a:r>
            <a:r>
              <a:rPr lang="ru-RU" altLang="ru-RU" sz="1800" dirty="0"/>
              <a:t>: </a:t>
            </a:r>
          </a:p>
        </p:txBody>
      </p:sp>
      <p:sp>
        <p:nvSpPr>
          <p:cNvPr id="23578" name="Rectangle 26">
            <a:extLst>
              <a:ext uri="{FF2B5EF4-FFF2-40B4-BE49-F238E27FC236}">
                <a16:creationId xmlns:a16="http://schemas.microsoft.com/office/drawing/2014/main" id="{EA3E4B79-DFA8-482E-8458-D7C472F534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204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23579" name="Object 27">
            <a:extLst>
              <a:ext uri="{FF2B5EF4-FFF2-40B4-BE49-F238E27FC236}">
                <a16:creationId xmlns:a16="http://schemas.microsoft.com/office/drawing/2014/main" id="{D8AA3D3C-3315-47A6-97FB-9BF3D8BAB0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4567280"/>
              </p:ext>
            </p:extLst>
          </p:nvPr>
        </p:nvGraphicFramePr>
        <p:xfrm>
          <a:off x="5304632" y="5294313"/>
          <a:ext cx="1727200" cy="620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17" name="Формула" r:id="rId13" imgW="1244600" imgH="444500" progId="Equation.3">
                  <p:embed/>
                </p:oleObj>
              </mc:Choice>
              <mc:Fallback>
                <p:oleObj name="Формула" r:id="rId13" imgW="1244600" imgH="444500" progId="Equation.3">
                  <p:embed/>
                  <p:pic>
                    <p:nvPicPr>
                      <p:cNvPr id="23579" name="Object 27">
                        <a:extLst>
                          <a:ext uri="{FF2B5EF4-FFF2-40B4-BE49-F238E27FC236}">
                            <a16:creationId xmlns:a16="http://schemas.microsoft.com/office/drawing/2014/main" id="{D8AA3D3C-3315-47A6-97FB-9BF3D8BAB00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4632" y="5294313"/>
                        <a:ext cx="1727200" cy="620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80" name="Rectangle 28">
            <a:extLst>
              <a:ext uri="{FF2B5EF4-FFF2-40B4-BE49-F238E27FC236}">
                <a16:creationId xmlns:a16="http://schemas.microsoft.com/office/drawing/2014/main" id="{438152F6-4C21-4AA5-ADE9-AD209C2F1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2575" y="5972608"/>
            <a:ext cx="864076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 существования производной Гато не следует существование дифференциала Фреше. 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F23FAA-3624-4940-B7C5-B606B417C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ru-RU" sz="4400" b="1" i="1" u="sng" dirty="0">
                <a:latin typeface="+mn-lt"/>
              </a:rPr>
              <a:t>3</a:t>
            </a:r>
            <a:r>
              <a:rPr lang="ru-RU" altLang="ru-RU" sz="4400" b="1" i="1" u="sng" dirty="0">
                <a:latin typeface="+mn-lt"/>
              </a:rPr>
              <a:t>. </a:t>
            </a:r>
            <a:r>
              <a:rPr lang="ru-RU" altLang="ru-RU" sz="44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Дифференцирование функций.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3A39074-624A-4D6F-BCEA-F6A8751734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b="1" dirty="0"/>
                  <a:t>Определение 4.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Вектор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γ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называется </a:t>
                </a:r>
                <a:r>
                  <a:rPr lang="ru-RU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субградиентом</a:t>
                </a:r>
                <a:r>
                  <a:rPr lang="en-US" b="1" i="1" dirty="0"/>
                  <a:t>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выпуклой функции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в 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точке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ru-RU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если </m:t>
                    </m:r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b="1" dirty="0"/>
                  <a:t>Определение 5.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Множество всех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субградиентов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в точке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называется </a:t>
                </a:r>
                <a:r>
                  <a:rPr lang="ru-RU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субдифференциалом</a:t>
                </a:r>
                <a:r>
                  <a:rPr lang="ru-RU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функции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 точке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ru-RU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𝝏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𝒇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)=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𝜸</m:t>
                            </m:r>
                          </m:e>
                          <m:sub>
                            <m:r>
                              <a:rPr lang="en-US" b="1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en-US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ru-RU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3A39074-624A-4D6F-BCEA-F6A8751734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52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68363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E3DEDA57-21E7-4574-A122-1280BB1517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ru-RU" sz="3600" b="1" i="1" u="sng" dirty="0">
                <a:latin typeface="+mn-lt"/>
              </a:rPr>
              <a:t>3</a:t>
            </a:r>
            <a:r>
              <a:rPr lang="ru-RU" altLang="ru-RU" sz="3600" b="1" i="1" u="sng" dirty="0">
                <a:latin typeface="+mn-lt"/>
              </a:rPr>
              <a:t>. </a:t>
            </a:r>
            <a:r>
              <a:rPr lang="ru-RU" altLang="ru-RU" sz="36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Дифференцирование функций.</a:t>
            </a:r>
          </a:p>
        </p:txBody>
      </p:sp>
      <p:pic>
        <p:nvPicPr>
          <p:cNvPr id="24579" name="Picture 3" descr="LE16">
            <a:extLst>
              <a:ext uri="{FF2B5EF4-FFF2-40B4-BE49-F238E27FC236}">
                <a16:creationId xmlns:a16="http://schemas.microsoft.com/office/drawing/2014/main" id="{71A068A8-1231-4710-9A96-715458F67C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750" y="1773238"/>
            <a:ext cx="8064500" cy="417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926234DC-D6B9-4FFD-9398-8A2DB68E1F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ru-RU" sz="3600" b="1" i="1" u="sng" dirty="0">
                <a:latin typeface="+mn-lt"/>
              </a:rPr>
              <a:t>3</a:t>
            </a:r>
            <a:r>
              <a:rPr lang="ru-RU" altLang="ru-RU" sz="3600" b="1" i="1" u="sng" dirty="0">
                <a:latin typeface="+mn-lt"/>
              </a:rPr>
              <a:t>. </a:t>
            </a:r>
            <a:r>
              <a:rPr lang="ru-RU" altLang="ru-RU" sz="36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Дифференцирование функций.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B0D6C1A9-9225-4695-AECE-D3A93B45E7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236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5604" name="Rectangle 4">
            <a:extLst>
              <a:ext uri="{FF2B5EF4-FFF2-40B4-BE49-F238E27FC236}">
                <a16:creationId xmlns:a16="http://schemas.microsoft.com/office/drawing/2014/main" id="{DC9C0140-3A94-49B3-A467-BC44538F4B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4649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CF85ECAE-A687-4C69-87E0-D4CE7163A1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300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5606" name="Rectangle 6">
            <a:extLst>
              <a:ext uri="{FF2B5EF4-FFF2-40B4-BE49-F238E27FC236}">
                <a16:creationId xmlns:a16="http://schemas.microsoft.com/office/drawing/2014/main" id="{212E360D-B834-41A9-855F-82F2543122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4602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5607" name="Rectangle 7">
            <a:extLst>
              <a:ext uri="{FF2B5EF4-FFF2-40B4-BE49-F238E27FC236}">
                <a16:creationId xmlns:a16="http://schemas.microsoft.com/office/drawing/2014/main" id="{93289296-EF59-419F-8FBC-20DE338365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728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5608" name="Rectangle 8">
            <a:extLst>
              <a:ext uri="{FF2B5EF4-FFF2-40B4-BE49-F238E27FC236}">
                <a16:creationId xmlns:a16="http://schemas.microsoft.com/office/drawing/2014/main" id="{300E9BB1-B885-4E36-85ED-CA729475E3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316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5609" name="Rectangle 9">
            <a:extLst>
              <a:ext uri="{FF2B5EF4-FFF2-40B4-BE49-F238E27FC236}">
                <a16:creationId xmlns:a16="http://schemas.microsoft.com/office/drawing/2014/main" id="{0A1F2802-3C3F-435D-BC65-6B39DABECD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284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5610" name="Rectangle 10">
            <a:extLst>
              <a:ext uri="{FF2B5EF4-FFF2-40B4-BE49-F238E27FC236}">
                <a16:creationId xmlns:a16="http://schemas.microsoft.com/office/drawing/2014/main" id="{537A9541-703D-41C7-9371-8DED4F24FE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5611" name="Rectangle 11">
            <a:extLst>
              <a:ext uri="{FF2B5EF4-FFF2-40B4-BE49-F238E27FC236}">
                <a16:creationId xmlns:a16="http://schemas.microsoft.com/office/drawing/2014/main" id="{82CF09B3-7620-498F-8806-3475C8FCB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4" y="1511300"/>
            <a:ext cx="6638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ru-RU" sz="2400" b="1"/>
              <a:t>3.</a:t>
            </a:r>
            <a:r>
              <a:rPr lang="ru-RU" altLang="ru-RU" sz="2400" b="1"/>
              <a:t>1.3.</a:t>
            </a:r>
            <a:r>
              <a:rPr lang="ru-RU" altLang="ru-RU" sz="2400" b="1" u="sng"/>
              <a:t> Разложение функции в ряд Тейлора.</a:t>
            </a:r>
          </a:p>
        </p:txBody>
      </p:sp>
      <p:sp>
        <p:nvSpPr>
          <p:cNvPr id="25612" name="Rectangle 12">
            <a:extLst>
              <a:ext uri="{FF2B5EF4-FFF2-40B4-BE49-F238E27FC236}">
                <a16:creationId xmlns:a16="http://schemas.microsoft.com/office/drawing/2014/main" id="{948F634C-C6FB-4986-B9CF-874C7E22AD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1" y="1987550"/>
            <a:ext cx="7572375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В случае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-мерного пространства переменных - разложение в ряд Тейлора.</a:t>
            </a:r>
          </a:p>
        </p:txBody>
      </p:sp>
      <p:sp>
        <p:nvSpPr>
          <p:cNvPr id="25613" name="Rectangle 13">
            <a:extLst>
              <a:ext uri="{FF2B5EF4-FFF2-40B4-BE49-F238E27FC236}">
                <a16:creationId xmlns:a16="http://schemas.microsoft.com/office/drawing/2014/main" id="{5EC96E77-E394-43C9-A58C-326AC7A43E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3264" y="2419351"/>
            <a:ext cx="13731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Пусть    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</a:p>
        </p:txBody>
      </p:sp>
      <p:sp>
        <p:nvSpPr>
          <p:cNvPr id="25614" name="Rectangle 14">
            <a:extLst>
              <a:ext uri="{FF2B5EF4-FFF2-40B4-BE49-F238E27FC236}">
                <a16:creationId xmlns:a16="http://schemas.microsoft.com/office/drawing/2014/main" id="{25A66572-9193-4E3B-A181-D3654456F2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25615" name="Object 15">
            <a:extLst>
              <a:ext uri="{FF2B5EF4-FFF2-40B4-BE49-F238E27FC236}">
                <a16:creationId xmlns:a16="http://schemas.microsoft.com/office/drawing/2014/main" id="{C6656364-85E5-40C7-AAF9-76E8E8BAB9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16276" y="2420939"/>
          <a:ext cx="2447925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8" name="Формула" r:id="rId3" imgW="1536700" imgH="228600" progId="Equation.3">
                  <p:embed/>
                </p:oleObj>
              </mc:Choice>
              <mc:Fallback>
                <p:oleObj name="Формула" r:id="rId3" imgW="1536700" imgH="228600" progId="Equation.3">
                  <p:embed/>
                  <p:pic>
                    <p:nvPicPr>
                      <p:cNvPr id="25615" name="Object 15">
                        <a:extLst>
                          <a:ext uri="{FF2B5EF4-FFF2-40B4-BE49-F238E27FC236}">
                            <a16:creationId xmlns:a16="http://schemas.microsoft.com/office/drawing/2014/main" id="{C6656364-85E5-40C7-AAF9-76E8E8BAB9D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6276" y="2420939"/>
                        <a:ext cx="2447925" cy="365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16" name="Rectangle 16">
            <a:extLst>
              <a:ext uri="{FF2B5EF4-FFF2-40B4-BE49-F238E27FC236}">
                <a16:creationId xmlns:a16="http://schemas.microsoft.com/office/drawing/2014/main" id="{8330D6B7-E8C6-417F-B940-8966F97100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4200" y="2419350"/>
            <a:ext cx="4186238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тогда , если 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раз дифференцируема </a:t>
            </a:r>
          </a:p>
        </p:txBody>
      </p:sp>
      <p:sp>
        <p:nvSpPr>
          <p:cNvPr id="25617" name="Rectangle 17">
            <a:extLst>
              <a:ext uri="{FF2B5EF4-FFF2-40B4-BE49-F238E27FC236}">
                <a16:creationId xmlns:a16="http://schemas.microsoft.com/office/drawing/2014/main" id="{AD003554-809F-485E-BBC7-D2007B57A7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2771775"/>
            <a:ext cx="1398588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в т. 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ru-RU" sz="1200" i="1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то     </a:t>
            </a:r>
          </a:p>
        </p:txBody>
      </p:sp>
      <p:sp>
        <p:nvSpPr>
          <p:cNvPr id="25618" name="Rectangle 18">
            <a:extLst>
              <a:ext uri="{FF2B5EF4-FFF2-40B4-BE49-F238E27FC236}">
                <a16:creationId xmlns:a16="http://schemas.microsoft.com/office/drawing/2014/main" id="{199CF409-C714-4AD4-A01E-F51784FEF9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062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25619" name="Object 19">
            <a:extLst>
              <a:ext uri="{FF2B5EF4-FFF2-40B4-BE49-F238E27FC236}">
                <a16:creationId xmlns:a16="http://schemas.microsoft.com/office/drawing/2014/main" id="{740EA4C7-651C-4EB5-9F98-E6ABDCAE94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87713" y="2852739"/>
          <a:ext cx="5759450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9" name="Формула" r:id="rId5" imgW="4013200" imgH="279400" progId="Equation.3">
                  <p:embed/>
                </p:oleObj>
              </mc:Choice>
              <mc:Fallback>
                <p:oleObj name="Формула" r:id="rId5" imgW="4013200" imgH="279400" progId="Equation.3">
                  <p:embed/>
                  <p:pic>
                    <p:nvPicPr>
                      <p:cNvPr id="25619" name="Object 19">
                        <a:extLst>
                          <a:ext uri="{FF2B5EF4-FFF2-40B4-BE49-F238E27FC236}">
                            <a16:creationId xmlns:a16="http://schemas.microsoft.com/office/drawing/2014/main" id="{740EA4C7-651C-4EB5-9F98-E6ABDCAE94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7713" y="2852739"/>
                        <a:ext cx="5759450" cy="350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20" name="Rectangle 20">
            <a:extLst>
              <a:ext uri="{FF2B5EF4-FFF2-40B4-BE49-F238E27FC236}">
                <a16:creationId xmlns:a16="http://schemas.microsoft.com/office/drawing/2014/main" id="{24C58D95-AB80-4EE8-B4D1-72FA2DC01B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3887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5621" name="Rectangle 21">
            <a:extLst>
              <a:ext uri="{FF2B5EF4-FFF2-40B4-BE49-F238E27FC236}">
                <a16:creationId xmlns:a16="http://schemas.microsoft.com/office/drawing/2014/main" id="{56A4B51E-0851-4E4D-B591-9F42F391E5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0" y="3140075"/>
            <a:ext cx="4383088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где    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- остаточный член в форме Пеано;</a:t>
            </a:r>
          </a:p>
        </p:txBody>
      </p:sp>
      <p:sp>
        <p:nvSpPr>
          <p:cNvPr id="25622" name="Rectangle 22">
            <a:extLst>
              <a:ext uri="{FF2B5EF4-FFF2-40B4-BE49-F238E27FC236}">
                <a16:creationId xmlns:a16="http://schemas.microsoft.com/office/drawing/2014/main" id="{4FAE3AD5-9A8C-41B0-81E9-BD698B401F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9919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25623" name="Object 23">
            <a:extLst>
              <a:ext uri="{FF2B5EF4-FFF2-40B4-BE49-F238E27FC236}">
                <a16:creationId xmlns:a16="http://schemas.microsoft.com/office/drawing/2014/main" id="{968298D8-273D-4B64-9191-F2940AD10C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5189" y="3521076"/>
          <a:ext cx="3455987" cy="715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0" name="Формула" r:id="rId7" imgW="2260600" imgH="508000" progId="Equation.3">
                  <p:embed/>
                </p:oleObj>
              </mc:Choice>
              <mc:Fallback>
                <p:oleObj name="Формула" r:id="rId7" imgW="2260600" imgH="508000" progId="Equation.3">
                  <p:embed/>
                  <p:pic>
                    <p:nvPicPr>
                      <p:cNvPr id="25623" name="Object 23">
                        <a:extLst>
                          <a:ext uri="{FF2B5EF4-FFF2-40B4-BE49-F238E27FC236}">
                            <a16:creationId xmlns:a16="http://schemas.microsoft.com/office/drawing/2014/main" id="{968298D8-273D-4B64-9191-F2940AD10C8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9" y="3521076"/>
                        <a:ext cx="3455987" cy="715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24" name="Rectangle 24">
            <a:extLst>
              <a:ext uri="{FF2B5EF4-FFF2-40B4-BE49-F238E27FC236}">
                <a16:creationId xmlns:a16="http://schemas.microsoft.com/office/drawing/2014/main" id="{ECBB863C-20E7-4345-963C-D65B76E1C8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49515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5625" name="Rectangle 25">
            <a:extLst>
              <a:ext uri="{FF2B5EF4-FFF2-40B4-BE49-F238E27FC236}">
                <a16:creationId xmlns:a16="http://schemas.microsoft.com/office/drawing/2014/main" id="{19329A12-4B6D-4376-987B-E0CA019DE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4200" y="3714750"/>
            <a:ext cx="324485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- градиент функции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) в т.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0;</a:t>
            </a:r>
          </a:p>
        </p:txBody>
      </p:sp>
      <p:sp>
        <p:nvSpPr>
          <p:cNvPr id="25626" name="Rectangle 26">
            <a:extLst>
              <a:ext uri="{FF2B5EF4-FFF2-40B4-BE49-F238E27FC236}">
                <a16:creationId xmlns:a16="http://schemas.microsoft.com/office/drawing/2014/main" id="{56BD0EE5-9746-42AB-A4C9-6A9E37BD6D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9585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25627" name="Object 27">
            <a:extLst>
              <a:ext uri="{FF2B5EF4-FFF2-40B4-BE49-F238E27FC236}">
                <a16:creationId xmlns:a16="http://schemas.microsoft.com/office/drawing/2014/main" id="{3116DCA3-F067-4ED6-B070-28116AA036C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5189" y="4029076"/>
          <a:ext cx="2160587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1" name="Формула" r:id="rId9" imgW="1459866" imgH="571252" progId="Equation.3">
                  <p:embed/>
                </p:oleObj>
              </mc:Choice>
              <mc:Fallback>
                <p:oleObj name="Формула" r:id="rId9" imgW="1459866" imgH="571252" progId="Equation.3">
                  <p:embed/>
                  <p:pic>
                    <p:nvPicPr>
                      <p:cNvPr id="25627" name="Object 27">
                        <a:extLst>
                          <a:ext uri="{FF2B5EF4-FFF2-40B4-BE49-F238E27FC236}">
                            <a16:creationId xmlns:a16="http://schemas.microsoft.com/office/drawing/2014/main" id="{3116DCA3-F067-4ED6-B070-28116AA036C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9" y="4029076"/>
                        <a:ext cx="2160587" cy="84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28" name="Rectangle 28">
            <a:extLst>
              <a:ext uri="{FF2B5EF4-FFF2-40B4-BE49-F238E27FC236}">
                <a16:creationId xmlns:a16="http://schemas.microsoft.com/office/drawing/2014/main" id="{22AD468D-6097-4523-961B-11E5B03A5C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1951" y="33887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5629" name="Rectangle 29">
            <a:extLst>
              <a:ext uri="{FF2B5EF4-FFF2-40B4-BE49-F238E27FC236}">
                <a16:creationId xmlns:a16="http://schemas.microsoft.com/office/drawing/2014/main" id="{7BC20260-78F8-4A52-836E-0E313A0668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8751" y="4129088"/>
            <a:ext cx="5103813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– матрица Гессе 2-х частных производных в т. </a:t>
            </a:r>
            <a:r>
              <a:rPr lang="ru-RU" altLang="ru-RU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х</a:t>
            </a:r>
            <a:r>
              <a:rPr lang="ru-RU" altLang="ru-RU" sz="1200" i="1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25630" name="Rectangle 30">
            <a:extLst>
              <a:ext uri="{FF2B5EF4-FFF2-40B4-BE49-F238E27FC236}">
                <a16:creationId xmlns:a16="http://schemas.microsoft.com/office/drawing/2014/main" id="{4EB5816E-E666-4E16-A954-38E92B2156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5189" y="4795839"/>
            <a:ext cx="725487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Если </a:t>
            </a:r>
          </a:p>
        </p:txBody>
      </p:sp>
      <p:sp>
        <p:nvSpPr>
          <p:cNvPr id="25631" name="Rectangle 31">
            <a:extLst>
              <a:ext uri="{FF2B5EF4-FFF2-40B4-BE49-F238E27FC236}">
                <a16:creationId xmlns:a16="http://schemas.microsoft.com/office/drawing/2014/main" id="{0B3560A3-D14B-4393-A960-76F39EF4F0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5632" name="Rectangle 33">
            <a:extLst>
              <a:ext uri="{FF2B5EF4-FFF2-40B4-BE49-F238E27FC236}">
                <a16:creationId xmlns:a16="http://schemas.microsoft.com/office/drawing/2014/main" id="{E0E3C0D0-CC66-48E6-8C15-17EF920E5F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9876" y="4795839"/>
            <a:ext cx="4881563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функция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(x) в т. х0 выпукла (если &gt; – строго</a:t>
            </a:r>
            <a:r>
              <a:rPr lang="ru-RU" altLang="ru-RU" sz="1800"/>
              <a:t>).</a:t>
            </a:r>
          </a:p>
        </p:txBody>
      </p:sp>
      <p:sp>
        <p:nvSpPr>
          <p:cNvPr id="25633" name="Rectangle 34">
            <a:extLst>
              <a:ext uri="{FF2B5EF4-FFF2-40B4-BE49-F238E27FC236}">
                <a16:creationId xmlns:a16="http://schemas.microsoft.com/office/drawing/2014/main" id="{4C0BD35F-3CD1-41F8-B071-34E2A6F367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5634" name="Rectangle 36">
            <a:extLst>
              <a:ext uri="{FF2B5EF4-FFF2-40B4-BE49-F238E27FC236}">
                <a16:creationId xmlns:a16="http://schemas.microsoft.com/office/drawing/2014/main" id="{E0EA7C53-E29F-4E6C-AD30-ECFE238FD8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9935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5635" name="Rectangle 37">
            <a:extLst>
              <a:ext uri="{FF2B5EF4-FFF2-40B4-BE49-F238E27FC236}">
                <a16:creationId xmlns:a16="http://schemas.microsoft.com/office/drawing/2014/main" id="{6ABD0F28-B8E3-45F4-BC5B-76EFE6B172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5775" y="5229226"/>
            <a:ext cx="48783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 функция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(x) в т. х</a:t>
            </a:r>
            <a:r>
              <a:rPr lang="ru-RU" altLang="ru-RU" sz="1800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вогнута (если &lt; – строго).</a:t>
            </a:r>
          </a:p>
        </p:txBody>
      </p:sp>
      <p:sp>
        <p:nvSpPr>
          <p:cNvPr id="25636" name="Rectangle 38">
            <a:extLst>
              <a:ext uri="{FF2B5EF4-FFF2-40B4-BE49-F238E27FC236}">
                <a16:creationId xmlns:a16="http://schemas.microsoft.com/office/drawing/2014/main" id="{8D968549-97DC-4805-846B-D3CE99C53F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5189" y="5227639"/>
            <a:ext cx="731837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Если</a:t>
            </a:r>
            <a:r>
              <a:rPr lang="ru-RU" altLang="ru-RU" sz="1800"/>
              <a:t> </a:t>
            </a:r>
          </a:p>
        </p:txBody>
      </p:sp>
      <p:sp>
        <p:nvSpPr>
          <p:cNvPr id="25637" name="Rectangle 40">
            <a:extLst>
              <a:ext uri="{FF2B5EF4-FFF2-40B4-BE49-F238E27FC236}">
                <a16:creationId xmlns:a16="http://schemas.microsoft.com/office/drawing/2014/main" id="{DEB85BEE-3279-43CE-BC60-49D828ABAC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5189" y="5588000"/>
            <a:ext cx="725487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Если </a:t>
            </a:r>
          </a:p>
        </p:txBody>
      </p:sp>
      <p:sp>
        <p:nvSpPr>
          <p:cNvPr id="25638" name="Rectangle 41">
            <a:extLst>
              <a:ext uri="{FF2B5EF4-FFF2-40B4-BE49-F238E27FC236}">
                <a16:creationId xmlns:a16="http://schemas.microsoft.com/office/drawing/2014/main" id="{A37539CD-E6A6-43F3-A019-4E26E59ECF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9935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5639" name="Rectangle 42">
            <a:extLst>
              <a:ext uri="{FF2B5EF4-FFF2-40B4-BE49-F238E27FC236}">
                <a16:creationId xmlns:a16="http://schemas.microsoft.com/office/drawing/2014/main" id="{CA29F2A1-01FC-429C-BFD1-B0958522BD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0238" y="5589588"/>
            <a:ext cx="590391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функция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(x) в т. х</a:t>
            </a:r>
            <a:r>
              <a:rPr lang="ru-RU" altLang="ru-RU" sz="1800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вырожденность матрицы Гессе</a:t>
            </a:r>
            <a:r>
              <a:rPr lang="ru-RU" altLang="ru-RU" sz="1800">
                <a:cs typeface="Times New Roman" panose="02020603050405020304" pitchFamily="18" charset="0"/>
              </a:rPr>
              <a:t>.</a:t>
            </a:r>
            <a:r>
              <a:rPr lang="ru-RU" altLang="ru-RU" sz="1800"/>
              <a:t> 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255D98E-DD3C-4784-ABA6-FB1CBAFB9755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806321" y="4806434"/>
            <a:ext cx="1273554" cy="369332"/>
          </a:xfrm>
          <a:prstGeom prst="rect">
            <a:avLst/>
          </a:prstGeom>
          <a:blipFill rotWithShape="0">
            <a:blip r:embed="rId11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ru-RU">
                <a:noFill/>
              </a:rPr>
              <a:t> 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B0745B8-3D37-447A-AC91-251E681D21EA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885420" y="5280078"/>
            <a:ext cx="1273554" cy="369332"/>
          </a:xfrm>
          <a:prstGeom prst="rect">
            <a:avLst/>
          </a:prstGeom>
          <a:blipFill rotWithShape="0">
            <a:blip r:embed="rId12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ru-RU">
                <a:noFill/>
              </a:rPr>
              <a:t> 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613AC92-5B3A-43CE-ADA1-D54F62D481E2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894647" y="5647174"/>
            <a:ext cx="1522404" cy="388696"/>
          </a:xfrm>
          <a:prstGeom prst="rect">
            <a:avLst/>
          </a:prstGeom>
          <a:blipFill rotWithShape="0">
            <a:blip r:embed="rId13"/>
            <a:stretch>
              <a:fillRect l="-3600" t="-6250" b="-20313"/>
            </a:stretch>
          </a:blipFill>
        </p:spPr>
        <p:txBody>
          <a:bodyPr/>
          <a:lstStyle/>
          <a:p>
            <a:pPr>
              <a:defRPr/>
            </a:pPr>
            <a:r>
              <a:rPr lang="ru-RU">
                <a:noFill/>
              </a:rPr>
              <a:t> 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BB87BFB2-BB57-413D-BE8D-BD70162551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ru-RU" sz="3600" b="1" i="1" u="sng" dirty="0">
                <a:latin typeface="+mn-lt"/>
              </a:rPr>
              <a:t>3</a:t>
            </a:r>
            <a:r>
              <a:rPr lang="ru-RU" altLang="ru-RU" sz="3600" b="1" i="1" u="sng" dirty="0">
                <a:latin typeface="+mn-lt"/>
              </a:rPr>
              <a:t>. </a:t>
            </a:r>
            <a:r>
              <a:rPr lang="ru-RU" altLang="ru-RU" sz="36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Дифференцирование функций.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342B82C2-DBA0-491F-A6C3-C395EBE2AF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236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6628" name="Rectangle 4">
            <a:extLst>
              <a:ext uri="{FF2B5EF4-FFF2-40B4-BE49-F238E27FC236}">
                <a16:creationId xmlns:a16="http://schemas.microsoft.com/office/drawing/2014/main" id="{E9AA1844-3F80-46FB-AD55-93B961069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4649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6629" name="Rectangle 5">
            <a:extLst>
              <a:ext uri="{FF2B5EF4-FFF2-40B4-BE49-F238E27FC236}">
                <a16:creationId xmlns:a16="http://schemas.microsoft.com/office/drawing/2014/main" id="{33EC5BBF-F499-409D-8274-AEBF234BBA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300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6630" name="Rectangle 6">
            <a:extLst>
              <a:ext uri="{FF2B5EF4-FFF2-40B4-BE49-F238E27FC236}">
                <a16:creationId xmlns:a16="http://schemas.microsoft.com/office/drawing/2014/main" id="{88E57401-71D0-488E-8046-46C8447B20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4602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6631" name="Rectangle 7">
            <a:extLst>
              <a:ext uri="{FF2B5EF4-FFF2-40B4-BE49-F238E27FC236}">
                <a16:creationId xmlns:a16="http://schemas.microsoft.com/office/drawing/2014/main" id="{A8593FB1-1C5B-4ECE-94C1-9BF0C4F66B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6276" y="30998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6632" name="Rectangle 8">
            <a:extLst>
              <a:ext uri="{FF2B5EF4-FFF2-40B4-BE49-F238E27FC236}">
                <a16:creationId xmlns:a16="http://schemas.microsoft.com/office/drawing/2014/main" id="{AEEC0ADE-925E-407C-BBEE-B24662A01A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284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6633" name="Rectangle 9">
            <a:extLst>
              <a:ext uri="{FF2B5EF4-FFF2-40B4-BE49-F238E27FC236}">
                <a16:creationId xmlns:a16="http://schemas.microsoft.com/office/drawing/2014/main" id="{48519639-DA43-48B8-8DF0-7BC5DB05B3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6634" name="Rectangle 10">
            <a:extLst>
              <a:ext uri="{FF2B5EF4-FFF2-40B4-BE49-F238E27FC236}">
                <a16:creationId xmlns:a16="http://schemas.microsoft.com/office/drawing/2014/main" id="{7414B69F-4BC8-4CE0-8979-FDE5737CAC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9569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6635" name="Rectangle 11">
            <a:extLst>
              <a:ext uri="{FF2B5EF4-FFF2-40B4-BE49-F238E27FC236}">
                <a16:creationId xmlns:a16="http://schemas.microsoft.com/office/drawing/2014/main" id="{BCBF332E-B10E-4DD1-82B6-32DA30DCAB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284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6636" name="Rectangle 12">
            <a:extLst>
              <a:ext uri="{FF2B5EF4-FFF2-40B4-BE49-F238E27FC236}">
                <a16:creationId xmlns:a16="http://schemas.microsoft.com/office/drawing/2014/main" id="{F1E68F36-6123-446C-A0A2-4D4085848F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4602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6637" name="Rectangle 13">
            <a:extLst>
              <a:ext uri="{FF2B5EF4-FFF2-40B4-BE49-F238E27FC236}">
                <a16:creationId xmlns:a16="http://schemas.microsoft.com/office/drawing/2014/main" id="{13575CE2-B9FD-49E2-886F-667D69EF22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998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6638" name="Rectangle 14">
            <a:extLst>
              <a:ext uri="{FF2B5EF4-FFF2-40B4-BE49-F238E27FC236}">
                <a16:creationId xmlns:a16="http://schemas.microsoft.com/office/drawing/2014/main" id="{38442A1D-8B94-4B59-BD80-9D3C00E45B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5966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6639" name="Rectangle 15">
            <a:extLst>
              <a:ext uri="{FF2B5EF4-FFF2-40B4-BE49-F238E27FC236}">
                <a16:creationId xmlns:a16="http://schemas.microsoft.com/office/drawing/2014/main" id="{7F309EBA-E132-4C75-8601-B2B8FFE37C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6989" y="1484313"/>
            <a:ext cx="48910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ru-RU" sz="2400" b="1" u="sng"/>
              <a:t>3.</a:t>
            </a:r>
            <a:r>
              <a:rPr lang="ru-RU" altLang="ru-RU" sz="2400" b="1" u="sng"/>
              <a:t>1.4. Матрица Якоби. Якобиан</a:t>
            </a:r>
            <a:r>
              <a:rPr lang="ru-RU" altLang="ru-RU" sz="2400" u="sng"/>
              <a:t>.</a:t>
            </a:r>
          </a:p>
        </p:txBody>
      </p:sp>
      <p:sp>
        <p:nvSpPr>
          <p:cNvPr id="26640" name="Rectangle 16">
            <a:extLst>
              <a:ext uri="{FF2B5EF4-FFF2-40B4-BE49-F238E27FC236}">
                <a16:creationId xmlns:a16="http://schemas.microsoft.com/office/drawing/2014/main" id="{9D370B82-C455-4FE9-BDB6-9B035F7C75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5550" y="1987550"/>
            <a:ext cx="4052888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Пусть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- операторное отображение: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</p:txBody>
      </p:sp>
      <p:sp>
        <p:nvSpPr>
          <p:cNvPr id="26641" name="Rectangle 17">
            <a:extLst>
              <a:ext uri="{FF2B5EF4-FFF2-40B4-BE49-F238E27FC236}">
                <a16:creationId xmlns:a16="http://schemas.microsoft.com/office/drawing/2014/main" id="{79CCA8B3-FA4E-40E3-B0A3-F1C0FA557A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26642" name="Object 18">
            <a:extLst>
              <a:ext uri="{FF2B5EF4-FFF2-40B4-BE49-F238E27FC236}">
                <a16:creationId xmlns:a16="http://schemas.microsoft.com/office/drawing/2014/main" id="{068EB974-462D-4E63-B827-D9353ED84C0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16725" y="1989138"/>
          <a:ext cx="302418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60" name="Формула" r:id="rId3" imgW="1600200" imgH="228600" progId="Equation.3">
                  <p:embed/>
                </p:oleObj>
              </mc:Choice>
              <mc:Fallback>
                <p:oleObj name="Формула" r:id="rId3" imgW="1600200" imgH="228600" progId="Equation.3">
                  <p:embed/>
                  <p:pic>
                    <p:nvPicPr>
                      <p:cNvPr id="26642" name="Object 18">
                        <a:extLst>
                          <a:ext uri="{FF2B5EF4-FFF2-40B4-BE49-F238E27FC236}">
                            <a16:creationId xmlns:a16="http://schemas.microsoft.com/office/drawing/2014/main" id="{068EB974-462D-4E63-B827-D9353ED84C0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6725" y="1989138"/>
                        <a:ext cx="3024188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43" name="Rectangle 19">
            <a:extLst>
              <a:ext uri="{FF2B5EF4-FFF2-40B4-BE49-F238E27FC236}">
                <a16:creationId xmlns:a16="http://schemas.microsoft.com/office/drawing/2014/main" id="{9667936E-68E8-4931-B988-5AC7D81282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3887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6644" name="Rectangle 20">
            <a:extLst>
              <a:ext uri="{FF2B5EF4-FFF2-40B4-BE49-F238E27FC236}">
                <a16:creationId xmlns:a16="http://schemas.microsoft.com/office/drawing/2014/main" id="{CE17F802-FAC6-4980-900F-4EF773EC31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6989" y="2563814"/>
            <a:ext cx="4397375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Тогда                                 – матрица Якоби, </a:t>
            </a:r>
          </a:p>
        </p:txBody>
      </p:sp>
      <p:sp>
        <p:nvSpPr>
          <p:cNvPr id="26645" name="Rectangle 21">
            <a:extLst>
              <a:ext uri="{FF2B5EF4-FFF2-40B4-BE49-F238E27FC236}">
                <a16:creationId xmlns:a16="http://schemas.microsoft.com/office/drawing/2014/main" id="{B13DAB70-5F0D-476C-BCC6-5B75DB8C38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26646" name="Object 22">
            <a:extLst>
              <a:ext uri="{FF2B5EF4-FFF2-40B4-BE49-F238E27FC236}">
                <a16:creationId xmlns:a16="http://schemas.microsoft.com/office/drawing/2014/main" id="{C8870DBC-4B20-46B8-AAB6-2F43A0DA14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87714" y="2565401"/>
          <a:ext cx="2016125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61" name="Формула" r:id="rId5" imgW="1257300" imgH="228600" progId="Equation.3">
                  <p:embed/>
                </p:oleObj>
              </mc:Choice>
              <mc:Fallback>
                <p:oleObj name="Формула" r:id="rId5" imgW="1257300" imgH="228600" progId="Equation.3">
                  <p:embed/>
                  <p:pic>
                    <p:nvPicPr>
                      <p:cNvPr id="26646" name="Object 22">
                        <a:extLst>
                          <a:ext uri="{FF2B5EF4-FFF2-40B4-BE49-F238E27FC236}">
                            <a16:creationId xmlns:a16="http://schemas.microsoft.com/office/drawing/2014/main" id="{C8870DBC-4B20-46B8-AAB6-2F43A0DA14E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7714" y="2565401"/>
                        <a:ext cx="2016125" cy="360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47" name="Rectangle 23">
            <a:extLst>
              <a:ext uri="{FF2B5EF4-FFF2-40B4-BE49-F238E27FC236}">
                <a16:creationId xmlns:a16="http://schemas.microsoft.com/office/drawing/2014/main" id="{D31446B3-3534-4DC1-B55C-46881388F6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8525" y="2565401"/>
            <a:ext cx="11620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где</a:t>
            </a:r>
            <a:r>
              <a:rPr lang="ru-RU" altLang="ru-RU" sz="1800"/>
              <a:t>	 </a:t>
            </a:r>
          </a:p>
        </p:txBody>
      </p:sp>
      <p:sp>
        <p:nvSpPr>
          <p:cNvPr id="26648" name="Rectangle 24">
            <a:extLst>
              <a:ext uri="{FF2B5EF4-FFF2-40B4-BE49-F238E27FC236}">
                <a16:creationId xmlns:a16="http://schemas.microsoft.com/office/drawing/2014/main" id="{E8878DF9-DE3C-44C0-A1AA-F1CB063C6B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9776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26649" name="Object 25">
            <a:extLst>
              <a:ext uri="{FF2B5EF4-FFF2-40B4-BE49-F238E27FC236}">
                <a16:creationId xmlns:a16="http://schemas.microsoft.com/office/drawing/2014/main" id="{985A58FF-E6FC-4715-BDFE-FA0C7775F92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24788" y="2393950"/>
          <a:ext cx="2519362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62" name="Формула" r:id="rId7" imgW="1396394" imgH="533169" progId="Equation.3">
                  <p:embed/>
                </p:oleObj>
              </mc:Choice>
              <mc:Fallback>
                <p:oleObj name="Формула" r:id="rId7" imgW="1396394" imgH="533169" progId="Equation.3">
                  <p:embed/>
                  <p:pic>
                    <p:nvPicPr>
                      <p:cNvPr id="26649" name="Object 25">
                        <a:extLst>
                          <a:ext uri="{FF2B5EF4-FFF2-40B4-BE49-F238E27FC236}">
                            <a16:creationId xmlns:a16="http://schemas.microsoft.com/office/drawing/2014/main" id="{985A58FF-E6FC-4715-BDFE-FA0C7775F92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24788" y="2393950"/>
                        <a:ext cx="2519362" cy="85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50" name="Rectangle 26">
            <a:extLst>
              <a:ext uri="{FF2B5EF4-FFF2-40B4-BE49-F238E27FC236}">
                <a16:creationId xmlns:a16="http://schemas.microsoft.com/office/drawing/2014/main" id="{03076B40-6792-4336-B1A2-AF281416BF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6988" y="2922589"/>
            <a:ext cx="4673600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ru-RU" altLang="ru-RU" sz="1800"/>
              <a:t>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det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0)) </a:t>
            </a:r>
            <a:r>
              <a:rPr lang="ru-RU" altLang="ru-RU" sz="1800"/>
              <a:t>–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Якобиан.    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det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0)) =  |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0)|. </a:t>
            </a:r>
          </a:p>
        </p:txBody>
      </p:sp>
      <p:sp>
        <p:nvSpPr>
          <p:cNvPr id="26651" name="Rectangle 27">
            <a:extLst>
              <a:ext uri="{FF2B5EF4-FFF2-40B4-BE49-F238E27FC236}">
                <a16:creationId xmlns:a16="http://schemas.microsoft.com/office/drawing/2014/main" id="{3DE3B356-1ACD-4DE0-A01B-D47BC5ACA1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25013" y="2276476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/>
              <a:t>, </a:t>
            </a:r>
          </a:p>
        </p:txBody>
      </p:sp>
      <p:sp>
        <p:nvSpPr>
          <p:cNvPr id="26652" name="Rectangle 28">
            <a:extLst>
              <a:ext uri="{FF2B5EF4-FFF2-40B4-BE49-F238E27FC236}">
                <a16:creationId xmlns:a16="http://schemas.microsoft.com/office/drawing/2014/main" id="{6164D649-CA7A-4DA6-A074-50D394E95E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5550" y="3427414"/>
            <a:ext cx="725488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Если </a:t>
            </a:r>
          </a:p>
        </p:txBody>
      </p:sp>
      <p:sp>
        <p:nvSpPr>
          <p:cNvPr id="26653" name="Rectangle 29">
            <a:extLst>
              <a:ext uri="{FF2B5EF4-FFF2-40B4-BE49-F238E27FC236}">
                <a16:creationId xmlns:a16="http://schemas.microsoft.com/office/drawing/2014/main" id="{37E558FD-642B-4DDB-95DE-64AF03012C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443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26654" name="Object 30">
            <a:extLst>
              <a:ext uri="{FF2B5EF4-FFF2-40B4-BE49-F238E27FC236}">
                <a16:creationId xmlns:a16="http://schemas.microsoft.com/office/drawing/2014/main" id="{92738B2F-F096-4BF9-BD39-43DE56B7F1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16275" y="3500439"/>
          <a:ext cx="1079500" cy="268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63" name="Формула" r:id="rId9" imgW="799753" imgH="203112" progId="Equation.3">
                  <p:embed/>
                </p:oleObj>
              </mc:Choice>
              <mc:Fallback>
                <p:oleObj name="Формула" r:id="rId9" imgW="799753" imgH="203112" progId="Equation.3">
                  <p:embed/>
                  <p:pic>
                    <p:nvPicPr>
                      <p:cNvPr id="26654" name="Object 30">
                        <a:extLst>
                          <a:ext uri="{FF2B5EF4-FFF2-40B4-BE49-F238E27FC236}">
                            <a16:creationId xmlns:a16="http://schemas.microsoft.com/office/drawing/2014/main" id="{92738B2F-F096-4BF9-BD39-43DE56B7F13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6275" y="3500439"/>
                        <a:ext cx="1079500" cy="268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55" name="Rectangle 31">
            <a:extLst>
              <a:ext uri="{FF2B5EF4-FFF2-40B4-BE49-F238E27FC236}">
                <a16:creationId xmlns:a16="http://schemas.microsoft.com/office/drawing/2014/main" id="{CDCA18C8-E333-4AA0-A2A9-C7A6EFF205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34275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6656" name="Rectangle 32">
            <a:extLst>
              <a:ext uri="{FF2B5EF4-FFF2-40B4-BE49-F238E27FC236}">
                <a16:creationId xmlns:a16="http://schemas.microsoft.com/office/drawing/2014/main" id="{E20932CF-7A98-4A4A-BC01-E0C5DC15DF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5776" y="3427414"/>
            <a:ext cx="5006975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то система уравнений  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gj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имеет решение. </a:t>
            </a:r>
          </a:p>
        </p:txBody>
      </p:sp>
      <p:sp>
        <p:nvSpPr>
          <p:cNvPr id="26657" name="Rectangle 33">
            <a:extLst>
              <a:ext uri="{FF2B5EF4-FFF2-40B4-BE49-F238E27FC236}">
                <a16:creationId xmlns:a16="http://schemas.microsoft.com/office/drawing/2014/main" id="{8876304F-662A-482A-9BC8-C5200F1C47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728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26658" name="Object 34">
            <a:extLst>
              <a:ext uri="{FF2B5EF4-FFF2-40B4-BE49-F238E27FC236}">
                <a16:creationId xmlns:a16="http://schemas.microsoft.com/office/drawing/2014/main" id="{5756EE64-E373-44F4-BA46-EC59042B8D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95550" y="3933825"/>
          <a:ext cx="865188" cy="319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64" name="Формула" r:id="rId11" imgW="494870" imgH="177646" progId="Equation.3">
                  <p:embed/>
                </p:oleObj>
              </mc:Choice>
              <mc:Fallback>
                <p:oleObj name="Формула" r:id="rId11" imgW="494870" imgH="177646" progId="Equation.3">
                  <p:embed/>
                  <p:pic>
                    <p:nvPicPr>
                      <p:cNvPr id="26658" name="Object 34">
                        <a:extLst>
                          <a:ext uri="{FF2B5EF4-FFF2-40B4-BE49-F238E27FC236}">
                            <a16:creationId xmlns:a16="http://schemas.microsoft.com/office/drawing/2014/main" id="{5756EE64-E373-44F4-BA46-EC59042B8D9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550" y="3933825"/>
                        <a:ext cx="865188" cy="319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59" name="Rectangle 35">
            <a:extLst>
              <a:ext uri="{FF2B5EF4-FFF2-40B4-BE49-F238E27FC236}">
                <a16:creationId xmlns:a16="http://schemas.microsoft.com/office/drawing/2014/main" id="{23A1C994-9627-461C-B239-029B7D4616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9150" y="3933826"/>
            <a:ext cx="247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/>
              <a:t>.</a:t>
            </a:r>
          </a:p>
        </p:txBody>
      </p:sp>
      <p:sp>
        <p:nvSpPr>
          <p:cNvPr id="26660" name="Rectangle 36">
            <a:extLst>
              <a:ext uri="{FF2B5EF4-FFF2-40B4-BE49-F238E27FC236}">
                <a16:creationId xmlns:a16="http://schemas.microsoft.com/office/drawing/2014/main" id="{0A51F632-D585-4C11-97AD-3E4A093FF8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5051" y="3932239"/>
            <a:ext cx="5014913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В этом случае существует обратное отображение</a:t>
            </a:r>
          </a:p>
        </p:txBody>
      </p:sp>
      <p:sp>
        <p:nvSpPr>
          <p:cNvPr id="26661" name="Rectangle 37">
            <a:extLst>
              <a:ext uri="{FF2B5EF4-FFF2-40B4-BE49-F238E27FC236}">
                <a16:creationId xmlns:a16="http://schemas.microsoft.com/office/drawing/2014/main" id="{C249BC49-34E6-45F8-A1DB-8EAA90FACD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728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26662" name="Object 38">
            <a:extLst>
              <a:ext uri="{FF2B5EF4-FFF2-40B4-BE49-F238E27FC236}">
                <a16:creationId xmlns:a16="http://schemas.microsoft.com/office/drawing/2014/main" id="{F4F09741-26C5-4737-9AA9-4D4756C71C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95550" y="4365626"/>
          <a:ext cx="3384550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65" name="Формула" r:id="rId13" imgW="1993900" imgH="241300" progId="Equation.3">
                  <p:embed/>
                </p:oleObj>
              </mc:Choice>
              <mc:Fallback>
                <p:oleObj name="Формула" r:id="rId13" imgW="1993900" imgH="241300" progId="Equation.3">
                  <p:embed/>
                  <p:pic>
                    <p:nvPicPr>
                      <p:cNvPr id="26662" name="Object 38">
                        <a:extLst>
                          <a:ext uri="{FF2B5EF4-FFF2-40B4-BE49-F238E27FC236}">
                            <a16:creationId xmlns:a16="http://schemas.microsoft.com/office/drawing/2014/main" id="{F4F09741-26C5-4737-9AA9-4D4756C71C2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550" y="4365626"/>
                        <a:ext cx="3384550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63" name="Rectangle 39">
            <a:extLst>
              <a:ext uri="{FF2B5EF4-FFF2-40B4-BE49-F238E27FC236}">
                <a16:creationId xmlns:a16="http://schemas.microsoft.com/office/drawing/2014/main" id="{76095609-7245-4934-9676-D0D0AAF640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3618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6664" name="Rectangle 40">
            <a:extLst>
              <a:ext uri="{FF2B5EF4-FFF2-40B4-BE49-F238E27FC236}">
                <a16:creationId xmlns:a16="http://schemas.microsoft.com/office/drawing/2014/main" id="{62D133DD-EC59-442F-9F6B-D8CB00551D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651" y="4868863"/>
            <a:ext cx="79343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Это имеет большое значение при решении задач с неявно заданными функциями.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730B371D-6BAA-4FDE-BE6A-8DDC7FD166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92313" y="260350"/>
            <a:ext cx="8229600" cy="1143000"/>
          </a:xfrm>
        </p:spPr>
        <p:txBody>
          <a:bodyPr/>
          <a:lstStyle/>
          <a:p>
            <a:r>
              <a:rPr lang="en-US" altLang="ru-RU" sz="3600" b="1" i="1" u="sng" dirty="0">
                <a:latin typeface="+mn-lt"/>
              </a:rPr>
              <a:t>3</a:t>
            </a:r>
            <a:r>
              <a:rPr lang="ru-RU" altLang="ru-RU" sz="3600" b="1" i="1" u="sng" dirty="0">
                <a:latin typeface="+mn-lt"/>
              </a:rPr>
              <a:t>. </a:t>
            </a:r>
            <a:r>
              <a:rPr lang="ru-RU" altLang="ru-RU" sz="36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Дифференцирование функций.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6377158F-D3DF-4A9B-A419-A4A2469693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236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7652" name="Rectangle 4">
            <a:extLst>
              <a:ext uri="{FF2B5EF4-FFF2-40B4-BE49-F238E27FC236}">
                <a16:creationId xmlns:a16="http://schemas.microsoft.com/office/drawing/2014/main" id="{70EFE52E-733B-48E9-9B10-F1229F28D2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4649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7653" name="Rectangle 5">
            <a:extLst>
              <a:ext uri="{FF2B5EF4-FFF2-40B4-BE49-F238E27FC236}">
                <a16:creationId xmlns:a16="http://schemas.microsoft.com/office/drawing/2014/main" id="{5D22E27B-92AA-4A44-8EB9-33997EB6CF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300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7654" name="Rectangle 6">
            <a:extLst>
              <a:ext uri="{FF2B5EF4-FFF2-40B4-BE49-F238E27FC236}">
                <a16:creationId xmlns:a16="http://schemas.microsoft.com/office/drawing/2014/main" id="{BE0774EC-4AD6-4565-A9F5-0F827E8698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4602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7655" name="Rectangle 7">
            <a:extLst>
              <a:ext uri="{FF2B5EF4-FFF2-40B4-BE49-F238E27FC236}">
                <a16:creationId xmlns:a16="http://schemas.microsoft.com/office/drawing/2014/main" id="{74879ED0-46D7-4C70-B708-BF69E59FEE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284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7656" name="Rectangle 8">
            <a:extLst>
              <a:ext uri="{FF2B5EF4-FFF2-40B4-BE49-F238E27FC236}">
                <a16:creationId xmlns:a16="http://schemas.microsoft.com/office/drawing/2014/main" id="{FD288434-A81D-4151-829F-996D698A21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7657" name="Rectangle 9">
            <a:extLst>
              <a:ext uri="{FF2B5EF4-FFF2-40B4-BE49-F238E27FC236}">
                <a16:creationId xmlns:a16="http://schemas.microsoft.com/office/drawing/2014/main" id="{CC32400B-D065-4D5D-B9E2-AC3526823E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9569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7658" name="Rectangle 10">
            <a:extLst>
              <a:ext uri="{FF2B5EF4-FFF2-40B4-BE49-F238E27FC236}">
                <a16:creationId xmlns:a16="http://schemas.microsoft.com/office/drawing/2014/main" id="{712A6023-BCDE-4DE9-A849-B8CBBD8EEE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52413" y="30998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7659" name="Rectangle 11">
            <a:extLst>
              <a:ext uri="{FF2B5EF4-FFF2-40B4-BE49-F238E27FC236}">
                <a16:creationId xmlns:a16="http://schemas.microsoft.com/office/drawing/2014/main" id="{67BCCB15-879E-4AD6-B9F2-97B7CE1A1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6267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7660" name="Rectangle 12">
            <a:extLst>
              <a:ext uri="{FF2B5EF4-FFF2-40B4-BE49-F238E27FC236}">
                <a16:creationId xmlns:a16="http://schemas.microsoft.com/office/drawing/2014/main" id="{F631C0A7-DD67-4234-ABB3-627FAEBC39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3026" y="43238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7661" name="Rectangle 13">
            <a:extLst>
              <a:ext uri="{FF2B5EF4-FFF2-40B4-BE49-F238E27FC236}">
                <a16:creationId xmlns:a16="http://schemas.microsoft.com/office/drawing/2014/main" id="{6CCAC594-0444-44A9-A4F8-609D366B26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8213" y="1584325"/>
            <a:ext cx="6946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ru-RU" sz="2400" b="1"/>
              <a:t>3.</a:t>
            </a:r>
            <a:r>
              <a:rPr lang="ru-RU" altLang="ru-RU" sz="2400" b="1"/>
              <a:t>1.5. </a:t>
            </a:r>
            <a:r>
              <a:rPr lang="ru-RU" altLang="ru-RU" sz="2400" b="1" u="sng"/>
              <a:t>Классы дифференцируемых функций.</a:t>
            </a:r>
          </a:p>
        </p:txBody>
      </p:sp>
      <p:sp>
        <p:nvSpPr>
          <p:cNvPr id="27662" name="Rectangle 14">
            <a:extLst>
              <a:ext uri="{FF2B5EF4-FFF2-40B4-BE49-F238E27FC236}">
                <a16:creationId xmlns:a16="http://schemas.microsoft.com/office/drawing/2014/main" id="{AB7B137A-5EA8-441F-9052-00C2EE5070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650" y="2133601"/>
            <a:ext cx="10556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Пусть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</p:txBody>
      </p:sp>
      <p:sp>
        <p:nvSpPr>
          <p:cNvPr id="27663" name="Rectangle 15">
            <a:extLst>
              <a:ext uri="{FF2B5EF4-FFF2-40B4-BE49-F238E27FC236}">
                <a16:creationId xmlns:a16="http://schemas.microsoft.com/office/drawing/2014/main" id="{E6ECD4D4-77D7-457C-9366-AE94C12B14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27664" name="Object 16">
            <a:extLst>
              <a:ext uri="{FF2B5EF4-FFF2-40B4-BE49-F238E27FC236}">
                <a16:creationId xmlns:a16="http://schemas.microsoft.com/office/drawing/2014/main" id="{0F2E50AB-A643-40B6-8055-84108D906D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59150" y="2162175"/>
          <a:ext cx="230505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5" name="Формула" r:id="rId3" imgW="1536700" imgH="228600" progId="Equation.3">
                  <p:embed/>
                </p:oleObj>
              </mc:Choice>
              <mc:Fallback>
                <p:oleObj name="Формула" r:id="rId3" imgW="1536700" imgH="228600" progId="Equation.3">
                  <p:embed/>
                  <p:pic>
                    <p:nvPicPr>
                      <p:cNvPr id="27664" name="Object 16">
                        <a:extLst>
                          <a:ext uri="{FF2B5EF4-FFF2-40B4-BE49-F238E27FC236}">
                            <a16:creationId xmlns:a16="http://schemas.microsoft.com/office/drawing/2014/main" id="{0F2E50AB-A643-40B6-8055-84108D906DD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9150" y="2162175"/>
                        <a:ext cx="230505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65" name="Rectangle 17">
            <a:extLst>
              <a:ext uri="{FF2B5EF4-FFF2-40B4-BE49-F238E27FC236}">
                <a16:creationId xmlns:a16="http://schemas.microsoft.com/office/drawing/2014/main" id="{B4673F37-F0A2-44BE-8A82-B94837037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5639" y="2132014"/>
            <a:ext cx="700087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тогда</a:t>
            </a:r>
          </a:p>
        </p:txBody>
      </p:sp>
      <p:sp>
        <p:nvSpPr>
          <p:cNvPr id="27666" name="Rectangle 18">
            <a:extLst>
              <a:ext uri="{FF2B5EF4-FFF2-40B4-BE49-F238E27FC236}">
                <a16:creationId xmlns:a16="http://schemas.microsoft.com/office/drawing/2014/main" id="{409E1BA8-BA9D-4F52-B4DA-596DA6F59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27667" name="Object 19">
            <a:extLst>
              <a:ext uri="{FF2B5EF4-FFF2-40B4-BE49-F238E27FC236}">
                <a16:creationId xmlns:a16="http://schemas.microsoft.com/office/drawing/2014/main" id="{DF879495-189C-4B0D-84AB-0E7A5FD58A5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51089" y="2609851"/>
          <a:ext cx="1296987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6" name="Формула" r:id="rId5" imgW="901309" imgH="228501" progId="Equation.3">
                  <p:embed/>
                </p:oleObj>
              </mc:Choice>
              <mc:Fallback>
                <p:oleObj name="Формула" r:id="rId5" imgW="901309" imgH="228501" progId="Equation.3">
                  <p:embed/>
                  <p:pic>
                    <p:nvPicPr>
                      <p:cNvPr id="27667" name="Object 19">
                        <a:extLst>
                          <a:ext uri="{FF2B5EF4-FFF2-40B4-BE49-F238E27FC236}">
                            <a16:creationId xmlns:a16="http://schemas.microsoft.com/office/drawing/2014/main" id="{DF879495-189C-4B0D-84AB-0E7A5FD58A5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9" y="2609851"/>
                        <a:ext cx="1296987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68" name="Rectangle 20">
            <a:extLst>
              <a:ext uri="{FF2B5EF4-FFF2-40B4-BE49-F238E27FC236}">
                <a16:creationId xmlns:a16="http://schemas.microsoft.com/office/drawing/2014/main" id="{20934C04-5BC3-4733-913B-EE8FF7DA1F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9514" y="2635250"/>
            <a:ext cx="3279775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– класс непрерывных функций;</a:t>
            </a:r>
          </a:p>
        </p:txBody>
      </p:sp>
      <p:sp>
        <p:nvSpPr>
          <p:cNvPr id="27669" name="Rectangle 21">
            <a:extLst>
              <a:ext uri="{FF2B5EF4-FFF2-40B4-BE49-F238E27FC236}">
                <a16:creationId xmlns:a16="http://schemas.microsoft.com/office/drawing/2014/main" id="{3BC09E3E-24C4-4F45-BEDF-8F38B64168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998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27670" name="Object 22">
            <a:extLst>
              <a:ext uri="{FF2B5EF4-FFF2-40B4-BE49-F238E27FC236}">
                <a16:creationId xmlns:a16="http://schemas.microsoft.com/office/drawing/2014/main" id="{F6AE4CA8-8BC6-4FD8-B296-E7E1219193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51088" y="3141664"/>
          <a:ext cx="1295400" cy="33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7" name="Формула" r:id="rId7" imgW="876300" imgH="228600" progId="Equation.3">
                  <p:embed/>
                </p:oleObj>
              </mc:Choice>
              <mc:Fallback>
                <p:oleObj name="Формула" r:id="rId7" imgW="876300" imgH="228600" progId="Equation.3">
                  <p:embed/>
                  <p:pic>
                    <p:nvPicPr>
                      <p:cNvPr id="27670" name="Object 22">
                        <a:extLst>
                          <a:ext uri="{FF2B5EF4-FFF2-40B4-BE49-F238E27FC236}">
                            <a16:creationId xmlns:a16="http://schemas.microsoft.com/office/drawing/2014/main" id="{F6AE4CA8-8BC6-4FD8-B296-E7E1219193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8" y="3141664"/>
                        <a:ext cx="1295400" cy="338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71" name="Rectangle 23">
            <a:extLst>
              <a:ext uri="{FF2B5EF4-FFF2-40B4-BE49-F238E27FC236}">
                <a16:creationId xmlns:a16="http://schemas.microsoft.com/office/drawing/2014/main" id="{BE13C4CD-2058-4091-A516-2717F71B53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8076" y="3140075"/>
            <a:ext cx="4468813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/>
              <a:t>–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класс 1 раз дифференцируемых функций;</a:t>
            </a:r>
          </a:p>
        </p:txBody>
      </p:sp>
      <p:sp>
        <p:nvSpPr>
          <p:cNvPr id="27672" name="Rectangle 24">
            <a:extLst>
              <a:ext uri="{FF2B5EF4-FFF2-40B4-BE49-F238E27FC236}">
                <a16:creationId xmlns:a16="http://schemas.microsoft.com/office/drawing/2014/main" id="{5E455FDD-D00C-4BA9-868D-CB104D443B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27673" name="Object 25">
            <a:extLst>
              <a:ext uri="{FF2B5EF4-FFF2-40B4-BE49-F238E27FC236}">
                <a16:creationId xmlns:a16="http://schemas.microsoft.com/office/drawing/2014/main" id="{2C08D6F3-B164-46EE-AA78-853C4F35791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24114" y="3716339"/>
          <a:ext cx="1296987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8" name="Формула" r:id="rId9" imgW="901309" imgH="228501" progId="Equation.3">
                  <p:embed/>
                </p:oleObj>
              </mc:Choice>
              <mc:Fallback>
                <p:oleObj name="Формула" r:id="rId9" imgW="901309" imgH="228501" progId="Equation.3">
                  <p:embed/>
                  <p:pic>
                    <p:nvPicPr>
                      <p:cNvPr id="27673" name="Object 25">
                        <a:extLst>
                          <a:ext uri="{FF2B5EF4-FFF2-40B4-BE49-F238E27FC236}">
                            <a16:creationId xmlns:a16="http://schemas.microsoft.com/office/drawing/2014/main" id="{2C08D6F3-B164-46EE-AA78-853C4F35791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4" y="3716339"/>
                        <a:ext cx="1296987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74" name="Rectangle 26">
            <a:extLst>
              <a:ext uri="{FF2B5EF4-FFF2-40B4-BE49-F238E27FC236}">
                <a16:creationId xmlns:a16="http://schemas.microsoft.com/office/drawing/2014/main" id="{1AD3C24D-192D-4A2C-8188-3C71D5B36F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9513" y="3714750"/>
            <a:ext cx="457200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/>
              <a:t>–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класс 2 раза дифференцируемых функций;</a:t>
            </a:r>
          </a:p>
        </p:txBody>
      </p:sp>
      <p:sp>
        <p:nvSpPr>
          <p:cNvPr id="27675" name="Rectangle 27">
            <a:extLst>
              <a:ext uri="{FF2B5EF4-FFF2-40B4-BE49-F238E27FC236}">
                <a16:creationId xmlns:a16="http://schemas.microsoft.com/office/drawing/2014/main" id="{91D24E0A-9E3C-40A1-8AF2-ED730EF7A4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5550" y="4221163"/>
            <a:ext cx="64087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ru-RU" sz="1800"/>
              <a:t>………………………………………………………………….</a:t>
            </a:r>
          </a:p>
        </p:txBody>
      </p:sp>
      <p:sp>
        <p:nvSpPr>
          <p:cNvPr id="27676" name="Rectangle 28">
            <a:extLst>
              <a:ext uri="{FF2B5EF4-FFF2-40B4-BE49-F238E27FC236}">
                <a16:creationId xmlns:a16="http://schemas.microsoft.com/office/drawing/2014/main" id="{36C3E5FC-BF88-40CE-88AE-48B4531DD1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27677" name="Object 29">
            <a:extLst>
              <a:ext uri="{FF2B5EF4-FFF2-40B4-BE49-F238E27FC236}">
                <a16:creationId xmlns:a16="http://schemas.microsoft.com/office/drawing/2014/main" id="{DBA6D508-93DA-4D6F-829F-24D35C992E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24114" y="4652964"/>
          <a:ext cx="1368425" cy="34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9" name="Формула" r:id="rId11" imgW="901309" imgH="228501" progId="Equation.3">
                  <p:embed/>
                </p:oleObj>
              </mc:Choice>
              <mc:Fallback>
                <p:oleObj name="Формула" r:id="rId11" imgW="901309" imgH="228501" progId="Equation.3">
                  <p:embed/>
                  <p:pic>
                    <p:nvPicPr>
                      <p:cNvPr id="27677" name="Object 29">
                        <a:extLst>
                          <a:ext uri="{FF2B5EF4-FFF2-40B4-BE49-F238E27FC236}">
                            <a16:creationId xmlns:a16="http://schemas.microsoft.com/office/drawing/2014/main" id="{DBA6D508-93DA-4D6F-829F-24D35C992E4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4" y="4652964"/>
                        <a:ext cx="1368425" cy="344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78" name="Rectangle 30">
            <a:extLst>
              <a:ext uri="{FF2B5EF4-FFF2-40B4-BE49-F238E27FC236}">
                <a16:creationId xmlns:a16="http://schemas.microsoft.com/office/drawing/2014/main" id="{54BD2505-23CE-4997-819C-820D64B1A9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9513" y="4651375"/>
            <a:ext cx="4443412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– класс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раз дифференцируемых функций.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4BFCEE51-00EF-4296-A445-6FD2A3E578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ru-RU" sz="2800" b="1" i="1" dirty="0">
                <a:latin typeface="+mn-lt"/>
              </a:rPr>
              <a:t>4</a:t>
            </a:r>
            <a:r>
              <a:rPr lang="ru-RU" altLang="ru-RU" sz="2800" b="1" i="1" dirty="0">
                <a:latin typeface="+mn-lt"/>
              </a:rPr>
              <a:t>.</a:t>
            </a:r>
            <a:r>
              <a:rPr lang="ru-RU" altLang="ru-RU" sz="28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Необходимые и достаточные условия существования экстремума функции.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0D80ED93-4860-49EA-A1A1-75B198F9E1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329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8676" name="Rectangle 4">
            <a:extLst>
              <a:ext uri="{FF2B5EF4-FFF2-40B4-BE49-F238E27FC236}">
                <a16:creationId xmlns:a16="http://schemas.microsoft.com/office/drawing/2014/main" id="{EF2CE0C9-BC74-4E7A-A217-A2C352EAFC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329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8677" name="Rectangle 5">
            <a:extLst>
              <a:ext uri="{FF2B5EF4-FFF2-40B4-BE49-F238E27FC236}">
                <a16:creationId xmlns:a16="http://schemas.microsoft.com/office/drawing/2014/main" id="{0C1B8418-C1AE-41F2-AE21-7B3F274C71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6046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8678" name="Rectangle 6">
            <a:extLst>
              <a:ext uri="{FF2B5EF4-FFF2-40B4-BE49-F238E27FC236}">
                <a16:creationId xmlns:a16="http://schemas.microsoft.com/office/drawing/2014/main" id="{4493BD1A-3BDC-4CAA-A313-AF2E5345A7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9569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8679" name="Rectangle 7">
            <a:extLst>
              <a:ext uri="{FF2B5EF4-FFF2-40B4-BE49-F238E27FC236}">
                <a16:creationId xmlns:a16="http://schemas.microsoft.com/office/drawing/2014/main" id="{2EE85748-5682-49E5-B6DC-E0E2AC0B0A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8680" name="Rectangle 8">
            <a:extLst>
              <a:ext uri="{FF2B5EF4-FFF2-40B4-BE49-F238E27FC236}">
                <a16:creationId xmlns:a16="http://schemas.microsoft.com/office/drawing/2014/main" id="{C8291279-E62F-4145-8A3F-408CB0516E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8213" y="1614489"/>
            <a:ext cx="82994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ru-RU" sz="2000" b="1" u="sng"/>
              <a:t>4.</a:t>
            </a:r>
            <a:r>
              <a:rPr lang="ru-RU" altLang="ru-RU" sz="2000" b="1" u="sng"/>
              <a:t>1.Условия существования экстремума без учета ограничений.</a:t>
            </a:r>
          </a:p>
        </p:txBody>
      </p:sp>
      <p:sp>
        <p:nvSpPr>
          <p:cNvPr id="28681" name="Rectangle 9">
            <a:extLst>
              <a:ext uri="{FF2B5EF4-FFF2-40B4-BE49-F238E27FC236}">
                <a16:creationId xmlns:a16="http://schemas.microsoft.com/office/drawing/2014/main" id="{3535EC6E-F521-42D3-A32D-99DFB12C74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8214" y="2060576"/>
            <a:ext cx="77311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b="1"/>
              <a:t>4.1.1.</a:t>
            </a:r>
            <a:r>
              <a:rPr lang="ru-RU" altLang="ru-RU" sz="1800" b="1" u="sng"/>
              <a:t>Необходимые и достаточные условия выпуклости функций.</a:t>
            </a:r>
          </a:p>
        </p:txBody>
      </p:sp>
      <p:sp>
        <p:nvSpPr>
          <p:cNvPr id="28682" name="Rectangle 10">
            <a:extLst>
              <a:ext uri="{FF2B5EF4-FFF2-40B4-BE49-F238E27FC236}">
                <a16:creationId xmlns:a16="http://schemas.microsoft.com/office/drawing/2014/main" id="{75AC2B71-48F4-49C8-BB96-98FAB01359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651" y="2490789"/>
            <a:ext cx="3984625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b="1" u="sng"/>
              <a:t>Теорема1.</a:t>
            </a:r>
            <a:r>
              <a:rPr lang="ru-RU" altLang="ru-RU" sz="1800" u="sng"/>
              <a:t> (</a:t>
            </a:r>
            <a:r>
              <a:rPr lang="ru-RU" altLang="ru-RU" sz="1800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Необходимые условия</a:t>
            </a:r>
            <a:r>
              <a:rPr lang="ru-RU" altLang="ru-RU" sz="1800" u="sng"/>
              <a:t>)</a:t>
            </a:r>
            <a:r>
              <a:rPr lang="ru-RU" altLang="ru-RU" sz="1800"/>
              <a:t>. </a:t>
            </a:r>
          </a:p>
        </p:txBody>
      </p:sp>
      <p:sp>
        <p:nvSpPr>
          <p:cNvPr id="28683" name="Rectangle 11">
            <a:extLst>
              <a:ext uri="{FF2B5EF4-FFF2-40B4-BE49-F238E27FC236}">
                <a16:creationId xmlns:a16="http://schemas.microsoft.com/office/drawing/2014/main" id="{0E824C90-424C-4DB0-A7F1-DC29650EA2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1089" y="2924176"/>
            <a:ext cx="10556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Пусть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</p:txBody>
      </p:sp>
      <p:sp>
        <p:nvSpPr>
          <p:cNvPr id="28684" name="Rectangle 12">
            <a:extLst>
              <a:ext uri="{FF2B5EF4-FFF2-40B4-BE49-F238E27FC236}">
                <a16:creationId xmlns:a16="http://schemas.microsoft.com/office/drawing/2014/main" id="{A045ACBC-0C8B-4EC0-96FE-9910000866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28685" name="Object 13">
            <a:extLst>
              <a:ext uri="{FF2B5EF4-FFF2-40B4-BE49-F238E27FC236}">
                <a16:creationId xmlns:a16="http://schemas.microsoft.com/office/drawing/2014/main" id="{15B4DFFD-23B6-49FD-8012-5AE4074744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59151" y="2917825"/>
          <a:ext cx="2449513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44" name="Формула" r:id="rId3" imgW="1498600" imgH="228600" progId="Equation.3">
                  <p:embed/>
                </p:oleObj>
              </mc:Choice>
              <mc:Fallback>
                <p:oleObj name="Формула" r:id="rId3" imgW="1498600" imgH="228600" progId="Equation.3">
                  <p:embed/>
                  <p:pic>
                    <p:nvPicPr>
                      <p:cNvPr id="28685" name="Object 13">
                        <a:extLst>
                          <a:ext uri="{FF2B5EF4-FFF2-40B4-BE49-F238E27FC236}">
                            <a16:creationId xmlns:a16="http://schemas.microsoft.com/office/drawing/2014/main" id="{15B4DFFD-23B6-49FD-8012-5AE40747447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9151" y="2917825"/>
                        <a:ext cx="2449513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6" name="Rectangle 14">
            <a:extLst>
              <a:ext uri="{FF2B5EF4-FFF2-40B4-BE49-F238E27FC236}">
                <a16:creationId xmlns:a16="http://schemas.microsoft.com/office/drawing/2014/main" id="{8BF38727-8E40-420E-8C0F-631810C386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0014" y="34602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8687" name="Rectangle 15">
            <a:extLst>
              <a:ext uri="{FF2B5EF4-FFF2-40B4-BE49-F238E27FC236}">
                <a16:creationId xmlns:a16="http://schemas.microsoft.com/office/drawing/2014/main" id="{419556B5-FFDF-4ED9-B2E3-FA923C0309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91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28688" name="Object 16">
            <a:extLst>
              <a:ext uri="{FF2B5EF4-FFF2-40B4-BE49-F238E27FC236}">
                <a16:creationId xmlns:a16="http://schemas.microsoft.com/office/drawing/2014/main" id="{0A0D27E2-B3CF-40B6-A775-8ED544485A0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24563" y="2852738"/>
          <a:ext cx="1008062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45" name="Формула" r:id="rId5" imgW="660113" imgH="304668" progId="Equation.3">
                  <p:embed/>
                </p:oleObj>
              </mc:Choice>
              <mc:Fallback>
                <p:oleObj name="Формула" r:id="rId5" imgW="660113" imgH="304668" progId="Equation.3">
                  <p:embed/>
                  <p:pic>
                    <p:nvPicPr>
                      <p:cNvPr id="28688" name="Object 16">
                        <a:extLst>
                          <a:ext uri="{FF2B5EF4-FFF2-40B4-BE49-F238E27FC236}">
                            <a16:creationId xmlns:a16="http://schemas.microsoft.com/office/drawing/2014/main" id="{0A0D27E2-B3CF-40B6-A775-8ED544485A0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4563" y="2852738"/>
                        <a:ext cx="1008062" cy="544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9" name="Rectangle 17">
            <a:extLst>
              <a:ext uri="{FF2B5EF4-FFF2-40B4-BE49-F238E27FC236}">
                <a16:creationId xmlns:a16="http://schemas.microsoft.com/office/drawing/2014/main" id="{76403FBE-760F-46C7-AFE5-94D24792FC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8690" name="Rectangle 18">
            <a:extLst>
              <a:ext uri="{FF2B5EF4-FFF2-40B4-BE49-F238E27FC236}">
                <a16:creationId xmlns:a16="http://schemas.microsoft.com/office/drawing/2014/main" id="{CC3C17F0-BCEF-4BB3-96BA-ADA835E5DD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3887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8691" name="Rectangle 19">
            <a:extLst>
              <a:ext uri="{FF2B5EF4-FFF2-40B4-BE49-F238E27FC236}">
                <a16:creationId xmlns:a16="http://schemas.microsoft.com/office/drawing/2014/main" id="{4A685F10-A5B3-4E2D-8683-225D21A16B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3701" y="3282950"/>
            <a:ext cx="2924175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тогда для того, чтобы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)  </a:t>
            </a:r>
          </a:p>
        </p:txBody>
      </p:sp>
      <p:sp>
        <p:nvSpPr>
          <p:cNvPr id="28692" name="Rectangle 20">
            <a:extLst>
              <a:ext uri="{FF2B5EF4-FFF2-40B4-BE49-F238E27FC236}">
                <a16:creationId xmlns:a16="http://schemas.microsoft.com/office/drawing/2014/main" id="{CDC44509-A81D-457B-9956-6A8F9F0E0A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1089" y="3787775"/>
            <a:ext cx="1927225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была выпуклой в </a:t>
            </a:r>
          </a:p>
        </p:txBody>
      </p:sp>
      <p:sp>
        <p:nvSpPr>
          <p:cNvPr id="28693" name="Rectangle 21">
            <a:extLst>
              <a:ext uri="{FF2B5EF4-FFF2-40B4-BE49-F238E27FC236}">
                <a16:creationId xmlns:a16="http://schemas.microsoft.com/office/drawing/2014/main" id="{65FC8598-3626-4C4F-8DCD-1911874D2C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5776" y="3789363"/>
            <a:ext cx="9366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), </a:t>
            </a:r>
          </a:p>
        </p:txBody>
      </p:sp>
      <p:sp>
        <p:nvSpPr>
          <p:cNvPr id="28694" name="Rectangle 22">
            <a:extLst>
              <a:ext uri="{FF2B5EF4-FFF2-40B4-BE49-F238E27FC236}">
                <a16:creationId xmlns:a16="http://schemas.microsoft.com/office/drawing/2014/main" id="{D78ED240-7A96-4F73-B03A-85D704D9B6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7938" y="3787775"/>
            <a:ext cx="2125662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необходимо, чтобы </a:t>
            </a:r>
          </a:p>
        </p:txBody>
      </p:sp>
      <p:sp>
        <p:nvSpPr>
          <p:cNvPr id="28695" name="Rectangle 23">
            <a:extLst>
              <a:ext uri="{FF2B5EF4-FFF2-40B4-BE49-F238E27FC236}">
                <a16:creationId xmlns:a16="http://schemas.microsoft.com/office/drawing/2014/main" id="{05FE97A2-D29F-4B10-AE3B-5BEA12EB1D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157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8696" name="Rectangle 24">
            <a:extLst>
              <a:ext uri="{FF2B5EF4-FFF2-40B4-BE49-F238E27FC236}">
                <a16:creationId xmlns:a16="http://schemas.microsoft.com/office/drawing/2014/main" id="{09E59A16-0024-4731-8C9C-7B9372B266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221163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/>
              <a:t>, </a:t>
            </a:r>
          </a:p>
        </p:txBody>
      </p:sp>
      <p:sp>
        <p:nvSpPr>
          <p:cNvPr id="28697" name="Rectangle 25">
            <a:extLst>
              <a:ext uri="{FF2B5EF4-FFF2-40B4-BE49-F238E27FC236}">
                <a16:creationId xmlns:a16="http://schemas.microsoft.com/office/drawing/2014/main" id="{5C6EA2E8-9E6F-45CA-A25E-6F9D6ECE15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1900" y="4221163"/>
            <a:ext cx="5921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/>
              <a:t>где </a:t>
            </a:r>
          </a:p>
        </p:txBody>
      </p:sp>
      <p:sp>
        <p:nvSpPr>
          <p:cNvPr id="28698" name="Rectangle 26">
            <a:extLst>
              <a:ext uri="{FF2B5EF4-FFF2-40B4-BE49-F238E27FC236}">
                <a16:creationId xmlns:a16="http://schemas.microsoft.com/office/drawing/2014/main" id="{B7E627AF-6BC7-426A-A093-9A47141A52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157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8699" name="Rectangle 27">
            <a:extLst>
              <a:ext uri="{FF2B5EF4-FFF2-40B4-BE49-F238E27FC236}">
                <a16:creationId xmlns:a16="http://schemas.microsoft.com/office/drawing/2014/main" id="{877F3EFC-7E0D-4962-A00F-842CA9BFB4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5863" y="4076701"/>
            <a:ext cx="36036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/>
              <a:t>.</a:t>
            </a:r>
          </a:p>
        </p:txBody>
      </p:sp>
      <p:sp>
        <p:nvSpPr>
          <p:cNvPr id="28700" name="Rectangle 28">
            <a:extLst>
              <a:ext uri="{FF2B5EF4-FFF2-40B4-BE49-F238E27FC236}">
                <a16:creationId xmlns:a16="http://schemas.microsoft.com/office/drawing/2014/main" id="{01BD289D-0380-4C22-8F1D-1E50BE4A0F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650" y="4579939"/>
            <a:ext cx="3816350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b="1" u="sng"/>
              <a:t>Теорема2.(</a:t>
            </a:r>
            <a:r>
              <a:rPr lang="ru-RU" altLang="ru-RU" sz="1800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Достаточные условия</a:t>
            </a:r>
            <a:r>
              <a:rPr lang="ru-RU" altLang="ru-RU" sz="1800" u="sng"/>
              <a:t>).</a:t>
            </a:r>
          </a:p>
        </p:txBody>
      </p:sp>
      <p:sp>
        <p:nvSpPr>
          <p:cNvPr id="28701" name="Rectangle 29">
            <a:extLst>
              <a:ext uri="{FF2B5EF4-FFF2-40B4-BE49-F238E27FC236}">
                <a16:creationId xmlns:a16="http://schemas.microsoft.com/office/drawing/2014/main" id="{53406BDF-CBB1-4DBB-B225-C0EF5B1007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1089" y="5013326"/>
            <a:ext cx="10556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Пусть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</p:txBody>
      </p:sp>
      <p:sp>
        <p:nvSpPr>
          <p:cNvPr id="28702" name="Rectangle 30">
            <a:extLst>
              <a:ext uri="{FF2B5EF4-FFF2-40B4-BE49-F238E27FC236}">
                <a16:creationId xmlns:a16="http://schemas.microsoft.com/office/drawing/2014/main" id="{8F38E3EF-3F48-4420-AF2C-1B9821BF38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284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28703" name="Object 31">
            <a:extLst>
              <a:ext uri="{FF2B5EF4-FFF2-40B4-BE49-F238E27FC236}">
                <a16:creationId xmlns:a16="http://schemas.microsoft.com/office/drawing/2014/main" id="{8AC0FE76-1AE6-465F-83A8-8C20689053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59151" y="5013326"/>
          <a:ext cx="2232025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46" name="Формула" r:id="rId7" imgW="1498600" imgH="228600" progId="Equation.3">
                  <p:embed/>
                </p:oleObj>
              </mc:Choice>
              <mc:Fallback>
                <p:oleObj name="Формула" r:id="rId7" imgW="1498600" imgH="228600" progId="Equation.3">
                  <p:embed/>
                  <p:pic>
                    <p:nvPicPr>
                      <p:cNvPr id="28703" name="Object 31">
                        <a:extLst>
                          <a:ext uri="{FF2B5EF4-FFF2-40B4-BE49-F238E27FC236}">
                            <a16:creationId xmlns:a16="http://schemas.microsoft.com/office/drawing/2014/main" id="{8AC0FE76-1AE6-465F-83A8-8C20689053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9151" y="5013326"/>
                        <a:ext cx="2232025" cy="341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704" name="Rectangle 32">
            <a:extLst>
              <a:ext uri="{FF2B5EF4-FFF2-40B4-BE49-F238E27FC236}">
                <a16:creationId xmlns:a16="http://schemas.microsoft.com/office/drawing/2014/main" id="{25327CD4-7E62-49E3-A81C-8DA076A50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1175" y="4941888"/>
            <a:ext cx="374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/>
              <a:t>и </a:t>
            </a:r>
          </a:p>
        </p:txBody>
      </p:sp>
      <p:sp>
        <p:nvSpPr>
          <p:cNvPr id="28705" name="Rectangle 33">
            <a:extLst>
              <a:ext uri="{FF2B5EF4-FFF2-40B4-BE49-F238E27FC236}">
                <a16:creationId xmlns:a16="http://schemas.microsoft.com/office/drawing/2014/main" id="{9A09C390-180F-4D93-B104-4B377200AC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495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28706" name="Object 34">
            <a:extLst>
              <a:ext uri="{FF2B5EF4-FFF2-40B4-BE49-F238E27FC236}">
                <a16:creationId xmlns:a16="http://schemas.microsoft.com/office/drawing/2014/main" id="{431A4238-1D22-4BB3-A327-BEBC895383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08663" y="5013326"/>
          <a:ext cx="431800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47" name="Формула" r:id="rId8" imgW="215619" imgH="164885" progId="Equation.3">
                  <p:embed/>
                </p:oleObj>
              </mc:Choice>
              <mc:Fallback>
                <p:oleObj name="Формула" r:id="rId8" imgW="215619" imgH="164885" progId="Equation.3">
                  <p:embed/>
                  <p:pic>
                    <p:nvPicPr>
                      <p:cNvPr id="28706" name="Object 34">
                        <a:extLst>
                          <a:ext uri="{FF2B5EF4-FFF2-40B4-BE49-F238E27FC236}">
                            <a16:creationId xmlns:a16="http://schemas.microsoft.com/office/drawing/2014/main" id="{431A4238-1D22-4BB3-A327-BEBC895383D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8663" y="5013326"/>
                        <a:ext cx="431800" cy="31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707" name="Rectangle 35">
            <a:extLst>
              <a:ext uri="{FF2B5EF4-FFF2-40B4-BE49-F238E27FC236}">
                <a16:creationId xmlns:a16="http://schemas.microsoft.com/office/drawing/2014/main" id="{5921F2E4-E1AC-423A-8B1B-804E37C14C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0463" y="4940300"/>
            <a:ext cx="1592262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 для которой </a:t>
            </a:r>
          </a:p>
        </p:txBody>
      </p:sp>
      <p:sp>
        <p:nvSpPr>
          <p:cNvPr id="28708" name="Rectangle 36">
            <a:extLst>
              <a:ext uri="{FF2B5EF4-FFF2-40B4-BE49-F238E27FC236}">
                <a16:creationId xmlns:a16="http://schemas.microsoft.com/office/drawing/2014/main" id="{43D4A68D-C045-4491-B4BA-401430110A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157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28709" name="Object 37">
            <a:extLst>
              <a:ext uri="{FF2B5EF4-FFF2-40B4-BE49-F238E27FC236}">
                <a16:creationId xmlns:a16="http://schemas.microsoft.com/office/drawing/2014/main" id="{021CE1D1-5A3B-4D86-9BF6-783AEDF79D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67664" y="4941889"/>
          <a:ext cx="1728787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48" name="Формула" r:id="rId10" imgW="1079032" imgH="253890" progId="Equation.3">
                  <p:embed/>
                </p:oleObj>
              </mc:Choice>
              <mc:Fallback>
                <p:oleObj name="Формула" r:id="rId10" imgW="1079032" imgH="253890" progId="Equation.3">
                  <p:embed/>
                  <p:pic>
                    <p:nvPicPr>
                      <p:cNvPr id="28709" name="Object 37">
                        <a:extLst>
                          <a:ext uri="{FF2B5EF4-FFF2-40B4-BE49-F238E27FC236}">
                            <a16:creationId xmlns:a16="http://schemas.microsoft.com/office/drawing/2014/main" id="{021CE1D1-5A3B-4D86-9BF6-783AEDF79D7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67664" y="4941889"/>
                        <a:ext cx="1728787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710" name="Rectangle 38">
            <a:extLst>
              <a:ext uri="{FF2B5EF4-FFF2-40B4-BE49-F238E27FC236}">
                <a16:creationId xmlns:a16="http://schemas.microsoft.com/office/drawing/2014/main" id="{AB891044-5320-4CD8-961F-EF20B66FCC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51988" y="494188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/>
              <a:t>, </a:t>
            </a:r>
          </a:p>
        </p:txBody>
      </p:sp>
      <p:sp>
        <p:nvSpPr>
          <p:cNvPr id="28711" name="Rectangle 39">
            <a:extLst>
              <a:ext uri="{FF2B5EF4-FFF2-40B4-BE49-F238E27FC236}">
                <a16:creationId xmlns:a16="http://schemas.microsoft.com/office/drawing/2014/main" id="{4539A60B-F962-4B7A-93F7-EE0071EA63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28712" name="Object 40">
            <a:extLst>
              <a:ext uri="{FF2B5EF4-FFF2-40B4-BE49-F238E27FC236}">
                <a16:creationId xmlns:a16="http://schemas.microsoft.com/office/drawing/2014/main" id="{91A3559B-4976-4C82-9F64-A887E830B5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51088" y="5376864"/>
          <a:ext cx="3600450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49" name="Формула" r:id="rId12" imgW="1866900" imgH="228600" progId="Equation.3">
                  <p:embed/>
                </p:oleObj>
              </mc:Choice>
              <mc:Fallback>
                <p:oleObj name="Формула" r:id="rId12" imgW="1866900" imgH="228600" progId="Equation.3">
                  <p:embed/>
                  <p:pic>
                    <p:nvPicPr>
                      <p:cNvPr id="28712" name="Object 40">
                        <a:extLst>
                          <a:ext uri="{FF2B5EF4-FFF2-40B4-BE49-F238E27FC236}">
                            <a16:creationId xmlns:a16="http://schemas.microsoft.com/office/drawing/2014/main" id="{91A3559B-4976-4C82-9F64-A887E830B5F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8" y="5376864"/>
                        <a:ext cx="3600450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713" name="Rectangle 41">
            <a:extLst>
              <a:ext uri="{FF2B5EF4-FFF2-40B4-BE49-F238E27FC236}">
                <a16:creationId xmlns:a16="http://schemas.microsoft.com/office/drawing/2014/main" id="{F0342D3A-4AAE-4862-87F3-C48DE1679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0100" y="5445126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/>
              <a:t>, </a:t>
            </a:r>
          </a:p>
        </p:txBody>
      </p:sp>
      <p:sp>
        <p:nvSpPr>
          <p:cNvPr id="28714" name="Rectangle 42">
            <a:extLst>
              <a:ext uri="{FF2B5EF4-FFF2-40B4-BE49-F238E27FC236}">
                <a16:creationId xmlns:a16="http://schemas.microsoft.com/office/drawing/2014/main" id="{B74C6AD3-F3EE-4011-96EE-02D3A7ED92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1" y="5372100"/>
            <a:ext cx="3414713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тогда для того, чтобы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была </a:t>
            </a:r>
          </a:p>
        </p:txBody>
      </p:sp>
      <p:sp>
        <p:nvSpPr>
          <p:cNvPr id="28715" name="Rectangle 43">
            <a:extLst>
              <a:ext uri="{FF2B5EF4-FFF2-40B4-BE49-F238E27FC236}">
                <a16:creationId xmlns:a16="http://schemas.microsoft.com/office/drawing/2014/main" id="{A58DEBEF-9D2C-45F3-8CA3-5FADE5C2E6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1088" y="5875339"/>
            <a:ext cx="4121150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выпуклой в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достаточно, чтобы </a:t>
            </a:r>
          </a:p>
        </p:txBody>
      </p:sp>
      <p:sp>
        <p:nvSpPr>
          <p:cNvPr id="28716" name="Rectangle 44">
            <a:extLst>
              <a:ext uri="{FF2B5EF4-FFF2-40B4-BE49-F238E27FC236}">
                <a16:creationId xmlns:a16="http://schemas.microsoft.com/office/drawing/2014/main" id="{793F0EE8-7E22-4E56-B6F5-5CC3AC6126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157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8717" name="Rectangle 45">
            <a:extLst>
              <a:ext uri="{FF2B5EF4-FFF2-40B4-BE49-F238E27FC236}">
                <a16:creationId xmlns:a16="http://schemas.microsoft.com/office/drawing/2014/main" id="{A17EA74A-C257-4C19-9128-41CFEA886C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459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8718" name="Rectangle 47">
            <a:extLst>
              <a:ext uri="{FF2B5EF4-FFF2-40B4-BE49-F238E27FC236}">
                <a16:creationId xmlns:a16="http://schemas.microsoft.com/office/drawing/2014/main" id="{D1714637-C5CF-48C5-8024-A24E017100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2201" y="5872163"/>
            <a:ext cx="2381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/>
              <a:t>.</a:t>
            </a:r>
          </a:p>
        </p:txBody>
      </p:sp>
      <p:sp>
        <p:nvSpPr>
          <p:cNvPr id="28719" name="Rectangle 48">
            <a:extLst>
              <a:ext uri="{FF2B5EF4-FFF2-40B4-BE49-F238E27FC236}">
                <a16:creationId xmlns:a16="http://schemas.microsoft.com/office/drawing/2014/main" id="{D6CCB2CC-17BC-4B64-8798-FD0ACE4B30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189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28720" name="Object 49">
            <a:extLst>
              <a:ext uri="{FF2B5EF4-FFF2-40B4-BE49-F238E27FC236}">
                <a16:creationId xmlns:a16="http://schemas.microsoft.com/office/drawing/2014/main" id="{CC2D5670-E72E-4EC7-AC54-A5DF803254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1651" y="4175125"/>
          <a:ext cx="2087563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50" name="Формула" r:id="rId14" imgW="1104900" imgH="254000" progId="Equation.3">
                  <p:embed/>
                </p:oleObj>
              </mc:Choice>
              <mc:Fallback>
                <p:oleObj name="Формула" r:id="rId14" imgW="1104900" imgH="254000" progId="Equation.3">
                  <p:embed/>
                  <p:pic>
                    <p:nvPicPr>
                      <p:cNvPr id="28720" name="Object 49">
                        <a:extLst>
                          <a:ext uri="{FF2B5EF4-FFF2-40B4-BE49-F238E27FC236}">
                            <a16:creationId xmlns:a16="http://schemas.microsoft.com/office/drawing/2014/main" id="{CC2D5670-E72E-4EC7-AC54-A5DF803254A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1651" y="4175125"/>
                        <a:ext cx="2087563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721" name="Rectangle 50">
            <a:extLst>
              <a:ext uri="{FF2B5EF4-FFF2-40B4-BE49-F238E27FC236}">
                <a16:creationId xmlns:a16="http://schemas.microsoft.com/office/drawing/2014/main" id="{36B526A4-6EEF-49DE-849F-D522231519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28722" name="Object 51">
            <a:extLst>
              <a:ext uri="{FF2B5EF4-FFF2-40B4-BE49-F238E27FC236}">
                <a16:creationId xmlns:a16="http://schemas.microsoft.com/office/drawing/2014/main" id="{E22C5B0C-A550-48B4-9B90-D3139A227EF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27438" y="5862638"/>
          <a:ext cx="86360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51" name="Формула" r:id="rId16" imgW="406224" imgH="228501" progId="Equation.3">
                  <p:embed/>
                </p:oleObj>
              </mc:Choice>
              <mc:Fallback>
                <p:oleObj name="Формула" r:id="rId16" imgW="406224" imgH="228501" progId="Equation.3">
                  <p:embed/>
                  <p:pic>
                    <p:nvPicPr>
                      <p:cNvPr id="28722" name="Object 51">
                        <a:extLst>
                          <a:ext uri="{FF2B5EF4-FFF2-40B4-BE49-F238E27FC236}">
                            <a16:creationId xmlns:a16="http://schemas.microsoft.com/office/drawing/2014/main" id="{E22C5B0C-A550-48B4-9B90-D3139A227EF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7438" y="5862638"/>
                        <a:ext cx="863600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723" name="Rectangle 52">
            <a:extLst>
              <a:ext uri="{FF2B5EF4-FFF2-40B4-BE49-F238E27FC236}">
                <a16:creationId xmlns:a16="http://schemas.microsoft.com/office/drawing/2014/main" id="{11B275A5-388C-4F57-A3C6-863FAEF218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28724" name="Object 53">
            <a:extLst>
              <a:ext uri="{FF2B5EF4-FFF2-40B4-BE49-F238E27FC236}">
                <a16:creationId xmlns:a16="http://schemas.microsoft.com/office/drawing/2014/main" id="{492C7397-9A46-42F1-AAD5-B9103249878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95551" y="3284538"/>
          <a:ext cx="41767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52" name="Формула" r:id="rId18" imgW="2514600" imgH="228600" progId="Equation.3">
                  <p:embed/>
                </p:oleObj>
              </mc:Choice>
              <mc:Fallback>
                <p:oleObj name="Формула" r:id="rId18" imgW="2514600" imgH="228600" progId="Equation.3">
                  <p:embed/>
                  <p:pic>
                    <p:nvPicPr>
                      <p:cNvPr id="28724" name="Object 53">
                        <a:extLst>
                          <a:ext uri="{FF2B5EF4-FFF2-40B4-BE49-F238E27FC236}">
                            <a16:creationId xmlns:a16="http://schemas.microsoft.com/office/drawing/2014/main" id="{492C7397-9A46-42F1-AAD5-B9103249878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551" y="3284538"/>
                        <a:ext cx="41767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25" name="Object 54">
            <a:extLst>
              <a:ext uri="{FF2B5EF4-FFF2-40B4-BE49-F238E27FC236}">
                <a16:creationId xmlns:a16="http://schemas.microsoft.com/office/drawing/2014/main" id="{B13EBB0A-A56A-4235-8896-D2786665F5AA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2424114" y="4149725"/>
          <a:ext cx="3743325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53" name="Формула" r:id="rId20" imgW="1866090" imgH="253890" progId="Equation.3">
                  <p:embed/>
                </p:oleObj>
              </mc:Choice>
              <mc:Fallback>
                <p:oleObj name="Формула" r:id="rId20" imgW="1866090" imgH="253890" progId="Equation.3">
                  <p:embed/>
                  <p:pic>
                    <p:nvPicPr>
                      <p:cNvPr id="28725" name="Object 54">
                        <a:extLst>
                          <a:ext uri="{FF2B5EF4-FFF2-40B4-BE49-F238E27FC236}">
                            <a16:creationId xmlns:a16="http://schemas.microsoft.com/office/drawing/2014/main" id="{B13EBB0A-A56A-4235-8896-D2786665F5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4" y="4149725"/>
                        <a:ext cx="3743325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CB51FCC-5C61-4DC9-88D0-28841CF175F3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335281" y="5874306"/>
            <a:ext cx="1175450" cy="369332"/>
          </a:xfrm>
          <a:prstGeom prst="rect">
            <a:avLst/>
          </a:prstGeom>
          <a:blipFill rotWithShape="0">
            <a:blip r:embed="rId22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ru-RU">
                <a:noFill/>
              </a:rPr>
              <a:t> 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A02F1053-4DC0-4A81-B8FA-C211E406D9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9818" y="177800"/>
            <a:ext cx="10612582" cy="1143000"/>
          </a:xfrm>
        </p:spPr>
        <p:txBody>
          <a:bodyPr/>
          <a:lstStyle/>
          <a:p>
            <a:pPr algn="ctr"/>
            <a:r>
              <a:rPr lang="en-US" altLang="ru-RU" sz="2800" b="1" i="1" dirty="0">
                <a:latin typeface="+mn-lt"/>
              </a:rPr>
              <a:t>4</a:t>
            </a:r>
            <a:r>
              <a:rPr lang="ru-RU" altLang="ru-RU" sz="2800" b="1" i="1" dirty="0">
                <a:latin typeface="+mn-lt"/>
              </a:rPr>
              <a:t>.</a:t>
            </a:r>
            <a:r>
              <a:rPr lang="ru-RU" altLang="ru-RU" sz="28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Необходимые и достаточные условия существования экстремума функции.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1B42840A-6607-488B-B90F-8CC00A25EE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329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9700" name="Rectangle 4">
            <a:extLst>
              <a:ext uri="{FF2B5EF4-FFF2-40B4-BE49-F238E27FC236}">
                <a16:creationId xmlns:a16="http://schemas.microsoft.com/office/drawing/2014/main" id="{CC0C784A-1F20-4ED4-BB3E-E1EA989E8E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3077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9701" name="Rectangle 5">
            <a:extLst>
              <a:ext uri="{FF2B5EF4-FFF2-40B4-BE49-F238E27FC236}">
                <a16:creationId xmlns:a16="http://schemas.microsoft.com/office/drawing/2014/main" id="{8296372B-F552-4DFB-9F61-3983A4CB98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84745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9702" name="Rectangle 6">
            <a:extLst>
              <a:ext uri="{FF2B5EF4-FFF2-40B4-BE49-F238E27FC236}">
                <a16:creationId xmlns:a16="http://schemas.microsoft.com/office/drawing/2014/main" id="{00EE7C41-7379-44DB-9BDB-A443E05218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6046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9703" name="Rectangle 7">
            <a:extLst>
              <a:ext uri="{FF2B5EF4-FFF2-40B4-BE49-F238E27FC236}">
                <a16:creationId xmlns:a16="http://schemas.microsoft.com/office/drawing/2014/main" id="{41010F4A-9D14-4CE2-B9F4-142848F241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8839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9704" name="Rectangle 8">
            <a:extLst>
              <a:ext uri="{FF2B5EF4-FFF2-40B4-BE49-F238E27FC236}">
                <a16:creationId xmlns:a16="http://schemas.microsoft.com/office/drawing/2014/main" id="{531CE8F0-A9D3-4EFA-A3E5-E173B9AAB2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9705" name="Rectangle 9">
            <a:extLst>
              <a:ext uri="{FF2B5EF4-FFF2-40B4-BE49-F238E27FC236}">
                <a16:creationId xmlns:a16="http://schemas.microsoft.com/office/drawing/2014/main" id="{58600B1A-85BF-46D1-8AED-EADA6BD47F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389" y="1484313"/>
            <a:ext cx="87852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b="1"/>
              <a:t>4.1.2.</a:t>
            </a:r>
            <a:r>
              <a:rPr lang="ru-RU" altLang="ru-RU" sz="1800" b="1" u="sng"/>
              <a:t>Необходимые и достаточные условия существования экстремума функции без ограничений.</a:t>
            </a:r>
          </a:p>
        </p:txBody>
      </p:sp>
      <p:sp>
        <p:nvSpPr>
          <p:cNvPr id="29706" name="Rectangle 10">
            <a:extLst>
              <a:ext uri="{FF2B5EF4-FFF2-40B4-BE49-F238E27FC236}">
                <a16:creationId xmlns:a16="http://schemas.microsoft.com/office/drawing/2014/main" id="{23B3A34F-AAA3-4F68-919E-6BAEAC12A7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825" y="2276476"/>
            <a:ext cx="2279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b="1" u="sng"/>
              <a:t>Теорема3.</a:t>
            </a:r>
            <a:r>
              <a:rPr lang="ru-RU" altLang="ru-RU" sz="1800"/>
              <a:t>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Пусть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</p:txBody>
      </p:sp>
      <p:sp>
        <p:nvSpPr>
          <p:cNvPr id="29707" name="Rectangle 11">
            <a:extLst>
              <a:ext uri="{FF2B5EF4-FFF2-40B4-BE49-F238E27FC236}">
                <a16:creationId xmlns:a16="http://schemas.microsoft.com/office/drawing/2014/main" id="{CBC4A4BB-0F8D-4EE7-9E39-254BDF5953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29708" name="Object 12">
            <a:extLst>
              <a:ext uri="{FF2B5EF4-FFF2-40B4-BE49-F238E27FC236}">
                <a16:creationId xmlns:a16="http://schemas.microsoft.com/office/drawing/2014/main" id="{1E633ADA-1D2D-4AB2-ACDC-CDE563244D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35413" y="2290764"/>
          <a:ext cx="2089150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23" name="Формула" r:id="rId3" imgW="1498600" imgH="228600" progId="Equation.3">
                  <p:embed/>
                </p:oleObj>
              </mc:Choice>
              <mc:Fallback>
                <p:oleObj name="Формула" r:id="rId3" imgW="1498600" imgH="228600" progId="Equation.3">
                  <p:embed/>
                  <p:pic>
                    <p:nvPicPr>
                      <p:cNvPr id="29708" name="Object 12">
                        <a:extLst>
                          <a:ext uri="{FF2B5EF4-FFF2-40B4-BE49-F238E27FC236}">
                            <a16:creationId xmlns:a16="http://schemas.microsoft.com/office/drawing/2014/main" id="{1E633ADA-1D2D-4AB2-ACDC-CDE563244D1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5413" y="2290764"/>
                        <a:ext cx="2089150" cy="32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3" name="Rectangle 13">
            <a:extLst>
              <a:ext uri="{FF2B5EF4-FFF2-40B4-BE49-F238E27FC236}">
                <a16:creationId xmlns:a16="http://schemas.microsoft.com/office/drawing/2014/main" id="{B4ED87CE-E8D3-4DA4-A65D-C72E148FF619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5014914" y="3142197"/>
            <a:ext cx="1529585" cy="636777"/>
          </a:xfrm>
          <a:prstGeom prst="rect">
            <a:avLst/>
          </a:prstGeom>
          <a:blipFill rotWithShape="0">
            <a:blip r:embed="rId5"/>
            <a:stretch>
              <a:fillRect/>
            </a:stretch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r>
              <a:rPr lang="ru-RU">
                <a:noFill/>
              </a:rPr>
              <a:t> </a:t>
            </a:r>
          </a:p>
        </p:txBody>
      </p:sp>
      <p:sp>
        <p:nvSpPr>
          <p:cNvPr id="29710" name="Rectangle 14">
            <a:extLst>
              <a:ext uri="{FF2B5EF4-FFF2-40B4-BE49-F238E27FC236}">
                <a16:creationId xmlns:a16="http://schemas.microsoft.com/office/drawing/2014/main" id="{FDBEF5E3-16BA-4DD0-B4A5-785B1142F1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29711" name="Object 15">
            <a:extLst>
              <a:ext uri="{FF2B5EF4-FFF2-40B4-BE49-F238E27FC236}">
                <a16:creationId xmlns:a16="http://schemas.microsoft.com/office/drawing/2014/main" id="{CB5D123E-2622-4FA9-8F89-F634CC702F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0" y="2276475"/>
          <a:ext cx="360045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24" name="Формула" r:id="rId6" imgW="2400300" imgH="228600" progId="Equation.3">
                  <p:embed/>
                </p:oleObj>
              </mc:Choice>
              <mc:Fallback>
                <p:oleObj name="Формула" r:id="rId6" imgW="2400300" imgH="228600" progId="Equation.3">
                  <p:embed/>
                  <p:pic>
                    <p:nvPicPr>
                      <p:cNvPr id="29711" name="Object 15">
                        <a:extLst>
                          <a:ext uri="{FF2B5EF4-FFF2-40B4-BE49-F238E27FC236}">
                            <a16:creationId xmlns:a16="http://schemas.microsoft.com/office/drawing/2014/main" id="{CB5D123E-2622-4FA9-8F89-F634CC702F6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2276475"/>
                        <a:ext cx="360045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12" name="Rectangle 16">
            <a:extLst>
              <a:ext uri="{FF2B5EF4-FFF2-40B4-BE49-F238E27FC236}">
                <a16:creationId xmlns:a16="http://schemas.microsoft.com/office/drawing/2014/main" id="{BCE7FA99-E369-4136-B0C3-2DE70278E1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3586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9713" name="Rectangle 17">
            <a:extLst>
              <a:ext uri="{FF2B5EF4-FFF2-40B4-BE49-F238E27FC236}">
                <a16:creationId xmlns:a16="http://schemas.microsoft.com/office/drawing/2014/main" id="{A793D855-8F7C-49A5-98AB-6502580126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0100" y="2276476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/>
              <a:t>; </a:t>
            </a:r>
          </a:p>
        </p:txBody>
      </p:sp>
      <p:sp>
        <p:nvSpPr>
          <p:cNvPr id="29714" name="Rectangle 18">
            <a:extLst>
              <a:ext uri="{FF2B5EF4-FFF2-40B4-BE49-F238E27FC236}">
                <a16:creationId xmlns:a16="http://schemas.microsoft.com/office/drawing/2014/main" id="{4DBA4FF4-CAD3-4142-9FB7-8F40EB092D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1" y="2779714"/>
            <a:ext cx="2371725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Тогда, для того чтобы </a:t>
            </a:r>
          </a:p>
        </p:txBody>
      </p:sp>
      <p:sp>
        <p:nvSpPr>
          <p:cNvPr id="29715" name="Rectangle 19">
            <a:extLst>
              <a:ext uri="{FF2B5EF4-FFF2-40B4-BE49-F238E27FC236}">
                <a16:creationId xmlns:a16="http://schemas.microsoft.com/office/drawing/2014/main" id="{18F68F2D-6F4A-49CB-ABC7-76705DF791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998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29716" name="Object 20">
            <a:extLst>
              <a:ext uri="{FF2B5EF4-FFF2-40B4-BE49-F238E27FC236}">
                <a16:creationId xmlns:a16="http://schemas.microsoft.com/office/drawing/2014/main" id="{A64A90CA-8EBC-4383-9EA3-D34CB149CD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67214" y="2803525"/>
          <a:ext cx="1728787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25" name="Формула" r:id="rId8" imgW="1282700" imgH="241300" progId="Equation.3">
                  <p:embed/>
                </p:oleObj>
              </mc:Choice>
              <mc:Fallback>
                <p:oleObj name="Формула" r:id="rId8" imgW="1282700" imgH="241300" progId="Equation.3">
                  <p:embed/>
                  <p:pic>
                    <p:nvPicPr>
                      <p:cNvPr id="29716" name="Object 20">
                        <a:extLst>
                          <a:ext uri="{FF2B5EF4-FFF2-40B4-BE49-F238E27FC236}">
                            <a16:creationId xmlns:a16="http://schemas.microsoft.com/office/drawing/2014/main" id="{A64A90CA-8EBC-4383-9EA3-D34CB149CD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7214" y="2803525"/>
                        <a:ext cx="1728787" cy="369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17" name="Rectangle 21">
            <a:extLst>
              <a:ext uri="{FF2B5EF4-FFF2-40B4-BE49-F238E27FC236}">
                <a16:creationId xmlns:a16="http://schemas.microsoft.com/office/drawing/2014/main" id="{8D319CB6-DF9B-4F4F-9D46-37CF5ADA28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7438" y="2779714"/>
            <a:ext cx="3467100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необходимо и достаточно, чтобы </a:t>
            </a:r>
          </a:p>
        </p:txBody>
      </p:sp>
      <p:sp>
        <p:nvSpPr>
          <p:cNvPr id="29718" name="Rectangle 22">
            <a:extLst>
              <a:ext uri="{FF2B5EF4-FFF2-40B4-BE49-F238E27FC236}">
                <a16:creationId xmlns:a16="http://schemas.microsoft.com/office/drawing/2014/main" id="{A76E0A4A-0321-4079-8C38-1DF9190B19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9289" y="3282950"/>
            <a:ext cx="2841625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были выполнены условия: </a:t>
            </a:r>
          </a:p>
        </p:txBody>
      </p:sp>
      <p:sp>
        <p:nvSpPr>
          <p:cNvPr id="29719" name="Rectangle 23">
            <a:extLst>
              <a:ext uri="{FF2B5EF4-FFF2-40B4-BE49-F238E27FC236}">
                <a16:creationId xmlns:a16="http://schemas.microsoft.com/office/drawing/2014/main" id="{54434FEB-C230-47A6-816F-A1BC999669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9887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9720" name="Rectangle 25">
            <a:extLst>
              <a:ext uri="{FF2B5EF4-FFF2-40B4-BE49-F238E27FC236}">
                <a16:creationId xmlns:a16="http://schemas.microsoft.com/office/drawing/2014/main" id="{FDAEDD9A-2B41-4AC4-B489-9D31D696B5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3" y="4003675"/>
            <a:ext cx="133985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При этом:   </a:t>
            </a:r>
          </a:p>
        </p:txBody>
      </p:sp>
      <p:sp>
        <p:nvSpPr>
          <p:cNvPr id="29721" name="Rectangle 27">
            <a:extLst>
              <a:ext uri="{FF2B5EF4-FFF2-40B4-BE49-F238E27FC236}">
                <a16:creationId xmlns:a16="http://schemas.microsoft.com/office/drawing/2014/main" id="{1004A209-A40C-4198-B3AA-6E9548CA35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6576" y="3684589"/>
            <a:ext cx="290513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200">
                <a:cs typeface="Times New Roman" panose="02020603050405020304" pitchFamily="18" charset="0"/>
              </a:rPr>
              <a:t>  </a:t>
            </a:r>
            <a:r>
              <a:rPr lang="ru-RU" altLang="ru-RU" sz="600"/>
              <a:t> </a:t>
            </a:r>
            <a:endParaRPr lang="ru-RU" altLang="ru-RU" sz="1800"/>
          </a:p>
        </p:txBody>
      </p:sp>
      <p:sp>
        <p:nvSpPr>
          <p:cNvPr id="29722" name="Rectangle 28">
            <a:extLst>
              <a:ext uri="{FF2B5EF4-FFF2-40B4-BE49-F238E27FC236}">
                <a16:creationId xmlns:a16="http://schemas.microsoft.com/office/drawing/2014/main" id="{40265013-D8AB-4619-A605-ED5902F622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7939" y="4075114"/>
            <a:ext cx="1563687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приводит к     </a:t>
            </a:r>
          </a:p>
        </p:txBody>
      </p:sp>
      <p:sp>
        <p:nvSpPr>
          <p:cNvPr id="29723" name="Rectangle 29">
            <a:extLst>
              <a:ext uri="{FF2B5EF4-FFF2-40B4-BE49-F238E27FC236}">
                <a16:creationId xmlns:a16="http://schemas.microsoft.com/office/drawing/2014/main" id="{319B4523-6FCE-4EFF-916A-9DF5A62457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2685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29724" name="Object 30">
            <a:extLst>
              <a:ext uri="{FF2B5EF4-FFF2-40B4-BE49-F238E27FC236}">
                <a16:creationId xmlns:a16="http://schemas.microsoft.com/office/drawing/2014/main" id="{2E6CFC52-6944-4424-9416-E99B6166DA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00825" y="4076701"/>
          <a:ext cx="2590800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26" name="Формула" r:id="rId10" imgW="1358310" imgH="241195" progId="Equation.3">
                  <p:embed/>
                </p:oleObj>
              </mc:Choice>
              <mc:Fallback>
                <p:oleObj name="Формула" r:id="rId10" imgW="1358310" imgH="241195" progId="Equation.3">
                  <p:embed/>
                  <p:pic>
                    <p:nvPicPr>
                      <p:cNvPr id="29724" name="Object 30">
                        <a:extLst>
                          <a:ext uri="{FF2B5EF4-FFF2-40B4-BE49-F238E27FC236}">
                            <a16:creationId xmlns:a16="http://schemas.microsoft.com/office/drawing/2014/main" id="{2E6CFC52-6944-4424-9416-E99B6166DA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0825" y="4076701"/>
                        <a:ext cx="2590800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25" name="Rectangle 31">
            <a:extLst>
              <a:ext uri="{FF2B5EF4-FFF2-40B4-BE49-F238E27FC236}">
                <a16:creationId xmlns:a16="http://schemas.microsoft.com/office/drawing/2014/main" id="{905C129E-F9F0-49EB-BB2C-E11D082645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9887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9726" name="Rectangle 33">
            <a:extLst>
              <a:ext uri="{FF2B5EF4-FFF2-40B4-BE49-F238E27FC236}">
                <a16:creationId xmlns:a16="http://schemas.microsoft.com/office/drawing/2014/main" id="{C0BBA2BB-0A8F-4EE1-8A61-9588B0951D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9375" y="5156200"/>
            <a:ext cx="1563688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приводит к     </a:t>
            </a:r>
          </a:p>
        </p:txBody>
      </p:sp>
      <p:sp>
        <p:nvSpPr>
          <p:cNvPr id="29727" name="Rectangle 34">
            <a:extLst>
              <a:ext uri="{FF2B5EF4-FFF2-40B4-BE49-F238E27FC236}">
                <a16:creationId xmlns:a16="http://schemas.microsoft.com/office/drawing/2014/main" id="{A5155D95-2619-4F6E-ADA8-B1B2A12575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2685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29728" name="Object 35">
            <a:extLst>
              <a:ext uri="{FF2B5EF4-FFF2-40B4-BE49-F238E27FC236}">
                <a16:creationId xmlns:a16="http://schemas.microsoft.com/office/drawing/2014/main" id="{49B4A61E-AE7A-45F5-B73D-49006080F6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72264" y="5092700"/>
          <a:ext cx="2592387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27" name="Формула" r:id="rId12" imgW="1384300" imgH="241300" progId="Equation.3">
                  <p:embed/>
                </p:oleObj>
              </mc:Choice>
              <mc:Fallback>
                <p:oleObj name="Формула" r:id="rId12" imgW="1384300" imgH="241300" progId="Equation.3">
                  <p:embed/>
                  <p:pic>
                    <p:nvPicPr>
                      <p:cNvPr id="29728" name="Object 35">
                        <a:extLst>
                          <a:ext uri="{FF2B5EF4-FFF2-40B4-BE49-F238E27FC236}">
                            <a16:creationId xmlns:a16="http://schemas.microsoft.com/office/drawing/2014/main" id="{49B4A61E-AE7A-45F5-B73D-49006080F63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2264" y="5092700"/>
                        <a:ext cx="2592387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CCEEF09-839B-42CC-A1A0-58F603DF4136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417888" y="4004375"/>
            <a:ext cx="1562030" cy="636777"/>
          </a:xfrm>
          <a:prstGeom prst="rect">
            <a:avLst/>
          </a:prstGeom>
          <a:blipFill rotWithShape="0">
            <a:blip r:embed="rId14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ru-RU">
                <a:noFill/>
              </a:rPr>
              <a:t> 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7E8E666-C8E4-490D-81D8-2E46D4081AE5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493857" y="5022756"/>
            <a:ext cx="1562030" cy="636777"/>
          </a:xfrm>
          <a:prstGeom prst="rect">
            <a:avLst/>
          </a:prstGeom>
          <a:blipFill rotWithShape="0">
            <a:blip r:embed="rId15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ru-RU">
                <a:noFill/>
              </a:rPr>
              <a:t>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1934</Words>
  <Application>Microsoft Office PowerPoint</Application>
  <PresentationFormat>Широкоэкранный</PresentationFormat>
  <Paragraphs>258</Paragraphs>
  <Slides>29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2</vt:i4>
      </vt:variant>
      <vt:variant>
        <vt:lpstr>Заголовки слайдов</vt:lpstr>
      </vt:variant>
      <vt:variant>
        <vt:i4>29</vt:i4>
      </vt:variant>
    </vt:vector>
  </HeadingPairs>
  <TitlesOfParts>
    <vt:vector size="37" baseType="lpstr">
      <vt:lpstr>Arial</vt:lpstr>
      <vt:lpstr>Calibri</vt:lpstr>
      <vt:lpstr>Calibri Light</vt:lpstr>
      <vt:lpstr>Cambria Math</vt:lpstr>
      <vt:lpstr>Times New Roman</vt:lpstr>
      <vt:lpstr>Тема Office</vt:lpstr>
      <vt:lpstr>Формула</vt:lpstr>
      <vt:lpstr>Рисунок</vt:lpstr>
      <vt:lpstr>ЛЕКЦИЯ № 2</vt:lpstr>
      <vt:lpstr>1. Краткий экскурс в функциональный анализ.</vt:lpstr>
      <vt:lpstr>1. Краткий экскурс в функциональный анализ.</vt:lpstr>
      <vt:lpstr>1.Краткий экскурс в функциональный анализ.</vt:lpstr>
      <vt:lpstr>1.Краткий экскурс в функциональный анализ.</vt:lpstr>
      <vt:lpstr>Понятие нормы</vt:lpstr>
      <vt:lpstr>Матричная норма</vt:lpstr>
      <vt:lpstr>2.  Основные понятия и определения конечномерного выпуклого анализа.</vt:lpstr>
      <vt:lpstr>2.  Основные понятия и определения конечномерного выпуклого анализа.</vt:lpstr>
      <vt:lpstr>2.  Основные понятия и определения конечномерного выпуклого анализа.</vt:lpstr>
      <vt:lpstr>2.  Основные понятия и определения конечномерного выпуклого анализа.</vt:lpstr>
      <vt:lpstr>2.  Основные понятия и определения конечномерного выпуклого анализа.</vt:lpstr>
      <vt:lpstr>2.  Основные понятия и определения конечномерного выпуклого анализа.</vt:lpstr>
      <vt:lpstr>2.  Основные понятия и определения конечномерного выпуклого анализа.</vt:lpstr>
      <vt:lpstr>2.  Основные понятия и определения конечномерного выпуклого анализа.</vt:lpstr>
      <vt:lpstr>2.  Основные понятия и определения конечномерного выпуклого анализа.</vt:lpstr>
      <vt:lpstr>2. Основные понятия и определения конечномерного выпуклого анализа.</vt:lpstr>
      <vt:lpstr>2. Основные понятия и определения конечномерного выпуклого анализа.</vt:lpstr>
      <vt:lpstr>2. Основные понятия и определения конечномерного выпуклого анализа.</vt:lpstr>
      <vt:lpstr>2. Основные понятия и определения конечномерного выпуклого анализа.</vt:lpstr>
      <vt:lpstr>3. Дифференцирование функций.</vt:lpstr>
      <vt:lpstr>3. Дифференцирование функций.</vt:lpstr>
      <vt:lpstr>3. Дифференцирование функций.</vt:lpstr>
      <vt:lpstr>3. Дифференцирование функций.</vt:lpstr>
      <vt:lpstr>3. Дифференцирование функций.</vt:lpstr>
      <vt:lpstr>3. Дифференцирование функций.</vt:lpstr>
      <vt:lpstr>3. Дифференцирование функций.</vt:lpstr>
      <vt:lpstr>4.Необходимые и достаточные условия существования экстремума функции.</vt:lpstr>
      <vt:lpstr>4.Необходимые и достаточные условия существования экстремума функции.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 № 2</dc:title>
  <dc:creator>Yuriy Kaganov</dc:creator>
  <cp:lastModifiedBy>Yuriy Kaganov</cp:lastModifiedBy>
  <cp:revision>13</cp:revision>
  <dcterms:created xsi:type="dcterms:W3CDTF">2021-02-10T08:04:28Z</dcterms:created>
  <dcterms:modified xsi:type="dcterms:W3CDTF">2025-09-14T20:42:47Z</dcterms:modified>
</cp:coreProperties>
</file>